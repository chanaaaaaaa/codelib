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93" r:id="rId5"/>
    <p:sldId id="295" r:id="rId6"/>
    <p:sldId id="294" r:id="rId7"/>
    <p:sldId id="296" r:id="rId8"/>
    <p:sldId id="297" r:id="rId9"/>
    <p:sldId id="298" r:id="rId10"/>
    <p:sldId id="299" r:id="rId11"/>
    <p:sldId id="300" r:id="rId12"/>
    <p:sldId id="303" r:id="rId13"/>
    <p:sldId id="302" r:id="rId14"/>
    <p:sldId id="301" r:id="rId15"/>
    <p:sldId id="304" r:id="rId16"/>
    <p:sldId id="305" r:id="rId17"/>
    <p:sldId id="306" r:id="rId18"/>
    <p:sldId id="307" r:id="rId19"/>
    <p:sldId id="292" r:id="rId20"/>
    <p:sldId id="308" r:id="rId21"/>
    <p:sldId id="291" r:id="rId22"/>
    <p:sldId id="309" r:id="rId23"/>
    <p:sldId id="310" r:id="rId24"/>
    <p:sldId id="311" r:id="rId25"/>
    <p:sldId id="312" r:id="rId26"/>
    <p:sldId id="313" r:id="rId27"/>
    <p:sldId id="314" r:id="rId28"/>
    <p:sldId id="315" r:id="rId29"/>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4C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121" autoAdjust="0"/>
    <p:restoredTop sz="94660"/>
  </p:normalViewPr>
  <p:slideViewPr>
    <p:cSldViewPr snapToGrid="0">
      <p:cViewPr varScale="1">
        <p:scale>
          <a:sx n="99" d="100"/>
          <a:sy n="99" d="100"/>
        </p:scale>
        <p:origin x="1116"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5890573-66F2-46C6-903B-C24D02EDA120}" type="doc">
      <dgm:prSet loTypeId="urn:microsoft.com/office/officeart/2008/layout/LinedList" loCatId="list" qsTypeId="urn:microsoft.com/office/officeart/2005/8/quickstyle/simple2" qsCatId="simple" csTypeId="urn:microsoft.com/office/officeart/2005/8/colors/accent2_2" csCatId="accent2" phldr="1"/>
      <dgm:spPr/>
      <dgm:t>
        <a:bodyPr/>
        <a:lstStyle/>
        <a:p>
          <a:endParaRPr lang="en-US"/>
        </a:p>
      </dgm:t>
    </dgm:pt>
    <dgm:pt modelId="{22F3486F-1051-43B9-8AB1-5E4E0D312F3B}">
      <dgm:prSet custT="1"/>
      <dgm:spPr/>
      <dgm:t>
        <a:bodyPr/>
        <a:lstStyle/>
        <a:p>
          <a:r>
            <a:rPr lang="en-US" sz="2800" dirty="0"/>
            <a:t>Run the sample program to check the result </a:t>
          </a:r>
        </a:p>
        <a:p>
          <a:r>
            <a:rPr lang="zh-TW" sz="2800" dirty="0"/>
            <a:t>執行範例程式檢視結果</a:t>
          </a:r>
          <a:endParaRPr lang="en-US" sz="2800" dirty="0"/>
        </a:p>
      </dgm:t>
    </dgm:pt>
    <dgm:pt modelId="{0DA8578B-E4E9-4B9E-BEE5-6CD7AEF485EF}" type="parTrans" cxnId="{FDCE6B43-8619-4774-8D87-CD986333AB92}">
      <dgm:prSet/>
      <dgm:spPr/>
      <dgm:t>
        <a:bodyPr/>
        <a:lstStyle/>
        <a:p>
          <a:endParaRPr lang="en-US" sz="2800"/>
        </a:p>
      </dgm:t>
    </dgm:pt>
    <dgm:pt modelId="{EB77E679-3EF9-4DE5-9FC7-3FC3954DF222}" type="sibTrans" cxnId="{FDCE6B43-8619-4774-8D87-CD986333AB92}">
      <dgm:prSet/>
      <dgm:spPr/>
      <dgm:t>
        <a:bodyPr/>
        <a:lstStyle/>
        <a:p>
          <a:endParaRPr lang="en-US" sz="2800"/>
        </a:p>
      </dgm:t>
    </dgm:pt>
    <dgm:pt modelId="{1824ABD8-10F1-4049-B5C5-44A6C971DBF8}">
      <dgm:prSet custT="1"/>
      <dgm:spPr/>
      <dgm:t>
        <a:bodyPr/>
        <a:lstStyle/>
        <a:p>
          <a:r>
            <a:rPr lang="en-US" sz="2800" dirty="0"/>
            <a:t>Understand the meaning and usage of each command by tracing the code line by line </a:t>
          </a:r>
        </a:p>
        <a:p>
          <a:r>
            <a:rPr lang="zh-TW" sz="2800" dirty="0"/>
            <a:t>追蹤程式碼，查詢並了解每個指令意義與用法</a:t>
          </a:r>
          <a:endParaRPr lang="en-US" sz="2800" dirty="0"/>
        </a:p>
      </dgm:t>
    </dgm:pt>
    <dgm:pt modelId="{79D384BF-31C8-43A4-9E13-802223F1711B}" type="parTrans" cxnId="{07BAA54E-D6E5-40DC-8971-12B7F9BF67ED}">
      <dgm:prSet/>
      <dgm:spPr/>
      <dgm:t>
        <a:bodyPr/>
        <a:lstStyle/>
        <a:p>
          <a:endParaRPr lang="en-US" sz="2800"/>
        </a:p>
      </dgm:t>
    </dgm:pt>
    <dgm:pt modelId="{F17B3F5B-8DFD-4863-8338-0C8146378C83}" type="sibTrans" cxnId="{07BAA54E-D6E5-40DC-8971-12B7F9BF67ED}">
      <dgm:prSet/>
      <dgm:spPr/>
      <dgm:t>
        <a:bodyPr/>
        <a:lstStyle/>
        <a:p>
          <a:endParaRPr lang="en-US" sz="2800"/>
        </a:p>
      </dgm:t>
    </dgm:pt>
    <dgm:pt modelId="{4CFDE2D9-8BF8-4ACC-8AE8-D45CB9B556E8}" type="pres">
      <dgm:prSet presAssocID="{15890573-66F2-46C6-903B-C24D02EDA120}" presName="vert0" presStyleCnt="0">
        <dgm:presLayoutVars>
          <dgm:dir/>
          <dgm:animOne val="branch"/>
          <dgm:animLvl val="lvl"/>
        </dgm:presLayoutVars>
      </dgm:prSet>
      <dgm:spPr/>
    </dgm:pt>
    <dgm:pt modelId="{254E42B5-9E16-4C36-99F4-30B8F6ACCA5C}" type="pres">
      <dgm:prSet presAssocID="{22F3486F-1051-43B9-8AB1-5E4E0D312F3B}" presName="thickLine" presStyleLbl="alignNode1" presStyleIdx="0" presStyleCnt="2"/>
      <dgm:spPr/>
    </dgm:pt>
    <dgm:pt modelId="{29345E99-B603-4209-A515-3FF2DC4C2608}" type="pres">
      <dgm:prSet presAssocID="{22F3486F-1051-43B9-8AB1-5E4E0D312F3B}" presName="horz1" presStyleCnt="0"/>
      <dgm:spPr/>
    </dgm:pt>
    <dgm:pt modelId="{15CD3734-8A0F-4876-A342-D6BF6957DF2B}" type="pres">
      <dgm:prSet presAssocID="{22F3486F-1051-43B9-8AB1-5E4E0D312F3B}" presName="tx1" presStyleLbl="revTx" presStyleIdx="0" presStyleCnt="2"/>
      <dgm:spPr/>
    </dgm:pt>
    <dgm:pt modelId="{A8AC14BA-84C5-4E43-88B0-FB93A18F3C16}" type="pres">
      <dgm:prSet presAssocID="{22F3486F-1051-43B9-8AB1-5E4E0D312F3B}" presName="vert1" presStyleCnt="0"/>
      <dgm:spPr/>
    </dgm:pt>
    <dgm:pt modelId="{92189142-2BBD-4E1C-83CC-49577C831BC2}" type="pres">
      <dgm:prSet presAssocID="{1824ABD8-10F1-4049-B5C5-44A6C971DBF8}" presName="thickLine" presStyleLbl="alignNode1" presStyleIdx="1" presStyleCnt="2"/>
      <dgm:spPr/>
    </dgm:pt>
    <dgm:pt modelId="{B11EEB29-8F51-45B2-BA6F-D4B9E126C078}" type="pres">
      <dgm:prSet presAssocID="{1824ABD8-10F1-4049-B5C5-44A6C971DBF8}" presName="horz1" presStyleCnt="0"/>
      <dgm:spPr/>
    </dgm:pt>
    <dgm:pt modelId="{2697832B-7FAF-4710-B465-373F4706B3B2}" type="pres">
      <dgm:prSet presAssocID="{1824ABD8-10F1-4049-B5C5-44A6C971DBF8}" presName="tx1" presStyleLbl="revTx" presStyleIdx="1" presStyleCnt="2"/>
      <dgm:spPr/>
    </dgm:pt>
    <dgm:pt modelId="{E7BDD8AC-C607-4FEC-8ADC-1A86C41232CB}" type="pres">
      <dgm:prSet presAssocID="{1824ABD8-10F1-4049-B5C5-44A6C971DBF8}" presName="vert1" presStyleCnt="0"/>
      <dgm:spPr/>
    </dgm:pt>
  </dgm:ptLst>
  <dgm:cxnLst>
    <dgm:cxn modelId="{7D23CC30-8C5C-4ED3-A40A-278FC2BBA81D}" type="presOf" srcId="{1824ABD8-10F1-4049-B5C5-44A6C971DBF8}" destId="{2697832B-7FAF-4710-B465-373F4706B3B2}" srcOrd="0" destOrd="0" presId="urn:microsoft.com/office/officeart/2008/layout/LinedList"/>
    <dgm:cxn modelId="{FDCE6B43-8619-4774-8D87-CD986333AB92}" srcId="{15890573-66F2-46C6-903B-C24D02EDA120}" destId="{22F3486F-1051-43B9-8AB1-5E4E0D312F3B}" srcOrd="0" destOrd="0" parTransId="{0DA8578B-E4E9-4B9E-BEE5-6CD7AEF485EF}" sibTransId="{EB77E679-3EF9-4DE5-9FC7-3FC3954DF222}"/>
    <dgm:cxn modelId="{07BAA54E-D6E5-40DC-8971-12B7F9BF67ED}" srcId="{15890573-66F2-46C6-903B-C24D02EDA120}" destId="{1824ABD8-10F1-4049-B5C5-44A6C971DBF8}" srcOrd="1" destOrd="0" parTransId="{79D384BF-31C8-43A4-9E13-802223F1711B}" sibTransId="{F17B3F5B-8DFD-4863-8338-0C8146378C83}"/>
    <dgm:cxn modelId="{861B4EBB-467B-461B-BAE2-4FBE9BC473BF}" type="presOf" srcId="{15890573-66F2-46C6-903B-C24D02EDA120}" destId="{4CFDE2D9-8BF8-4ACC-8AE8-D45CB9B556E8}" srcOrd="0" destOrd="0" presId="urn:microsoft.com/office/officeart/2008/layout/LinedList"/>
    <dgm:cxn modelId="{A06C50FB-2F80-4561-9DCA-C7A57DB0A1CF}" type="presOf" srcId="{22F3486F-1051-43B9-8AB1-5E4E0D312F3B}" destId="{15CD3734-8A0F-4876-A342-D6BF6957DF2B}" srcOrd="0" destOrd="0" presId="urn:microsoft.com/office/officeart/2008/layout/LinedList"/>
    <dgm:cxn modelId="{26E78A7C-4705-4E53-BDEC-FA5B18584838}" type="presParOf" srcId="{4CFDE2D9-8BF8-4ACC-8AE8-D45CB9B556E8}" destId="{254E42B5-9E16-4C36-99F4-30B8F6ACCA5C}" srcOrd="0" destOrd="0" presId="urn:microsoft.com/office/officeart/2008/layout/LinedList"/>
    <dgm:cxn modelId="{7FFE1C7C-C780-4764-83AA-4C0AA1A5BEE3}" type="presParOf" srcId="{4CFDE2D9-8BF8-4ACC-8AE8-D45CB9B556E8}" destId="{29345E99-B603-4209-A515-3FF2DC4C2608}" srcOrd="1" destOrd="0" presId="urn:microsoft.com/office/officeart/2008/layout/LinedList"/>
    <dgm:cxn modelId="{28D81473-A5C4-45DD-BC77-1B5390BC5682}" type="presParOf" srcId="{29345E99-B603-4209-A515-3FF2DC4C2608}" destId="{15CD3734-8A0F-4876-A342-D6BF6957DF2B}" srcOrd="0" destOrd="0" presId="urn:microsoft.com/office/officeart/2008/layout/LinedList"/>
    <dgm:cxn modelId="{8282A647-962B-42D5-88B6-2CE339E4E110}" type="presParOf" srcId="{29345E99-B603-4209-A515-3FF2DC4C2608}" destId="{A8AC14BA-84C5-4E43-88B0-FB93A18F3C16}" srcOrd="1" destOrd="0" presId="urn:microsoft.com/office/officeart/2008/layout/LinedList"/>
    <dgm:cxn modelId="{823A308B-21C4-4D52-9F7A-767B53922DFC}" type="presParOf" srcId="{4CFDE2D9-8BF8-4ACC-8AE8-D45CB9B556E8}" destId="{92189142-2BBD-4E1C-83CC-49577C831BC2}" srcOrd="2" destOrd="0" presId="urn:microsoft.com/office/officeart/2008/layout/LinedList"/>
    <dgm:cxn modelId="{D06B2C19-9D9F-43A6-8CF8-3383C8EDE8B5}" type="presParOf" srcId="{4CFDE2D9-8BF8-4ACC-8AE8-D45CB9B556E8}" destId="{B11EEB29-8F51-45B2-BA6F-D4B9E126C078}" srcOrd="3" destOrd="0" presId="urn:microsoft.com/office/officeart/2008/layout/LinedList"/>
    <dgm:cxn modelId="{218DCD3F-CF04-4A2F-B896-3925014C0C0C}" type="presParOf" srcId="{B11EEB29-8F51-45B2-BA6F-D4B9E126C078}" destId="{2697832B-7FAF-4710-B465-373F4706B3B2}" srcOrd="0" destOrd="0" presId="urn:microsoft.com/office/officeart/2008/layout/LinedList"/>
    <dgm:cxn modelId="{67C13AC7-A2AE-48D0-BF3E-B13B85B25E98}" type="presParOf" srcId="{B11EEB29-8F51-45B2-BA6F-D4B9E126C078}" destId="{E7BDD8AC-C607-4FEC-8ADC-1A86C41232CB}"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4E42B5-9E16-4C36-99F4-30B8F6ACCA5C}">
      <dsp:nvSpPr>
        <dsp:cNvPr id="0" name=""/>
        <dsp:cNvSpPr/>
      </dsp:nvSpPr>
      <dsp:spPr>
        <a:xfrm>
          <a:off x="0" y="0"/>
          <a:ext cx="10515600" cy="0"/>
        </a:xfrm>
        <a:prstGeom prst="line">
          <a:avLst/>
        </a:prstGeom>
        <a:solidFill>
          <a:schemeClr val="accent2">
            <a:hueOff val="0"/>
            <a:satOff val="0"/>
            <a:lumOff val="0"/>
            <a:alphaOff val="0"/>
          </a:schemeClr>
        </a:solidFill>
        <a:ln w="55000" cap="flat" cmpd="thickThin" algn="ctr">
          <a:solidFill>
            <a:schemeClr val="accent2">
              <a:hueOff val="0"/>
              <a:satOff val="0"/>
              <a:lumOff val="0"/>
              <a:alphaOff val="0"/>
            </a:schemeClr>
          </a:solidFill>
          <a:prstDash val="solid"/>
        </a:ln>
        <a:effectLst>
          <a:outerShdw blurRad="50800" dist="38100" dir="5400000" rotWithShape="0">
            <a:srgbClr val="000000">
              <a:alpha val="35000"/>
            </a:srgbClr>
          </a:outerShdw>
        </a:effectLst>
      </dsp:spPr>
      <dsp:style>
        <a:lnRef idx="2">
          <a:scrgbClr r="0" g="0" b="0"/>
        </a:lnRef>
        <a:fillRef idx="1">
          <a:scrgbClr r="0" g="0" b="0"/>
        </a:fillRef>
        <a:effectRef idx="1">
          <a:scrgbClr r="0" g="0" b="0"/>
        </a:effectRef>
        <a:fontRef idx="minor">
          <a:schemeClr val="lt1"/>
        </a:fontRef>
      </dsp:style>
    </dsp:sp>
    <dsp:sp modelId="{15CD3734-8A0F-4876-A342-D6BF6957DF2B}">
      <dsp:nvSpPr>
        <dsp:cNvPr id="0" name=""/>
        <dsp:cNvSpPr/>
      </dsp:nvSpPr>
      <dsp:spPr>
        <a:xfrm>
          <a:off x="0" y="0"/>
          <a:ext cx="10515600" cy="217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Run the sample program to check the result </a:t>
          </a:r>
        </a:p>
        <a:p>
          <a:pPr marL="0" lvl="0" indent="0" algn="l" defTabSz="1244600">
            <a:lnSpc>
              <a:spcPct val="90000"/>
            </a:lnSpc>
            <a:spcBef>
              <a:spcPct val="0"/>
            </a:spcBef>
            <a:spcAft>
              <a:spcPct val="35000"/>
            </a:spcAft>
            <a:buNone/>
          </a:pPr>
          <a:r>
            <a:rPr lang="zh-TW" sz="2800" kern="1200" dirty="0"/>
            <a:t>執行範例程式檢視結果</a:t>
          </a:r>
          <a:endParaRPr lang="en-US" sz="2800" kern="1200" dirty="0"/>
        </a:p>
      </dsp:txBody>
      <dsp:txXfrm>
        <a:off x="0" y="0"/>
        <a:ext cx="10515600" cy="2175669"/>
      </dsp:txXfrm>
    </dsp:sp>
    <dsp:sp modelId="{92189142-2BBD-4E1C-83CC-49577C831BC2}">
      <dsp:nvSpPr>
        <dsp:cNvPr id="0" name=""/>
        <dsp:cNvSpPr/>
      </dsp:nvSpPr>
      <dsp:spPr>
        <a:xfrm>
          <a:off x="0" y="2175669"/>
          <a:ext cx="10515600" cy="0"/>
        </a:xfrm>
        <a:prstGeom prst="line">
          <a:avLst/>
        </a:prstGeom>
        <a:solidFill>
          <a:schemeClr val="accent2">
            <a:hueOff val="0"/>
            <a:satOff val="0"/>
            <a:lumOff val="0"/>
            <a:alphaOff val="0"/>
          </a:schemeClr>
        </a:solidFill>
        <a:ln w="55000" cap="flat" cmpd="thickThin" algn="ctr">
          <a:solidFill>
            <a:schemeClr val="accent2">
              <a:hueOff val="0"/>
              <a:satOff val="0"/>
              <a:lumOff val="0"/>
              <a:alphaOff val="0"/>
            </a:schemeClr>
          </a:solidFill>
          <a:prstDash val="solid"/>
        </a:ln>
        <a:effectLst>
          <a:outerShdw blurRad="50800" dist="38100" dir="5400000" rotWithShape="0">
            <a:srgbClr val="000000">
              <a:alpha val="35000"/>
            </a:srgbClr>
          </a:outerShdw>
        </a:effectLst>
      </dsp:spPr>
      <dsp:style>
        <a:lnRef idx="2">
          <a:scrgbClr r="0" g="0" b="0"/>
        </a:lnRef>
        <a:fillRef idx="1">
          <a:scrgbClr r="0" g="0" b="0"/>
        </a:fillRef>
        <a:effectRef idx="1">
          <a:scrgbClr r="0" g="0" b="0"/>
        </a:effectRef>
        <a:fontRef idx="minor">
          <a:schemeClr val="lt1"/>
        </a:fontRef>
      </dsp:style>
    </dsp:sp>
    <dsp:sp modelId="{2697832B-7FAF-4710-B465-373F4706B3B2}">
      <dsp:nvSpPr>
        <dsp:cNvPr id="0" name=""/>
        <dsp:cNvSpPr/>
      </dsp:nvSpPr>
      <dsp:spPr>
        <a:xfrm>
          <a:off x="0" y="2175669"/>
          <a:ext cx="10515600" cy="217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Understand the meaning and usage of each command by tracing the code line by line </a:t>
          </a:r>
        </a:p>
        <a:p>
          <a:pPr marL="0" lvl="0" indent="0" algn="l" defTabSz="1244600">
            <a:lnSpc>
              <a:spcPct val="90000"/>
            </a:lnSpc>
            <a:spcBef>
              <a:spcPct val="0"/>
            </a:spcBef>
            <a:spcAft>
              <a:spcPct val="35000"/>
            </a:spcAft>
            <a:buNone/>
          </a:pPr>
          <a:r>
            <a:rPr lang="zh-TW" sz="2800" kern="1200" dirty="0"/>
            <a:t>追蹤程式碼，查詢並了解每個指令意義與用法</a:t>
          </a:r>
          <a:endParaRPr lang="en-US" sz="2800" kern="1200" dirty="0"/>
        </a:p>
      </dsp:txBody>
      <dsp:txXfrm>
        <a:off x="0" y="2175669"/>
        <a:ext cx="10515600" cy="217566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EDC58A4-81EB-4E19-9C56-29A198080256}"/>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B767D06A-67BA-4983-8173-3CDEA044CD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10F72EF1-BBF0-49FA-843E-E1C57133246E}"/>
              </a:ext>
            </a:extLst>
          </p:cNvPr>
          <p:cNvSpPr>
            <a:spLocks noGrp="1"/>
          </p:cNvSpPr>
          <p:nvPr>
            <p:ph type="dt" sz="half" idx="10"/>
          </p:nvPr>
        </p:nvSpPr>
        <p:spPr/>
        <p:txBody>
          <a:bodyPr/>
          <a:lstStyle/>
          <a:p>
            <a:fld id="{232D8551-A4BE-4B6A-A4FC-2E76B947BA6A}" type="datetimeFigureOut">
              <a:rPr lang="zh-TW" altLang="en-US" smtClean="0"/>
              <a:t>2025/11/3</a:t>
            </a:fld>
            <a:endParaRPr lang="zh-TW" altLang="en-US"/>
          </a:p>
        </p:txBody>
      </p:sp>
      <p:sp>
        <p:nvSpPr>
          <p:cNvPr id="5" name="頁尾版面配置區 4">
            <a:extLst>
              <a:ext uri="{FF2B5EF4-FFF2-40B4-BE49-F238E27FC236}">
                <a16:creationId xmlns:a16="http://schemas.microsoft.com/office/drawing/2014/main" id="{8BE387C2-9237-4077-8912-46D3FA909207}"/>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8DDC342-49C4-4840-9302-7F3C819D21A1}"/>
              </a:ext>
            </a:extLst>
          </p:cNvPr>
          <p:cNvSpPr>
            <a:spLocks noGrp="1"/>
          </p:cNvSpPr>
          <p:nvPr>
            <p:ph type="sldNum" sz="quarter" idx="12"/>
          </p:nvPr>
        </p:nvSpPr>
        <p:spPr/>
        <p:txBody>
          <a:bodyPr/>
          <a:lstStyle/>
          <a:p>
            <a:fld id="{34C0D83B-BCB6-4DA2-AF47-4F5FEB2645D9}" type="slidenum">
              <a:rPr lang="zh-TW" altLang="en-US" smtClean="0"/>
              <a:t>‹#›</a:t>
            </a:fld>
            <a:endParaRPr lang="zh-TW" altLang="en-US"/>
          </a:p>
        </p:txBody>
      </p:sp>
    </p:spTree>
    <p:extLst>
      <p:ext uri="{BB962C8B-B14F-4D97-AF65-F5344CB8AC3E}">
        <p14:creationId xmlns:p14="http://schemas.microsoft.com/office/powerpoint/2010/main" val="3477570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ABAFC87-6009-467A-BBBF-AA90D620C2D6}"/>
              </a:ext>
            </a:extLst>
          </p:cNvPr>
          <p:cNvSpPr>
            <a:spLocks noGrp="1"/>
          </p:cNvSpPr>
          <p:nvPr>
            <p:ph type="title"/>
          </p:nvPr>
        </p:nvSpPr>
        <p:spPr/>
        <p:txBody>
          <a:bodyPr/>
          <a:lstStyle>
            <a:lvl1pPr>
              <a:defRPr>
                <a:latin typeface="+mn-lt"/>
              </a:defRPr>
            </a:lvl1pPr>
          </a:lstStyle>
          <a:p>
            <a:r>
              <a:rPr lang="zh-TW" altLang="en-US" dirty="0"/>
              <a:t>按一下以編輯母片標題樣式</a:t>
            </a:r>
          </a:p>
        </p:txBody>
      </p:sp>
      <p:sp>
        <p:nvSpPr>
          <p:cNvPr id="3" name="內容版面配置區 2">
            <a:extLst>
              <a:ext uri="{FF2B5EF4-FFF2-40B4-BE49-F238E27FC236}">
                <a16:creationId xmlns:a16="http://schemas.microsoft.com/office/drawing/2014/main" id="{B332B175-37F2-4849-9601-9D7975B2E380}"/>
              </a:ext>
            </a:extLst>
          </p:cNvPr>
          <p:cNvSpPr>
            <a:spLocks noGrp="1"/>
          </p:cNvSpPr>
          <p:nvPr>
            <p:ph idx="1"/>
          </p:nvPr>
        </p:nvSpPr>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C30AE147-66CB-4FDD-AAAA-310B5BD7DBAD}"/>
              </a:ext>
            </a:extLst>
          </p:cNvPr>
          <p:cNvSpPr>
            <a:spLocks noGrp="1"/>
          </p:cNvSpPr>
          <p:nvPr>
            <p:ph type="dt" sz="half" idx="10"/>
          </p:nvPr>
        </p:nvSpPr>
        <p:spPr/>
        <p:txBody>
          <a:bodyPr/>
          <a:lstStyle/>
          <a:p>
            <a:fld id="{232D8551-A4BE-4B6A-A4FC-2E76B947BA6A}" type="datetimeFigureOut">
              <a:rPr lang="zh-TW" altLang="en-US" smtClean="0"/>
              <a:t>2025/11/3</a:t>
            </a:fld>
            <a:endParaRPr lang="zh-TW" altLang="en-US"/>
          </a:p>
        </p:txBody>
      </p:sp>
      <p:sp>
        <p:nvSpPr>
          <p:cNvPr id="5" name="頁尾版面配置區 4">
            <a:extLst>
              <a:ext uri="{FF2B5EF4-FFF2-40B4-BE49-F238E27FC236}">
                <a16:creationId xmlns:a16="http://schemas.microsoft.com/office/drawing/2014/main" id="{DBFC8B2B-DF6D-4FED-B530-052D413EE9A9}"/>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52A6675-3664-4381-A56F-D7469C455CD0}"/>
              </a:ext>
            </a:extLst>
          </p:cNvPr>
          <p:cNvSpPr>
            <a:spLocks noGrp="1"/>
          </p:cNvSpPr>
          <p:nvPr>
            <p:ph type="sldNum" sz="quarter" idx="12"/>
          </p:nvPr>
        </p:nvSpPr>
        <p:spPr/>
        <p:txBody>
          <a:bodyPr/>
          <a:lstStyle/>
          <a:p>
            <a:fld id="{34C0D83B-BCB6-4DA2-AF47-4F5FEB2645D9}" type="slidenum">
              <a:rPr lang="zh-TW" altLang="en-US" smtClean="0"/>
              <a:t>‹#›</a:t>
            </a:fld>
            <a:endParaRPr lang="zh-TW" altLang="en-US"/>
          </a:p>
        </p:txBody>
      </p:sp>
    </p:spTree>
    <p:extLst>
      <p:ext uri="{BB962C8B-B14F-4D97-AF65-F5344CB8AC3E}">
        <p14:creationId xmlns:p14="http://schemas.microsoft.com/office/powerpoint/2010/main" val="11469026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5FDC381-7B7C-4A50-BB8E-EC4435EEA3ED}"/>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61E0F9CD-AA40-42B1-A403-4CE5B1951BB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30832B99-F07E-484E-BA33-04AA663CB4AF}"/>
              </a:ext>
            </a:extLst>
          </p:cNvPr>
          <p:cNvSpPr>
            <a:spLocks noGrp="1"/>
          </p:cNvSpPr>
          <p:nvPr>
            <p:ph type="dt" sz="half" idx="10"/>
          </p:nvPr>
        </p:nvSpPr>
        <p:spPr/>
        <p:txBody>
          <a:bodyPr/>
          <a:lstStyle/>
          <a:p>
            <a:fld id="{232D8551-A4BE-4B6A-A4FC-2E76B947BA6A}" type="datetimeFigureOut">
              <a:rPr lang="zh-TW" altLang="en-US" smtClean="0"/>
              <a:t>2025/11/3</a:t>
            </a:fld>
            <a:endParaRPr lang="zh-TW" altLang="en-US"/>
          </a:p>
        </p:txBody>
      </p:sp>
      <p:sp>
        <p:nvSpPr>
          <p:cNvPr id="5" name="頁尾版面配置區 4">
            <a:extLst>
              <a:ext uri="{FF2B5EF4-FFF2-40B4-BE49-F238E27FC236}">
                <a16:creationId xmlns:a16="http://schemas.microsoft.com/office/drawing/2014/main" id="{F90F5057-29FE-4002-8BEB-B23BF2BC976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D8EE934-8D54-45BE-9C37-E393D7DBE07E}"/>
              </a:ext>
            </a:extLst>
          </p:cNvPr>
          <p:cNvSpPr>
            <a:spLocks noGrp="1"/>
          </p:cNvSpPr>
          <p:nvPr>
            <p:ph type="sldNum" sz="quarter" idx="12"/>
          </p:nvPr>
        </p:nvSpPr>
        <p:spPr/>
        <p:txBody>
          <a:bodyPr/>
          <a:lstStyle/>
          <a:p>
            <a:fld id="{34C0D83B-BCB6-4DA2-AF47-4F5FEB2645D9}" type="slidenum">
              <a:rPr lang="zh-TW" altLang="en-US" smtClean="0"/>
              <a:t>‹#›</a:t>
            </a:fld>
            <a:endParaRPr lang="zh-TW" altLang="en-US"/>
          </a:p>
        </p:txBody>
      </p:sp>
    </p:spTree>
    <p:extLst>
      <p:ext uri="{BB962C8B-B14F-4D97-AF65-F5344CB8AC3E}">
        <p14:creationId xmlns:p14="http://schemas.microsoft.com/office/powerpoint/2010/main" val="4483245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7313C6F-E668-4554-BB12-3EEA1C898BD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1521E178-6007-4BD3-9E99-BB3027F3B4C7}"/>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4611F8F4-D77E-4EC1-97AF-E7402DD63430}"/>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B33BD469-3C50-471D-BF0B-CB9DAAC83D8E}"/>
              </a:ext>
            </a:extLst>
          </p:cNvPr>
          <p:cNvSpPr>
            <a:spLocks noGrp="1"/>
          </p:cNvSpPr>
          <p:nvPr>
            <p:ph type="dt" sz="half" idx="10"/>
          </p:nvPr>
        </p:nvSpPr>
        <p:spPr/>
        <p:txBody>
          <a:bodyPr/>
          <a:lstStyle/>
          <a:p>
            <a:fld id="{232D8551-A4BE-4B6A-A4FC-2E76B947BA6A}" type="datetimeFigureOut">
              <a:rPr lang="zh-TW" altLang="en-US" smtClean="0"/>
              <a:t>2025/11/3</a:t>
            </a:fld>
            <a:endParaRPr lang="zh-TW" altLang="en-US"/>
          </a:p>
        </p:txBody>
      </p:sp>
      <p:sp>
        <p:nvSpPr>
          <p:cNvPr id="6" name="頁尾版面配置區 5">
            <a:extLst>
              <a:ext uri="{FF2B5EF4-FFF2-40B4-BE49-F238E27FC236}">
                <a16:creationId xmlns:a16="http://schemas.microsoft.com/office/drawing/2014/main" id="{3025FD5D-884D-4266-B74B-FEC95708F49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E20E63A-A9BB-408C-8CFF-72D6DECA1B72}"/>
              </a:ext>
            </a:extLst>
          </p:cNvPr>
          <p:cNvSpPr>
            <a:spLocks noGrp="1"/>
          </p:cNvSpPr>
          <p:nvPr>
            <p:ph type="sldNum" sz="quarter" idx="12"/>
          </p:nvPr>
        </p:nvSpPr>
        <p:spPr/>
        <p:txBody>
          <a:bodyPr/>
          <a:lstStyle/>
          <a:p>
            <a:fld id="{34C0D83B-BCB6-4DA2-AF47-4F5FEB2645D9}" type="slidenum">
              <a:rPr lang="zh-TW" altLang="en-US" smtClean="0"/>
              <a:t>‹#›</a:t>
            </a:fld>
            <a:endParaRPr lang="zh-TW" altLang="en-US"/>
          </a:p>
        </p:txBody>
      </p:sp>
    </p:spTree>
    <p:extLst>
      <p:ext uri="{BB962C8B-B14F-4D97-AF65-F5344CB8AC3E}">
        <p14:creationId xmlns:p14="http://schemas.microsoft.com/office/powerpoint/2010/main" val="2873887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25EF29-B9D6-472E-B9A6-5271E68BB365}"/>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A17EC9EB-8942-463F-BDF0-8DA3CDFFCA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D0C5B1D1-61DC-4DF6-BEC6-B82F401622F0}"/>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11F4D7CE-9D8B-4931-84D0-7287596720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DBEDFF0D-C456-4741-9B05-44C0BFEC9AA6}"/>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6E754A65-6526-460D-B689-4D31BA68A18B}"/>
              </a:ext>
            </a:extLst>
          </p:cNvPr>
          <p:cNvSpPr>
            <a:spLocks noGrp="1"/>
          </p:cNvSpPr>
          <p:nvPr>
            <p:ph type="dt" sz="half" idx="10"/>
          </p:nvPr>
        </p:nvSpPr>
        <p:spPr/>
        <p:txBody>
          <a:bodyPr/>
          <a:lstStyle/>
          <a:p>
            <a:fld id="{232D8551-A4BE-4B6A-A4FC-2E76B947BA6A}" type="datetimeFigureOut">
              <a:rPr lang="zh-TW" altLang="en-US" smtClean="0"/>
              <a:t>2025/11/3</a:t>
            </a:fld>
            <a:endParaRPr lang="zh-TW" altLang="en-US"/>
          </a:p>
        </p:txBody>
      </p:sp>
      <p:sp>
        <p:nvSpPr>
          <p:cNvPr id="8" name="頁尾版面配置區 7">
            <a:extLst>
              <a:ext uri="{FF2B5EF4-FFF2-40B4-BE49-F238E27FC236}">
                <a16:creationId xmlns:a16="http://schemas.microsoft.com/office/drawing/2014/main" id="{44A45434-60AC-461C-A42F-3FC6BCB2C312}"/>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1C47B367-B914-440E-B248-9E937320FE84}"/>
              </a:ext>
            </a:extLst>
          </p:cNvPr>
          <p:cNvSpPr>
            <a:spLocks noGrp="1"/>
          </p:cNvSpPr>
          <p:nvPr>
            <p:ph type="sldNum" sz="quarter" idx="12"/>
          </p:nvPr>
        </p:nvSpPr>
        <p:spPr/>
        <p:txBody>
          <a:bodyPr/>
          <a:lstStyle/>
          <a:p>
            <a:fld id="{34C0D83B-BCB6-4DA2-AF47-4F5FEB2645D9}" type="slidenum">
              <a:rPr lang="zh-TW" altLang="en-US" smtClean="0"/>
              <a:t>‹#›</a:t>
            </a:fld>
            <a:endParaRPr lang="zh-TW" altLang="en-US"/>
          </a:p>
        </p:txBody>
      </p:sp>
    </p:spTree>
    <p:extLst>
      <p:ext uri="{BB962C8B-B14F-4D97-AF65-F5344CB8AC3E}">
        <p14:creationId xmlns:p14="http://schemas.microsoft.com/office/powerpoint/2010/main" val="1797228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FD274C-AB84-4AA2-88AB-1E83700FEE97}"/>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AE539EEB-5954-4F37-AF34-B07DAF65ABDB}"/>
              </a:ext>
            </a:extLst>
          </p:cNvPr>
          <p:cNvSpPr>
            <a:spLocks noGrp="1"/>
          </p:cNvSpPr>
          <p:nvPr>
            <p:ph type="dt" sz="half" idx="10"/>
          </p:nvPr>
        </p:nvSpPr>
        <p:spPr/>
        <p:txBody>
          <a:bodyPr/>
          <a:lstStyle/>
          <a:p>
            <a:fld id="{232D8551-A4BE-4B6A-A4FC-2E76B947BA6A}" type="datetimeFigureOut">
              <a:rPr lang="zh-TW" altLang="en-US" smtClean="0"/>
              <a:t>2025/11/3</a:t>
            </a:fld>
            <a:endParaRPr lang="zh-TW" altLang="en-US"/>
          </a:p>
        </p:txBody>
      </p:sp>
      <p:sp>
        <p:nvSpPr>
          <p:cNvPr id="4" name="頁尾版面配置區 3">
            <a:extLst>
              <a:ext uri="{FF2B5EF4-FFF2-40B4-BE49-F238E27FC236}">
                <a16:creationId xmlns:a16="http://schemas.microsoft.com/office/drawing/2014/main" id="{0F4CE6FD-E134-4E38-A86A-23D896FCDA48}"/>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3D58E2E3-67DC-4F5F-95CC-E319C1814452}"/>
              </a:ext>
            </a:extLst>
          </p:cNvPr>
          <p:cNvSpPr>
            <a:spLocks noGrp="1"/>
          </p:cNvSpPr>
          <p:nvPr>
            <p:ph type="sldNum" sz="quarter" idx="12"/>
          </p:nvPr>
        </p:nvSpPr>
        <p:spPr/>
        <p:txBody>
          <a:bodyPr/>
          <a:lstStyle/>
          <a:p>
            <a:fld id="{34C0D83B-BCB6-4DA2-AF47-4F5FEB2645D9}" type="slidenum">
              <a:rPr lang="zh-TW" altLang="en-US" smtClean="0"/>
              <a:t>‹#›</a:t>
            </a:fld>
            <a:endParaRPr lang="zh-TW" altLang="en-US"/>
          </a:p>
        </p:txBody>
      </p:sp>
    </p:spTree>
    <p:extLst>
      <p:ext uri="{BB962C8B-B14F-4D97-AF65-F5344CB8AC3E}">
        <p14:creationId xmlns:p14="http://schemas.microsoft.com/office/powerpoint/2010/main" val="20472606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4F93AE29-544E-4A4C-8E7B-719570E70CA3}"/>
              </a:ext>
            </a:extLst>
          </p:cNvPr>
          <p:cNvSpPr>
            <a:spLocks noGrp="1"/>
          </p:cNvSpPr>
          <p:nvPr>
            <p:ph type="dt" sz="half" idx="10"/>
          </p:nvPr>
        </p:nvSpPr>
        <p:spPr/>
        <p:txBody>
          <a:bodyPr/>
          <a:lstStyle/>
          <a:p>
            <a:fld id="{232D8551-A4BE-4B6A-A4FC-2E76B947BA6A}" type="datetimeFigureOut">
              <a:rPr lang="zh-TW" altLang="en-US" smtClean="0"/>
              <a:t>2025/11/3</a:t>
            </a:fld>
            <a:endParaRPr lang="zh-TW" altLang="en-US"/>
          </a:p>
        </p:txBody>
      </p:sp>
      <p:sp>
        <p:nvSpPr>
          <p:cNvPr id="3" name="頁尾版面配置區 2">
            <a:extLst>
              <a:ext uri="{FF2B5EF4-FFF2-40B4-BE49-F238E27FC236}">
                <a16:creationId xmlns:a16="http://schemas.microsoft.com/office/drawing/2014/main" id="{00371B14-20A3-4776-AF96-67FA251DF895}"/>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37D02C73-AAEE-4FA4-B016-5330663A106D}"/>
              </a:ext>
            </a:extLst>
          </p:cNvPr>
          <p:cNvSpPr>
            <a:spLocks noGrp="1"/>
          </p:cNvSpPr>
          <p:nvPr>
            <p:ph type="sldNum" sz="quarter" idx="12"/>
          </p:nvPr>
        </p:nvSpPr>
        <p:spPr/>
        <p:txBody>
          <a:bodyPr/>
          <a:lstStyle/>
          <a:p>
            <a:fld id="{34C0D83B-BCB6-4DA2-AF47-4F5FEB2645D9}" type="slidenum">
              <a:rPr lang="zh-TW" altLang="en-US" smtClean="0"/>
              <a:t>‹#›</a:t>
            </a:fld>
            <a:endParaRPr lang="zh-TW" altLang="en-US"/>
          </a:p>
        </p:txBody>
      </p:sp>
    </p:spTree>
    <p:extLst>
      <p:ext uri="{BB962C8B-B14F-4D97-AF65-F5344CB8AC3E}">
        <p14:creationId xmlns:p14="http://schemas.microsoft.com/office/powerpoint/2010/main" val="6888828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8C9DE2-5042-4EF0-9B64-C02B0D59CB21}"/>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C99D112A-8809-42E3-B051-A8311F7CC5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8EC79B63-0414-4D0A-9B37-2B417F6C07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307D3DDE-2DB5-4DB8-ACC4-F0071A703FCE}"/>
              </a:ext>
            </a:extLst>
          </p:cNvPr>
          <p:cNvSpPr>
            <a:spLocks noGrp="1"/>
          </p:cNvSpPr>
          <p:nvPr>
            <p:ph type="dt" sz="half" idx="10"/>
          </p:nvPr>
        </p:nvSpPr>
        <p:spPr/>
        <p:txBody>
          <a:bodyPr/>
          <a:lstStyle/>
          <a:p>
            <a:fld id="{232D8551-A4BE-4B6A-A4FC-2E76B947BA6A}" type="datetimeFigureOut">
              <a:rPr lang="zh-TW" altLang="en-US" smtClean="0"/>
              <a:t>2025/11/3</a:t>
            </a:fld>
            <a:endParaRPr lang="zh-TW" altLang="en-US"/>
          </a:p>
        </p:txBody>
      </p:sp>
      <p:sp>
        <p:nvSpPr>
          <p:cNvPr id="6" name="頁尾版面配置區 5">
            <a:extLst>
              <a:ext uri="{FF2B5EF4-FFF2-40B4-BE49-F238E27FC236}">
                <a16:creationId xmlns:a16="http://schemas.microsoft.com/office/drawing/2014/main" id="{5AF74229-0F23-4956-B7A9-D1D9AB1BD43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88286500-089D-4587-BA38-7AF287F4B3B7}"/>
              </a:ext>
            </a:extLst>
          </p:cNvPr>
          <p:cNvSpPr>
            <a:spLocks noGrp="1"/>
          </p:cNvSpPr>
          <p:nvPr>
            <p:ph type="sldNum" sz="quarter" idx="12"/>
          </p:nvPr>
        </p:nvSpPr>
        <p:spPr/>
        <p:txBody>
          <a:bodyPr/>
          <a:lstStyle/>
          <a:p>
            <a:fld id="{34C0D83B-BCB6-4DA2-AF47-4F5FEB2645D9}" type="slidenum">
              <a:rPr lang="zh-TW" altLang="en-US" smtClean="0"/>
              <a:t>‹#›</a:t>
            </a:fld>
            <a:endParaRPr lang="zh-TW" altLang="en-US"/>
          </a:p>
        </p:txBody>
      </p:sp>
    </p:spTree>
    <p:extLst>
      <p:ext uri="{BB962C8B-B14F-4D97-AF65-F5344CB8AC3E}">
        <p14:creationId xmlns:p14="http://schemas.microsoft.com/office/powerpoint/2010/main" val="2708411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37309C1-803E-486D-A06C-B52CA232ECE3}"/>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CC41D49E-4396-4540-8404-7A42AF7795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8F6D5FF0-0696-4A3D-8B21-75EBDD608A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77AB1B93-E672-44E9-BA5F-65FF6DB680AF}"/>
              </a:ext>
            </a:extLst>
          </p:cNvPr>
          <p:cNvSpPr>
            <a:spLocks noGrp="1"/>
          </p:cNvSpPr>
          <p:nvPr>
            <p:ph type="dt" sz="half" idx="10"/>
          </p:nvPr>
        </p:nvSpPr>
        <p:spPr/>
        <p:txBody>
          <a:bodyPr/>
          <a:lstStyle/>
          <a:p>
            <a:fld id="{232D8551-A4BE-4B6A-A4FC-2E76B947BA6A}" type="datetimeFigureOut">
              <a:rPr lang="zh-TW" altLang="en-US" smtClean="0"/>
              <a:t>2025/11/3</a:t>
            </a:fld>
            <a:endParaRPr lang="zh-TW" altLang="en-US"/>
          </a:p>
        </p:txBody>
      </p:sp>
      <p:sp>
        <p:nvSpPr>
          <p:cNvPr id="6" name="頁尾版面配置區 5">
            <a:extLst>
              <a:ext uri="{FF2B5EF4-FFF2-40B4-BE49-F238E27FC236}">
                <a16:creationId xmlns:a16="http://schemas.microsoft.com/office/drawing/2014/main" id="{FA945FD7-AA99-4C95-A2FF-C6BB1572A31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391139C-D029-44C2-9E50-CA219D7D1D74}"/>
              </a:ext>
            </a:extLst>
          </p:cNvPr>
          <p:cNvSpPr>
            <a:spLocks noGrp="1"/>
          </p:cNvSpPr>
          <p:nvPr>
            <p:ph type="sldNum" sz="quarter" idx="12"/>
          </p:nvPr>
        </p:nvSpPr>
        <p:spPr/>
        <p:txBody>
          <a:bodyPr/>
          <a:lstStyle/>
          <a:p>
            <a:fld id="{34C0D83B-BCB6-4DA2-AF47-4F5FEB2645D9}" type="slidenum">
              <a:rPr lang="zh-TW" altLang="en-US" smtClean="0"/>
              <a:t>‹#›</a:t>
            </a:fld>
            <a:endParaRPr lang="zh-TW" altLang="en-US"/>
          </a:p>
        </p:txBody>
      </p:sp>
    </p:spTree>
    <p:extLst>
      <p:ext uri="{BB962C8B-B14F-4D97-AF65-F5344CB8AC3E}">
        <p14:creationId xmlns:p14="http://schemas.microsoft.com/office/powerpoint/2010/main" val="14586352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DBDCBAB-B887-4A27-AB3A-F052EDF6180E}"/>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A6A1AF8F-1B1D-4867-8A8C-6560A7577B57}"/>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EEFBCD3-23C5-4DFA-B78E-FE8C275C919A}"/>
              </a:ext>
            </a:extLst>
          </p:cNvPr>
          <p:cNvSpPr>
            <a:spLocks noGrp="1"/>
          </p:cNvSpPr>
          <p:nvPr>
            <p:ph type="dt" sz="half" idx="10"/>
          </p:nvPr>
        </p:nvSpPr>
        <p:spPr/>
        <p:txBody>
          <a:bodyPr/>
          <a:lstStyle/>
          <a:p>
            <a:fld id="{232D8551-A4BE-4B6A-A4FC-2E76B947BA6A}" type="datetimeFigureOut">
              <a:rPr lang="zh-TW" altLang="en-US" smtClean="0"/>
              <a:t>2025/11/3</a:t>
            </a:fld>
            <a:endParaRPr lang="zh-TW" altLang="en-US"/>
          </a:p>
        </p:txBody>
      </p:sp>
      <p:sp>
        <p:nvSpPr>
          <p:cNvPr id="5" name="頁尾版面配置區 4">
            <a:extLst>
              <a:ext uri="{FF2B5EF4-FFF2-40B4-BE49-F238E27FC236}">
                <a16:creationId xmlns:a16="http://schemas.microsoft.com/office/drawing/2014/main" id="{8DAA67FB-FC9D-4EE4-B996-4A1F4EC4506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306363C-D752-419D-9F00-AFDDF9EE6795}"/>
              </a:ext>
            </a:extLst>
          </p:cNvPr>
          <p:cNvSpPr>
            <a:spLocks noGrp="1"/>
          </p:cNvSpPr>
          <p:nvPr>
            <p:ph type="sldNum" sz="quarter" idx="12"/>
          </p:nvPr>
        </p:nvSpPr>
        <p:spPr/>
        <p:txBody>
          <a:bodyPr/>
          <a:lstStyle/>
          <a:p>
            <a:fld id="{34C0D83B-BCB6-4DA2-AF47-4F5FEB2645D9}" type="slidenum">
              <a:rPr lang="zh-TW" altLang="en-US" smtClean="0"/>
              <a:t>‹#›</a:t>
            </a:fld>
            <a:endParaRPr lang="zh-TW" altLang="en-US"/>
          </a:p>
        </p:txBody>
      </p:sp>
    </p:spTree>
    <p:extLst>
      <p:ext uri="{BB962C8B-B14F-4D97-AF65-F5344CB8AC3E}">
        <p14:creationId xmlns:p14="http://schemas.microsoft.com/office/powerpoint/2010/main" val="25143692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0821D3CC-55F3-4697-802E-99EBCFDA52B1}"/>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0790A6F9-297D-4456-BF35-4CF10721F5D7}"/>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C2F6BC1-CA7D-43A1-8252-00E3D27D80A9}"/>
              </a:ext>
            </a:extLst>
          </p:cNvPr>
          <p:cNvSpPr>
            <a:spLocks noGrp="1"/>
          </p:cNvSpPr>
          <p:nvPr>
            <p:ph type="dt" sz="half" idx="10"/>
          </p:nvPr>
        </p:nvSpPr>
        <p:spPr/>
        <p:txBody>
          <a:bodyPr/>
          <a:lstStyle/>
          <a:p>
            <a:fld id="{232D8551-A4BE-4B6A-A4FC-2E76B947BA6A}" type="datetimeFigureOut">
              <a:rPr lang="zh-TW" altLang="en-US" smtClean="0"/>
              <a:t>2025/11/3</a:t>
            </a:fld>
            <a:endParaRPr lang="zh-TW" altLang="en-US"/>
          </a:p>
        </p:txBody>
      </p:sp>
      <p:sp>
        <p:nvSpPr>
          <p:cNvPr id="5" name="頁尾版面配置區 4">
            <a:extLst>
              <a:ext uri="{FF2B5EF4-FFF2-40B4-BE49-F238E27FC236}">
                <a16:creationId xmlns:a16="http://schemas.microsoft.com/office/drawing/2014/main" id="{F20D74CD-0BAD-4932-9EB8-EF61470C498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57A8151-40E2-49E9-9B0D-553ADD397485}"/>
              </a:ext>
            </a:extLst>
          </p:cNvPr>
          <p:cNvSpPr>
            <a:spLocks noGrp="1"/>
          </p:cNvSpPr>
          <p:nvPr>
            <p:ph type="sldNum" sz="quarter" idx="12"/>
          </p:nvPr>
        </p:nvSpPr>
        <p:spPr/>
        <p:txBody>
          <a:bodyPr/>
          <a:lstStyle/>
          <a:p>
            <a:fld id="{34C0D83B-BCB6-4DA2-AF47-4F5FEB2645D9}" type="slidenum">
              <a:rPr lang="zh-TW" altLang="en-US" smtClean="0"/>
              <a:t>‹#›</a:t>
            </a:fld>
            <a:endParaRPr lang="zh-TW" altLang="en-US"/>
          </a:p>
        </p:txBody>
      </p:sp>
    </p:spTree>
    <p:extLst>
      <p:ext uri="{BB962C8B-B14F-4D97-AF65-F5344CB8AC3E}">
        <p14:creationId xmlns:p14="http://schemas.microsoft.com/office/powerpoint/2010/main" val="40777732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D56FBFEE-D4F9-4A0C-96CF-FF8234778818}"/>
              </a:ext>
            </a:extLst>
          </p:cNvPr>
          <p:cNvSpPr/>
          <p:nvPr userDrawn="1"/>
        </p:nvSpPr>
        <p:spPr>
          <a:xfrm>
            <a:off x="0" y="6356350"/>
            <a:ext cx="12192000" cy="50165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標題版面配置區 1">
            <a:extLst>
              <a:ext uri="{FF2B5EF4-FFF2-40B4-BE49-F238E27FC236}">
                <a16:creationId xmlns:a16="http://schemas.microsoft.com/office/drawing/2014/main" id="{70FC8CE9-56DF-420D-8EEE-5417DF46AD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85E55E24-4E18-4E29-8AFA-A9FA74C4A3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AEB74F0-5C0C-4540-8D37-3AE97C986D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2D8551-A4BE-4B6A-A4FC-2E76B947BA6A}" type="datetimeFigureOut">
              <a:rPr lang="zh-TW" altLang="en-US" smtClean="0"/>
              <a:t>2025/11/3</a:t>
            </a:fld>
            <a:endParaRPr lang="zh-TW" altLang="en-US"/>
          </a:p>
        </p:txBody>
      </p:sp>
      <p:sp>
        <p:nvSpPr>
          <p:cNvPr id="5" name="頁尾版面配置區 4">
            <a:extLst>
              <a:ext uri="{FF2B5EF4-FFF2-40B4-BE49-F238E27FC236}">
                <a16:creationId xmlns:a16="http://schemas.microsoft.com/office/drawing/2014/main" id="{13708A54-7F7E-413D-B258-772ECF4BD0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F2FD05AD-542F-4D8A-8CC6-3D802CCAD9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C0D83B-BCB6-4DA2-AF47-4F5FEB2645D9}" type="slidenum">
              <a:rPr lang="zh-TW" altLang="en-US" smtClean="0"/>
              <a:t>‹#›</a:t>
            </a:fld>
            <a:endParaRPr lang="zh-TW" altLang="en-US"/>
          </a:p>
        </p:txBody>
      </p:sp>
      <p:pic>
        <p:nvPicPr>
          <p:cNvPr id="7" name="圖片 6">
            <a:extLst>
              <a:ext uri="{FF2B5EF4-FFF2-40B4-BE49-F238E27FC236}">
                <a16:creationId xmlns:a16="http://schemas.microsoft.com/office/drawing/2014/main" id="{F60DCA81-2F90-4F7E-B082-0049E0D3089A}"/>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52399" y="6575171"/>
            <a:ext cx="685801" cy="146304"/>
          </a:xfrm>
          <a:prstGeom prst="rect">
            <a:avLst/>
          </a:prstGeom>
        </p:spPr>
      </p:pic>
    </p:spTree>
    <p:extLst>
      <p:ext uri="{BB962C8B-B14F-4D97-AF65-F5344CB8AC3E}">
        <p14:creationId xmlns:p14="http://schemas.microsoft.com/office/powerpoint/2010/main" val="3593816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datacamp.com/tutorial/multilayer-perceptrons-in-machine-learning"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https://www.datacamp.com/tutorial/multilayer-perceptrons-in-machine-learnin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s://docs.pytorch.org/tutorials/beginner/basics/quickstart_tutorial.html" TargetMode="Externa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D52A563-CCDC-6A34-46FE-59B29B2E0E60}"/>
              </a:ext>
            </a:extLst>
          </p:cNvPr>
          <p:cNvSpPr>
            <a:spLocks noGrp="1"/>
          </p:cNvSpPr>
          <p:nvPr>
            <p:ph type="title"/>
          </p:nvPr>
        </p:nvSpPr>
        <p:spPr>
          <a:xfrm>
            <a:off x="838200" y="-107185"/>
            <a:ext cx="10515600" cy="1325563"/>
          </a:xfrm>
        </p:spPr>
        <p:txBody>
          <a:bodyPr/>
          <a:lstStyle/>
          <a:p>
            <a:r>
              <a:rPr lang="en-US" altLang="zh-TW" b="1" dirty="0"/>
              <a:t>Multilayer Perceptron</a:t>
            </a:r>
            <a:r>
              <a:rPr lang="zh-TW" altLang="en-US" b="1" dirty="0"/>
              <a:t> </a:t>
            </a:r>
            <a:r>
              <a:rPr lang="zh-TW" altLang="en-US" b="1" i="0" dirty="0">
                <a:solidFill>
                  <a:srgbClr val="242424"/>
                </a:solidFill>
                <a:effectLst/>
                <a:highlight>
                  <a:srgbClr val="FFFFFF"/>
                </a:highlight>
                <a:latin typeface="微軟正黑體" panose="020B0604030504040204" pitchFamily="34" charset="-120"/>
                <a:ea typeface="微軟正黑體" panose="020B0604030504040204" pitchFamily="34" charset="-120"/>
              </a:rPr>
              <a:t>多層感知機</a:t>
            </a:r>
            <a:endParaRPr lang="zh-TW" altLang="en-US" b="1" dirty="0">
              <a:latin typeface="微軟正黑體" panose="020B0604030504040204" pitchFamily="34" charset="-120"/>
              <a:ea typeface="微軟正黑體" panose="020B0604030504040204" pitchFamily="34" charset="-120"/>
            </a:endParaRPr>
          </a:p>
        </p:txBody>
      </p:sp>
      <p:sp>
        <p:nvSpPr>
          <p:cNvPr id="3" name="內容版面配置區 2">
            <a:extLst>
              <a:ext uri="{FF2B5EF4-FFF2-40B4-BE49-F238E27FC236}">
                <a16:creationId xmlns:a16="http://schemas.microsoft.com/office/drawing/2014/main" id="{47E652FD-F4AA-A553-C505-9FA57B581E18}"/>
              </a:ext>
            </a:extLst>
          </p:cNvPr>
          <p:cNvSpPr>
            <a:spLocks noGrp="1"/>
          </p:cNvSpPr>
          <p:nvPr>
            <p:ph idx="1"/>
          </p:nvPr>
        </p:nvSpPr>
        <p:spPr>
          <a:xfrm>
            <a:off x="838200" y="1022701"/>
            <a:ext cx="10515600" cy="5207770"/>
          </a:xfrm>
        </p:spPr>
        <p:txBody>
          <a:bodyPr>
            <a:noAutofit/>
          </a:bodyPr>
          <a:lstStyle/>
          <a:p>
            <a:r>
              <a:rPr lang="en-US" altLang="zh-TW" sz="2000" b="0" i="0" dirty="0">
                <a:solidFill>
                  <a:srgbClr val="05192D"/>
                </a:solidFill>
                <a:effectLst/>
                <a:highlight>
                  <a:srgbClr val="FFFFFF"/>
                </a:highlight>
                <a:latin typeface="Studio-Feixen-Sans"/>
              </a:rPr>
              <a:t>A multilayer perceptron is a type of feedforward neural network consisting of fully connected neurons with a nonlinear kind of activation function. It is widely used to distinguish data that is not linearly separable.</a:t>
            </a:r>
          </a:p>
          <a:p>
            <a:pPr algn="l" rtl="0"/>
            <a:r>
              <a:rPr lang="en-US" altLang="zh-TW" sz="2000" b="1" i="0" dirty="0">
                <a:solidFill>
                  <a:srgbClr val="05192D"/>
                </a:solidFill>
                <a:effectLst/>
                <a:highlight>
                  <a:srgbClr val="FFFFFF"/>
                </a:highlight>
                <a:latin typeface="Studio-Feixen-Sans"/>
              </a:rPr>
              <a:t>Input layer</a:t>
            </a:r>
            <a:r>
              <a:rPr lang="zh-TW" altLang="en-US" sz="2000" b="1" i="0" dirty="0">
                <a:solidFill>
                  <a:srgbClr val="05192D"/>
                </a:solidFill>
                <a:effectLst/>
                <a:highlight>
                  <a:srgbClr val="FFFFFF"/>
                </a:highlight>
                <a:latin typeface="Studio-Feixen-Sans"/>
              </a:rPr>
              <a:t> </a:t>
            </a:r>
            <a:r>
              <a:rPr lang="en-US" altLang="zh-TW" sz="2000" b="0" i="0" dirty="0">
                <a:solidFill>
                  <a:srgbClr val="05192D"/>
                </a:solidFill>
                <a:effectLst/>
                <a:highlight>
                  <a:srgbClr val="FFFFFF"/>
                </a:highlight>
                <a:latin typeface="Studio-Feixen-Sans"/>
              </a:rPr>
              <a:t>The input layer consists of nodes or neurons that receive the initial input data. Each neuron represents a feature or dimension of the input data. The number of neurons in the input layer is determined by the dimensionality of the input data.</a:t>
            </a:r>
          </a:p>
          <a:p>
            <a:pPr algn="l" rtl="0"/>
            <a:r>
              <a:rPr lang="en-US" altLang="zh-TW" sz="2000" b="1" i="0" dirty="0">
                <a:solidFill>
                  <a:srgbClr val="05192D"/>
                </a:solidFill>
                <a:effectLst/>
                <a:highlight>
                  <a:srgbClr val="FFFFFF"/>
                </a:highlight>
                <a:latin typeface="Studio-Feixen-Sans"/>
              </a:rPr>
              <a:t>Hidden layer</a:t>
            </a:r>
            <a:r>
              <a:rPr lang="zh-TW" altLang="en-US" sz="2000" b="1" i="0" dirty="0">
                <a:solidFill>
                  <a:srgbClr val="05192D"/>
                </a:solidFill>
                <a:effectLst/>
                <a:highlight>
                  <a:srgbClr val="FFFFFF"/>
                </a:highlight>
                <a:latin typeface="Studio-Feixen-Sans"/>
              </a:rPr>
              <a:t> </a:t>
            </a:r>
            <a:r>
              <a:rPr lang="en-US" altLang="zh-TW" sz="2000" b="0" i="0" dirty="0">
                <a:solidFill>
                  <a:srgbClr val="05192D"/>
                </a:solidFill>
                <a:effectLst/>
                <a:highlight>
                  <a:srgbClr val="FFFFFF"/>
                </a:highlight>
                <a:latin typeface="Studio-Feixen-Sans"/>
              </a:rPr>
              <a:t>Between the input and output layers, there can be one or more layers of neurons. Each neuron in a hidden layer receives inputs from all neurons in the previous layer (either the input layer or another hidden layer) and produces an output that is passed to the next layer. The number of hidden layers and the number of neurons in each hidden layer are hyperparameters that need to be determined during the model design phase.</a:t>
            </a:r>
          </a:p>
          <a:p>
            <a:pPr algn="l" rtl="0"/>
            <a:r>
              <a:rPr lang="en-US" altLang="zh-TW" sz="2000" b="1" i="0" dirty="0">
                <a:solidFill>
                  <a:srgbClr val="05192D"/>
                </a:solidFill>
                <a:effectLst/>
                <a:highlight>
                  <a:srgbClr val="FFFFFF"/>
                </a:highlight>
                <a:latin typeface="Studio-Feixen-Sans"/>
              </a:rPr>
              <a:t>Output layer</a:t>
            </a:r>
            <a:r>
              <a:rPr lang="zh-TW" altLang="en-US" sz="2000" b="1" i="0" dirty="0">
                <a:solidFill>
                  <a:srgbClr val="05192D"/>
                </a:solidFill>
                <a:effectLst/>
                <a:highlight>
                  <a:srgbClr val="FFFFFF"/>
                </a:highlight>
                <a:latin typeface="Studio-Feixen-Sans"/>
              </a:rPr>
              <a:t> </a:t>
            </a:r>
            <a:r>
              <a:rPr lang="en-US" altLang="zh-TW" sz="2000" b="0" i="0" dirty="0">
                <a:solidFill>
                  <a:srgbClr val="05192D"/>
                </a:solidFill>
                <a:effectLst/>
                <a:highlight>
                  <a:srgbClr val="FFFFFF"/>
                </a:highlight>
                <a:latin typeface="Studio-Feixen-Sans"/>
              </a:rPr>
              <a:t>This layer consists of neurons that produce the final output of the network. The number of neurons in the output layer depends on the nature of the task. In binary classification, there may be either one or two neurons depending on the activation function and representing the probability of belonging to one class; while in multi-class classification tasks, there can be multiple neurons in the output layer.</a:t>
            </a:r>
          </a:p>
        </p:txBody>
      </p:sp>
      <p:sp>
        <p:nvSpPr>
          <p:cNvPr id="5" name="文字方塊 4">
            <a:extLst>
              <a:ext uri="{FF2B5EF4-FFF2-40B4-BE49-F238E27FC236}">
                <a16:creationId xmlns:a16="http://schemas.microsoft.com/office/drawing/2014/main" id="{18489450-3B0F-A664-1B2C-68F8FD831FF3}"/>
              </a:ext>
            </a:extLst>
          </p:cNvPr>
          <p:cNvSpPr txBox="1"/>
          <p:nvPr/>
        </p:nvSpPr>
        <p:spPr>
          <a:xfrm>
            <a:off x="1093693" y="6412345"/>
            <a:ext cx="10865224" cy="646331"/>
          </a:xfrm>
          <a:prstGeom prst="rect">
            <a:avLst/>
          </a:prstGeom>
          <a:noFill/>
        </p:spPr>
        <p:txBody>
          <a:bodyPr wrap="square">
            <a:spAutoFit/>
          </a:bodyPr>
          <a:lstStyle/>
          <a:p>
            <a:r>
              <a:rPr lang="zh-TW" altLang="en-US" dirty="0">
                <a:hlinkClick r:id="rId2"/>
              </a:rPr>
              <a:t>https://www.datacamp.com/tutorial/multilayer-perceptrons-in-machine-learning</a:t>
            </a:r>
            <a:endParaRPr lang="en-US" altLang="zh-TW" dirty="0"/>
          </a:p>
          <a:p>
            <a:endParaRPr lang="zh-TW" altLang="en-US" dirty="0"/>
          </a:p>
        </p:txBody>
      </p:sp>
    </p:spTree>
    <p:extLst>
      <p:ext uri="{BB962C8B-B14F-4D97-AF65-F5344CB8AC3E}">
        <p14:creationId xmlns:p14="http://schemas.microsoft.com/office/powerpoint/2010/main" val="12800068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47E652FD-F4AA-A553-C505-9FA57B581E18}"/>
              </a:ext>
            </a:extLst>
          </p:cNvPr>
          <p:cNvSpPr>
            <a:spLocks noGrp="1"/>
          </p:cNvSpPr>
          <p:nvPr>
            <p:ph idx="1"/>
          </p:nvPr>
        </p:nvSpPr>
        <p:spPr>
          <a:xfrm>
            <a:off x="838200" y="1022701"/>
            <a:ext cx="10515600" cy="5207770"/>
          </a:xfrm>
        </p:spPr>
        <p:txBody>
          <a:bodyPr>
            <a:noAutofit/>
          </a:bodyPr>
          <a:lstStyle/>
          <a:p>
            <a:r>
              <a:rPr lang="en-US" altLang="zh-TW" sz="2000" b="1" i="0" dirty="0">
                <a:solidFill>
                  <a:srgbClr val="05192D"/>
                </a:solidFill>
                <a:effectLst/>
                <a:highlight>
                  <a:srgbClr val="FFFFFF"/>
                </a:highlight>
                <a:latin typeface="Studio-Feixen-Sans"/>
              </a:rPr>
              <a:t>Weights</a:t>
            </a:r>
            <a:r>
              <a:rPr lang="zh-TW" altLang="en-US" sz="2000" b="1" i="0" dirty="0">
                <a:solidFill>
                  <a:srgbClr val="05192D"/>
                </a:solidFill>
                <a:effectLst/>
                <a:highlight>
                  <a:srgbClr val="FFFFFF"/>
                </a:highlight>
                <a:latin typeface="Studio-Feixen-Sans"/>
              </a:rPr>
              <a:t> </a:t>
            </a:r>
            <a:r>
              <a:rPr lang="en-US" altLang="zh-TW" sz="2000" b="0" i="0" dirty="0">
                <a:solidFill>
                  <a:srgbClr val="05192D"/>
                </a:solidFill>
                <a:effectLst/>
                <a:highlight>
                  <a:srgbClr val="FFFFFF"/>
                </a:highlight>
                <a:latin typeface="Studio-Feixen-Sans"/>
              </a:rPr>
              <a:t>Neurons in adjacent layers are fully connected to each other. Each connection has an associated weight, which determines the strength of the connection. These weights are learned during the training process.</a:t>
            </a:r>
          </a:p>
          <a:p>
            <a:r>
              <a:rPr lang="en-US" altLang="zh-TW" sz="2000" b="1" i="0" dirty="0">
                <a:solidFill>
                  <a:srgbClr val="05192D"/>
                </a:solidFill>
                <a:effectLst/>
                <a:highlight>
                  <a:srgbClr val="FFFFFF"/>
                </a:highlight>
                <a:latin typeface="Studio-Feixen-Sans"/>
              </a:rPr>
              <a:t>Bias Neurons</a:t>
            </a:r>
            <a:r>
              <a:rPr lang="zh-TW" altLang="en-US" sz="2000" b="1" i="0" dirty="0">
                <a:solidFill>
                  <a:srgbClr val="05192D"/>
                </a:solidFill>
                <a:effectLst/>
                <a:highlight>
                  <a:srgbClr val="FFFFFF"/>
                </a:highlight>
                <a:latin typeface="Studio-Feixen-Sans"/>
              </a:rPr>
              <a:t> </a:t>
            </a:r>
            <a:r>
              <a:rPr lang="en-US" altLang="zh-TW" sz="2000" b="0" i="0" dirty="0">
                <a:solidFill>
                  <a:srgbClr val="05192D"/>
                </a:solidFill>
                <a:effectLst/>
                <a:highlight>
                  <a:srgbClr val="FFFFFF"/>
                </a:highlight>
                <a:latin typeface="Studio-Feixen-Sans"/>
              </a:rPr>
              <a:t>In addition to the input and hidden neurons, each layer (except the input layer) usually includes a bias neuron that provides a constant input to the neurons in the next layer. The bias neuron has its own weight associated with each connection, which is also learned during training.</a:t>
            </a:r>
          </a:p>
          <a:p>
            <a:r>
              <a:rPr lang="en-US" altLang="zh-TW" sz="2000" b="1" i="0" dirty="0">
                <a:solidFill>
                  <a:srgbClr val="05192D"/>
                </a:solidFill>
                <a:effectLst/>
                <a:highlight>
                  <a:srgbClr val="FFFFFF"/>
                </a:highlight>
                <a:latin typeface="Studio-Feixen-Sans"/>
              </a:rPr>
              <a:t>Activation Function</a:t>
            </a:r>
            <a:r>
              <a:rPr lang="zh-TW" altLang="en-US" sz="2000" b="1" i="0" dirty="0">
                <a:solidFill>
                  <a:srgbClr val="05192D"/>
                </a:solidFill>
                <a:effectLst/>
                <a:highlight>
                  <a:srgbClr val="FFFFFF"/>
                </a:highlight>
                <a:latin typeface="Studio-Feixen-Sans"/>
              </a:rPr>
              <a:t> </a:t>
            </a:r>
            <a:r>
              <a:rPr lang="en-US" altLang="zh-TW" sz="2000" b="0" i="0" dirty="0">
                <a:solidFill>
                  <a:srgbClr val="05192D"/>
                </a:solidFill>
                <a:effectLst/>
                <a:highlight>
                  <a:srgbClr val="FFFFFF"/>
                </a:highlight>
                <a:latin typeface="Studio-Feixen-Sans"/>
              </a:rPr>
              <a:t>Typically, each neuron in the hidden layers and the output layer applies an activation function to its weighted sum of inputs. Common activation functions include sigmoid, tanh, </a:t>
            </a:r>
            <a:r>
              <a:rPr lang="en-US" altLang="zh-TW" sz="2000" b="0" i="0" dirty="0" err="1">
                <a:solidFill>
                  <a:srgbClr val="05192D"/>
                </a:solidFill>
                <a:effectLst/>
                <a:highlight>
                  <a:srgbClr val="FFFFFF"/>
                </a:highlight>
                <a:latin typeface="Studio-Feixen-Sans"/>
              </a:rPr>
              <a:t>ReLU</a:t>
            </a:r>
            <a:r>
              <a:rPr lang="en-US" altLang="zh-TW" sz="2000" b="0" i="0" dirty="0">
                <a:solidFill>
                  <a:srgbClr val="05192D"/>
                </a:solidFill>
                <a:effectLst/>
                <a:highlight>
                  <a:srgbClr val="FFFFFF"/>
                </a:highlight>
                <a:latin typeface="Studio-Feixen-Sans"/>
              </a:rPr>
              <a:t> (Rectified Linear Unit), and </a:t>
            </a:r>
            <a:r>
              <a:rPr lang="en-US" altLang="zh-TW" sz="2000" b="0" i="0" dirty="0" err="1">
                <a:solidFill>
                  <a:srgbClr val="05192D"/>
                </a:solidFill>
                <a:effectLst/>
                <a:highlight>
                  <a:srgbClr val="FFFFFF"/>
                </a:highlight>
                <a:latin typeface="Studio-Feixen-Sans"/>
              </a:rPr>
              <a:t>softmax</a:t>
            </a:r>
            <a:r>
              <a:rPr lang="en-US" altLang="zh-TW" sz="2000" b="0" i="0" dirty="0">
                <a:solidFill>
                  <a:srgbClr val="05192D"/>
                </a:solidFill>
                <a:effectLst/>
                <a:highlight>
                  <a:srgbClr val="FFFFFF"/>
                </a:highlight>
                <a:latin typeface="Studio-Feixen-Sans"/>
              </a:rPr>
              <a:t>. These functions introduce nonlinearity into the network, allowing it to learn complex patterns in the data.</a:t>
            </a:r>
          </a:p>
          <a:p>
            <a:r>
              <a:rPr lang="en-US" altLang="zh-TW" sz="2000" b="1" i="0" dirty="0">
                <a:solidFill>
                  <a:srgbClr val="05192D"/>
                </a:solidFill>
                <a:effectLst/>
                <a:highlight>
                  <a:srgbClr val="FFFFFF"/>
                </a:highlight>
                <a:latin typeface="Studio-Feixen-Sans"/>
              </a:rPr>
              <a:t>Training with Backpropagation</a:t>
            </a:r>
            <a:r>
              <a:rPr lang="zh-TW" altLang="en-US" sz="2000" b="1" i="0" dirty="0">
                <a:solidFill>
                  <a:srgbClr val="05192D"/>
                </a:solidFill>
                <a:effectLst/>
                <a:highlight>
                  <a:srgbClr val="FFFFFF"/>
                </a:highlight>
                <a:latin typeface="Studio-Feixen-Sans"/>
              </a:rPr>
              <a:t> </a:t>
            </a:r>
            <a:r>
              <a:rPr lang="en-US" altLang="zh-TW" sz="2000" b="0" i="0" dirty="0">
                <a:solidFill>
                  <a:srgbClr val="05192D"/>
                </a:solidFill>
                <a:effectLst/>
                <a:highlight>
                  <a:srgbClr val="FFFFFF"/>
                </a:highlight>
                <a:latin typeface="Studio-Feixen-Sans"/>
              </a:rPr>
              <a:t>MLPs are trained using the backpropagation algorithm, which computes gradients of a loss function with respect to the model's parameters and updates the parameters iteratively to minimize the loss.</a:t>
            </a:r>
          </a:p>
        </p:txBody>
      </p:sp>
      <p:sp>
        <p:nvSpPr>
          <p:cNvPr id="5" name="文字方塊 4">
            <a:extLst>
              <a:ext uri="{FF2B5EF4-FFF2-40B4-BE49-F238E27FC236}">
                <a16:creationId xmlns:a16="http://schemas.microsoft.com/office/drawing/2014/main" id="{18489450-3B0F-A664-1B2C-68F8FD831FF3}"/>
              </a:ext>
            </a:extLst>
          </p:cNvPr>
          <p:cNvSpPr txBox="1"/>
          <p:nvPr/>
        </p:nvSpPr>
        <p:spPr>
          <a:xfrm>
            <a:off x="1093693" y="6412345"/>
            <a:ext cx="10865224" cy="646331"/>
          </a:xfrm>
          <a:prstGeom prst="rect">
            <a:avLst/>
          </a:prstGeom>
          <a:noFill/>
        </p:spPr>
        <p:txBody>
          <a:bodyPr wrap="square">
            <a:spAutoFit/>
          </a:bodyPr>
          <a:lstStyle/>
          <a:p>
            <a:r>
              <a:rPr lang="zh-TW" altLang="en-US" dirty="0">
                <a:hlinkClick r:id="rId2"/>
              </a:rPr>
              <a:t>https://www.datacamp.com/tutorial/multilayer-perceptrons-in-machine-learning</a:t>
            </a:r>
            <a:endParaRPr lang="en-US" altLang="zh-TW" dirty="0"/>
          </a:p>
          <a:p>
            <a:endParaRPr lang="zh-TW" altLang="en-US" dirty="0"/>
          </a:p>
        </p:txBody>
      </p:sp>
    </p:spTree>
    <p:extLst>
      <p:ext uri="{BB962C8B-B14F-4D97-AF65-F5344CB8AC3E}">
        <p14:creationId xmlns:p14="http://schemas.microsoft.com/office/powerpoint/2010/main" val="1501631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48DAF8A-41C7-4F7F-9AA5-DA492C943CD9}"/>
              </a:ext>
            </a:extLst>
          </p:cNvPr>
          <p:cNvSpPr>
            <a:spLocks noGrp="1"/>
          </p:cNvSpPr>
          <p:nvPr/>
        </p:nvSpPr>
        <p:spPr>
          <a:xfrm>
            <a:off x="733425" y="481199"/>
            <a:ext cx="1072515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n-lt"/>
                <a:ea typeface="+mj-ea"/>
                <a:cs typeface="+mj-cs"/>
              </a:defRPr>
            </a:lvl1pPr>
          </a:lstStyle>
          <a:p>
            <a:r>
              <a:rPr lang="en-US" altLang="zh-TW" b="1" dirty="0"/>
              <a:t>Multi-Layer Perceptron</a:t>
            </a:r>
            <a:endParaRPr lang="zh-TW" altLang="en-US" sz="2800" dirty="0"/>
          </a:p>
        </p:txBody>
      </p:sp>
      <p:grpSp>
        <p:nvGrpSpPr>
          <p:cNvPr id="3" name="群組 2">
            <a:extLst>
              <a:ext uri="{FF2B5EF4-FFF2-40B4-BE49-F238E27FC236}">
                <a16:creationId xmlns:a16="http://schemas.microsoft.com/office/drawing/2014/main" id="{6182CE0E-D7D2-BC7B-7DFA-3DA5CDA8CE55}"/>
              </a:ext>
            </a:extLst>
          </p:cNvPr>
          <p:cNvGrpSpPr/>
          <p:nvPr/>
        </p:nvGrpSpPr>
        <p:grpSpPr>
          <a:xfrm>
            <a:off x="1065197" y="2142848"/>
            <a:ext cx="10393378" cy="4233952"/>
            <a:chOff x="899311" y="1724401"/>
            <a:chExt cx="10393378" cy="4233952"/>
          </a:xfrm>
        </p:grpSpPr>
        <p:sp>
          <p:nvSpPr>
            <p:cNvPr id="4" name="文字方塊 102">
              <a:extLst>
                <a:ext uri="{FF2B5EF4-FFF2-40B4-BE49-F238E27FC236}">
                  <a16:creationId xmlns:a16="http://schemas.microsoft.com/office/drawing/2014/main" id="{D0B754F1-CCBA-97D6-55FC-203A5F1BAB57}"/>
                </a:ext>
              </a:extLst>
            </p:cNvPr>
            <p:cNvSpPr txBox="1"/>
            <p:nvPr/>
          </p:nvSpPr>
          <p:spPr>
            <a:xfrm>
              <a:off x="3523885" y="4567462"/>
              <a:ext cx="677108" cy="860138"/>
            </a:xfrm>
            <a:prstGeom prst="rect">
              <a:avLst/>
            </a:prstGeom>
            <a:noFill/>
          </p:spPr>
          <p:txBody>
            <a:bodyPr vert="eaVert" wrap="squar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TW" altLang="en-US" sz="3200" b="1" dirty="0">
                  <a:sym typeface="Symbol" panose="05050102010706020507" pitchFamily="18" charset="2"/>
                </a:rPr>
                <a:t></a:t>
              </a:r>
              <a:endParaRPr lang="zh-TW" altLang="en-US" sz="3200" b="1" dirty="0"/>
            </a:p>
          </p:txBody>
        </p:sp>
        <p:sp>
          <p:nvSpPr>
            <p:cNvPr id="5" name="文字方塊 103">
              <a:extLst>
                <a:ext uri="{FF2B5EF4-FFF2-40B4-BE49-F238E27FC236}">
                  <a16:creationId xmlns:a16="http://schemas.microsoft.com/office/drawing/2014/main" id="{64C77A72-461F-B07A-0290-9D96DE3CCB1D}"/>
                </a:ext>
              </a:extLst>
            </p:cNvPr>
            <p:cNvSpPr txBox="1"/>
            <p:nvPr/>
          </p:nvSpPr>
          <p:spPr>
            <a:xfrm>
              <a:off x="6335331" y="4567462"/>
              <a:ext cx="677108" cy="860138"/>
            </a:xfrm>
            <a:prstGeom prst="rect">
              <a:avLst/>
            </a:prstGeom>
            <a:noFill/>
          </p:spPr>
          <p:txBody>
            <a:bodyPr vert="eaVert" wrap="squar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TW" altLang="en-US" sz="3200" b="1" dirty="0">
                  <a:sym typeface="Symbol" panose="05050102010706020507" pitchFamily="18" charset="2"/>
                </a:rPr>
                <a:t></a:t>
              </a:r>
              <a:endParaRPr lang="zh-TW" altLang="en-US" sz="3200" b="1" dirty="0"/>
            </a:p>
          </p:txBody>
        </p:sp>
        <p:sp>
          <p:nvSpPr>
            <p:cNvPr id="6" name="文字方塊 104">
              <a:extLst>
                <a:ext uri="{FF2B5EF4-FFF2-40B4-BE49-F238E27FC236}">
                  <a16:creationId xmlns:a16="http://schemas.microsoft.com/office/drawing/2014/main" id="{00A42AF8-D64F-4F8E-881D-7C76962A74D9}"/>
                </a:ext>
              </a:extLst>
            </p:cNvPr>
            <p:cNvSpPr txBox="1"/>
            <p:nvPr/>
          </p:nvSpPr>
          <p:spPr>
            <a:xfrm>
              <a:off x="4929608" y="4576880"/>
              <a:ext cx="677108" cy="842842"/>
            </a:xfrm>
            <a:prstGeom prst="rect">
              <a:avLst/>
            </a:prstGeom>
            <a:noFill/>
          </p:spPr>
          <p:txBody>
            <a:bodyPr vert="eaVert" wrap="squar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TW" altLang="en-US" sz="3200" b="1" dirty="0">
                  <a:sym typeface="Symbol" panose="05050102010706020507" pitchFamily="18" charset="2"/>
                </a:rPr>
                <a:t></a:t>
              </a:r>
              <a:endParaRPr lang="zh-TW" altLang="en-US" sz="3200" b="1" dirty="0"/>
            </a:p>
          </p:txBody>
        </p:sp>
        <p:grpSp>
          <p:nvGrpSpPr>
            <p:cNvPr id="7" name="群組 6">
              <a:extLst>
                <a:ext uri="{FF2B5EF4-FFF2-40B4-BE49-F238E27FC236}">
                  <a16:creationId xmlns:a16="http://schemas.microsoft.com/office/drawing/2014/main" id="{E9DC85E4-2AA4-1079-554B-2C33203EE956}"/>
                </a:ext>
              </a:extLst>
            </p:cNvPr>
            <p:cNvGrpSpPr/>
            <p:nvPr/>
          </p:nvGrpSpPr>
          <p:grpSpPr>
            <a:xfrm>
              <a:off x="1398162" y="3066240"/>
              <a:ext cx="1397108" cy="2211804"/>
              <a:chOff x="1800859" y="2357515"/>
              <a:chExt cx="1397108" cy="2211804"/>
            </a:xfrm>
          </p:grpSpPr>
          <p:sp>
            <p:nvSpPr>
              <p:cNvPr id="81" name="文字方塊 231">
                <a:extLst>
                  <a:ext uri="{FF2B5EF4-FFF2-40B4-BE49-F238E27FC236}">
                    <a16:creationId xmlns:a16="http://schemas.microsoft.com/office/drawing/2014/main" id="{F0A3FFCB-84E1-532E-3D48-F1D9FA884551}"/>
                  </a:ext>
                </a:extLst>
              </p:cNvPr>
              <p:cNvSpPr txBox="1"/>
              <p:nvPr/>
            </p:nvSpPr>
            <p:spPr>
              <a:xfrm>
                <a:off x="2520859" y="3549645"/>
                <a:ext cx="677108" cy="860138"/>
              </a:xfrm>
              <a:prstGeom prst="rect">
                <a:avLst/>
              </a:prstGeom>
              <a:noFill/>
            </p:spPr>
            <p:txBody>
              <a:bodyPr vert="eaVert" wrap="squar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TW" altLang="en-US" sz="3200" b="1" dirty="0">
                    <a:sym typeface="Symbol" panose="05050102010706020507" pitchFamily="18" charset="2"/>
                  </a:rPr>
                  <a:t></a:t>
                </a:r>
                <a:endParaRPr lang="zh-TW" altLang="en-US" sz="3200" b="1" dirty="0"/>
              </a:p>
            </p:txBody>
          </p:sp>
          <p:grpSp>
            <p:nvGrpSpPr>
              <p:cNvPr id="82" name="群組 81">
                <a:extLst>
                  <a:ext uri="{FF2B5EF4-FFF2-40B4-BE49-F238E27FC236}">
                    <a16:creationId xmlns:a16="http://schemas.microsoft.com/office/drawing/2014/main" id="{61367284-7FC1-6206-1BDA-1EF44676544B}"/>
                  </a:ext>
                </a:extLst>
              </p:cNvPr>
              <p:cNvGrpSpPr/>
              <p:nvPr/>
            </p:nvGrpSpPr>
            <p:grpSpPr>
              <a:xfrm>
                <a:off x="1800859" y="2357515"/>
                <a:ext cx="1080000" cy="360000"/>
                <a:chOff x="1647205" y="2357515"/>
                <a:chExt cx="1080000" cy="360000"/>
              </a:xfrm>
            </p:grpSpPr>
            <p:sp>
              <p:nvSpPr>
                <p:cNvPr id="89" name="橢圓 88">
                  <a:extLst>
                    <a:ext uri="{FF2B5EF4-FFF2-40B4-BE49-F238E27FC236}">
                      <a16:creationId xmlns:a16="http://schemas.microsoft.com/office/drawing/2014/main" id="{870761C2-021A-450D-2AC1-9223936A71BE}"/>
                    </a:ext>
                  </a:extLst>
                </p:cNvPr>
                <p:cNvSpPr/>
                <p:nvPr/>
              </p:nvSpPr>
              <p:spPr>
                <a:xfrm>
                  <a:off x="2367205" y="2357515"/>
                  <a:ext cx="360000" cy="360000"/>
                </a:xfrm>
                <a:prstGeom prst="ellipse">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lIns="0" tIns="0" rIns="0" bIns="0" rtlCol="0" anchor="b" anchorCtr="0"/>
                <a:lstStyle>
                  <a:defPPr>
                    <a:defRPr lang="zh-TW"/>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TW" altLang="en-US" sz="2400" baseline="-25000" dirty="0">
                    <a:latin typeface="Times New Roman" panose="02020603050405020304" pitchFamily="18" charset="0"/>
                    <a:cs typeface="Times New Roman" panose="02020603050405020304" pitchFamily="18" charset="0"/>
                  </a:endParaRPr>
                </a:p>
              </p:txBody>
            </p:sp>
            <p:cxnSp>
              <p:nvCxnSpPr>
                <p:cNvPr id="90" name="直線單箭頭接點 89">
                  <a:extLst>
                    <a:ext uri="{FF2B5EF4-FFF2-40B4-BE49-F238E27FC236}">
                      <a16:creationId xmlns:a16="http://schemas.microsoft.com/office/drawing/2014/main" id="{4A90E19F-E71E-0836-734F-76CDA474905A}"/>
                    </a:ext>
                  </a:extLst>
                </p:cNvPr>
                <p:cNvCxnSpPr>
                  <a:cxnSpLocks/>
                  <a:endCxn id="89" idx="2"/>
                </p:cNvCxnSpPr>
                <p:nvPr/>
              </p:nvCxnSpPr>
              <p:spPr>
                <a:xfrm>
                  <a:off x="1647205" y="2537515"/>
                  <a:ext cx="7200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83" name="群組 82">
                <a:extLst>
                  <a:ext uri="{FF2B5EF4-FFF2-40B4-BE49-F238E27FC236}">
                    <a16:creationId xmlns:a16="http://schemas.microsoft.com/office/drawing/2014/main" id="{45A9A297-70C8-F142-AC2F-DB1A54A711F1}"/>
                  </a:ext>
                </a:extLst>
              </p:cNvPr>
              <p:cNvGrpSpPr/>
              <p:nvPr/>
            </p:nvGrpSpPr>
            <p:grpSpPr>
              <a:xfrm>
                <a:off x="1800859" y="2956859"/>
                <a:ext cx="1080000" cy="360000"/>
                <a:chOff x="1647205" y="2357515"/>
                <a:chExt cx="1080000" cy="360000"/>
              </a:xfrm>
            </p:grpSpPr>
            <p:sp>
              <p:nvSpPr>
                <p:cNvPr id="87" name="橢圓 86">
                  <a:extLst>
                    <a:ext uri="{FF2B5EF4-FFF2-40B4-BE49-F238E27FC236}">
                      <a16:creationId xmlns:a16="http://schemas.microsoft.com/office/drawing/2014/main" id="{A4221C36-B49E-7A55-CD3A-6768CA16632B}"/>
                    </a:ext>
                  </a:extLst>
                </p:cNvPr>
                <p:cNvSpPr/>
                <p:nvPr/>
              </p:nvSpPr>
              <p:spPr>
                <a:xfrm>
                  <a:off x="2367205" y="2357515"/>
                  <a:ext cx="360000" cy="360000"/>
                </a:xfrm>
                <a:prstGeom prst="ellipse">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lIns="0" tIns="0" rIns="0" bIns="0" rtlCol="0" anchor="b" anchorCtr="0"/>
                <a:lstStyle>
                  <a:defPPr>
                    <a:defRPr lang="zh-TW"/>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TW" altLang="en-US" sz="2400" baseline="-25000" dirty="0">
                    <a:latin typeface="Times New Roman" panose="02020603050405020304" pitchFamily="18" charset="0"/>
                    <a:cs typeface="Times New Roman" panose="02020603050405020304" pitchFamily="18" charset="0"/>
                  </a:endParaRPr>
                </a:p>
              </p:txBody>
            </p:sp>
            <p:cxnSp>
              <p:nvCxnSpPr>
                <p:cNvPr id="88" name="直線單箭頭接點 87">
                  <a:extLst>
                    <a:ext uri="{FF2B5EF4-FFF2-40B4-BE49-F238E27FC236}">
                      <a16:creationId xmlns:a16="http://schemas.microsoft.com/office/drawing/2014/main" id="{39B90467-67C1-A0FB-4A95-5C2025E6A993}"/>
                    </a:ext>
                  </a:extLst>
                </p:cNvPr>
                <p:cNvCxnSpPr>
                  <a:cxnSpLocks/>
                  <a:endCxn id="87" idx="2"/>
                </p:cNvCxnSpPr>
                <p:nvPr/>
              </p:nvCxnSpPr>
              <p:spPr>
                <a:xfrm>
                  <a:off x="1647205" y="2537515"/>
                  <a:ext cx="7200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84" name="群組 83">
                <a:extLst>
                  <a:ext uri="{FF2B5EF4-FFF2-40B4-BE49-F238E27FC236}">
                    <a16:creationId xmlns:a16="http://schemas.microsoft.com/office/drawing/2014/main" id="{A80D2CAF-1B6E-33C6-67AE-7DA85EC9EC32}"/>
                  </a:ext>
                </a:extLst>
              </p:cNvPr>
              <p:cNvGrpSpPr/>
              <p:nvPr/>
            </p:nvGrpSpPr>
            <p:grpSpPr>
              <a:xfrm>
                <a:off x="1800859" y="4209319"/>
                <a:ext cx="1080000" cy="360000"/>
                <a:chOff x="1647205" y="2357515"/>
                <a:chExt cx="1080000" cy="360000"/>
              </a:xfrm>
            </p:grpSpPr>
            <p:sp>
              <p:nvSpPr>
                <p:cNvPr id="85" name="橢圓 84">
                  <a:extLst>
                    <a:ext uri="{FF2B5EF4-FFF2-40B4-BE49-F238E27FC236}">
                      <a16:creationId xmlns:a16="http://schemas.microsoft.com/office/drawing/2014/main" id="{A275257E-64A6-21CC-1289-43549D0262C9}"/>
                    </a:ext>
                  </a:extLst>
                </p:cNvPr>
                <p:cNvSpPr/>
                <p:nvPr/>
              </p:nvSpPr>
              <p:spPr>
                <a:xfrm>
                  <a:off x="2367205" y="2357515"/>
                  <a:ext cx="360000" cy="360000"/>
                </a:xfrm>
                <a:prstGeom prst="ellipse">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lIns="0" tIns="0" rIns="0" bIns="0" rtlCol="0" anchor="b" anchorCtr="0"/>
                <a:lstStyle>
                  <a:defPPr>
                    <a:defRPr lang="zh-TW"/>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TW" altLang="en-US" sz="2400" baseline="-25000" dirty="0">
                    <a:latin typeface="Times New Roman" panose="02020603050405020304" pitchFamily="18" charset="0"/>
                    <a:cs typeface="Times New Roman" panose="02020603050405020304" pitchFamily="18" charset="0"/>
                  </a:endParaRPr>
                </a:p>
              </p:txBody>
            </p:sp>
            <p:cxnSp>
              <p:nvCxnSpPr>
                <p:cNvPr id="86" name="直線單箭頭接點 85">
                  <a:extLst>
                    <a:ext uri="{FF2B5EF4-FFF2-40B4-BE49-F238E27FC236}">
                      <a16:creationId xmlns:a16="http://schemas.microsoft.com/office/drawing/2014/main" id="{26335F02-1471-0CDA-E0D1-BCD4C876C3E3}"/>
                    </a:ext>
                  </a:extLst>
                </p:cNvPr>
                <p:cNvCxnSpPr>
                  <a:cxnSpLocks/>
                  <a:endCxn id="85" idx="2"/>
                </p:cNvCxnSpPr>
                <p:nvPr/>
              </p:nvCxnSpPr>
              <p:spPr>
                <a:xfrm>
                  <a:off x="1647205" y="2537515"/>
                  <a:ext cx="7200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sp>
          <p:nvSpPr>
            <p:cNvPr id="8" name="橢圓 7">
              <a:extLst>
                <a:ext uri="{FF2B5EF4-FFF2-40B4-BE49-F238E27FC236}">
                  <a16:creationId xmlns:a16="http://schemas.microsoft.com/office/drawing/2014/main" id="{FCA3C0C7-8D10-E5DC-4360-A286DE9A64D9}"/>
                </a:ext>
              </a:extLst>
            </p:cNvPr>
            <p:cNvSpPr/>
            <p:nvPr/>
          </p:nvSpPr>
          <p:spPr>
            <a:xfrm>
              <a:off x="3523885" y="3368774"/>
              <a:ext cx="360000" cy="360000"/>
            </a:xfrm>
            <a:prstGeom prst="ellipse">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lIns="0" tIns="0" rIns="0" bIns="0" rtlCol="0" anchor="b" anchorCtr="0"/>
            <a:lstStyle>
              <a:defPPr>
                <a:defRPr lang="zh-TW"/>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TW" altLang="en-US" sz="2400" baseline="-25000" dirty="0">
                <a:latin typeface="Times New Roman" panose="02020603050405020304" pitchFamily="18" charset="0"/>
                <a:cs typeface="Times New Roman" panose="02020603050405020304" pitchFamily="18" charset="0"/>
              </a:endParaRPr>
            </a:p>
          </p:txBody>
        </p:sp>
        <p:cxnSp>
          <p:nvCxnSpPr>
            <p:cNvPr id="9" name="直線單箭頭接點 8">
              <a:extLst>
                <a:ext uri="{FF2B5EF4-FFF2-40B4-BE49-F238E27FC236}">
                  <a16:creationId xmlns:a16="http://schemas.microsoft.com/office/drawing/2014/main" id="{C884BC37-D18E-1582-ED15-127F7E32AEBB}"/>
                </a:ext>
              </a:extLst>
            </p:cNvPr>
            <p:cNvCxnSpPr>
              <a:cxnSpLocks/>
              <a:stCxn id="89" idx="6"/>
              <a:endCxn id="8" idx="2"/>
            </p:cNvCxnSpPr>
            <p:nvPr/>
          </p:nvCxnSpPr>
          <p:spPr>
            <a:xfrm>
              <a:off x="2478162" y="3246240"/>
              <a:ext cx="1045723" cy="3025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橢圓 9">
              <a:extLst>
                <a:ext uri="{FF2B5EF4-FFF2-40B4-BE49-F238E27FC236}">
                  <a16:creationId xmlns:a16="http://schemas.microsoft.com/office/drawing/2014/main" id="{432C35AB-F176-174B-5938-956EB7031BA9}"/>
                </a:ext>
              </a:extLst>
            </p:cNvPr>
            <p:cNvSpPr/>
            <p:nvPr/>
          </p:nvSpPr>
          <p:spPr>
            <a:xfrm>
              <a:off x="3523885" y="3968118"/>
              <a:ext cx="360000" cy="360000"/>
            </a:xfrm>
            <a:prstGeom prst="ellipse">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lIns="0" tIns="0" rIns="0" bIns="0" rtlCol="0" anchor="b" anchorCtr="0"/>
            <a:lstStyle>
              <a:defPPr>
                <a:defRPr lang="zh-TW"/>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TW" altLang="en-US" sz="2400" baseline="-25000" dirty="0">
                <a:latin typeface="Times New Roman" panose="02020603050405020304" pitchFamily="18" charset="0"/>
                <a:cs typeface="Times New Roman" panose="02020603050405020304" pitchFamily="18" charset="0"/>
              </a:endParaRPr>
            </a:p>
          </p:txBody>
        </p:sp>
        <p:cxnSp>
          <p:nvCxnSpPr>
            <p:cNvPr id="11" name="直線單箭頭接點 10">
              <a:extLst>
                <a:ext uri="{FF2B5EF4-FFF2-40B4-BE49-F238E27FC236}">
                  <a16:creationId xmlns:a16="http://schemas.microsoft.com/office/drawing/2014/main" id="{232987E1-A414-3485-20A3-FAF06B7C5BD4}"/>
                </a:ext>
              </a:extLst>
            </p:cNvPr>
            <p:cNvCxnSpPr>
              <a:cxnSpLocks/>
              <a:stCxn id="89" idx="6"/>
              <a:endCxn id="10" idx="2"/>
            </p:cNvCxnSpPr>
            <p:nvPr/>
          </p:nvCxnSpPr>
          <p:spPr>
            <a:xfrm>
              <a:off x="2478162" y="3246240"/>
              <a:ext cx="1045723" cy="9018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橢圓 11">
              <a:extLst>
                <a:ext uri="{FF2B5EF4-FFF2-40B4-BE49-F238E27FC236}">
                  <a16:creationId xmlns:a16="http://schemas.microsoft.com/office/drawing/2014/main" id="{FC01B43E-F9FA-AA11-5C3E-89AC7451CB6E}"/>
                </a:ext>
              </a:extLst>
            </p:cNvPr>
            <p:cNvSpPr/>
            <p:nvPr/>
          </p:nvSpPr>
          <p:spPr>
            <a:xfrm>
              <a:off x="3523885" y="5220578"/>
              <a:ext cx="360000" cy="360000"/>
            </a:xfrm>
            <a:prstGeom prst="ellipse">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lIns="0" tIns="0" rIns="0" bIns="0" rtlCol="0" anchor="b" anchorCtr="0"/>
            <a:lstStyle>
              <a:defPPr>
                <a:defRPr lang="zh-TW"/>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TW" altLang="en-US" sz="2400" baseline="-25000" dirty="0">
                <a:latin typeface="Times New Roman" panose="02020603050405020304" pitchFamily="18" charset="0"/>
                <a:cs typeface="Times New Roman" panose="02020603050405020304" pitchFamily="18" charset="0"/>
              </a:endParaRPr>
            </a:p>
          </p:txBody>
        </p:sp>
        <p:cxnSp>
          <p:nvCxnSpPr>
            <p:cNvPr id="13" name="直線單箭頭接點 12">
              <a:extLst>
                <a:ext uri="{FF2B5EF4-FFF2-40B4-BE49-F238E27FC236}">
                  <a16:creationId xmlns:a16="http://schemas.microsoft.com/office/drawing/2014/main" id="{9FCA3F34-1A63-9E57-FC75-4E692D8B4C0C}"/>
                </a:ext>
              </a:extLst>
            </p:cNvPr>
            <p:cNvCxnSpPr>
              <a:cxnSpLocks/>
              <a:stCxn id="89" idx="6"/>
              <a:endCxn id="12" idx="2"/>
            </p:cNvCxnSpPr>
            <p:nvPr/>
          </p:nvCxnSpPr>
          <p:spPr>
            <a:xfrm>
              <a:off x="2478162" y="3246240"/>
              <a:ext cx="1045723" cy="21543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橢圓 13">
              <a:extLst>
                <a:ext uri="{FF2B5EF4-FFF2-40B4-BE49-F238E27FC236}">
                  <a16:creationId xmlns:a16="http://schemas.microsoft.com/office/drawing/2014/main" id="{05F17432-E0AB-675E-F711-4EBCDD18EFF9}"/>
                </a:ext>
              </a:extLst>
            </p:cNvPr>
            <p:cNvSpPr/>
            <p:nvPr/>
          </p:nvSpPr>
          <p:spPr>
            <a:xfrm>
              <a:off x="3523885" y="2696822"/>
              <a:ext cx="360000" cy="360000"/>
            </a:xfrm>
            <a:prstGeom prst="ellipse">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lIns="0" tIns="0" rIns="0" bIns="0" rtlCol="0" anchor="b" anchorCtr="0"/>
            <a:lstStyle>
              <a:defPPr>
                <a:defRPr lang="zh-TW"/>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TW" altLang="en-US" sz="2400" baseline="-25000" dirty="0">
                <a:latin typeface="Times New Roman" panose="02020603050405020304" pitchFamily="18" charset="0"/>
                <a:cs typeface="Times New Roman" panose="02020603050405020304" pitchFamily="18" charset="0"/>
              </a:endParaRPr>
            </a:p>
          </p:txBody>
        </p:sp>
        <p:cxnSp>
          <p:nvCxnSpPr>
            <p:cNvPr id="15" name="直線單箭頭接點 14">
              <a:extLst>
                <a:ext uri="{FF2B5EF4-FFF2-40B4-BE49-F238E27FC236}">
                  <a16:creationId xmlns:a16="http://schemas.microsoft.com/office/drawing/2014/main" id="{BB89A9ED-CBC7-96DE-D8C4-5832A76ECB1E}"/>
                </a:ext>
              </a:extLst>
            </p:cNvPr>
            <p:cNvCxnSpPr>
              <a:cxnSpLocks/>
              <a:stCxn id="89" idx="6"/>
              <a:endCxn id="14" idx="2"/>
            </p:cNvCxnSpPr>
            <p:nvPr/>
          </p:nvCxnSpPr>
          <p:spPr>
            <a:xfrm flipV="1">
              <a:off x="2478162" y="2876822"/>
              <a:ext cx="1045723" cy="3694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橢圓 15">
              <a:extLst>
                <a:ext uri="{FF2B5EF4-FFF2-40B4-BE49-F238E27FC236}">
                  <a16:creationId xmlns:a16="http://schemas.microsoft.com/office/drawing/2014/main" id="{393134D7-9DEF-7EC1-D1DA-900B64E96365}"/>
                </a:ext>
              </a:extLst>
            </p:cNvPr>
            <p:cNvSpPr/>
            <p:nvPr/>
          </p:nvSpPr>
          <p:spPr>
            <a:xfrm>
              <a:off x="4929608" y="3369566"/>
              <a:ext cx="360000" cy="360000"/>
            </a:xfrm>
            <a:prstGeom prst="ellipse">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lIns="0" tIns="0" rIns="0" bIns="0" rtlCol="0" anchor="b" anchorCtr="0"/>
            <a:lstStyle>
              <a:defPPr>
                <a:defRPr lang="zh-TW"/>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TW" altLang="en-US" sz="2400" baseline="-25000" dirty="0">
                <a:latin typeface="Times New Roman" panose="02020603050405020304" pitchFamily="18" charset="0"/>
                <a:cs typeface="Times New Roman" panose="02020603050405020304" pitchFamily="18" charset="0"/>
              </a:endParaRPr>
            </a:p>
          </p:txBody>
        </p:sp>
        <p:cxnSp>
          <p:nvCxnSpPr>
            <p:cNvPr id="17" name="直線單箭頭接點 16">
              <a:extLst>
                <a:ext uri="{FF2B5EF4-FFF2-40B4-BE49-F238E27FC236}">
                  <a16:creationId xmlns:a16="http://schemas.microsoft.com/office/drawing/2014/main" id="{77F06230-3726-F7D1-13F9-C1BF8DB6BC34}"/>
                </a:ext>
              </a:extLst>
            </p:cNvPr>
            <p:cNvCxnSpPr>
              <a:cxnSpLocks/>
              <a:stCxn id="8" idx="6"/>
              <a:endCxn id="16" idx="2"/>
            </p:cNvCxnSpPr>
            <p:nvPr/>
          </p:nvCxnSpPr>
          <p:spPr>
            <a:xfrm>
              <a:off x="3883885" y="3548774"/>
              <a:ext cx="1045723" cy="7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橢圓 17">
              <a:extLst>
                <a:ext uri="{FF2B5EF4-FFF2-40B4-BE49-F238E27FC236}">
                  <a16:creationId xmlns:a16="http://schemas.microsoft.com/office/drawing/2014/main" id="{D0078593-5F7B-C8B2-9A59-EC271CAAEF62}"/>
                </a:ext>
              </a:extLst>
            </p:cNvPr>
            <p:cNvSpPr/>
            <p:nvPr/>
          </p:nvSpPr>
          <p:spPr>
            <a:xfrm>
              <a:off x="4929608" y="3968910"/>
              <a:ext cx="360000" cy="360000"/>
            </a:xfrm>
            <a:prstGeom prst="ellipse">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lIns="0" tIns="0" rIns="0" bIns="0" rtlCol="0" anchor="b" anchorCtr="0"/>
            <a:lstStyle>
              <a:defPPr>
                <a:defRPr lang="zh-TW"/>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TW" altLang="en-US" sz="2400" baseline="-25000" dirty="0">
                <a:latin typeface="Times New Roman" panose="02020603050405020304" pitchFamily="18" charset="0"/>
                <a:cs typeface="Times New Roman" panose="02020603050405020304" pitchFamily="18" charset="0"/>
              </a:endParaRPr>
            </a:p>
          </p:txBody>
        </p:sp>
        <p:cxnSp>
          <p:nvCxnSpPr>
            <p:cNvPr id="19" name="直線單箭頭接點 18">
              <a:extLst>
                <a:ext uri="{FF2B5EF4-FFF2-40B4-BE49-F238E27FC236}">
                  <a16:creationId xmlns:a16="http://schemas.microsoft.com/office/drawing/2014/main" id="{EBE5D2AA-F0D0-E6B4-8906-3EA71DAC6E4E}"/>
                </a:ext>
              </a:extLst>
            </p:cNvPr>
            <p:cNvCxnSpPr>
              <a:cxnSpLocks/>
              <a:stCxn id="10" idx="6"/>
              <a:endCxn id="18" idx="2"/>
            </p:cNvCxnSpPr>
            <p:nvPr/>
          </p:nvCxnSpPr>
          <p:spPr>
            <a:xfrm>
              <a:off x="3883885" y="4148118"/>
              <a:ext cx="1045723" cy="7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橢圓 19">
              <a:extLst>
                <a:ext uri="{FF2B5EF4-FFF2-40B4-BE49-F238E27FC236}">
                  <a16:creationId xmlns:a16="http://schemas.microsoft.com/office/drawing/2014/main" id="{487C6CC9-B3B6-8427-9696-DA578E8BE0A8}"/>
                </a:ext>
              </a:extLst>
            </p:cNvPr>
            <p:cNvSpPr/>
            <p:nvPr/>
          </p:nvSpPr>
          <p:spPr>
            <a:xfrm>
              <a:off x="4929608" y="5221370"/>
              <a:ext cx="360000" cy="360000"/>
            </a:xfrm>
            <a:prstGeom prst="ellipse">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lIns="0" tIns="0" rIns="0" bIns="0" rtlCol="0" anchor="b" anchorCtr="0"/>
            <a:lstStyle>
              <a:defPPr>
                <a:defRPr lang="zh-TW"/>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TW" altLang="en-US" sz="2400" baseline="-25000" dirty="0">
                <a:latin typeface="Times New Roman" panose="02020603050405020304" pitchFamily="18" charset="0"/>
                <a:cs typeface="Times New Roman" panose="02020603050405020304" pitchFamily="18" charset="0"/>
              </a:endParaRPr>
            </a:p>
          </p:txBody>
        </p:sp>
        <p:cxnSp>
          <p:nvCxnSpPr>
            <p:cNvPr id="21" name="直線單箭頭接點 20">
              <a:extLst>
                <a:ext uri="{FF2B5EF4-FFF2-40B4-BE49-F238E27FC236}">
                  <a16:creationId xmlns:a16="http://schemas.microsoft.com/office/drawing/2014/main" id="{542B6B9D-5021-FA03-0A5E-A7DC6490DDE9}"/>
                </a:ext>
              </a:extLst>
            </p:cNvPr>
            <p:cNvCxnSpPr>
              <a:cxnSpLocks/>
              <a:stCxn id="12" idx="6"/>
              <a:endCxn id="20" idx="2"/>
            </p:cNvCxnSpPr>
            <p:nvPr/>
          </p:nvCxnSpPr>
          <p:spPr>
            <a:xfrm>
              <a:off x="3883885" y="5400578"/>
              <a:ext cx="1045723" cy="7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橢圓 21">
              <a:extLst>
                <a:ext uri="{FF2B5EF4-FFF2-40B4-BE49-F238E27FC236}">
                  <a16:creationId xmlns:a16="http://schemas.microsoft.com/office/drawing/2014/main" id="{C3F42A27-8305-D697-C827-C8DF7EFD0752}"/>
                </a:ext>
              </a:extLst>
            </p:cNvPr>
            <p:cNvSpPr/>
            <p:nvPr/>
          </p:nvSpPr>
          <p:spPr>
            <a:xfrm>
              <a:off x="4929608" y="2706240"/>
              <a:ext cx="360000" cy="360000"/>
            </a:xfrm>
            <a:prstGeom prst="ellipse">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lIns="0" tIns="0" rIns="0" bIns="0" rtlCol="0" anchor="b" anchorCtr="0"/>
            <a:lstStyle>
              <a:defPPr>
                <a:defRPr lang="zh-TW"/>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TW" altLang="en-US" sz="2400" baseline="-25000" dirty="0">
                <a:latin typeface="Times New Roman" panose="02020603050405020304" pitchFamily="18" charset="0"/>
                <a:cs typeface="Times New Roman" panose="02020603050405020304" pitchFamily="18" charset="0"/>
              </a:endParaRPr>
            </a:p>
          </p:txBody>
        </p:sp>
        <p:cxnSp>
          <p:nvCxnSpPr>
            <p:cNvPr id="23" name="直線單箭頭接點 22">
              <a:extLst>
                <a:ext uri="{FF2B5EF4-FFF2-40B4-BE49-F238E27FC236}">
                  <a16:creationId xmlns:a16="http://schemas.microsoft.com/office/drawing/2014/main" id="{4F492D23-54F2-7F29-5203-4E1934AE6AA5}"/>
                </a:ext>
              </a:extLst>
            </p:cNvPr>
            <p:cNvCxnSpPr>
              <a:cxnSpLocks/>
              <a:stCxn id="14" idx="6"/>
              <a:endCxn id="22" idx="2"/>
            </p:cNvCxnSpPr>
            <p:nvPr/>
          </p:nvCxnSpPr>
          <p:spPr>
            <a:xfrm>
              <a:off x="3883885" y="2876822"/>
              <a:ext cx="1045723" cy="94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橢圓 23">
              <a:extLst>
                <a:ext uri="{FF2B5EF4-FFF2-40B4-BE49-F238E27FC236}">
                  <a16:creationId xmlns:a16="http://schemas.microsoft.com/office/drawing/2014/main" id="{5B7D16A0-3027-1D50-F86E-042826DA6944}"/>
                </a:ext>
              </a:extLst>
            </p:cNvPr>
            <p:cNvSpPr/>
            <p:nvPr/>
          </p:nvSpPr>
          <p:spPr>
            <a:xfrm>
              <a:off x="6335331" y="3368774"/>
              <a:ext cx="360000" cy="360000"/>
            </a:xfrm>
            <a:prstGeom prst="ellipse">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lIns="0" tIns="0" rIns="0" bIns="0" rtlCol="0" anchor="b" anchorCtr="0"/>
            <a:lstStyle>
              <a:defPPr>
                <a:defRPr lang="zh-TW"/>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TW" altLang="en-US" sz="2400" baseline="-25000" dirty="0">
                <a:latin typeface="Times New Roman" panose="02020603050405020304" pitchFamily="18" charset="0"/>
                <a:cs typeface="Times New Roman" panose="02020603050405020304" pitchFamily="18" charset="0"/>
              </a:endParaRPr>
            </a:p>
          </p:txBody>
        </p:sp>
        <p:cxnSp>
          <p:nvCxnSpPr>
            <p:cNvPr id="25" name="直線單箭頭接點 24">
              <a:extLst>
                <a:ext uri="{FF2B5EF4-FFF2-40B4-BE49-F238E27FC236}">
                  <a16:creationId xmlns:a16="http://schemas.microsoft.com/office/drawing/2014/main" id="{0D563279-7347-C057-69E0-C5DB07D4CC89}"/>
                </a:ext>
              </a:extLst>
            </p:cNvPr>
            <p:cNvCxnSpPr>
              <a:cxnSpLocks/>
              <a:stCxn id="16" idx="6"/>
              <a:endCxn id="24" idx="2"/>
            </p:cNvCxnSpPr>
            <p:nvPr/>
          </p:nvCxnSpPr>
          <p:spPr>
            <a:xfrm flipV="1">
              <a:off x="5289608" y="3548774"/>
              <a:ext cx="1045723" cy="7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 name="橢圓 25">
              <a:extLst>
                <a:ext uri="{FF2B5EF4-FFF2-40B4-BE49-F238E27FC236}">
                  <a16:creationId xmlns:a16="http://schemas.microsoft.com/office/drawing/2014/main" id="{98781D33-678C-45A0-7852-721F9CC220B8}"/>
                </a:ext>
              </a:extLst>
            </p:cNvPr>
            <p:cNvSpPr/>
            <p:nvPr/>
          </p:nvSpPr>
          <p:spPr>
            <a:xfrm>
              <a:off x="6335331" y="3959492"/>
              <a:ext cx="360000" cy="360000"/>
            </a:xfrm>
            <a:prstGeom prst="ellipse">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lIns="0" tIns="0" rIns="0" bIns="0" rtlCol="0" anchor="b" anchorCtr="0"/>
            <a:lstStyle>
              <a:defPPr>
                <a:defRPr lang="zh-TW"/>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TW" altLang="en-US" sz="2400" baseline="-25000" dirty="0">
                <a:latin typeface="Times New Roman" panose="02020603050405020304" pitchFamily="18" charset="0"/>
                <a:cs typeface="Times New Roman" panose="02020603050405020304" pitchFamily="18" charset="0"/>
              </a:endParaRPr>
            </a:p>
          </p:txBody>
        </p:sp>
        <p:cxnSp>
          <p:nvCxnSpPr>
            <p:cNvPr id="27" name="直線單箭頭接點 26">
              <a:extLst>
                <a:ext uri="{FF2B5EF4-FFF2-40B4-BE49-F238E27FC236}">
                  <a16:creationId xmlns:a16="http://schemas.microsoft.com/office/drawing/2014/main" id="{129EF860-7602-B50A-8F3E-59B263485B82}"/>
                </a:ext>
              </a:extLst>
            </p:cNvPr>
            <p:cNvCxnSpPr>
              <a:cxnSpLocks/>
              <a:stCxn id="18" idx="6"/>
              <a:endCxn id="26" idx="2"/>
            </p:cNvCxnSpPr>
            <p:nvPr/>
          </p:nvCxnSpPr>
          <p:spPr>
            <a:xfrm flipV="1">
              <a:off x="5289608" y="4139492"/>
              <a:ext cx="1045723" cy="94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橢圓 27">
              <a:extLst>
                <a:ext uri="{FF2B5EF4-FFF2-40B4-BE49-F238E27FC236}">
                  <a16:creationId xmlns:a16="http://schemas.microsoft.com/office/drawing/2014/main" id="{F6D2CE4A-B6AB-E078-188E-7A990349F2D1}"/>
                </a:ext>
              </a:extLst>
            </p:cNvPr>
            <p:cNvSpPr/>
            <p:nvPr/>
          </p:nvSpPr>
          <p:spPr>
            <a:xfrm>
              <a:off x="6335331" y="5237830"/>
              <a:ext cx="360000" cy="360000"/>
            </a:xfrm>
            <a:prstGeom prst="ellipse">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lIns="0" tIns="0" rIns="0" bIns="0" rtlCol="0" anchor="b" anchorCtr="0"/>
            <a:lstStyle>
              <a:defPPr>
                <a:defRPr lang="zh-TW"/>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TW" altLang="en-US" sz="2400" baseline="-25000" dirty="0">
                <a:latin typeface="Times New Roman" panose="02020603050405020304" pitchFamily="18" charset="0"/>
                <a:cs typeface="Times New Roman" panose="02020603050405020304" pitchFamily="18" charset="0"/>
              </a:endParaRPr>
            </a:p>
          </p:txBody>
        </p:sp>
        <p:cxnSp>
          <p:nvCxnSpPr>
            <p:cNvPr id="29" name="直線單箭頭接點 28">
              <a:extLst>
                <a:ext uri="{FF2B5EF4-FFF2-40B4-BE49-F238E27FC236}">
                  <a16:creationId xmlns:a16="http://schemas.microsoft.com/office/drawing/2014/main" id="{EAA3BCFC-8DED-FDD9-EC47-86BA1459A9B9}"/>
                </a:ext>
              </a:extLst>
            </p:cNvPr>
            <p:cNvCxnSpPr>
              <a:cxnSpLocks/>
              <a:stCxn id="6" idx="2"/>
              <a:endCxn id="28" idx="2"/>
            </p:cNvCxnSpPr>
            <p:nvPr/>
          </p:nvCxnSpPr>
          <p:spPr>
            <a:xfrm flipV="1">
              <a:off x="5268162" y="5417830"/>
              <a:ext cx="1067169" cy="18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橢圓 29">
              <a:extLst>
                <a:ext uri="{FF2B5EF4-FFF2-40B4-BE49-F238E27FC236}">
                  <a16:creationId xmlns:a16="http://schemas.microsoft.com/office/drawing/2014/main" id="{2900F131-9BBF-44EA-CD94-14D0D37DE8A1}"/>
                </a:ext>
              </a:extLst>
            </p:cNvPr>
            <p:cNvSpPr/>
            <p:nvPr/>
          </p:nvSpPr>
          <p:spPr>
            <a:xfrm>
              <a:off x="6335331" y="2705448"/>
              <a:ext cx="360000" cy="360000"/>
            </a:xfrm>
            <a:prstGeom prst="ellipse">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lIns="0" tIns="0" rIns="0" bIns="0" rtlCol="0" anchor="b" anchorCtr="0"/>
            <a:lstStyle>
              <a:defPPr>
                <a:defRPr lang="zh-TW"/>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TW" altLang="en-US" sz="2400" baseline="-25000" dirty="0">
                <a:latin typeface="Times New Roman" panose="02020603050405020304" pitchFamily="18" charset="0"/>
                <a:cs typeface="Times New Roman" panose="02020603050405020304" pitchFamily="18" charset="0"/>
              </a:endParaRPr>
            </a:p>
          </p:txBody>
        </p:sp>
        <p:cxnSp>
          <p:nvCxnSpPr>
            <p:cNvPr id="31" name="直線單箭頭接點 30">
              <a:extLst>
                <a:ext uri="{FF2B5EF4-FFF2-40B4-BE49-F238E27FC236}">
                  <a16:creationId xmlns:a16="http://schemas.microsoft.com/office/drawing/2014/main" id="{E6B9A3F8-F583-033C-C42D-32EC262B9485}"/>
                </a:ext>
              </a:extLst>
            </p:cNvPr>
            <p:cNvCxnSpPr>
              <a:cxnSpLocks/>
              <a:stCxn id="22" idx="6"/>
              <a:endCxn id="30" idx="2"/>
            </p:cNvCxnSpPr>
            <p:nvPr/>
          </p:nvCxnSpPr>
          <p:spPr>
            <a:xfrm flipV="1">
              <a:off x="5289608" y="2885448"/>
              <a:ext cx="1045723" cy="7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橢圓 31">
              <a:extLst>
                <a:ext uri="{FF2B5EF4-FFF2-40B4-BE49-F238E27FC236}">
                  <a16:creationId xmlns:a16="http://schemas.microsoft.com/office/drawing/2014/main" id="{01C1AB14-AB53-F6DC-3D08-9857588A0298}"/>
                </a:ext>
              </a:extLst>
            </p:cNvPr>
            <p:cNvSpPr/>
            <p:nvPr/>
          </p:nvSpPr>
          <p:spPr>
            <a:xfrm>
              <a:off x="7741054" y="3367203"/>
              <a:ext cx="360000" cy="360000"/>
            </a:xfrm>
            <a:prstGeom prst="ellipse">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lIns="0" tIns="0" rIns="0" bIns="0" rtlCol="0" anchor="b" anchorCtr="0"/>
            <a:lstStyle>
              <a:defPPr>
                <a:defRPr lang="zh-TW"/>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TW" altLang="en-US" sz="2400" baseline="-25000" dirty="0">
                <a:latin typeface="Times New Roman" panose="02020603050405020304" pitchFamily="18" charset="0"/>
                <a:cs typeface="Times New Roman" panose="02020603050405020304" pitchFamily="18" charset="0"/>
              </a:endParaRPr>
            </a:p>
          </p:txBody>
        </p:sp>
        <p:cxnSp>
          <p:nvCxnSpPr>
            <p:cNvPr id="33" name="直線單箭頭接點 32">
              <a:extLst>
                <a:ext uri="{FF2B5EF4-FFF2-40B4-BE49-F238E27FC236}">
                  <a16:creationId xmlns:a16="http://schemas.microsoft.com/office/drawing/2014/main" id="{B1B80937-7345-0ECD-B231-51C0ED6CD46B}"/>
                </a:ext>
              </a:extLst>
            </p:cNvPr>
            <p:cNvCxnSpPr>
              <a:cxnSpLocks/>
              <a:stCxn id="24" idx="6"/>
              <a:endCxn id="32" idx="2"/>
            </p:cNvCxnSpPr>
            <p:nvPr/>
          </p:nvCxnSpPr>
          <p:spPr>
            <a:xfrm flipV="1">
              <a:off x="6695331" y="3547203"/>
              <a:ext cx="1045723" cy="15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 name="橢圓 33">
              <a:extLst>
                <a:ext uri="{FF2B5EF4-FFF2-40B4-BE49-F238E27FC236}">
                  <a16:creationId xmlns:a16="http://schemas.microsoft.com/office/drawing/2014/main" id="{3D55DA47-5685-381C-1B35-6266E2645CBE}"/>
                </a:ext>
              </a:extLst>
            </p:cNvPr>
            <p:cNvSpPr/>
            <p:nvPr/>
          </p:nvSpPr>
          <p:spPr>
            <a:xfrm>
              <a:off x="7741054" y="4628289"/>
              <a:ext cx="360000" cy="360000"/>
            </a:xfrm>
            <a:prstGeom prst="ellipse">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lIns="0" tIns="0" rIns="0" bIns="0" rtlCol="0" anchor="b" anchorCtr="0"/>
            <a:lstStyle>
              <a:defPPr>
                <a:defRPr lang="zh-TW"/>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TW" altLang="en-US" sz="2400" baseline="-25000" dirty="0">
                <a:latin typeface="Times New Roman" panose="02020603050405020304" pitchFamily="18" charset="0"/>
                <a:cs typeface="Times New Roman" panose="02020603050405020304" pitchFamily="18" charset="0"/>
              </a:endParaRPr>
            </a:p>
          </p:txBody>
        </p:sp>
        <p:cxnSp>
          <p:nvCxnSpPr>
            <p:cNvPr id="35" name="直線單箭頭接點 34">
              <a:extLst>
                <a:ext uri="{FF2B5EF4-FFF2-40B4-BE49-F238E27FC236}">
                  <a16:creationId xmlns:a16="http://schemas.microsoft.com/office/drawing/2014/main" id="{132652EE-3116-80BC-D353-5DA69DF3AA98}"/>
                </a:ext>
              </a:extLst>
            </p:cNvPr>
            <p:cNvCxnSpPr>
              <a:cxnSpLocks/>
              <a:stCxn id="28" idx="7"/>
              <a:endCxn id="34" idx="2"/>
            </p:cNvCxnSpPr>
            <p:nvPr/>
          </p:nvCxnSpPr>
          <p:spPr>
            <a:xfrm flipV="1">
              <a:off x="6642610" y="4808289"/>
              <a:ext cx="1098444" cy="4822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6" name="文字方塊 174">
              <a:extLst>
                <a:ext uri="{FF2B5EF4-FFF2-40B4-BE49-F238E27FC236}">
                  <a16:creationId xmlns:a16="http://schemas.microsoft.com/office/drawing/2014/main" id="{EA4CA5ED-FD65-EA26-5350-A3908E2A0D86}"/>
                </a:ext>
              </a:extLst>
            </p:cNvPr>
            <p:cNvSpPr txBox="1"/>
            <p:nvPr/>
          </p:nvSpPr>
          <p:spPr>
            <a:xfrm>
              <a:off x="7741054" y="3968615"/>
              <a:ext cx="677108" cy="860138"/>
            </a:xfrm>
            <a:prstGeom prst="rect">
              <a:avLst/>
            </a:prstGeom>
            <a:noFill/>
          </p:spPr>
          <p:txBody>
            <a:bodyPr vert="eaVert" wrap="squar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TW" altLang="en-US" sz="3200" b="1" dirty="0">
                  <a:sym typeface="Symbol" panose="05050102010706020507" pitchFamily="18" charset="2"/>
                </a:rPr>
                <a:t></a:t>
              </a:r>
              <a:endParaRPr lang="zh-TW" altLang="en-US" sz="3200" b="1" dirty="0"/>
            </a:p>
          </p:txBody>
        </p:sp>
        <p:cxnSp>
          <p:nvCxnSpPr>
            <p:cNvPr id="37" name="直線單箭頭接點 36">
              <a:extLst>
                <a:ext uri="{FF2B5EF4-FFF2-40B4-BE49-F238E27FC236}">
                  <a16:creationId xmlns:a16="http://schemas.microsoft.com/office/drawing/2014/main" id="{6260DABA-BBC9-403D-3420-6757510204C3}"/>
                </a:ext>
              </a:extLst>
            </p:cNvPr>
            <p:cNvCxnSpPr>
              <a:cxnSpLocks/>
              <a:stCxn id="87" idx="6"/>
              <a:endCxn id="14" idx="2"/>
            </p:cNvCxnSpPr>
            <p:nvPr/>
          </p:nvCxnSpPr>
          <p:spPr>
            <a:xfrm flipV="1">
              <a:off x="2478162" y="2876822"/>
              <a:ext cx="1045723" cy="9687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直線單箭頭接點 37">
              <a:extLst>
                <a:ext uri="{FF2B5EF4-FFF2-40B4-BE49-F238E27FC236}">
                  <a16:creationId xmlns:a16="http://schemas.microsoft.com/office/drawing/2014/main" id="{693AE0FC-5E1F-68A0-BEFD-1392C6872214}"/>
                </a:ext>
              </a:extLst>
            </p:cNvPr>
            <p:cNvCxnSpPr>
              <a:cxnSpLocks/>
              <a:stCxn id="87" idx="6"/>
              <a:endCxn id="8" idx="2"/>
            </p:cNvCxnSpPr>
            <p:nvPr/>
          </p:nvCxnSpPr>
          <p:spPr>
            <a:xfrm flipV="1">
              <a:off x="2478162" y="3548774"/>
              <a:ext cx="1045723" cy="2968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9" name="直線單箭頭接點 38">
              <a:extLst>
                <a:ext uri="{FF2B5EF4-FFF2-40B4-BE49-F238E27FC236}">
                  <a16:creationId xmlns:a16="http://schemas.microsoft.com/office/drawing/2014/main" id="{768EA7D6-7DE0-13B9-C95B-AF7BD76B4970}"/>
                </a:ext>
              </a:extLst>
            </p:cNvPr>
            <p:cNvCxnSpPr>
              <a:cxnSpLocks/>
              <a:stCxn id="87" idx="6"/>
              <a:endCxn id="10" idx="2"/>
            </p:cNvCxnSpPr>
            <p:nvPr/>
          </p:nvCxnSpPr>
          <p:spPr>
            <a:xfrm>
              <a:off x="2478162" y="3845584"/>
              <a:ext cx="1045723" cy="3025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 name="直線單箭頭接點 39">
              <a:extLst>
                <a:ext uri="{FF2B5EF4-FFF2-40B4-BE49-F238E27FC236}">
                  <a16:creationId xmlns:a16="http://schemas.microsoft.com/office/drawing/2014/main" id="{DB308E16-E204-46C9-4401-923A323BF7FD}"/>
                </a:ext>
              </a:extLst>
            </p:cNvPr>
            <p:cNvCxnSpPr>
              <a:cxnSpLocks/>
              <a:stCxn id="87" idx="6"/>
              <a:endCxn id="12" idx="2"/>
            </p:cNvCxnSpPr>
            <p:nvPr/>
          </p:nvCxnSpPr>
          <p:spPr>
            <a:xfrm>
              <a:off x="2478162" y="3845584"/>
              <a:ext cx="1045723" cy="155499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 name="直線單箭頭接點 40">
              <a:extLst>
                <a:ext uri="{FF2B5EF4-FFF2-40B4-BE49-F238E27FC236}">
                  <a16:creationId xmlns:a16="http://schemas.microsoft.com/office/drawing/2014/main" id="{9589F1DA-ABD2-2A37-C333-B93582E65D35}"/>
                </a:ext>
              </a:extLst>
            </p:cNvPr>
            <p:cNvCxnSpPr>
              <a:cxnSpLocks/>
              <a:stCxn id="85" idx="6"/>
              <a:endCxn id="14" idx="2"/>
            </p:cNvCxnSpPr>
            <p:nvPr/>
          </p:nvCxnSpPr>
          <p:spPr>
            <a:xfrm flipV="1">
              <a:off x="2478162" y="2876822"/>
              <a:ext cx="1045723" cy="22212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2" name="直線單箭頭接點 41">
              <a:extLst>
                <a:ext uri="{FF2B5EF4-FFF2-40B4-BE49-F238E27FC236}">
                  <a16:creationId xmlns:a16="http://schemas.microsoft.com/office/drawing/2014/main" id="{D145661E-9CB7-19D1-165A-C0B24D321C76}"/>
                </a:ext>
              </a:extLst>
            </p:cNvPr>
            <p:cNvCxnSpPr>
              <a:cxnSpLocks/>
              <a:stCxn id="85" idx="6"/>
              <a:endCxn id="10" idx="2"/>
            </p:cNvCxnSpPr>
            <p:nvPr/>
          </p:nvCxnSpPr>
          <p:spPr>
            <a:xfrm flipV="1">
              <a:off x="2478162" y="4148118"/>
              <a:ext cx="1045723" cy="94992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3" name="直線單箭頭接點 42">
              <a:extLst>
                <a:ext uri="{FF2B5EF4-FFF2-40B4-BE49-F238E27FC236}">
                  <a16:creationId xmlns:a16="http://schemas.microsoft.com/office/drawing/2014/main" id="{5CA33C69-6E29-6C8A-6B06-369BD4015430}"/>
                </a:ext>
              </a:extLst>
            </p:cNvPr>
            <p:cNvCxnSpPr>
              <a:cxnSpLocks/>
              <a:stCxn id="85" idx="6"/>
            </p:cNvCxnSpPr>
            <p:nvPr/>
          </p:nvCxnSpPr>
          <p:spPr>
            <a:xfrm>
              <a:off x="2478162" y="5098044"/>
              <a:ext cx="1045723" cy="2532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4" name="直線單箭頭接點 43">
              <a:extLst>
                <a:ext uri="{FF2B5EF4-FFF2-40B4-BE49-F238E27FC236}">
                  <a16:creationId xmlns:a16="http://schemas.microsoft.com/office/drawing/2014/main" id="{99C57712-32AE-198D-3D65-564AD4EA3F9D}"/>
                </a:ext>
              </a:extLst>
            </p:cNvPr>
            <p:cNvCxnSpPr>
              <a:cxnSpLocks/>
              <a:stCxn id="14" idx="6"/>
              <a:endCxn id="16" idx="2"/>
            </p:cNvCxnSpPr>
            <p:nvPr/>
          </p:nvCxnSpPr>
          <p:spPr>
            <a:xfrm>
              <a:off x="3883885" y="2876822"/>
              <a:ext cx="1045723" cy="6727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直線單箭頭接點 44">
              <a:extLst>
                <a:ext uri="{FF2B5EF4-FFF2-40B4-BE49-F238E27FC236}">
                  <a16:creationId xmlns:a16="http://schemas.microsoft.com/office/drawing/2014/main" id="{D3B2F562-3B66-3EB1-110E-72D48CF8DF36}"/>
                </a:ext>
              </a:extLst>
            </p:cNvPr>
            <p:cNvCxnSpPr>
              <a:cxnSpLocks/>
              <a:stCxn id="22" idx="6"/>
              <a:endCxn id="24" idx="2"/>
            </p:cNvCxnSpPr>
            <p:nvPr/>
          </p:nvCxnSpPr>
          <p:spPr>
            <a:xfrm>
              <a:off x="5289608" y="2886240"/>
              <a:ext cx="1045723" cy="6625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6" name="直線單箭頭接點 45">
              <a:extLst>
                <a:ext uri="{FF2B5EF4-FFF2-40B4-BE49-F238E27FC236}">
                  <a16:creationId xmlns:a16="http://schemas.microsoft.com/office/drawing/2014/main" id="{ADA235A2-6B98-5361-5DF7-94293606A1F7}"/>
                </a:ext>
              </a:extLst>
            </p:cNvPr>
            <p:cNvCxnSpPr>
              <a:cxnSpLocks/>
              <a:stCxn id="8" idx="6"/>
              <a:endCxn id="18" idx="2"/>
            </p:cNvCxnSpPr>
            <p:nvPr/>
          </p:nvCxnSpPr>
          <p:spPr>
            <a:xfrm>
              <a:off x="3883885" y="3548774"/>
              <a:ext cx="1045723" cy="6001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7" name="直線單箭頭接點 46">
              <a:extLst>
                <a:ext uri="{FF2B5EF4-FFF2-40B4-BE49-F238E27FC236}">
                  <a16:creationId xmlns:a16="http://schemas.microsoft.com/office/drawing/2014/main" id="{E7D721AA-691E-902E-15E9-BC084BB6FACD}"/>
                </a:ext>
              </a:extLst>
            </p:cNvPr>
            <p:cNvCxnSpPr>
              <a:cxnSpLocks/>
              <a:stCxn id="30" idx="5"/>
            </p:cNvCxnSpPr>
            <p:nvPr/>
          </p:nvCxnSpPr>
          <p:spPr>
            <a:xfrm>
              <a:off x="6642610" y="3012727"/>
              <a:ext cx="1098444" cy="5586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8" name="直線單箭頭接點 47">
              <a:extLst>
                <a:ext uri="{FF2B5EF4-FFF2-40B4-BE49-F238E27FC236}">
                  <a16:creationId xmlns:a16="http://schemas.microsoft.com/office/drawing/2014/main" id="{1B804E6F-555E-2C0D-0589-721562A974A9}"/>
                </a:ext>
              </a:extLst>
            </p:cNvPr>
            <p:cNvCxnSpPr>
              <a:cxnSpLocks/>
              <a:stCxn id="10" idx="6"/>
              <a:endCxn id="20" idx="2"/>
            </p:cNvCxnSpPr>
            <p:nvPr/>
          </p:nvCxnSpPr>
          <p:spPr>
            <a:xfrm>
              <a:off x="3883885" y="4148118"/>
              <a:ext cx="1045723" cy="12532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9" name="直線單箭頭接點 48">
              <a:extLst>
                <a:ext uri="{FF2B5EF4-FFF2-40B4-BE49-F238E27FC236}">
                  <a16:creationId xmlns:a16="http://schemas.microsoft.com/office/drawing/2014/main" id="{D3FE7742-A421-8FCB-1C61-A28B4B930B57}"/>
                </a:ext>
              </a:extLst>
            </p:cNvPr>
            <p:cNvCxnSpPr>
              <a:cxnSpLocks/>
              <a:stCxn id="18" idx="6"/>
              <a:endCxn id="28" idx="2"/>
            </p:cNvCxnSpPr>
            <p:nvPr/>
          </p:nvCxnSpPr>
          <p:spPr>
            <a:xfrm>
              <a:off x="5289608" y="4148910"/>
              <a:ext cx="1045723" cy="1268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0" name="直線單箭頭接點 49">
              <a:extLst>
                <a:ext uri="{FF2B5EF4-FFF2-40B4-BE49-F238E27FC236}">
                  <a16:creationId xmlns:a16="http://schemas.microsoft.com/office/drawing/2014/main" id="{87E07A59-C170-B544-A400-6E564D7974F2}"/>
                </a:ext>
              </a:extLst>
            </p:cNvPr>
            <p:cNvCxnSpPr>
              <a:cxnSpLocks/>
              <a:stCxn id="16" idx="6"/>
              <a:endCxn id="26" idx="2"/>
            </p:cNvCxnSpPr>
            <p:nvPr/>
          </p:nvCxnSpPr>
          <p:spPr>
            <a:xfrm>
              <a:off x="5289608" y="3549566"/>
              <a:ext cx="1045723" cy="58992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直線單箭頭接點 50">
              <a:extLst>
                <a:ext uri="{FF2B5EF4-FFF2-40B4-BE49-F238E27FC236}">
                  <a16:creationId xmlns:a16="http://schemas.microsoft.com/office/drawing/2014/main" id="{37E16CF2-8CAB-1251-B0C7-4FD59ACC4B25}"/>
                </a:ext>
              </a:extLst>
            </p:cNvPr>
            <p:cNvCxnSpPr>
              <a:cxnSpLocks/>
              <a:stCxn id="8" idx="6"/>
              <a:endCxn id="22" idx="2"/>
            </p:cNvCxnSpPr>
            <p:nvPr/>
          </p:nvCxnSpPr>
          <p:spPr>
            <a:xfrm flipV="1">
              <a:off x="3883885" y="2886240"/>
              <a:ext cx="1045723" cy="6625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2" name="直線單箭頭接點 51">
              <a:extLst>
                <a:ext uri="{FF2B5EF4-FFF2-40B4-BE49-F238E27FC236}">
                  <a16:creationId xmlns:a16="http://schemas.microsoft.com/office/drawing/2014/main" id="{5D79A4D3-21E6-EF2B-6AB3-0BF7DF461CFA}"/>
                </a:ext>
              </a:extLst>
            </p:cNvPr>
            <p:cNvCxnSpPr>
              <a:cxnSpLocks/>
              <a:stCxn id="16" idx="6"/>
              <a:endCxn id="30" idx="2"/>
            </p:cNvCxnSpPr>
            <p:nvPr/>
          </p:nvCxnSpPr>
          <p:spPr>
            <a:xfrm flipV="1">
              <a:off x="5289608" y="2885448"/>
              <a:ext cx="1045723" cy="6641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3" name="直線單箭頭接點 52">
              <a:extLst>
                <a:ext uri="{FF2B5EF4-FFF2-40B4-BE49-F238E27FC236}">
                  <a16:creationId xmlns:a16="http://schemas.microsoft.com/office/drawing/2014/main" id="{12B5782F-AFB6-CE72-878C-C18DD555552D}"/>
                </a:ext>
              </a:extLst>
            </p:cNvPr>
            <p:cNvCxnSpPr>
              <a:cxnSpLocks/>
              <a:stCxn id="18" idx="6"/>
              <a:endCxn id="24" idx="2"/>
            </p:cNvCxnSpPr>
            <p:nvPr/>
          </p:nvCxnSpPr>
          <p:spPr>
            <a:xfrm flipV="1">
              <a:off x="5289608" y="3548774"/>
              <a:ext cx="1045723" cy="6001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4" name="直線單箭頭接點 53">
              <a:extLst>
                <a:ext uri="{FF2B5EF4-FFF2-40B4-BE49-F238E27FC236}">
                  <a16:creationId xmlns:a16="http://schemas.microsoft.com/office/drawing/2014/main" id="{62EB2CED-A411-25D9-56E5-BB70FEA5DC7D}"/>
                </a:ext>
              </a:extLst>
            </p:cNvPr>
            <p:cNvCxnSpPr>
              <a:cxnSpLocks/>
              <a:stCxn id="10" idx="6"/>
              <a:endCxn id="16" idx="2"/>
            </p:cNvCxnSpPr>
            <p:nvPr/>
          </p:nvCxnSpPr>
          <p:spPr>
            <a:xfrm flipV="1">
              <a:off x="3883885" y="3549566"/>
              <a:ext cx="1045723" cy="5985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5" name="直線單箭頭接點 54">
              <a:extLst>
                <a:ext uri="{FF2B5EF4-FFF2-40B4-BE49-F238E27FC236}">
                  <a16:creationId xmlns:a16="http://schemas.microsoft.com/office/drawing/2014/main" id="{AFC0A253-2CB2-31F6-48BC-11CFC1C772F5}"/>
                </a:ext>
              </a:extLst>
            </p:cNvPr>
            <p:cNvCxnSpPr>
              <a:cxnSpLocks/>
              <a:stCxn id="20" idx="6"/>
              <a:endCxn id="26" idx="2"/>
            </p:cNvCxnSpPr>
            <p:nvPr/>
          </p:nvCxnSpPr>
          <p:spPr>
            <a:xfrm flipV="1">
              <a:off x="5289608" y="4139492"/>
              <a:ext cx="1045723" cy="12618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6" name="直線單箭頭接點 55">
              <a:extLst>
                <a:ext uri="{FF2B5EF4-FFF2-40B4-BE49-F238E27FC236}">
                  <a16:creationId xmlns:a16="http://schemas.microsoft.com/office/drawing/2014/main" id="{52427EBC-15CB-90F8-6528-B3EEEA7E9EC3}"/>
                </a:ext>
              </a:extLst>
            </p:cNvPr>
            <p:cNvCxnSpPr>
              <a:cxnSpLocks/>
              <a:stCxn id="12" idx="6"/>
              <a:endCxn id="18" idx="2"/>
            </p:cNvCxnSpPr>
            <p:nvPr/>
          </p:nvCxnSpPr>
          <p:spPr>
            <a:xfrm flipV="1">
              <a:off x="3883885" y="4148910"/>
              <a:ext cx="1045723" cy="12516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7" name="直線單箭頭接點 56">
              <a:extLst>
                <a:ext uri="{FF2B5EF4-FFF2-40B4-BE49-F238E27FC236}">
                  <a16:creationId xmlns:a16="http://schemas.microsoft.com/office/drawing/2014/main" id="{BC136F7F-F8EB-9729-6184-FE78AFCE83C1}"/>
                </a:ext>
              </a:extLst>
            </p:cNvPr>
            <p:cNvCxnSpPr>
              <a:cxnSpLocks/>
              <a:stCxn id="26" idx="6"/>
              <a:endCxn id="32" idx="2"/>
            </p:cNvCxnSpPr>
            <p:nvPr/>
          </p:nvCxnSpPr>
          <p:spPr>
            <a:xfrm flipV="1">
              <a:off x="6695331" y="3547203"/>
              <a:ext cx="1045723" cy="59228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8" name="直線單箭頭接點 57">
              <a:extLst>
                <a:ext uri="{FF2B5EF4-FFF2-40B4-BE49-F238E27FC236}">
                  <a16:creationId xmlns:a16="http://schemas.microsoft.com/office/drawing/2014/main" id="{C4E228EB-252E-D9F6-0E81-064249B2EF27}"/>
                </a:ext>
              </a:extLst>
            </p:cNvPr>
            <p:cNvCxnSpPr>
              <a:cxnSpLocks/>
              <a:stCxn id="24" idx="6"/>
              <a:endCxn id="34" idx="2"/>
            </p:cNvCxnSpPr>
            <p:nvPr/>
          </p:nvCxnSpPr>
          <p:spPr>
            <a:xfrm>
              <a:off x="6695331" y="3548774"/>
              <a:ext cx="1045723" cy="125951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9" name="直線單箭頭接點 58">
              <a:extLst>
                <a:ext uri="{FF2B5EF4-FFF2-40B4-BE49-F238E27FC236}">
                  <a16:creationId xmlns:a16="http://schemas.microsoft.com/office/drawing/2014/main" id="{7CA04278-BCE8-C726-671A-7DD6A9576E4B}"/>
                </a:ext>
              </a:extLst>
            </p:cNvPr>
            <p:cNvCxnSpPr>
              <a:cxnSpLocks/>
              <a:stCxn id="26" idx="6"/>
            </p:cNvCxnSpPr>
            <p:nvPr/>
          </p:nvCxnSpPr>
          <p:spPr>
            <a:xfrm>
              <a:off x="6695331" y="4139492"/>
              <a:ext cx="1045723" cy="6892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0" name="直線單箭頭接點 59">
              <a:extLst>
                <a:ext uri="{FF2B5EF4-FFF2-40B4-BE49-F238E27FC236}">
                  <a16:creationId xmlns:a16="http://schemas.microsoft.com/office/drawing/2014/main" id="{2AA824C7-00E2-E83A-49E0-59F1EF978407}"/>
                </a:ext>
              </a:extLst>
            </p:cNvPr>
            <p:cNvCxnSpPr>
              <a:cxnSpLocks/>
              <a:stCxn id="12" idx="6"/>
              <a:endCxn id="22" idx="2"/>
            </p:cNvCxnSpPr>
            <p:nvPr/>
          </p:nvCxnSpPr>
          <p:spPr>
            <a:xfrm flipV="1">
              <a:off x="3883885" y="2886240"/>
              <a:ext cx="1045723" cy="25143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1" name="直線單箭頭接點 60">
              <a:extLst>
                <a:ext uri="{FF2B5EF4-FFF2-40B4-BE49-F238E27FC236}">
                  <a16:creationId xmlns:a16="http://schemas.microsoft.com/office/drawing/2014/main" id="{EB6DDF89-49C7-BEA5-4E21-B10C3DE7B5D6}"/>
                </a:ext>
              </a:extLst>
            </p:cNvPr>
            <p:cNvCxnSpPr>
              <a:cxnSpLocks/>
              <a:stCxn id="20" idx="6"/>
              <a:endCxn id="30" idx="2"/>
            </p:cNvCxnSpPr>
            <p:nvPr/>
          </p:nvCxnSpPr>
          <p:spPr>
            <a:xfrm flipV="1">
              <a:off x="5289608" y="2885448"/>
              <a:ext cx="1045723" cy="25159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2" name="直線單箭頭接點 61">
              <a:extLst>
                <a:ext uri="{FF2B5EF4-FFF2-40B4-BE49-F238E27FC236}">
                  <a16:creationId xmlns:a16="http://schemas.microsoft.com/office/drawing/2014/main" id="{C41BB7DA-7054-C268-624A-791D341767BD}"/>
                </a:ext>
              </a:extLst>
            </p:cNvPr>
            <p:cNvCxnSpPr>
              <a:cxnSpLocks/>
              <a:stCxn id="14" idx="6"/>
              <a:endCxn id="18" idx="2"/>
            </p:cNvCxnSpPr>
            <p:nvPr/>
          </p:nvCxnSpPr>
          <p:spPr>
            <a:xfrm>
              <a:off x="3883885" y="2876822"/>
              <a:ext cx="1045723" cy="12720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3" name="直線單箭頭接點 62">
              <a:extLst>
                <a:ext uri="{FF2B5EF4-FFF2-40B4-BE49-F238E27FC236}">
                  <a16:creationId xmlns:a16="http://schemas.microsoft.com/office/drawing/2014/main" id="{DC758F48-4D5F-C12F-F081-9E6E84514165}"/>
                </a:ext>
              </a:extLst>
            </p:cNvPr>
            <p:cNvCxnSpPr>
              <a:cxnSpLocks/>
              <a:stCxn id="14" idx="6"/>
              <a:endCxn id="20" idx="2"/>
            </p:cNvCxnSpPr>
            <p:nvPr/>
          </p:nvCxnSpPr>
          <p:spPr>
            <a:xfrm>
              <a:off x="3883885" y="2876822"/>
              <a:ext cx="1045723" cy="25245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4" name="直線單箭頭接點 63">
              <a:extLst>
                <a:ext uri="{FF2B5EF4-FFF2-40B4-BE49-F238E27FC236}">
                  <a16:creationId xmlns:a16="http://schemas.microsoft.com/office/drawing/2014/main" id="{20F7851A-87C7-7388-4D68-9C2EB4390ACB}"/>
                </a:ext>
              </a:extLst>
            </p:cNvPr>
            <p:cNvCxnSpPr>
              <a:cxnSpLocks/>
              <a:stCxn id="8" idx="6"/>
              <a:endCxn id="20" idx="2"/>
            </p:cNvCxnSpPr>
            <p:nvPr/>
          </p:nvCxnSpPr>
          <p:spPr>
            <a:xfrm>
              <a:off x="3883885" y="3548774"/>
              <a:ext cx="1045723" cy="18525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5" name="直線單箭頭接點 64">
              <a:extLst>
                <a:ext uri="{FF2B5EF4-FFF2-40B4-BE49-F238E27FC236}">
                  <a16:creationId xmlns:a16="http://schemas.microsoft.com/office/drawing/2014/main" id="{CB3B835D-040C-9214-6A7D-B2063FBE80FF}"/>
                </a:ext>
              </a:extLst>
            </p:cNvPr>
            <p:cNvCxnSpPr>
              <a:cxnSpLocks/>
              <a:endCxn id="16" idx="2"/>
            </p:cNvCxnSpPr>
            <p:nvPr/>
          </p:nvCxnSpPr>
          <p:spPr>
            <a:xfrm flipV="1">
              <a:off x="3893714" y="3549566"/>
              <a:ext cx="1035894" cy="18251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6" name="直線單箭頭接點 65">
              <a:extLst>
                <a:ext uri="{FF2B5EF4-FFF2-40B4-BE49-F238E27FC236}">
                  <a16:creationId xmlns:a16="http://schemas.microsoft.com/office/drawing/2014/main" id="{054E65B7-8EFB-CB2A-0215-99ECBF6EC4BE}"/>
                </a:ext>
              </a:extLst>
            </p:cNvPr>
            <p:cNvCxnSpPr>
              <a:cxnSpLocks/>
              <a:stCxn id="10" idx="6"/>
              <a:endCxn id="22" idx="2"/>
            </p:cNvCxnSpPr>
            <p:nvPr/>
          </p:nvCxnSpPr>
          <p:spPr>
            <a:xfrm flipV="1">
              <a:off x="3883885" y="2886240"/>
              <a:ext cx="1045723" cy="12618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7" name="直線單箭頭接點 66">
              <a:extLst>
                <a:ext uri="{FF2B5EF4-FFF2-40B4-BE49-F238E27FC236}">
                  <a16:creationId xmlns:a16="http://schemas.microsoft.com/office/drawing/2014/main" id="{FF448A53-4C5C-FEBA-7A2E-2B70D287B6A4}"/>
                </a:ext>
              </a:extLst>
            </p:cNvPr>
            <p:cNvCxnSpPr>
              <a:cxnSpLocks/>
              <a:stCxn id="28" idx="7"/>
              <a:endCxn id="32" idx="2"/>
            </p:cNvCxnSpPr>
            <p:nvPr/>
          </p:nvCxnSpPr>
          <p:spPr>
            <a:xfrm flipV="1">
              <a:off x="6642610" y="3547203"/>
              <a:ext cx="1098444" cy="17433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8" name="直線單箭頭接點 67">
              <a:extLst>
                <a:ext uri="{FF2B5EF4-FFF2-40B4-BE49-F238E27FC236}">
                  <a16:creationId xmlns:a16="http://schemas.microsoft.com/office/drawing/2014/main" id="{A20C97F1-3DEF-D3CA-C696-00BC06B9CDCD}"/>
                </a:ext>
              </a:extLst>
            </p:cNvPr>
            <p:cNvCxnSpPr>
              <a:cxnSpLocks/>
              <a:stCxn id="30" idx="5"/>
            </p:cNvCxnSpPr>
            <p:nvPr/>
          </p:nvCxnSpPr>
          <p:spPr>
            <a:xfrm>
              <a:off x="6642610" y="3012727"/>
              <a:ext cx="1098444" cy="1795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9" name="直線單箭頭接點 68">
              <a:extLst>
                <a:ext uri="{FF2B5EF4-FFF2-40B4-BE49-F238E27FC236}">
                  <a16:creationId xmlns:a16="http://schemas.microsoft.com/office/drawing/2014/main" id="{82D8C3CA-003D-9FCE-0DDA-CF9BF0A6DB47}"/>
                </a:ext>
              </a:extLst>
            </p:cNvPr>
            <p:cNvCxnSpPr>
              <a:cxnSpLocks/>
              <a:stCxn id="22" idx="6"/>
              <a:endCxn id="28" idx="2"/>
            </p:cNvCxnSpPr>
            <p:nvPr/>
          </p:nvCxnSpPr>
          <p:spPr>
            <a:xfrm>
              <a:off x="5289608" y="2886240"/>
              <a:ext cx="1045723" cy="25315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0" name="直線單箭頭接點 69">
              <a:extLst>
                <a:ext uri="{FF2B5EF4-FFF2-40B4-BE49-F238E27FC236}">
                  <a16:creationId xmlns:a16="http://schemas.microsoft.com/office/drawing/2014/main" id="{A15F64E0-DBDA-7A47-DAA8-D015D91122E7}"/>
                </a:ext>
              </a:extLst>
            </p:cNvPr>
            <p:cNvCxnSpPr>
              <a:cxnSpLocks/>
              <a:stCxn id="22" idx="6"/>
              <a:endCxn id="26" idx="2"/>
            </p:cNvCxnSpPr>
            <p:nvPr/>
          </p:nvCxnSpPr>
          <p:spPr>
            <a:xfrm>
              <a:off x="5289608" y="2886240"/>
              <a:ext cx="1045723" cy="12532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1" name="直線單箭頭接點 70">
              <a:extLst>
                <a:ext uri="{FF2B5EF4-FFF2-40B4-BE49-F238E27FC236}">
                  <a16:creationId xmlns:a16="http://schemas.microsoft.com/office/drawing/2014/main" id="{E6A8C3DA-BCBD-514D-4416-E086EB41AC04}"/>
                </a:ext>
              </a:extLst>
            </p:cNvPr>
            <p:cNvCxnSpPr>
              <a:cxnSpLocks/>
              <a:stCxn id="20" idx="6"/>
              <a:endCxn id="24" idx="2"/>
            </p:cNvCxnSpPr>
            <p:nvPr/>
          </p:nvCxnSpPr>
          <p:spPr>
            <a:xfrm flipV="1">
              <a:off x="5289608" y="3548774"/>
              <a:ext cx="1045723" cy="18525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2" name="直線單箭頭接點 71">
              <a:extLst>
                <a:ext uri="{FF2B5EF4-FFF2-40B4-BE49-F238E27FC236}">
                  <a16:creationId xmlns:a16="http://schemas.microsoft.com/office/drawing/2014/main" id="{6D3977C8-63E5-8C0A-9AF8-020C838E2E3A}"/>
                </a:ext>
              </a:extLst>
            </p:cNvPr>
            <p:cNvCxnSpPr>
              <a:cxnSpLocks/>
              <a:stCxn id="85" idx="6"/>
              <a:endCxn id="8" idx="2"/>
            </p:cNvCxnSpPr>
            <p:nvPr/>
          </p:nvCxnSpPr>
          <p:spPr>
            <a:xfrm flipV="1">
              <a:off x="2478162" y="3548774"/>
              <a:ext cx="1045723" cy="15492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3" name="直線單箭頭接點 72">
              <a:extLst>
                <a:ext uri="{FF2B5EF4-FFF2-40B4-BE49-F238E27FC236}">
                  <a16:creationId xmlns:a16="http://schemas.microsoft.com/office/drawing/2014/main" id="{E445F424-C2E3-C0F8-19ED-F39B9EB21831}"/>
                </a:ext>
              </a:extLst>
            </p:cNvPr>
            <p:cNvCxnSpPr>
              <a:cxnSpLocks/>
              <a:stCxn id="18" idx="6"/>
              <a:endCxn id="30" idx="2"/>
            </p:cNvCxnSpPr>
            <p:nvPr/>
          </p:nvCxnSpPr>
          <p:spPr>
            <a:xfrm flipV="1">
              <a:off x="5289608" y="2885448"/>
              <a:ext cx="1045723" cy="12634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4" name="直線單箭頭接點 73">
              <a:extLst>
                <a:ext uri="{FF2B5EF4-FFF2-40B4-BE49-F238E27FC236}">
                  <a16:creationId xmlns:a16="http://schemas.microsoft.com/office/drawing/2014/main" id="{739FE379-1631-A79B-7A75-D738E2716CA9}"/>
                </a:ext>
              </a:extLst>
            </p:cNvPr>
            <p:cNvCxnSpPr>
              <a:cxnSpLocks/>
              <a:stCxn id="16" idx="6"/>
              <a:endCxn id="28" idx="2"/>
            </p:cNvCxnSpPr>
            <p:nvPr/>
          </p:nvCxnSpPr>
          <p:spPr>
            <a:xfrm>
              <a:off x="5289608" y="3549566"/>
              <a:ext cx="1045723" cy="186826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75" name="文字方塊 220">
                  <a:extLst>
                    <a:ext uri="{FF2B5EF4-FFF2-40B4-BE49-F238E27FC236}">
                      <a16:creationId xmlns:a16="http://schemas.microsoft.com/office/drawing/2014/main" id="{F4E4037C-3CF2-22EA-0B01-8DE9E265927A}"/>
                    </a:ext>
                  </a:extLst>
                </p:cNvPr>
                <p:cNvSpPr txBox="1"/>
                <p:nvPr/>
              </p:nvSpPr>
              <p:spPr>
                <a:xfrm>
                  <a:off x="8306824" y="3225328"/>
                  <a:ext cx="450453" cy="1835567"/>
                </a:xfrm>
                <a:prstGeom prst="rect">
                  <a:avLst/>
                </a:prstGeom>
                <a:noFill/>
              </p:spPr>
              <p:txBody>
                <a:bodyPr wrap="squar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 xmlns:m="http://schemas.openxmlformats.org/officeDocument/2006/math">
                      <m:acc>
                        <m:accPr>
                          <m:chr m:val="̂"/>
                          <m:ctrlPr>
                            <a:rPr lang="en-US" altLang="zh-TW" sz="2000" i="1" dirty="0">
                              <a:latin typeface="Cambria Math" panose="02040503050406030204" pitchFamily="18" charset="0"/>
                              <a:cs typeface="Times New Roman" panose="02020603050405020304" pitchFamily="18" charset="0"/>
                            </a:rPr>
                          </m:ctrlPr>
                        </m:accPr>
                        <m:e>
                          <m:r>
                            <a:rPr lang="en-US" altLang="zh-TW" sz="2000" i="1" dirty="0">
                              <a:latin typeface="Cambria Math" panose="02040503050406030204" pitchFamily="18" charset="0"/>
                              <a:cs typeface="Times New Roman" panose="02020603050405020304" pitchFamily="18" charset="0"/>
                            </a:rPr>
                            <m:t>𝑦</m:t>
                          </m:r>
                        </m:e>
                      </m:acc>
                    </m:oMath>
                  </a14:m>
                  <a:r>
                    <a:rPr lang="en-US" altLang="zh-TW" sz="2000" baseline="-25000" dirty="0">
                      <a:latin typeface="Times New Roman" panose="02020603050405020304" pitchFamily="18" charset="0"/>
                      <a:cs typeface="Times New Roman" panose="02020603050405020304" pitchFamily="18" charset="0"/>
                    </a:rPr>
                    <a:t>1</a:t>
                  </a:r>
                </a:p>
                <a:p>
                  <a:endParaRPr lang="en-US" altLang="zh-TW" sz="800" i="1" dirty="0">
                    <a:latin typeface="Times New Roman" panose="02020603050405020304" pitchFamily="18" charset="0"/>
                    <a:cs typeface="Times New Roman" panose="02020603050405020304" pitchFamily="18" charset="0"/>
                  </a:endParaRPr>
                </a:p>
                <a:p>
                  <a14:m>
                    <m:oMath xmlns:m="http://schemas.openxmlformats.org/officeDocument/2006/math">
                      <m:acc>
                        <m:accPr>
                          <m:chr m:val="̂"/>
                          <m:ctrlPr>
                            <a:rPr lang="en-US" altLang="zh-TW" sz="2000" i="1" dirty="0">
                              <a:latin typeface="Cambria Math" panose="02040503050406030204" pitchFamily="18" charset="0"/>
                              <a:cs typeface="Times New Roman" panose="02020603050405020304" pitchFamily="18" charset="0"/>
                            </a:rPr>
                          </m:ctrlPr>
                        </m:accPr>
                        <m:e>
                          <m:r>
                            <a:rPr lang="en-US" altLang="zh-TW" sz="2000" i="1" dirty="0">
                              <a:latin typeface="Cambria Math" panose="02040503050406030204" pitchFamily="18" charset="0"/>
                              <a:cs typeface="Times New Roman" panose="02020603050405020304" pitchFamily="18" charset="0"/>
                            </a:rPr>
                            <m:t>𝑦</m:t>
                          </m:r>
                        </m:e>
                      </m:acc>
                    </m:oMath>
                  </a14:m>
                  <a:r>
                    <a:rPr lang="en-US" altLang="zh-TW" sz="2000" baseline="-25000" dirty="0">
                      <a:latin typeface="Times New Roman" panose="02020603050405020304" pitchFamily="18" charset="0"/>
                      <a:cs typeface="Times New Roman" panose="02020603050405020304" pitchFamily="18" charset="0"/>
                    </a:rPr>
                    <a:t>2</a:t>
                  </a:r>
                </a:p>
                <a:p>
                  <a:endParaRPr lang="en-US" altLang="zh-TW" sz="2000" baseline="-25000" dirty="0">
                    <a:latin typeface="Times New Roman" panose="02020603050405020304" pitchFamily="18" charset="0"/>
                    <a:cs typeface="Times New Roman" panose="02020603050405020304" pitchFamily="18" charset="0"/>
                  </a:endParaRPr>
                </a:p>
                <a:p>
                  <a:pPr>
                    <a:lnSpc>
                      <a:spcPts val="1000"/>
                    </a:lnSpc>
                  </a:pPr>
                  <a:r>
                    <a:rPr lang="en-US" altLang="zh-TW" sz="2000" dirty="0"/>
                    <a:t>.</a:t>
                  </a:r>
                </a:p>
                <a:p>
                  <a:pPr>
                    <a:lnSpc>
                      <a:spcPts val="1000"/>
                    </a:lnSpc>
                  </a:pPr>
                  <a:r>
                    <a:rPr lang="en-US" altLang="zh-TW" sz="2000" dirty="0"/>
                    <a:t>.</a:t>
                  </a:r>
                </a:p>
                <a:p>
                  <a:pPr>
                    <a:lnSpc>
                      <a:spcPts val="1000"/>
                    </a:lnSpc>
                  </a:pPr>
                  <a:r>
                    <a:rPr lang="en-US" altLang="zh-TW" sz="2000" dirty="0"/>
                    <a:t>.</a:t>
                  </a:r>
                </a:p>
                <a:p>
                  <a:pPr>
                    <a:lnSpc>
                      <a:spcPts val="1000"/>
                    </a:lnSpc>
                  </a:pPr>
                  <a:endParaRPr lang="en-US" altLang="zh-TW" sz="2000" dirty="0"/>
                </a:p>
                <a:p>
                  <a:pPr/>
                  <a14:m>
                    <m:oMathPara xmlns:m="http://schemas.openxmlformats.org/officeDocument/2006/math">
                      <m:oMathParaPr>
                        <m:jc m:val="centerGroup"/>
                      </m:oMathParaPr>
                      <m:oMath xmlns:m="http://schemas.openxmlformats.org/officeDocument/2006/math">
                        <m:acc>
                          <m:accPr>
                            <m:chr m:val="̂"/>
                            <m:ctrlPr>
                              <a:rPr lang="en-US" altLang="zh-TW" sz="2000" i="1" dirty="0">
                                <a:latin typeface="Cambria Math" panose="02040503050406030204" pitchFamily="18" charset="0"/>
                                <a:cs typeface="Times New Roman" panose="02020603050405020304" pitchFamily="18" charset="0"/>
                              </a:rPr>
                            </m:ctrlPr>
                          </m:accPr>
                          <m:e>
                            <m:r>
                              <a:rPr lang="en-US" altLang="zh-TW" sz="2000" i="1" dirty="0">
                                <a:latin typeface="Cambria Math" panose="02040503050406030204" pitchFamily="18" charset="0"/>
                                <a:cs typeface="Times New Roman" panose="02020603050405020304" pitchFamily="18" charset="0"/>
                              </a:rPr>
                              <m:t>𝑦</m:t>
                            </m:r>
                          </m:e>
                        </m:acc>
                        <m:r>
                          <a:rPr lang="en-US" altLang="zh-TW" sz="2000" b="0" i="1" baseline="-25000" dirty="0" smtClean="0">
                            <a:latin typeface="Cambria Math" panose="02040503050406030204" pitchFamily="18" charset="0"/>
                            <a:cs typeface="Times New Roman" panose="02020603050405020304" pitchFamily="18" charset="0"/>
                          </a:rPr>
                          <m:t>𝑛</m:t>
                        </m:r>
                      </m:oMath>
                    </m:oMathPara>
                  </a14:m>
                  <a:endParaRPr lang="en-US" altLang="zh-TW" sz="2000" i="1" baseline="-25000" dirty="0">
                    <a:latin typeface="Times New Roman" panose="02020603050405020304" pitchFamily="18" charset="0"/>
                    <a:cs typeface="Times New Roman" panose="02020603050405020304" pitchFamily="18" charset="0"/>
                  </a:endParaRPr>
                </a:p>
              </p:txBody>
            </p:sp>
          </mc:Choice>
          <mc:Fallback xmlns="">
            <p:sp>
              <p:nvSpPr>
                <p:cNvPr id="75" name="文字方塊 220">
                  <a:extLst>
                    <a:ext uri="{FF2B5EF4-FFF2-40B4-BE49-F238E27FC236}">
                      <a16:creationId xmlns:a16="http://schemas.microsoft.com/office/drawing/2014/main" id="{F4E4037C-3CF2-22EA-0B01-8DE9E265927A}"/>
                    </a:ext>
                  </a:extLst>
                </p:cNvPr>
                <p:cNvSpPr txBox="1">
                  <a:spLocks noRot="1" noChangeAspect="1" noMove="1" noResize="1" noEditPoints="1" noAdjustHandles="1" noChangeArrowheads="1" noChangeShapeType="1" noTextEdit="1"/>
                </p:cNvSpPr>
                <p:nvPr/>
              </p:nvSpPr>
              <p:spPr>
                <a:xfrm>
                  <a:off x="8306824" y="3225328"/>
                  <a:ext cx="450453" cy="1835567"/>
                </a:xfrm>
                <a:prstGeom prst="rect">
                  <a:avLst/>
                </a:prstGeom>
                <a:blipFill>
                  <a:blip r:embed="rId2"/>
                  <a:stretch>
                    <a:fillRect l="-14865" t="-997" r="-12162" b="-1329"/>
                  </a:stretch>
                </a:blipFill>
              </p:spPr>
              <p:txBody>
                <a:bodyPr/>
                <a:lstStyle/>
                <a:p>
                  <a:r>
                    <a:rPr lang="zh-TW" altLang="en-US">
                      <a:noFill/>
                    </a:rPr>
                    <a:t> </a:t>
                  </a:r>
                </a:p>
              </p:txBody>
            </p:sp>
          </mc:Fallback>
        </mc:AlternateContent>
        <p:sp>
          <p:nvSpPr>
            <p:cNvPr id="76" name="文字方塊 221">
              <a:extLst>
                <a:ext uri="{FF2B5EF4-FFF2-40B4-BE49-F238E27FC236}">
                  <a16:creationId xmlns:a16="http://schemas.microsoft.com/office/drawing/2014/main" id="{4F19D9B5-3F83-8103-5C95-8DEB3D47A722}"/>
                </a:ext>
              </a:extLst>
            </p:cNvPr>
            <p:cNvSpPr txBox="1"/>
            <p:nvPr/>
          </p:nvSpPr>
          <p:spPr>
            <a:xfrm>
              <a:off x="1024160" y="3099418"/>
              <a:ext cx="450453" cy="2062103"/>
            </a:xfrm>
            <a:prstGeom prst="rect">
              <a:avLst/>
            </a:prstGeom>
            <a:noFill/>
          </p:spPr>
          <p:txBody>
            <a:bodyPr wrap="squar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TW" sz="2000" i="1" dirty="0">
                  <a:latin typeface="Times New Roman" panose="02020603050405020304" pitchFamily="18" charset="0"/>
                  <a:cs typeface="Times New Roman" panose="02020603050405020304" pitchFamily="18" charset="0"/>
                </a:rPr>
                <a:t>x</a:t>
              </a:r>
              <a:r>
                <a:rPr lang="en-US" altLang="zh-TW" sz="2000" baseline="-25000" dirty="0">
                  <a:latin typeface="Times New Roman" panose="02020603050405020304" pitchFamily="18" charset="0"/>
                  <a:cs typeface="Times New Roman" panose="02020603050405020304" pitchFamily="18" charset="0"/>
                </a:rPr>
                <a:t>1</a:t>
              </a:r>
            </a:p>
            <a:p>
              <a:endParaRPr lang="en-US" altLang="zh-TW" sz="800" i="1" dirty="0">
                <a:latin typeface="Times New Roman" panose="02020603050405020304" pitchFamily="18" charset="0"/>
                <a:cs typeface="Times New Roman" panose="02020603050405020304" pitchFamily="18" charset="0"/>
              </a:endParaRPr>
            </a:p>
            <a:p>
              <a:r>
                <a:rPr lang="en-US" altLang="zh-TW" sz="2000" i="1" dirty="0">
                  <a:latin typeface="Times New Roman" panose="02020603050405020304" pitchFamily="18" charset="0"/>
                  <a:cs typeface="Times New Roman" panose="02020603050405020304" pitchFamily="18" charset="0"/>
                </a:rPr>
                <a:t>x</a:t>
              </a:r>
              <a:r>
                <a:rPr lang="en-US" altLang="zh-TW" sz="2000" baseline="-25000" dirty="0">
                  <a:latin typeface="Times New Roman" panose="02020603050405020304" pitchFamily="18" charset="0"/>
                  <a:cs typeface="Times New Roman" panose="02020603050405020304" pitchFamily="18" charset="0"/>
                </a:rPr>
                <a:t>2</a:t>
              </a:r>
            </a:p>
            <a:p>
              <a:r>
                <a:rPr lang="en-US" altLang="zh-TW" sz="2000" dirty="0"/>
                <a:t>.</a:t>
              </a:r>
            </a:p>
            <a:p>
              <a:r>
                <a:rPr lang="en-US" altLang="zh-TW" sz="2000" dirty="0"/>
                <a:t>.</a:t>
              </a:r>
            </a:p>
            <a:p>
              <a:r>
                <a:rPr lang="en-US" altLang="zh-TW" sz="2000" dirty="0"/>
                <a:t>.</a:t>
              </a:r>
            </a:p>
            <a:p>
              <a:r>
                <a:rPr lang="en-US" altLang="zh-TW" sz="2000" i="1" dirty="0" err="1">
                  <a:latin typeface="Times New Roman" panose="02020603050405020304" pitchFamily="18" charset="0"/>
                  <a:cs typeface="Times New Roman" panose="02020603050405020304" pitchFamily="18" charset="0"/>
                </a:rPr>
                <a:t>x</a:t>
              </a:r>
              <a:r>
                <a:rPr lang="en-US" altLang="zh-TW" sz="2000" i="1" baseline="-25000" dirty="0" err="1">
                  <a:latin typeface="Times New Roman" panose="02020603050405020304" pitchFamily="18" charset="0"/>
                  <a:cs typeface="Times New Roman" panose="02020603050405020304" pitchFamily="18" charset="0"/>
                </a:rPr>
                <a:t>d</a:t>
              </a:r>
              <a:endParaRPr lang="en-US" altLang="zh-TW" sz="2000" i="1" baseline="-25000" dirty="0">
                <a:latin typeface="Times New Roman" panose="02020603050405020304" pitchFamily="18" charset="0"/>
                <a:cs typeface="Times New Roman" panose="02020603050405020304" pitchFamily="18" charset="0"/>
              </a:endParaRPr>
            </a:p>
          </p:txBody>
        </p:sp>
        <p:cxnSp>
          <p:nvCxnSpPr>
            <p:cNvPr id="77" name="直線接點 76">
              <a:extLst>
                <a:ext uri="{FF2B5EF4-FFF2-40B4-BE49-F238E27FC236}">
                  <a16:creationId xmlns:a16="http://schemas.microsoft.com/office/drawing/2014/main" id="{212D54D7-1FE0-850D-FBC2-C7E5A89E5339}"/>
                </a:ext>
              </a:extLst>
            </p:cNvPr>
            <p:cNvCxnSpPr>
              <a:cxnSpLocks/>
            </p:cNvCxnSpPr>
            <p:nvPr/>
          </p:nvCxnSpPr>
          <p:spPr>
            <a:xfrm>
              <a:off x="2859470" y="2062853"/>
              <a:ext cx="40655" cy="3887951"/>
            </a:xfrm>
            <a:prstGeom prst="line">
              <a:avLst/>
            </a:prstGeom>
            <a:ln w="22225">
              <a:prstDash val="dash"/>
            </a:ln>
          </p:spPr>
          <p:style>
            <a:lnRef idx="1">
              <a:schemeClr val="accent1"/>
            </a:lnRef>
            <a:fillRef idx="0">
              <a:schemeClr val="accent1"/>
            </a:fillRef>
            <a:effectRef idx="0">
              <a:schemeClr val="accent1"/>
            </a:effectRef>
            <a:fontRef idx="minor">
              <a:schemeClr val="tx1"/>
            </a:fontRef>
          </p:style>
        </p:cxnSp>
        <p:cxnSp>
          <p:nvCxnSpPr>
            <p:cNvPr id="78" name="直線接點 77">
              <a:extLst>
                <a:ext uri="{FF2B5EF4-FFF2-40B4-BE49-F238E27FC236}">
                  <a16:creationId xmlns:a16="http://schemas.microsoft.com/office/drawing/2014/main" id="{BB93BC75-422E-531B-3B49-23FCB0487962}"/>
                </a:ext>
              </a:extLst>
            </p:cNvPr>
            <p:cNvCxnSpPr>
              <a:cxnSpLocks/>
            </p:cNvCxnSpPr>
            <p:nvPr/>
          </p:nvCxnSpPr>
          <p:spPr>
            <a:xfrm>
              <a:off x="7040660" y="2070402"/>
              <a:ext cx="40655" cy="3887951"/>
            </a:xfrm>
            <a:prstGeom prst="line">
              <a:avLst/>
            </a:prstGeom>
            <a:ln w="22225">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9" name="文字方塊 229">
                  <a:extLst>
                    <a:ext uri="{FF2B5EF4-FFF2-40B4-BE49-F238E27FC236}">
                      <a16:creationId xmlns:a16="http://schemas.microsoft.com/office/drawing/2014/main" id="{49A3F30E-B615-C985-86BB-D3DD23BE50EF}"/>
                    </a:ext>
                  </a:extLst>
                </p:cNvPr>
                <p:cNvSpPr txBox="1"/>
                <p:nvPr/>
              </p:nvSpPr>
              <p:spPr>
                <a:xfrm>
                  <a:off x="899311" y="1724401"/>
                  <a:ext cx="10393378" cy="784830"/>
                </a:xfrm>
                <a:prstGeom prst="rect">
                  <a:avLst/>
                </a:prstGeom>
                <a:noFill/>
              </p:spPr>
              <p:txBody>
                <a:bodyPr wrap="squar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US" altLang="zh-TW" sz="2000" dirty="0">
                      <a:latin typeface="Arial" panose="020B0604020202020204" pitchFamily="34" charset="0"/>
                      <a:cs typeface="Arial" panose="020B0604020202020204" pitchFamily="34" charset="0"/>
                    </a:rPr>
                    <a:t>Input Layer                           Hidden Layers                             Output Layer   Ground Truth</a:t>
                  </a:r>
                </a:p>
                <a:p>
                  <a:r>
                    <a:rPr lang="en-US" altLang="zh-TW" sz="2000" i="1" dirty="0">
                      <a:latin typeface="Times New Roman" panose="02020603050405020304" pitchFamily="18" charset="0"/>
                      <a:cs typeface="Times New Roman" panose="02020603050405020304" pitchFamily="18" charset="0"/>
                    </a:rPr>
                    <a:t>  </a:t>
                  </a:r>
                  <a:r>
                    <a:rPr lang="en-US" altLang="zh-TW" sz="2000" b="1" i="1" dirty="0">
                      <a:latin typeface="Times New Roman" panose="02020603050405020304" pitchFamily="18" charset="0"/>
                      <a:cs typeface="Times New Roman" panose="02020603050405020304" pitchFamily="18" charset="0"/>
                    </a:rPr>
                    <a:t>x</a:t>
                  </a:r>
                  <a:r>
                    <a:rPr lang="en-US" altLang="zh-TW" sz="2000" i="1" dirty="0">
                      <a:latin typeface="Times New Roman" panose="02020603050405020304" pitchFamily="18" charset="0"/>
                      <a:cs typeface="Times New Roman" panose="02020603050405020304" pitchFamily="18" charset="0"/>
                    </a:rPr>
                    <a:t>                                     h</a:t>
                  </a:r>
                  <a:r>
                    <a:rPr lang="en-US" altLang="zh-TW" sz="2000" baseline="-25000" dirty="0">
                      <a:latin typeface="Times New Roman" panose="02020603050405020304" pitchFamily="18" charset="0"/>
                      <a:cs typeface="Times New Roman" panose="02020603050405020304" pitchFamily="18" charset="0"/>
                    </a:rPr>
                    <a:t>1</a:t>
                  </a:r>
                  <a:r>
                    <a:rPr lang="en-US" altLang="zh-TW" sz="2000" dirty="0">
                      <a:latin typeface="Times New Roman" panose="02020603050405020304" pitchFamily="18" charset="0"/>
                      <a:cs typeface="Times New Roman" panose="02020603050405020304" pitchFamily="18" charset="0"/>
                    </a:rPr>
                    <a:t>                   </a:t>
                  </a:r>
                  <a:r>
                    <a:rPr lang="en-US" altLang="zh-TW" sz="2000" baseline="-25000" dirty="0">
                      <a:latin typeface="Times New Roman" panose="02020603050405020304" pitchFamily="18" charset="0"/>
                      <a:cs typeface="Times New Roman" panose="02020603050405020304" pitchFamily="18" charset="0"/>
                    </a:rPr>
                    <a:t>  </a:t>
                  </a:r>
                  <a:r>
                    <a:rPr lang="en-US" altLang="zh-TW" sz="2000" i="1" dirty="0">
                      <a:latin typeface="Times New Roman" panose="02020603050405020304" pitchFamily="18" charset="0"/>
                      <a:cs typeface="Times New Roman" panose="02020603050405020304" pitchFamily="18" charset="0"/>
                    </a:rPr>
                    <a:t>h</a:t>
                  </a:r>
                  <a:r>
                    <a:rPr lang="en-US" altLang="zh-TW" sz="2000" baseline="-25000" dirty="0">
                      <a:latin typeface="Times New Roman" panose="02020603050405020304" pitchFamily="18" charset="0"/>
                      <a:cs typeface="Times New Roman" panose="02020603050405020304" pitchFamily="18" charset="0"/>
                    </a:rPr>
                    <a:t>2           </a:t>
                  </a:r>
                  <a:r>
                    <a:rPr lang="en-US" altLang="zh-TW" sz="2000" dirty="0">
                      <a:latin typeface="Times New Roman" panose="02020603050405020304" pitchFamily="18" charset="0"/>
                      <a:cs typeface="Times New Roman" panose="02020603050405020304" pitchFamily="18" charset="0"/>
                    </a:rPr>
                    <a:t>…</a:t>
                  </a:r>
                  <a:r>
                    <a:rPr lang="en-US" altLang="zh-TW" sz="2000" baseline="-25000" dirty="0">
                      <a:latin typeface="Times New Roman" panose="02020603050405020304" pitchFamily="18" charset="0"/>
                      <a:cs typeface="Times New Roman" panose="02020603050405020304" pitchFamily="18" charset="0"/>
                    </a:rPr>
                    <a:t>          </a:t>
                  </a:r>
                  <a:r>
                    <a:rPr lang="en-US" altLang="zh-TW" sz="2000" i="1" dirty="0" err="1">
                      <a:latin typeface="Times New Roman" panose="02020603050405020304" pitchFamily="18" charset="0"/>
                      <a:cs typeface="Times New Roman" panose="02020603050405020304" pitchFamily="18" charset="0"/>
                    </a:rPr>
                    <a:t>h</a:t>
                  </a:r>
                  <a:r>
                    <a:rPr lang="en-US" altLang="zh-TW" sz="2000" i="1" baseline="-25000" dirty="0" err="1">
                      <a:latin typeface="Times New Roman" panose="02020603050405020304" pitchFamily="18" charset="0"/>
                      <a:cs typeface="Times New Roman" panose="02020603050405020304" pitchFamily="18" charset="0"/>
                    </a:rPr>
                    <a:t>n</a:t>
                  </a:r>
                  <a:r>
                    <a:rPr lang="en-US" altLang="zh-TW" sz="2000" baseline="-25000" dirty="0">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el-GR" altLang="zh-TW" sz="2000" b="1" i="1" smtClean="0">
                              <a:latin typeface="Cambria Math" panose="02040503050406030204" pitchFamily="18" charset="0"/>
                              <a:cs typeface="Times New Roman" panose="02020603050405020304" pitchFamily="18" charset="0"/>
                            </a:rPr>
                          </m:ctrlPr>
                        </m:accPr>
                        <m:e>
                          <m:r>
                            <a:rPr lang="en-US" altLang="zh-TW" sz="2000" b="1" i="1" smtClean="0">
                              <a:latin typeface="Cambria Math" panose="02040503050406030204" pitchFamily="18" charset="0"/>
                              <a:cs typeface="Times New Roman" panose="02020603050405020304" pitchFamily="18" charset="0"/>
                            </a:rPr>
                            <m:t>𝒚</m:t>
                          </m:r>
                        </m:e>
                      </m:acc>
                      <m:r>
                        <a:rPr lang="en-US" altLang="zh-TW" sz="2000" b="1" i="1" smtClean="0">
                          <a:latin typeface="Cambria Math" panose="02040503050406030204" pitchFamily="18" charset="0"/>
                          <a:cs typeface="Times New Roman" panose="02020603050405020304" pitchFamily="18" charset="0"/>
                        </a:rPr>
                        <m:t>   </m:t>
                      </m:r>
                    </m:oMath>
                  </a14:m>
                  <a:r>
                    <a:rPr lang="en-US" altLang="zh-TW" sz="2000" b="1" dirty="0">
                      <a:latin typeface="Times New Roman" panose="02020603050405020304" pitchFamily="18" charset="0"/>
                      <a:cs typeface="Times New Roman" panose="02020603050405020304" pitchFamily="18" charset="0"/>
                    </a:rPr>
                    <a:t>                      </a:t>
                  </a:r>
                  <a:r>
                    <a:rPr lang="en-US" altLang="zh-TW" sz="2000" b="1" i="1" dirty="0">
                      <a:latin typeface="Times New Roman" panose="02020603050405020304" pitchFamily="18" charset="0"/>
                      <a:cs typeface="Times New Roman" panose="02020603050405020304" pitchFamily="18" charset="0"/>
                    </a:rPr>
                    <a:t>y</a:t>
                  </a:r>
                  <a:endParaRPr lang="en-US" altLang="zh-TW" sz="2000" b="1" i="1" baseline="-25000" dirty="0">
                    <a:latin typeface="Times New Roman" panose="02020603050405020304" pitchFamily="18" charset="0"/>
                    <a:cs typeface="Times New Roman" panose="02020603050405020304" pitchFamily="18" charset="0"/>
                  </a:endParaRPr>
                </a:p>
              </p:txBody>
            </p:sp>
          </mc:Choice>
          <mc:Fallback xmlns="">
            <p:sp>
              <p:nvSpPr>
                <p:cNvPr id="79" name="文字方塊 229">
                  <a:extLst>
                    <a:ext uri="{FF2B5EF4-FFF2-40B4-BE49-F238E27FC236}">
                      <a16:creationId xmlns:a16="http://schemas.microsoft.com/office/drawing/2014/main" id="{49A3F30E-B615-C985-86BB-D3DD23BE50EF}"/>
                    </a:ext>
                  </a:extLst>
                </p:cNvPr>
                <p:cNvSpPr txBox="1">
                  <a:spLocks noRot="1" noChangeAspect="1" noMove="1" noResize="1" noEditPoints="1" noAdjustHandles="1" noChangeArrowheads="1" noChangeShapeType="1" noTextEdit="1"/>
                </p:cNvSpPr>
                <p:nvPr/>
              </p:nvSpPr>
              <p:spPr>
                <a:xfrm>
                  <a:off x="899311" y="1724401"/>
                  <a:ext cx="10393378" cy="784830"/>
                </a:xfrm>
                <a:prstGeom prst="rect">
                  <a:avLst/>
                </a:prstGeom>
                <a:blipFill>
                  <a:blip r:embed="rId3"/>
                  <a:stretch>
                    <a:fillRect l="-645" t="-3906" b="-1406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0" name="文字方塊 230">
                  <a:extLst>
                    <a:ext uri="{FF2B5EF4-FFF2-40B4-BE49-F238E27FC236}">
                      <a16:creationId xmlns:a16="http://schemas.microsoft.com/office/drawing/2014/main" id="{2F5EB04A-836B-04B2-CEC7-DB3014EC6C81}"/>
                    </a:ext>
                  </a:extLst>
                </p:cNvPr>
                <p:cNvSpPr txBox="1"/>
                <p:nvPr/>
              </p:nvSpPr>
              <p:spPr>
                <a:xfrm>
                  <a:off x="10012863" y="3242288"/>
                  <a:ext cx="450453" cy="1801647"/>
                </a:xfrm>
                <a:prstGeom prst="rect">
                  <a:avLst/>
                </a:prstGeom>
                <a:noFill/>
              </p:spPr>
              <p:txBody>
                <a:bodyPr wrap="squar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altLang="zh-TW" sz="2000" i="1" dirty="0" smtClean="0">
                                <a:latin typeface="Cambria Math" panose="02040503050406030204" pitchFamily="18" charset="0"/>
                                <a:cs typeface="Times New Roman" panose="02020603050405020304" pitchFamily="18" charset="0"/>
                              </a:rPr>
                            </m:ctrlPr>
                          </m:sSubPr>
                          <m:e>
                            <m:r>
                              <a:rPr lang="en-US" altLang="zh-TW" sz="2000" i="1" dirty="0">
                                <a:latin typeface="Cambria Math" panose="02040503050406030204" pitchFamily="18" charset="0"/>
                                <a:cs typeface="Times New Roman" panose="02020603050405020304" pitchFamily="18" charset="0"/>
                              </a:rPr>
                              <m:t>𝑦</m:t>
                            </m:r>
                          </m:e>
                          <m:sub>
                            <m:r>
                              <a:rPr lang="en-US" altLang="zh-TW" sz="2000" i="1" dirty="0">
                                <a:latin typeface="Cambria Math" panose="02040503050406030204" pitchFamily="18" charset="0"/>
                                <a:cs typeface="Times New Roman" panose="02020603050405020304" pitchFamily="18" charset="0"/>
                              </a:rPr>
                              <m:t>1</m:t>
                            </m:r>
                          </m:sub>
                        </m:sSub>
                      </m:oMath>
                    </m:oMathPara>
                  </a14:m>
                  <a:endParaRPr lang="en-US" altLang="zh-TW" sz="2000" dirty="0">
                    <a:latin typeface="Times New Roman" panose="02020603050405020304" pitchFamily="18" charset="0"/>
                    <a:cs typeface="Times New Roman" panose="02020603050405020304" pitchFamily="18" charset="0"/>
                  </a:endParaRPr>
                </a:p>
                <a:p>
                  <a:endParaRPr lang="en-US" altLang="zh-TW" sz="800" baseline="-25000"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altLang="zh-TW" sz="2000" i="1" dirty="0">
                                <a:latin typeface="Cambria Math" panose="02040503050406030204" pitchFamily="18" charset="0"/>
                                <a:cs typeface="Times New Roman" panose="02020603050405020304" pitchFamily="18" charset="0"/>
                              </a:rPr>
                            </m:ctrlPr>
                          </m:sSubPr>
                          <m:e>
                            <m:r>
                              <a:rPr lang="en-US" altLang="zh-TW" sz="2000" i="1" dirty="0">
                                <a:latin typeface="Cambria Math" panose="02040503050406030204" pitchFamily="18" charset="0"/>
                                <a:cs typeface="Times New Roman" panose="02020603050405020304" pitchFamily="18" charset="0"/>
                              </a:rPr>
                              <m:t>𝑦</m:t>
                            </m:r>
                          </m:e>
                          <m:sub>
                            <m:r>
                              <a:rPr lang="en-US" altLang="zh-TW" sz="2000" b="0" i="1" dirty="0" smtClean="0">
                                <a:latin typeface="Cambria Math" panose="02040503050406030204" pitchFamily="18" charset="0"/>
                                <a:cs typeface="Times New Roman" panose="02020603050405020304" pitchFamily="18" charset="0"/>
                              </a:rPr>
                              <m:t>2</m:t>
                            </m:r>
                          </m:sub>
                        </m:sSub>
                      </m:oMath>
                    </m:oMathPara>
                  </a14:m>
                  <a:endParaRPr lang="en-US" altLang="zh-TW" sz="2000" baseline="-25000" dirty="0">
                    <a:latin typeface="Times New Roman" panose="02020603050405020304" pitchFamily="18" charset="0"/>
                    <a:cs typeface="Times New Roman" panose="02020603050405020304" pitchFamily="18" charset="0"/>
                  </a:endParaRPr>
                </a:p>
                <a:p>
                  <a:endParaRPr lang="en-US" altLang="zh-TW" sz="2000" baseline="-25000" dirty="0">
                    <a:latin typeface="Times New Roman" panose="02020603050405020304" pitchFamily="18" charset="0"/>
                    <a:cs typeface="Times New Roman" panose="02020603050405020304" pitchFamily="18" charset="0"/>
                  </a:endParaRPr>
                </a:p>
                <a:p>
                  <a:pPr>
                    <a:lnSpc>
                      <a:spcPts val="1000"/>
                    </a:lnSpc>
                  </a:pPr>
                  <a:r>
                    <a:rPr lang="en-US" altLang="zh-TW" sz="2000" dirty="0"/>
                    <a:t>.</a:t>
                  </a:r>
                </a:p>
                <a:p>
                  <a:pPr>
                    <a:lnSpc>
                      <a:spcPts val="1000"/>
                    </a:lnSpc>
                  </a:pPr>
                  <a:r>
                    <a:rPr lang="en-US" altLang="zh-TW" sz="2000" dirty="0"/>
                    <a:t>.</a:t>
                  </a:r>
                </a:p>
                <a:p>
                  <a:pPr>
                    <a:lnSpc>
                      <a:spcPts val="1000"/>
                    </a:lnSpc>
                  </a:pPr>
                  <a:r>
                    <a:rPr lang="en-US" altLang="zh-TW" sz="2000" dirty="0"/>
                    <a:t>.</a:t>
                  </a:r>
                </a:p>
                <a:p>
                  <a:pPr>
                    <a:lnSpc>
                      <a:spcPts val="1000"/>
                    </a:lnSpc>
                  </a:pPr>
                  <a:endParaRPr lang="en-US" altLang="zh-TW" sz="2000" dirty="0"/>
                </a:p>
                <a:p>
                  <a:pPr/>
                  <a14:m>
                    <m:oMathPara xmlns:m="http://schemas.openxmlformats.org/officeDocument/2006/math">
                      <m:oMathParaPr>
                        <m:jc m:val="centerGroup"/>
                      </m:oMathParaPr>
                      <m:oMath xmlns:m="http://schemas.openxmlformats.org/officeDocument/2006/math">
                        <m:sSub>
                          <m:sSubPr>
                            <m:ctrlPr>
                              <a:rPr lang="en-US" altLang="zh-TW" sz="2000" i="1" dirty="0" smtClean="0">
                                <a:latin typeface="Cambria Math" panose="02040503050406030204" pitchFamily="18" charset="0"/>
                                <a:cs typeface="Times New Roman" panose="02020603050405020304" pitchFamily="18" charset="0"/>
                              </a:rPr>
                            </m:ctrlPr>
                          </m:sSubPr>
                          <m:e>
                            <m:r>
                              <a:rPr lang="en-US" altLang="zh-TW" sz="2000" b="0" i="1" dirty="0" smtClean="0">
                                <a:latin typeface="Cambria Math" panose="02040503050406030204" pitchFamily="18" charset="0"/>
                                <a:cs typeface="Times New Roman" panose="02020603050405020304" pitchFamily="18" charset="0"/>
                              </a:rPr>
                              <m:t>𝑦</m:t>
                            </m:r>
                          </m:e>
                          <m:sub>
                            <m:r>
                              <a:rPr lang="en-US" altLang="zh-TW" sz="2000" b="0" i="1" dirty="0" smtClean="0">
                                <a:latin typeface="Cambria Math" panose="02040503050406030204" pitchFamily="18" charset="0"/>
                                <a:cs typeface="Times New Roman" panose="02020603050405020304" pitchFamily="18" charset="0"/>
                              </a:rPr>
                              <m:t>𝑛</m:t>
                            </m:r>
                          </m:sub>
                        </m:sSub>
                      </m:oMath>
                    </m:oMathPara>
                  </a14:m>
                  <a:endParaRPr lang="en-US" altLang="zh-TW" sz="2000" i="1" baseline="-25000" dirty="0">
                    <a:latin typeface="Times New Roman" panose="02020603050405020304" pitchFamily="18" charset="0"/>
                    <a:cs typeface="Times New Roman" panose="02020603050405020304" pitchFamily="18" charset="0"/>
                  </a:endParaRPr>
                </a:p>
              </p:txBody>
            </p:sp>
          </mc:Choice>
          <mc:Fallback xmlns="">
            <p:sp>
              <p:nvSpPr>
                <p:cNvPr id="80" name="文字方塊 230">
                  <a:extLst>
                    <a:ext uri="{FF2B5EF4-FFF2-40B4-BE49-F238E27FC236}">
                      <a16:creationId xmlns:a16="http://schemas.microsoft.com/office/drawing/2014/main" id="{2F5EB04A-836B-04B2-CEC7-DB3014EC6C81}"/>
                    </a:ext>
                  </a:extLst>
                </p:cNvPr>
                <p:cNvSpPr txBox="1">
                  <a:spLocks noRot="1" noChangeAspect="1" noMove="1" noResize="1" noEditPoints="1" noAdjustHandles="1" noChangeArrowheads="1" noChangeShapeType="1" noTextEdit="1"/>
                </p:cNvSpPr>
                <p:nvPr/>
              </p:nvSpPr>
              <p:spPr>
                <a:xfrm>
                  <a:off x="10012863" y="3242288"/>
                  <a:ext cx="450453" cy="1801647"/>
                </a:xfrm>
                <a:prstGeom prst="rect">
                  <a:avLst/>
                </a:prstGeom>
                <a:blipFill>
                  <a:blip r:embed="rId4"/>
                  <a:stretch>
                    <a:fillRect l="-14865" b="-1356"/>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24865565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935A977-4637-7CD1-9927-347EB5860DEB}"/>
              </a:ext>
            </a:extLst>
          </p:cNvPr>
          <p:cNvSpPr txBox="1">
            <a:spLocks/>
          </p:cNvSpPr>
          <p:nvPr/>
        </p:nvSpPr>
        <p:spPr>
          <a:xfrm>
            <a:off x="904876" y="174868"/>
            <a:ext cx="1072515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b="1"/>
              <a:t>Perceptron</a:t>
            </a:r>
            <a:r>
              <a:rPr lang="en-US" altLang="zh-TW"/>
              <a:t> –</a:t>
            </a:r>
            <a:r>
              <a:rPr lang="en-US" altLang="zh-TW" sz="2800"/>
              <a:t>fundamental unit of a Neural Network</a:t>
            </a:r>
            <a:endParaRPr lang="zh-TW" altLang="en-US" sz="2800" dirty="0"/>
          </a:p>
        </p:txBody>
      </p:sp>
      <p:sp>
        <p:nvSpPr>
          <p:cNvPr id="3" name="橢圓 2">
            <a:extLst>
              <a:ext uri="{FF2B5EF4-FFF2-40B4-BE49-F238E27FC236}">
                <a16:creationId xmlns:a16="http://schemas.microsoft.com/office/drawing/2014/main" id="{4131CAED-B7AD-662E-83F7-A8C3A4C980AF}"/>
              </a:ext>
            </a:extLst>
          </p:cNvPr>
          <p:cNvSpPr/>
          <p:nvPr/>
        </p:nvSpPr>
        <p:spPr>
          <a:xfrm>
            <a:off x="2068698" y="1394063"/>
            <a:ext cx="432000" cy="432000"/>
          </a:xfrm>
          <a:prstGeom prst="ellipse">
            <a:avLst/>
          </a:prstGeom>
          <a:solidFill>
            <a:schemeClr val="accent4">
              <a:lumMod val="60000"/>
              <a:lumOff val="40000"/>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dirty="0"/>
              <a:t>1</a:t>
            </a:r>
            <a:endParaRPr lang="zh-TW" altLang="en-US" dirty="0"/>
          </a:p>
        </p:txBody>
      </p:sp>
      <p:sp>
        <p:nvSpPr>
          <p:cNvPr id="4" name="橢圓 3">
            <a:extLst>
              <a:ext uri="{FF2B5EF4-FFF2-40B4-BE49-F238E27FC236}">
                <a16:creationId xmlns:a16="http://schemas.microsoft.com/office/drawing/2014/main" id="{8D2917D4-104E-EDD2-DEB6-D8FC906C4F55}"/>
              </a:ext>
            </a:extLst>
          </p:cNvPr>
          <p:cNvSpPr/>
          <p:nvPr/>
        </p:nvSpPr>
        <p:spPr>
          <a:xfrm>
            <a:off x="2068698" y="2038880"/>
            <a:ext cx="432000" cy="432000"/>
          </a:xfrm>
          <a:prstGeom prst="ellipse">
            <a:avLst/>
          </a:prstGeom>
          <a:solidFill>
            <a:schemeClr val="accent4">
              <a:lumMod val="60000"/>
              <a:lumOff val="40000"/>
            </a:schemeClr>
          </a:solidFill>
        </p:spPr>
        <p:style>
          <a:lnRef idx="1">
            <a:schemeClr val="accent6"/>
          </a:lnRef>
          <a:fillRef idx="2">
            <a:schemeClr val="accent6"/>
          </a:fillRef>
          <a:effectRef idx="1">
            <a:schemeClr val="accent6"/>
          </a:effectRef>
          <a:fontRef idx="minor">
            <a:schemeClr val="dk1"/>
          </a:fontRef>
        </p:style>
        <p:txBody>
          <a:bodyPr lIns="0" tIns="0" rIns="0" bIns="0" rtlCol="0" anchor="b" anchorCtr="0"/>
          <a:lstStyle/>
          <a:p>
            <a:pPr algn="ctr"/>
            <a:r>
              <a:rPr lang="en-US" altLang="zh-TW" sz="2400" i="1" dirty="0">
                <a:latin typeface="Times New Roman" panose="02020603050405020304" pitchFamily="18" charset="0"/>
                <a:cs typeface="Times New Roman" panose="02020603050405020304" pitchFamily="18" charset="0"/>
              </a:rPr>
              <a:t>x</a:t>
            </a:r>
            <a:r>
              <a:rPr lang="en-US" altLang="zh-TW" sz="2400" baseline="-25000" dirty="0">
                <a:latin typeface="Times New Roman" panose="02020603050405020304" pitchFamily="18" charset="0"/>
                <a:cs typeface="Times New Roman" panose="02020603050405020304" pitchFamily="18" charset="0"/>
              </a:rPr>
              <a:t>1</a:t>
            </a:r>
            <a:endParaRPr lang="zh-TW" altLang="en-US" sz="2400" baseline="-25000" dirty="0">
              <a:latin typeface="Times New Roman" panose="02020603050405020304" pitchFamily="18" charset="0"/>
              <a:cs typeface="Times New Roman" panose="02020603050405020304" pitchFamily="18" charset="0"/>
            </a:endParaRPr>
          </a:p>
        </p:txBody>
      </p:sp>
      <p:sp>
        <p:nvSpPr>
          <p:cNvPr id="5" name="橢圓 4">
            <a:extLst>
              <a:ext uri="{FF2B5EF4-FFF2-40B4-BE49-F238E27FC236}">
                <a16:creationId xmlns:a16="http://schemas.microsoft.com/office/drawing/2014/main" id="{F598EF1F-4B45-D0BE-0035-FD8C1784F8CC}"/>
              </a:ext>
            </a:extLst>
          </p:cNvPr>
          <p:cNvSpPr/>
          <p:nvPr/>
        </p:nvSpPr>
        <p:spPr>
          <a:xfrm>
            <a:off x="2068698" y="2683697"/>
            <a:ext cx="432000" cy="432000"/>
          </a:xfrm>
          <a:prstGeom prst="ellipse">
            <a:avLst/>
          </a:prstGeom>
          <a:solidFill>
            <a:schemeClr val="accent4">
              <a:lumMod val="60000"/>
              <a:lumOff val="40000"/>
            </a:schemeClr>
          </a:solidFill>
        </p:spPr>
        <p:style>
          <a:lnRef idx="1">
            <a:schemeClr val="accent6"/>
          </a:lnRef>
          <a:fillRef idx="2">
            <a:schemeClr val="accent6"/>
          </a:fillRef>
          <a:effectRef idx="1">
            <a:schemeClr val="accent6"/>
          </a:effectRef>
          <a:fontRef idx="minor">
            <a:schemeClr val="dk1"/>
          </a:fontRef>
        </p:style>
        <p:txBody>
          <a:bodyPr lIns="0" tIns="0" rIns="0" bIns="0" rtlCol="0" anchor="b" anchorCtr="0"/>
          <a:lstStyle/>
          <a:p>
            <a:pPr algn="ctr"/>
            <a:r>
              <a:rPr lang="en-US" altLang="zh-TW" sz="2400" i="1" dirty="0">
                <a:latin typeface="Times New Roman" panose="02020603050405020304" pitchFamily="18" charset="0"/>
                <a:cs typeface="Times New Roman" panose="02020603050405020304" pitchFamily="18" charset="0"/>
              </a:rPr>
              <a:t>x</a:t>
            </a:r>
            <a:r>
              <a:rPr lang="en-US" altLang="zh-TW" sz="2400" baseline="-25000" dirty="0">
                <a:latin typeface="Times New Roman" panose="02020603050405020304" pitchFamily="18" charset="0"/>
                <a:cs typeface="Times New Roman" panose="02020603050405020304" pitchFamily="18" charset="0"/>
              </a:rPr>
              <a:t>2</a:t>
            </a:r>
            <a:endParaRPr lang="zh-TW" altLang="en-US" sz="2400" baseline="-25000" dirty="0">
              <a:latin typeface="Times New Roman" panose="02020603050405020304" pitchFamily="18" charset="0"/>
              <a:cs typeface="Times New Roman" panose="02020603050405020304" pitchFamily="18" charset="0"/>
            </a:endParaRPr>
          </a:p>
        </p:txBody>
      </p:sp>
      <p:sp>
        <p:nvSpPr>
          <p:cNvPr id="6" name="橢圓 5">
            <a:extLst>
              <a:ext uri="{FF2B5EF4-FFF2-40B4-BE49-F238E27FC236}">
                <a16:creationId xmlns:a16="http://schemas.microsoft.com/office/drawing/2014/main" id="{618C0AD4-F3BB-5CBA-90C6-43FE7E8C35CD}"/>
              </a:ext>
            </a:extLst>
          </p:cNvPr>
          <p:cNvSpPr/>
          <p:nvPr/>
        </p:nvSpPr>
        <p:spPr>
          <a:xfrm>
            <a:off x="2068698" y="4556995"/>
            <a:ext cx="432000" cy="432000"/>
          </a:xfrm>
          <a:prstGeom prst="ellipse">
            <a:avLst/>
          </a:prstGeom>
          <a:solidFill>
            <a:schemeClr val="accent4">
              <a:lumMod val="60000"/>
              <a:lumOff val="40000"/>
            </a:schemeClr>
          </a:solidFill>
        </p:spPr>
        <p:style>
          <a:lnRef idx="1">
            <a:schemeClr val="accent6"/>
          </a:lnRef>
          <a:fillRef idx="2">
            <a:schemeClr val="accent6"/>
          </a:fillRef>
          <a:effectRef idx="1">
            <a:schemeClr val="accent6"/>
          </a:effectRef>
          <a:fontRef idx="minor">
            <a:schemeClr val="dk1"/>
          </a:fontRef>
        </p:style>
        <p:txBody>
          <a:bodyPr lIns="0" tIns="0" rIns="0" bIns="0" rtlCol="0" anchor="b" anchorCtr="0"/>
          <a:lstStyle/>
          <a:p>
            <a:pPr algn="ctr"/>
            <a:r>
              <a:rPr lang="en-US" altLang="zh-TW" sz="2400" i="1" dirty="0" err="1">
                <a:latin typeface="Times New Roman" panose="02020603050405020304" pitchFamily="18" charset="0"/>
                <a:cs typeface="Times New Roman" panose="02020603050405020304" pitchFamily="18" charset="0"/>
              </a:rPr>
              <a:t>x</a:t>
            </a:r>
            <a:r>
              <a:rPr lang="en-US" altLang="zh-TW" sz="2400" i="1" baseline="-25000" dirty="0" err="1">
                <a:latin typeface="Times New Roman" panose="02020603050405020304" pitchFamily="18" charset="0"/>
                <a:cs typeface="Times New Roman" panose="02020603050405020304" pitchFamily="18" charset="0"/>
              </a:rPr>
              <a:t>d</a:t>
            </a:r>
            <a:endParaRPr lang="zh-TW" altLang="en-US" sz="2400" i="1" baseline="-25000" dirty="0">
              <a:latin typeface="Times New Roman" panose="02020603050405020304" pitchFamily="18" charset="0"/>
              <a:cs typeface="Times New Roman" panose="02020603050405020304" pitchFamily="18" charset="0"/>
            </a:endParaRPr>
          </a:p>
        </p:txBody>
      </p:sp>
      <p:sp>
        <p:nvSpPr>
          <p:cNvPr id="7" name="文字方塊 6">
            <a:extLst>
              <a:ext uri="{FF2B5EF4-FFF2-40B4-BE49-F238E27FC236}">
                <a16:creationId xmlns:a16="http://schemas.microsoft.com/office/drawing/2014/main" id="{32F3EC1D-D18A-B4CC-8D89-5EC415168105}"/>
              </a:ext>
            </a:extLst>
          </p:cNvPr>
          <p:cNvSpPr txBox="1"/>
          <p:nvPr/>
        </p:nvSpPr>
        <p:spPr>
          <a:xfrm>
            <a:off x="2068698" y="3328514"/>
            <a:ext cx="432000" cy="1015663"/>
          </a:xfrm>
          <a:prstGeom prst="rect">
            <a:avLst/>
          </a:prstGeom>
          <a:noFill/>
        </p:spPr>
        <p:txBody>
          <a:bodyPr wrap="square" rtlCol="0">
            <a:spAutoFit/>
          </a:bodyPr>
          <a:lstStyle/>
          <a:p>
            <a:pPr algn="ctr"/>
            <a:r>
              <a:rPr lang="en-US" altLang="zh-TW" sz="2000" b="1" dirty="0"/>
              <a:t>.</a:t>
            </a:r>
          </a:p>
          <a:p>
            <a:pPr algn="ctr"/>
            <a:r>
              <a:rPr lang="en-US" altLang="zh-TW" sz="2000" b="1" dirty="0"/>
              <a:t>.</a:t>
            </a:r>
          </a:p>
          <a:p>
            <a:pPr algn="ctr"/>
            <a:r>
              <a:rPr lang="en-US" altLang="zh-TW" sz="2000" b="1" dirty="0"/>
              <a:t>.</a:t>
            </a:r>
            <a:endParaRPr lang="zh-TW" altLang="en-US" sz="2000" b="1" dirty="0"/>
          </a:p>
        </p:txBody>
      </p:sp>
      <p:sp>
        <p:nvSpPr>
          <p:cNvPr id="8" name="橢圓 7">
            <a:extLst>
              <a:ext uri="{FF2B5EF4-FFF2-40B4-BE49-F238E27FC236}">
                <a16:creationId xmlns:a16="http://schemas.microsoft.com/office/drawing/2014/main" id="{5EB3ACE3-3E0C-D68F-0160-182B568BF1E1}"/>
              </a:ext>
            </a:extLst>
          </p:cNvPr>
          <p:cNvSpPr/>
          <p:nvPr/>
        </p:nvSpPr>
        <p:spPr>
          <a:xfrm>
            <a:off x="4181175" y="2915893"/>
            <a:ext cx="720000" cy="720000"/>
          </a:xfrm>
          <a:prstGeom prst="ellipse">
            <a:avLst/>
          </a:prstGeom>
          <a:solidFill>
            <a:schemeClr val="accent4">
              <a:lumMod val="20000"/>
              <a:lumOff val="80000"/>
            </a:schemeClr>
          </a:solidFill>
        </p:spPr>
        <p:style>
          <a:lnRef idx="1">
            <a:schemeClr val="accent6"/>
          </a:lnRef>
          <a:fillRef idx="2">
            <a:schemeClr val="accent6"/>
          </a:fillRef>
          <a:effectRef idx="1">
            <a:schemeClr val="accent6"/>
          </a:effectRef>
          <a:fontRef idx="minor">
            <a:schemeClr val="dk1"/>
          </a:fontRef>
        </p:style>
        <p:txBody>
          <a:bodyPr wrap="none" lIns="0" tIns="0" rIns="0" bIns="144000" rtlCol="0" anchor="b" anchorCtr="0">
            <a:noAutofit/>
          </a:bodyPr>
          <a:lstStyle/>
          <a:p>
            <a:pPr algn="ctr"/>
            <a:r>
              <a:rPr lang="en-US" altLang="zh-TW" sz="4400" baseline="-25000" dirty="0">
                <a:latin typeface="+mj-lt"/>
                <a:cs typeface="Times New Roman" panose="02020603050405020304" pitchFamily="18" charset="0"/>
                <a:sym typeface="Symbol" panose="05050102010706020507" pitchFamily="18" charset="2"/>
              </a:rPr>
              <a:t></a:t>
            </a:r>
            <a:endParaRPr lang="zh-TW" altLang="en-US" sz="4400" baseline="-25000" dirty="0">
              <a:latin typeface="+mj-lt"/>
              <a:cs typeface="Times New Roman" panose="02020603050405020304" pitchFamily="18" charset="0"/>
            </a:endParaRPr>
          </a:p>
        </p:txBody>
      </p:sp>
      <p:cxnSp>
        <p:nvCxnSpPr>
          <p:cNvPr id="9" name="直線單箭頭接點 8">
            <a:extLst>
              <a:ext uri="{FF2B5EF4-FFF2-40B4-BE49-F238E27FC236}">
                <a16:creationId xmlns:a16="http://schemas.microsoft.com/office/drawing/2014/main" id="{416802AF-3531-5074-AF92-8BCC23340BA2}"/>
              </a:ext>
            </a:extLst>
          </p:cNvPr>
          <p:cNvCxnSpPr>
            <a:cxnSpLocks/>
            <a:stCxn id="3" idx="5"/>
            <a:endCxn id="8" idx="2"/>
          </p:cNvCxnSpPr>
          <p:nvPr/>
        </p:nvCxnSpPr>
        <p:spPr>
          <a:xfrm>
            <a:off x="2437433" y="1762798"/>
            <a:ext cx="1743742" cy="15130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直線單箭頭接點 9">
            <a:extLst>
              <a:ext uri="{FF2B5EF4-FFF2-40B4-BE49-F238E27FC236}">
                <a16:creationId xmlns:a16="http://schemas.microsoft.com/office/drawing/2014/main" id="{31B2AF5A-AC5E-7E55-F2C1-BBB0638EF45B}"/>
              </a:ext>
            </a:extLst>
          </p:cNvPr>
          <p:cNvCxnSpPr>
            <a:cxnSpLocks/>
            <a:stCxn id="4" idx="5"/>
            <a:endCxn id="8" idx="2"/>
          </p:cNvCxnSpPr>
          <p:nvPr/>
        </p:nvCxnSpPr>
        <p:spPr>
          <a:xfrm>
            <a:off x="2437433" y="2407615"/>
            <a:ext cx="1743742" cy="8682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直線單箭頭接點 10">
            <a:extLst>
              <a:ext uri="{FF2B5EF4-FFF2-40B4-BE49-F238E27FC236}">
                <a16:creationId xmlns:a16="http://schemas.microsoft.com/office/drawing/2014/main" id="{5F67BBDE-63F5-F429-D97D-48252291FA6D}"/>
              </a:ext>
            </a:extLst>
          </p:cNvPr>
          <p:cNvCxnSpPr>
            <a:cxnSpLocks/>
            <a:stCxn id="5" idx="6"/>
            <a:endCxn id="8" idx="2"/>
          </p:cNvCxnSpPr>
          <p:nvPr/>
        </p:nvCxnSpPr>
        <p:spPr>
          <a:xfrm>
            <a:off x="2500698" y="2899697"/>
            <a:ext cx="1680477" cy="3761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a:extLst>
              <a:ext uri="{FF2B5EF4-FFF2-40B4-BE49-F238E27FC236}">
                <a16:creationId xmlns:a16="http://schemas.microsoft.com/office/drawing/2014/main" id="{1B63C5D2-F1F3-ED51-1948-0815CB03B5F1}"/>
              </a:ext>
            </a:extLst>
          </p:cNvPr>
          <p:cNvCxnSpPr>
            <a:cxnSpLocks/>
            <a:stCxn id="6" idx="7"/>
            <a:endCxn id="8" idx="2"/>
          </p:cNvCxnSpPr>
          <p:nvPr/>
        </p:nvCxnSpPr>
        <p:spPr>
          <a:xfrm flipV="1">
            <a:off x="2437433" y="3275893"/>
            <a:ext cx="1743742" cy="13443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文字方塊 12">
            <a:extLst>
              <a:ext uri="{FF2B5EF4-FFF2-40B4-BE49-F238E27FC236}">
                <a16:creationId xmlns:a16="http://schemas.microsoft.com/office/drawing/2014/main" id="{A4FC5368-1048-1583-624D-80239D9B4AA5}"/>
              </a:ext>
            </a:extLst>
          </p:cNvPr>
          <p:cNvSpPr txBox="1"/>
          <p:nvPr/>
        </p:nvSpPr>
        <p:spPr>
          <a:xfrm>
            <a:off x="2954300" y="1631752"/>
            <a:ext cx="1078779" cy="2831544"/>
          </a:xfrm>
          <a:prstGeom prst="rect">
            <a:avLst/>
          </a:prstGeom>
          <a:noFill/>
        </p:spPr>
        <p:txBody>
          <a:bodyPr wrap="square" rtlCol="0">
            <a:spAutoFit/>
          </a:bodyPr>
          <a:lstStyle/>
          <a:p>
            <a:r>
              <a:rPr lang="en-US" altLang="zh-TW" sz="2000" dirty="0">
                <a:solidFill>
                  <a:srgbClr val="FF0000"/>
                </a:solidFill>
                <a:latin typeface="Times New Roman" panose="02020603050405020304" pitchFamily="18" charset="0"/>
                <a:cs typeface="Times New Roman" panose="02020603050405020304" pitchFamily="18" charset="0"/>
              </a:rPr>
              <a:t>weights</a:t>
            </a:r>
          </a:p>
          <a:p>
            <a:r>
              <a:rPr lang="en-US" altLang="zh-TW" sz="2000" i="1" dirty="0">
                <a:latin typeface="Times New Roman" panose="02020603050405020304" pitchFamily="18" charset="0"/>
                <a:cs typeface="Times New Roman" panose="02020603050405020304" pitchFamily="18" charset="0"/>
              </a:rPr>
              <a:t>w</a:t>
            </a:r>
            <a:r>
              <a:rPr lang="en-US" altLang="zh-TW" sz="2000" baseline="-25000" dirty="0">
                <a:latin typeface="Times New Roman" panose="02020603050405020304" pitchFamily="18" charset="0"/>
                <a:cs typeface="Times New Roman" panose="02020603050405020304" pitchFamily="18" charset="0"/>
              </a:rPr>
              <a:t>0</a:t>
            </a:r>
          </a:p>
          <a:p>
            <a:endParaRPr lang="en-US" altLang="zh-TW" sz="1000" i="1" dirty="0">
              <a:latin typeface="Times New Roman" panose="02020603050405020304" pitchFamily="18" charset="0"/>
              <a:cs typeface="Times New Roman" panose="02020603050405020304" pitchFamily="18" charset="0"/>
            </a:endParaRPr>
          </a:p>
          <a:p>
            <a:r>
              <a:rPr lang="en-US" altLang="zh-TW" sz="2000" i="1" dirty="0">
                <a:latin typeface="Times New Roman" panose="02020603050405020304" pitchFamily="18" charset="0"/>
                <a:cs typeface="Times New Roman" panose="02020603050405020304" pitchFamily="18" charset="0"/>
              </a:rPr>
              <a:t>w</a:t>
            </a:r>
            <a:r>
              <a:rPr lang="en-US" altLang="zh-TW" sz="2000" baseline="-25000" dirty="0">
                <a:latin typeface="Times New Roman" panose="02020603050405020304" pitchFamily="18" charset="0"/>
                <a:cs typeface="Times New Roman" panose="02020603050405020304" pitchFamily="18" charset="0"/>
              </a:rPr>
              <a:t>1</a:t>
            </a:r>
          </a:p>
          <a:p>
            <a:endParaRPr lang="en-US" altLang="zh-TW" sz="800" i="1" dirty="0">
              <a:latin typeface="Times New Roman" panose="02020603050405020304" pitchFamily="18" charset="0"/>
              <a:cs typeface="Times New Roman" panose="02020603050405020304" pitchFamily="18" charset="0"/>
            </a:endParaRPr>
          </a:p>
          <a:p>
            <a:r>
              <a:rPr lang="en-US" altLang="zh-TW" sz="2000" i="1" dirty="0">
                <a:latin typeface="Times New Roman" panose="02020603050405020304" pitchFamily="18" charset="0"/>
                <a:cs typeface="Times New Roman" panose="02020603050405020304" pitchFamily="18" charset="0"/>
              </a:rPr>
              <a:t>w</a:t>
            </a:r>
            <a:r>
              <a:rPr lang="en-US" altLang="zh-TW" sz="2000" baseline="-25000" dirty="0">
                <a:latin typeface="Times New Roman" panose="02020603050405020304" pitchFamily="18" charset="0"/>
                <a:cs typeface="Times New Roman" panose="02020603050405020304" pitchFamily="18" charset="0"/>
              </a:rPr>
              <a:t>2</a:t>
            </a:r>
          </a:p>
          <a:p>
            <a:r>
              <a:rPr lang="en-US" altLang="zh-TW" sz="2000" dirty="0"/>
              <a:t>.</a:t>
            </a:r>
          </a:p>
          <a:p>
            <a:r>
              <a:rPr lang="en-US" altLang="zh-TW" sz="2000" dirty="0"/>
              <a:t>.</a:t>
            </a:r>
          </a:p>
          <a:p>
            <a:r>
              <a:rPr lang="en-US" altLang="zh-TW" sz="2000" dirty="0"/>
              <a:t>.</a:t>
            </a:r>
          </a:p>
          <a:p>
            <a:r>
              <a:rPr lang="en-US" altLang="zh-TW" sz="2000" i="1" dirty="0">
                <a:latin typeface="Times New Roman" panose="02020603050405020304" pitchFamily="18" charset="0"/>
                <a:cs typeface="Times New Roman" panose="02020603050405020304" pitchFamily="18" charset="0"/>
              </a:rPr>
              <a:t>w</a:t>
            </a:r>
            <a:r>
              <a:rPr lang="en-US" altLang="zh-TW" sz="2000" i="1" baseline="-25000" dirty="0">
                <a:latin typeface="Times New Roman" panose="02020603050405020304" pitchFamily="18" charset="0"/>
                <a:cs typeface="Times New Roman" panose="02020603050405020304" pitchFamily="18" charset="0"/>
              </a:rPr>
              <a:t>d</a:t>
            </a:r>
          </a:p>
        </p:txBody>
      </p:sp>
      <p:cxnSp>
        <p:nvCxnSpPr>
          <p:cNvPr id="14" name="直線單箭頭接點 13">
            <a:extLst>
              <a:ext uri="{FF2B5EF4-FFF2-40B4-BE49-F238E27FC236}">
                <a16:creationId xmlns:a16="http://schemas.microsoft.com/office/drawing/2014/main" id="{1B4FF95F-82E3-3EE3-9C67-AD85A4164649}"/>
              </a:ext>
            </a:extLst>
          </p:cNvPr>
          <p:cNvCxnSpPr>
            <a:cxnSpLocks/>
            <a:stCxn id="8" idx="6"/>
            <a:endCxn id="17" idx="2"/>
          </p:cNvCxnSpPr>
          <p:nvPr/>
        </p:nvCxnSpPr>
        <p:spPr>
          <a:xfrm>
            <a:off x="4901175" y="3275893"/>
            <a:ext cx="261966" cy="23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a:extLst>
              <a:ext uri="{FF2B5EF4-FFF2-40B4-BE49-F238E27FC236}">
                <a16:creationId xmlns:a16="http://schemas.microsoft.com/office/drawing/2014/main" id="{5B386317-7625-4095-1A25-9E019D2146C8}"/>
              </a:ext>
            </a:extLst>
          </p:cNvPr>
          <p:cNvCxnSpPr>
            <a:cxnSpLocks/>
            <a:stCxn id="17" idx="6"/>
          </p:cNvCxnSpPr>
          <p:nvPr/>
        </p:nvCxnSpPr>
        <p:spPr>
          <a:xfrm flipV="1">
            <a:off x="5883141" y="3268670"/>
            <a:ext cx="1051059" cy="95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6" name="群組 15">
            <a:extLst>
              <a:ext uri="{FF2B5EF4-FFF2-40B4-BE49-F238E27FC236}">
                <a16:creationId xmlns:a16="http://schemas.microsoft.com/office/drawing/2014/main" id="{2A40677B-9F85-821A-F51F-41E1A9EA2165}"/>
              </a:ext>
            </a:extLst>
          </p:cNvPr>
          <p:cNvGrpSpPr/>
          <p:nvPr/>
        </p:nvGrpSpPr>
        <p:grpSpPr>
          <a:xfrm>
            <a:off x="5163141" y="2918195"/>
            <a:ext cx="720000" cy="720000"/>
            <a:chOff x="6277566" y="2918195"/>
            <a:chExt cx="720000" cy="720000"/>
          </a:xfrm>
          <a:solidFill>
            <a:schemeClr val="accent4">
              <a:lumMod val="20000"/>
              <a:lumOff val="80000"/>
            </a:schemeClr>
          </a:solidFill>
        </p:grpSpPr>
        <p:sp>
          <p:nvSpPr>
            <p:cNvPr id="17" name="橢圓 16">
              <a:extLst>
                <a:ext uri="{FF2B5EF4-FFF2-40B4-BE49-F238E27FC236}">
                  <a16:creationId xmlns:a16="http://schemas.microsoft.com/office/drawing/2014/main" id="{7656BDDC-240F-5737-15F8-241AFD4B5237}"/>
                </a:ext>
              </a:extLst>
            </p:cNvPr>
            <p:cNvSpPr/>
            <p:nvPr/>
          </p:nvSpPr>
          <p:spPr>
            <a:xfrm>
              <a:off x="6277566" y="2918195"/>
              <a:ext cx="720000" cy="720000"/>
            </a:xfrm>
            <a:prstGeom prst="ellipse">
              <a:avLst/>
            </a:prstGeom>
            <a:grpFill/>
          </p:spPr>
          <p:style>
            <a:lnRef idx="1">
              <a:schemeClr val="accent6"/>
            </a:lnRef>
            <a:fillRef idx="2">
              <a:schemeClr val="accent6"/>
            </a:fillRef>
            <a:effectRef idx="1">
              <a:schemeClr val="accent6"/>
            </a:effectRef>
            <a:fontRef idx="minor">
              <a:schemeClr val="dk1"/>
            </a:fontRef>
          </p:style>
          <p:txBody>
            <a:bodyPr wrap="none" lIns="0" tIns="0" rIns="0" bIns="144000" rtlCol="0" anchor="b" anchorCtr="0">
              <a:noAutofit/>
            </a:bodyPr>
            <a:lstStyle/>
            <a:p>
              <a:pPr algn="ctr"/>
              <a:endParaRPr lang="zh-TW" altLang="en-US" sz="4400" baseline="-25000" dirty="0">
                <a:latin typeface="+mj-lt"/>
                <a:cs typeface="Times New Roman" panose="02020603050405020304" pitchFamily="18" charset="0"/>
              </a:endParaRPr>
            </a:p>
          </p:txBody>
        </p:sp>
        <p:cxnSp>
          <p:nvCxnSpPr>
            <p:cNvPr id="18" name="直線接點 17">
              <a:extLst>
                <a:ext uri="{FF2B5EF4-FFF2-40B4-BE49-F238E27FC236}">
                  <a16:creationId xmlns:a16="http://schemas.microsoft.com/office/drawing/2014/main" id="{1B77D9FE-3756-A910-5E3E-04FF54068232}"/>
                </a:ext>
              </a:extLst>
            </p:cNvPr>
            <p:cNvCxnSpPr>
              <a:cxnSpLocks/>
            </p:cNvCxnSpPr>
            <p:nvPr/>
          </p:nvCxnSpPr>
          <p:spPr>
            <a:xfrm>
              <a:off x="6315666" y="3268670"/>
              <a:ext cx="648000" cy="0"/>
            </a:xfrm>
            <a:prstGeom prst="line">
              <a:avLst/>
            </a:prstGeom>
            <a:grpFill/>
          </p:spPr>
          <p:style>
            <a:lnRef idx="1">
              <a:schemeClr val="dk1"/>
            </a:lnRef>
            <a:fillRef idx="0">
              <a:schemeClr val="dk1"/>
            </a:fillRef>
            <a:effectRef idx="0">
              <a:schemeClr val="dk1"/>
            </a:effectRef>
            <a:fontRef idx="minor">
              <a:schemeClr val="tx1"/>
            </a:fontRef>
          </p:style>
        </p:cxnSp>
        <p:cxnSp>
          <p:nvCxnSpPr>
            <p:cNvPr id="19" name="直線接點 18">
              <a:extLst>
                <a:ext uri="{FF2B5EF4-FFF2-40B4-BE49-F238E27FC236}">
                  <a16:creationId xmlns:a16="http://schemas.microsoft.com/office/drawing/2014/main" id="{B4132BAC-7625-3313-5538-F297B5811B57}"/>
                </a:ext>
              </a:extLst>
            </p:cNvPr>
            <p:cNvCxnSpPr>
              <a:cxnSpLocks/>
            </p:cNvCxnSpPr>
            <p:nvPr/>
          </p:nvCxnSpPr>
          <p:spPr>
            <a:xfrm>
              <a:off x="6637566" y="2946770"/>
              <a:ext cx="0" cy="648000"/>
            </a:xfrm>
            <a:prstGeom prst="line">
              <a:avLst/>
            </a:prstGeom>
            <a:grpFill/>
          </p:spPr>
          <p:style>
            <a:lnRef idx="1">
              <a:schemeClr val="dk1"/>
            </a:lnRef>
            <a:fillRef idx="0">
              <a:schemeClr val="dk1"/>
            </a:fillRef>
            <a:effectRef idx="0">
              <a:schemeClr val="dk1"/>
            </a:effectRef>
            <a:fontRef idx="minor">
              <a:schemeClr val="tx1"/>
            </a:fontRef>
          </p:style>
        </p:cxnSp>
        <p:cxnSp>
          <p:nvCxnSpPr>
            <p:cNvPr id="20" name="接點: 肘形 19">
              <a:extLst>
                <a:ext uri="{FF2B5EF4-FFF2-40B4-BE49-F238E27FC236}">
                  <a16:creationId xmlns:a16="http://schemas.microsoft.com/office/drawing/2014/main" id="{0D3D2FF6-E90E-97C4-7118-564299361C2F}"/>
                </a:ext>
              </a:extLst>
            </p:cNvPr>
            <p:cNvCxnSpPr>
              <a:cxnSpLocks/>
            </p:cNvCxnSpPr>
            <p:nvPr/>
          </p:nvCxnSpPr>
          <p:spPr>
            <a:xfrm flipV="1">
              <a:off x="6390063" y="3105817"/>
              <a:ext cx="495005" cy="289835"/>
            </a:xfrm>
            <a:prstGeom prst="bentConnector3">
              <a:avLst/>
            </a:prstGeom>
            <a:grpFill/>
          </p:spPr>
          <p:style>
            <a:lnRef idx="3">
              <a:schemeClr val="dk1"/>
            </a:lnRef>
            <a:fillRef idx="0">
              <a:schemeClr val="dk1"/>
            </a:fillRef>
            <a:effectRef idx="2">
              <a:schemeClr val="dk1"/>
            </a:effectRef>
            <a:fontRef idx="minor">
              <a:schemeClr val="tx1"/>
            </a:fontRef>
          </p:style>
        </p:cxnSp>
      </p:grpSp>
      <p:sp>
        <p:nvSpPr>
          <p:cNvPr id="21" name="文字方塊 20">
            <a:extLst>
              <a:ext uri="{FF2B5EF4-FFF2-40B4-BE49-F238E27FC236}">
                <a16:creationId xmlns:a16="http://schemas.microsoft.com/office/drawing/2014/main" id="{E86A7FDB-6DF6-778C-ABF5-8E029152EB14}"/>
              </a:ext>
            </a:extLst>
          </p:cNvPr>
          <p:cNvSpPr txBox="1"/>
          <p:nvPr/>
        </p:nvSpPr>
        <p:spPr>
          <a:xfrm>
            <a:off x="5276631" y="3697797"/>
            <a:ext cx="2363152" cy="400110"/>
          </a:xfrm>
          <a:prstGeom prst="rect">
            <a:avLst/>
          </a:prstGeom>
          <a:noFill/>
        </p:spPr>
        <p:txBody>
          <a:bodyPr wrap="square" rtlCol="0">
            <a:spAutoFit/>
          </a:bodyPr>
          <a:lstStyle/>
          <a:p>
            <a:r>
              <a:rPr lang="en-US" altLang="zh-TW" sz="2000" dirty="0">
                <a:solidFill>
                  <a:srgbClr val="FF0000"/>
                </a:solidFill>
                <a:latin typeface="Times New Roman" panose="02020603050405020304" pitchFamily="18" charset="0"/>
                <a:cs typeface="Times New Roman" panose="02020603050405020304" pitchFamily="18" charset="0"/>
              </a:rPr>
              <a:t>Activation function</a:t>
            </a:r>
          </a:p>
        </p:txBody>
      </p:sp>
      <mc:AlternateContent xmlns:mc="http://schemas.openxmlformats.org/markup-compatibility/2006" xmlns:a14="http://schemas.microsoft.com/office/drawing/2010/main">
        <mc:Choice Requires="a14">
          <p:sp>
            <p:nvSpPr>
              <p:cNvPr id="22" name="文字方塊 21">
                <a:extLst>
                  <a:ext uri="{FF2B5EF4-FFF2-40B4-BE49-F238E27FC236}">
                    <a16:creationId xmlns:a16="http://schemas.microsoft.com/office/drawing/2014/main" id="{D0E64793-EF8E-4BD7-085C-7FAEFE0790A9}"/>
                  </a:ext>
                </a:extLst>
              </p:cNvPr>
              <p:cNvSpPr txBox="1"/>
              <p:nvPr/>
            </p:nvSpPr>
            <p:spPr>
              <a:xfrm>
                <a:off x="7502815" y="2663610"/>
                <a:ext cx="3153316" cy="1248547"/>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US" altLang="zh-TW" b="0" i="1" smtClean="0">
                          <a:latin typeface="Cambria Math" panose="02040503050406030204" pitchFamily="18" charset="0"/>
                        </a:rPr>
                        <m:t>𝑦</m:t>
                      </m:r>
                      <m:r>
                        <a:rPr lang="pt-BR" altLang="zh-TW" i="1" smtClean="0">
                          <a:latin typeface="Cambria Math" panose="02040503050406030204" pitchFamily="18" charset="0"/>
                        </a:rPr>
                        <m:t>=</m:t>
                      </m:r>
                      <m:d>
                        <m:dPr>
                          <m:begChr m:val="{"/>
                          <m:endChr m:val=""/>
                          <m:ctrlPr>
                            <a:rPr lang="pt-BR" altLang="zh-TW" i="1" smtClean="0">
                              <a:latin typeface="Cambria Math" panose="02040503050406030204" pitchFamily="18" charset="0"/>
                            </a:rPr>
                          </m:ctrlPr>
                        </m:dPr>
                        <m:e>
                          <m:eqArr>
                            <m:eqArrPr>
                              <m:ctrlPr>
                                <a:rPr lang="en-US" altLang="zh-TW" b="0" i="1" smtClean="0">
                                  <a:latin typeface="Cambria Math" panose="02040503050406030204" pitchFamily="18" charset="0"/>
                                </a:rPr>
                              </m:ctrlPr>
                            </m:eqArrPr>
                            <m:e>
                              <m:r>
                                <a:rPr lang="en-US" altLang="zh-TW" b="0" i="1" smtClean="0">
                                  <a:latin typeface="Cambria Math" panose="02040503050406030204" pitchFamily="18" charset="0"/>
                                </a:rPr>
                                <m:t>1,    </m:t>
                              </m:r>
                              <m:r>
                                <a:rPr lang="en-US" altLang="zh-TW" b="0" i="1" smtClean="0">
                                  <a:latin typeface="Cambria Math" panose="02040503050406030204" pitchFamily="18" charset="0"/>
                                </a:rPr>
                                <m:t>𝑖𝑓</m:t>
                              </m:r>
                              <m:r>
                                <a:rPr lang="en-US" altLang="zh-TW" b="0" i="1" smtClean="0">
                                  <a:latin typeface="Cambria Math" panose="02040503050406030204" pitchFamily="18" charset="0"/>
                                </a:rPr>
                                <m:t>  </m:t>
                              </m:r>
                              <m:nary>
                                <m:naryPr>
                                  <m:chr m:val="∑"/>
                                  <m:ctrlPr>
                                    <a:rPr lang="en-US" altLang="zh-TW" b="0" i="1" smtClean="0">
                                      <a:latin typeface="Cambria Math" panose="02040503050406030204" pitchFamily="18" charset="0"/>
                                    </a:rPr>
                                  </m:ctrlPr>
                                </m:naryPr>
                                <m:sub>
                                  <m:r>
                                    <m:rPr>
                                      <m:brk m:alnAt="23"/>
                                    </m:rPr>
                                    <a:rPr lang="en-US" altLang="zh-TW" b="0" i="1" smtClean="0">
                                      <a:latin typeface="Cambria Math" panose="02040503050406030204" pitchFamily="18" charset="0"/>
                                    </a:rPr>
                                    <m:t>𝑖</m:t>
                                  </m:r>
                                  <m:r>
                                    <a:rPr lang="en-US" altLang="zh-TW" b="0" i="1" smtClean="0">
                                      <a:latin typeface="Cambria Math" panose="02040503050406030204" pitchFamily="18" charset="0"/>
                                    </a:rPr>
                                    <m:t>=0</m:t>
                                  </m:r>
                                </m:sub>
                                <m:sup>
                                  <m:r>
                                    <a:rPr lang="en-US" altLang="zh-TW" b="0" i="1" smtClean="0">
                                      <a:latin typeface="Cambria Math" panose="02040503050406030204" pitchFamily="18" charset="0"/>
                                    </a:rPr>
                                    <m:t>𝑑</m:t>
                                  </m:r>
                                </m:sup>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𝑤</m:t>
                                      </m:r>
                                    </m:e>
                                    <m:sub>
                                      <m:r>
                                        <a:rPr lang="en-US" altLang="zh-TW" b="0" i="1" smtClean="0">
                                          <a:latin typeface="Cambria Math" panose="02040503050406030204" pitchFamily="18" charset="0"/>
                                        </a:rPr>
                                        <m:t>𝑖</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&gt;0,</m:t>
                                  </m:r>
                                </m:e>
                              </m:nary>
                            </m:e>
                            <m:e>
                              <m:r>
                                <a:rPr lang="en-US" altLang="zh-TW" b="0" i="1" smtClean="0">
                                  <a:latin typeface="Cambria Math" panose="02040503050406030204" pitchFamily="18" charset="0"/>
                                </a:rPr>
                                <m:t>−1,      </m:t>
                              </m:r>
                              <m:r>
                                <a:rPr lang="en-US" altLang="zh-TW" b="0" i="1" smtClean="0">
                                  <a:latin typeface="Cambria Math" panose="02040503050406030204" pitchFamily="18" charset="0"/>
                                </a:rPr>
                                <m:t>𝑜𝑡h𝑒𝑟𝑤𝑖𝑠𝑒</m:t>
                              </m:r>
                              <m:r>
                                <a:rPr lang="en-US" altLang="zh-TW" b="0" i="1" smtClean="0">
                                  <a:latin typeface="Cambria Math" panose="02040503050406030204" pitchFamily="18" charset="0"/>
                                </a:rPr>
                                <m:t>.         </m:t>
                              </m:r>
                            </m:e>
                          </m:eqArr>
                        </m:e>
                      </m:d>
                    </m:oMath>
                  </m:oMathPara>
                </a14:m>
                <a:endParaRPr lang="zh-TW" altLang="en-US" dirty="0"/>
              </a:p>
            </p:txBody>
          </p:sp>
        </mc:Choice>
        <mc:Fallback xmlns="">
          <p:sp>
            <p:nvSpPr>
              <p:cNvPr id="22" name="文字方塊 21">
                <a:extLst>
                  <a:ext uri="{FF2B5EF4-FFF2-40B4-BE49-F238E27FC236}">
                    <a16:creationId xmlns:a16="http://schemas.microsoft.com/office/drawing/2014/main" id="{D0E64793-EF8E-4BD7-085C-7FAEFE0790A9}"/>
                  </a:ext>
                </a:extLst>
              </p:cNvPr>
              <p:cNvSpPr txBox="1">
                <a:spLocks noRot="1" noChangeAspect="1" noMove="1" noResize="1" noEditPoints="1" noAdjustHandles="1" noChangeArrowheads="1" noChangeShapeType="1" noTextEdit="1"/>
              </p:cNvSpPr>
              <p:nvPr/>
            </p:nvSpPr>
            <p:spPr>
              <a:xfrm>
                <a:off x="7502815" y="2663610"/>
                <a:ext cx="3153316" cy="1248547"/>
              </a:xfrm>
              <a:prstGeom prst="rect">
                <a:avLst/>
              </a:prstGeom>
              <a:blipFill>
                <a:blip r:embed="rId2"/>
                <a:stretch>
                  <a:fillRect l="-193"/>
                </a:stretch>
              </a:blipFill>
            </p:spPr>
            <p:txBody>
              <a:bodyPr/>
              <a:lstStyle/>
              <a:p>
                <a:r>
                  <a:rPr lang="zh-TW" altLang="en-US">
                    <a:noFill/>
                  </a:rPr>
                  <a:t> </a:t>
                </a:r>
              </a:p>
            </p:txBody>
          </p:sp>
        </mc:Fallback>
      </mc:AlternateContent>
      <p:sp>
        <p:nvSpPr>
          <p:cNvPr id="23" name="文字方塊 22">
            <a:extLst>
              <a:ext uri="{FF2B5EF4-FFF2-40B4-BE49-F238E27FC236}">
                <a16:creationId xmlns:a16="http://schemas.microsoft.com/office/drawing/2014/main" id="{DAD39AEC-14A3-91FE-7CBC-C2279B2F9EC8}"/>
              </a:ext>
            </a:extLst>
          </p:cNvPr>
          <p:cNvSpPr txBox="1"/>
          <p:nvPr/>
        </p:nvSpPr>
        <p:spPr>
          <a:xfrm>
            <a:off x="1954396" y="5119109"/>
            <a:ext cx="1092603" cy="400110"/>
          </a:xfrm>
          <a:prstGeom prst="rect">
            <a:avLst/>
          </a:prstGeom>
          <a:noFill/>
        </p:spPr>
        <p:txBody>
          <a:bodyPr wrap="square" rtlCol="0">
            <a:spAutoFit/>
          </a:bodyPr>
          <a:lstStyle/>
          <a:p>
            <a:r>
              <a:rPr lang="en-US" altLang="zh-TW" sz="2000" dirty="0">
                <a:solidFill>
                  <a:srgbClr val="FF0000"/>
                </a:solidFill>
                <a:latin typeface="Times New Roman" panose="02020603050405020304" pitchFamily="18" charset="0"/>
                <a:cs typeface="Times New Roman" panose="02020603050405020304" pitchFamily="18" charset="0"/>
              </a:rPr>
              <a:t>Inputs</a:t>
            </a:r>
          </a:p>
        </p:txBody>
      </p:sp>
      <p:sp>
        <p:nvSpPr>
          <p:cNvPr id="24" name="文字方塊 23">
            <a:extLst>
              <a:ext uri="{FF2B5EF4-FFF2-40B4-BE49-F238E27FC236}">
                <a16:creationId xmlns:a16="http://schemas.microsoft.com/office/drawing/2014/main" id="{B8AF599E-AADD-D4DD-0751-D1E3D0A62050}"/>
              </a:ext>
            </a:extLst>
          </p:cNvPr>
          <p:cNvSpPr txBox="1"/>
          <p:nvPr/>
        </p:nvSpPr>
        <p:spPr>
          <a:xfrm>
            <a:off x="7125867" y="2118478"/>
            <a:ext cx="1092603" cy="400110"/>
          </a:xfrm>
          <a:prstGeom prst="rect">
            <a:avLst/>
          </a:prstGeom>
          <a:noFill/>
        </p:spPr>
        <p:txBody>
          <a:bodyPr wrap="square" rtlCol="0">
            <a:spAutoFit/>
          </a:bodyPr>
          <a:lstStyle/>
          <a:p>
            <a:r>
              <a:rPr lang="en-US" altLang="zh-TW" sz="2000" dirty="0">
                <a:solidFill>
                  <a:srgbClr val="FF0000"/>
                </a:solidFill>
                <a:latin typeface="Times New Roman" panose="02020603050405020304" pitchFamily="18" charset="0"/>
                <a:cs typeface="Times New Roman" panose="02020603050405020304" pitchFamily="18" charset="0"/>
              </a:rPr>
              <a:t>Output</a:t>
            </a:r>
          </a:p>
        </p:txBody>
      </p:sp>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F1CF4F06-A5D5-8327-E323-2A1E027A7B7B}"/>
                  </a:ext>
                </a:extLst>
              </p:cNvPr>
              <p:cNvSpPr txBox="1"/>
              <p:nvPr/>
            </p:nvSpPr>
            <p:spPr>
              <a:xfrm>
                <a:off x="3833134" y="4880651"/>
                <a:ext cx="4453839" cy="576440"/>
              </a:xfrm>
              <a:prstGeom prst="rect">
                <a:avLst/>
              </a:prstGeom>
              <a:noFill/>
            </p:spPr>
            <p:txBody>
              <a:bodyPr wrap="square" lIns="0" tIns="0" rIns="0" bIns="0" rtlCol="0">
                <a:spAutoFit/>
              </a:bodyPr>
              <a:lstStyle/>
              <a:p>
                <a14:m>
                  <m:oMath xmlns:m="http://schemas.openxmlformats.org/officeDocument/2006/math">
                    <m:nary>
                      <m:naryPr>
                        <m:chr m:val="∑"/>
                        <m:ctrlPr>
                          <a:rPr lang="en-US" altLang="zh-TW" i="1" smtClean="0">
                            <a:latin typeface="Cambria Math" panose="02040503050406030204" pitchFamily="18" charset="0"/>
                          </a:rPr>
                        </m:ctrlPr>
                      </m:naryPr>
                      <m:sub>
                        <m:r>
                          <m:rPr>
                            <m:brk m:alnAt="23"/>
                          </m:rPr>
                          <a:rPr lang="en-US" altLang="zh-TW" i="1">
                            <a:latin typeface="Cambria Math" panose="02040503050406030204" pitchFamily="18" charset="0"/>
                          </a:rPr>
                          <m:t>𝑖</m:t>
                        </m:r>
                        <m:r>
                          <a:rPr lang="en-US" altLang="zh-TW" i="1">
                            <a:latin typeface="Cambria Math" panose="02040503050406030204" pitchFamily="18" charset="0"/>
                          </a:rPr>
                          <m:t>=0</m:t>
                        </m:r>
                      </m:sub>
                      <m:sup>
                        <m:r>
                          <a:rPr lang="en-US" altLang="zh-TW" b="0" i="1" smtClean="0">
                            <a:latin typeface="Cambria Math" panose="02040503050406030204" pitchFamily="18" charset="0"/>
                          </a:rPr>
                          <m:t>𝑑</m:t>
                        </m:r>
                      </m:sup>
                      <m:e>
                        <m:sSub>
                          <m:sSubPr>
                            <m:ctrlPr>
                              <a:rPr lang="en-US" altLang="zh-TW" i="1">
                                <a:latin typeface="Cambria Math" panose="02040503050406030204" pitchFamily="18" charset="0"/>
                              </a:rPr>
                            </m:ctrlPr>
                          </m:sSubPr>
                          <m:e>
                            <m:r>
                              <a:rPr lang="en-US" altLang="zh-TW" i="1">
                                <a:latin typeface="Cambria Math" panose="02040503050406030204" pitchFamily="18" charset="0"/>
                              </a:rPr>
                              <m:t>𝑤</m:t>
                            </m:r>
                          </m:e>
                          <m:sub>
                            <m:r>
                              <a:rPr lang="en-US" altLang="zh-TW" i="1">
                                <a:latin typeface="Cambria Math" panose="02040503050406030204" pitchFamily="18" charset="0"/>
                              </a:rPr>
                              <m:t>𝑖</m:t>
                            </m:r>
                          </m:sub>
                        </m:sSub>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𝑖</m:t>
                            </m:r>
                          </m:sub>
                        </m:sSub>
                      </m:e>
                    </m:nary>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𝑤</m:t>
                        </m:r>
                      </m:e>
                      <m:sub>
                        <m:r>
                          <a:rPr lang="en-US" altLang="zh-TW" b="0" i="1" smtClean="0">
                            <a:latin typeface="Cambria Math" panose="02040503050406030204" pitchFamily="18" charset="0"/>
                          </a:rPr>
                          <m:t>0</m:t>
                        </m:r>
                      </m:sub>
                    </m:sSub>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b="0" i="1" smtClean="0">
                            <a:latin typeface="Cambria Math" panose="02040503050406030204" pitchFamily="18" charset="0"/>
                          </a:rPr>
                          <m:t>0</m:t>
                        </m:r>
                      </m:sub>
                    </m:sSub>
                    <m:r>
                      <a:rPr lang="en-US" altLang="zh-TW" b="0"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𝑤</m:t>
                        </m:r>
                      </m:e>
                      <m:sub>
                        <m:r>
                          <a:rPr lang="en-US" altLang="zh-TW" b="0" i="1" smtClean="0">
                            <a:latin typeface="Cambria Math" panose="02040503050406030204" pitchFamily="18" charset="0"/>
                          </a:rPr>
                          <m:t>1</m:t>
                        </m:r>
                      </m:sub>
                    </m:sSub>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b="0" i="1" smtClean="0">
                            <a:latin typeface="Cambria Math" panose="02040503050406030204" pitchFamily="18" charset="0"/>
                          </a:rPr>
                          <m:t>1</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𝑤</m:t>
                        </m:r>
                      </m:e>
                      <m:sub>
                        <m:r>
                          <a:rPr lang="en-US" altLang="zh-TW" b="0" i="1" smtClean="0">
                            <a:latin typeface="Cambria Math" panose="02040503050406030204" pitchFamily="18" charset="0"/>
                          </a:rPr>
                          <m:t>2</m:t>
                        </m:r>
                      </m:sub>
                    </m:sSub>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b="0" i="1" smtClean="0">
                            <a:latin typeface="Cambria Math" panose="02040503050406030204" pitchFamily="18" charset="0"/>
                          </a:rPr>
                          <m:t>2</m:t>
                        </m:r>
                      </m:sub>
                    </m:sSub>
                    <m:r>
                      <a:rPr lang="en-US" altLang="zh-TW" i="1">
                        <a:latin typeface="Cambria Math" panose="02040503050406030204" pitchFamily="18" charset="0"/>
                      </a:rPr>
                      <m:t>+</m:t>
                    </m:r>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𝑤</m:t>
                        </m:r>
                      </m:e>
                      <m:sub>
                        <m:r>
                          <a:rPr lang="en-US" altLang="zh-TW" b="0" i="1" smtClean="0">
                            <a:latin typeface="Cambria Math" panose="02040503050406030204" pitchFamily="18" charset="0"/>
                          </a:rPr>
                          <m:t>𝑑</m:t>
                        </m:r>
                      </m:sub>
                    </m:sSub>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b="0" i="1" smtClean="0">
                            <a:latin typeface="Cambria Math" panose="02040503050406030204" pitchFamily="18" charset="0"/>
                          </a:rPr>
                          <m:t>𝑑</m:t>
                        </m:r>
                      </m:sub>
                    </m:sSub>
                  </m:oMath>
                </a14:m>
                <a:endParaRPr lang="en-US" altLang="zh-TW" dirty="0"/>
              </a:p>
              <a:p>
                <a:r>
                  <a:rPr lang="zh-TW" altLang="en-US" dirty="0"/>
                  <a:t>                 </a:t>
                </a:r>
                <a:r>
                  <a:rPr lang="en-US" altLang="zh-TW" dirty="0"/>
                  <a:t>= </a:t>
                </a:r>
                <a14:m>
                  <m:oMath xmlns:m="http://schemas.openxmlformats.org/officeDocument/2006/math">
                    <m:r>
                      <a:rPr lang="en-US" altLang="zh-TW" b="0" i="1" smtClean="0">
                        <a:latin typeface="Cambria Math" panose="02040503050406030204" pitchFamily="18" charset="0"/>
                      </a:rPr>
                      <m:t>𝑏𝑖𝑎𝑠</m:t>
                    </m:r>
                    <m:r>
                      <a:rPr lang="en-US" altLang="zh-TW" b="0" i="1" smtClean="0">
                        <a:latin typeface="Cambria Math" panose="02040503050406030204" pitchFamily="18" charset="0"/>
                      </a:rPr>
                      <m:t> +</m:t>
                    </m:r>
                    <m:sSup>
                      <m:sSupPr>
                        <m:ctrlPr>
                          <a:rPr lang="en-US" altLang="zh-TW" b="1" i="1">
                            <a:latin typeface="Cambria Math" panose="02040503050406030204" pitchFamily="18" charset="0"/>
                          </a:rPr>
                        </m:ctrlPr>
                      </m:sSupPr>
                      <m:e>
                        <m:r>
                          <a:rPr lang="en-US" altLang="zh-TW" b="1" i="1">
                            <a:latin typeface="Cambria Math" panose="02040503050406030204" pitchFamily="18" charset="0"/>
                          </a:rPr>
                          <m:t>𝑾</m:t>
                        </m:r>
                      </m:e>
                      <m:sup>
                        <m:r>
                          <a:rPr lang="en-US" altLang="zh-TW" b="1" i="1">
                            <a:latin typeface="Cambria Math" panose="02040503050406030204" pitchFamily="18" charset="0"/>
                          </a:rPr>
                          <m:t>𝑻</m:t>
                        </m:r>
                      </m:sup>
                    </m:sSup>
                    <m:r>
                      <a:rPr lang="en-US" altLang="zh-TW" b="1" i="1" smtClean="0">
                        <a:latin typeface="Cambria Math" panose="02040503050406030204" pitchFamily="18" charset="0"/>
                        <a:sym typeface="Symbol" panose="05050102010706020507" pitchFamily="18" charset="2"/>
                      </a:rPr>
                      <m:t></m:t>
                    </m:r>
                    <m:r>
                      <a:rPr lang="en-US" altLang="zh-TW" b="1" i="1" smtClean="0">
                        <a:latin typeface="Cambria Math" panose="02040503050406030204" pitchFamily="18" charset="0"/>
                        <a:sym typeface="Symbol" panose="05050102010706020507" pitchFamily="18" charset="2"/>
                      </a:rPr>
                      <m:t>𝒙</m:t>
                    </m:r>
                  </m:oMath>
                </a14:m>
                <a:endParaRPr lang="zh-TW" altLang="en-US" b="1" dirty="0"/>
              </a:p>
            </p:txBody>
          </p:sp>
        </mc:Choice>
        <mc:Fallback xmlns="">
          <p:sp>
            <p:nvSpPr>
              <p:cNvPr id="25" name="文字方塊 24">
                <a:extLst>
                  <a:ext uri="{FF2B5EF4-FFF2-40B4-BE49-F238E27FC236}">
                    <a16:creationId xmlns:a16="http://schemas.microsoft.com/office/drawing/2014/main" id="{F1CF4F06-A5D5-8327-E323-2A1E027A7B7B}"/>
                  </a:ext>
                </a:extLst>
              </p:cNvPr>
              <p:cNvSpPr txBox="1">
                <a:spLocks noRot="1" noChangeAspect="1" noMove="1" noResize="1" noEditPoints="1" noAdjustHandles="1" noChangeArrowheads="1" noChangeShapeType="1" noTextEdit="1"/>
              </p:cNvSpPr>
              <p:nvPr/>
            </p:nvSpPr>
            <p:spPr>
              <a:xfrm>
                <a:off x="3833134" y="4880651"/>
                <a:ext cx="4453839" cy="576440"/>
              </a:xfrm>
              <a:prstGeom prst="rect">
                <a:avLst/>
              </a:prstGeom>
              <a:blipFill>
                <a:blip r:embed="rId3"/>
                <a:stretch>
                  <a:fillRect l="-9726" t="-81915" b="-79787"/>
                </a:stretch>
              </a:blipFill>
            </p:spPr>
            <p:txBody>
              <a:bodyPr/>
              <a:lstStyle/>
              <a:p>
                <a:r>
                  <a:rPr lang="zh-TW" altLang="en-US">
                    <a:noFill/>
                  </a:rPr>
                  <a:t> </a:t>
                </a:r>
              </a:p>
            </p:txBody>
          </p:sp>
        </mc:Fallback>
      </mc:AlternateContent>
      <p:cxnSp>
        <p:nvCxnSpPr>
          <p:cNvPr id="26" name="直線單箭頭接點 25">
            <a:extLst>
              <a:ext uri="{FF2B5EF4-FFF2-40B4-BE49-F238E27FC236}">
                <a16:creationId xmlns:a16="http://schemas.microsoft.com/office/drawing/2014/main" id="{7669BA80-B6DA-BAA6-F9E4-579987005FB5}"/>
              </a:ext>
            </a:extLst>
          </p:cNvPr>
          <p:cNvCxnSpPr>
            <a:cxnSpLocks/>
          </p:cNvCxnSpPr>
          <p:nvPr/>
        </p:nvCxnSpPr>
        <p:spPr>
          <a:xfrm flipH="1">
            <a:off x="5009784" y="3328514"/>
            <a:ext cx="2246" cy="1300636"/>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9DF76F0B-429D-B675-8AE2-6576BF18B6E4}"/>
                  </a:ext>
                </a:extLst>
              </p:cNvPr>
              <p:cNvSpPr txBox="1"/>
              <p:nvPr/>
            </p:nvSpPr>
            <p:spPr>
              <a:xfrm>
                <a:off x="8553750" y="4830145"/>
                <a:ext cx="1065659" cy="1020472"/>
              </a:xfrm>
              <a:prstGeom prst="rect">
                <a:avLst/>
              </a:prstGeom>
              <a:noFill/>
            </p:spPr>
            <p:txBody>
              <a:bodyPr wrap="square" lIns="0" tIns="0" rIns="0" bIns="0" rtlCol="0">
                <a:spAutoFit/>
              </a:bodyPr>
              <a:lstStyle/>
              <a:p>
                <a:r>
                  <a:rPr lang="zh-TW" altLang="en-US" dirty="0"/>
                  <a:t> </a:t>
                </a:r>
                <a14:m>
                  <m:oMath xmlns:m="http://schemas.openxmlformats.org/officeDocument/2006/math">
                    <m:r>
                      <a:rPr lang="en-US" altLang="zh-TW" b="1" i="1" smtClean="0">
                        <a:latin typeface="Cambria Math" panose="02040503050406030204" pitchFamily="18" charset="0"/>
                      </a:rPr>
                      <m:t>𝑾</m:t>
                    </m:r>
                    <m:r>
                      <a:rPr lang="en-US" altLang="zh-TW" b="1" i="1" smtClean="0">
                        <a:latin typeface="Cambria Math" panose="02040503050406030204" pitchFamily="18" charset="0"/>
                      </a:rPr>
                      <m:t>=</m:t>
                    </m:r>
                    <m:d>
                      <m:dPr>
                        <m:begChr m:val="["/>
                        <m:endChr m:val="]"/>
                        <m:ctrlPr>
                          <a:rPr lang="en-US" altLang="zh-TW" i="1" smtClean="0">
                            <a:latin typeface="Cambria Math" panose="02040503050406030204" pitchFamily="18" charset="0"/>
                          </a:rPr>
                        </m:ctrlPr>
                      </m:dPr>
                      <m:e>
                        <m:eqArr>
                          <m:eqArrPr>
                            <m:ctrlPr>
                              <a:rPr lang="en-US" altLang="zh-TW" i="1">
                                <a:latin typeface="Cambria Math" panose="02040503050406030204" pitchFamily="18" charset="0"/>
                              </a:rPr>
                            </m:ctrlPr>
                          </m:eqArrPr>
                          <m:e>
                            <m:sSub>
                              <m:sSubPr>
                                <m:ctrlPr>
                                  <a:rPr lang="en-US" altLang="zh-TW" i="1">
                                    <a:latin typeface="Cambria Math" panose="02040503050406030204" pitchFamily="18" charset="0"/>
                                  </a:rPr>
                                </m:ctrlPr>
                              </m:sSubPr>
                              <m:e>
                                <m:r>
                                  <a:rPr lang="en-US" altLang="zh-TW" b="0" i="1">
                                    <a:latin typeface="Cambria Math" panose="02040503050406030204" pitchFamily="18" charset="0"/>
                                  </a:rPr>
                                  <m:t>𝑤</m:t>
                                </m:r>
                              </m:e>
                              <m:sub>
                                <m:r>
                                  <a:rPr lang="en-US" altLang="zh-TW" b="0" i="1">
                                    <a:latin typeface="Cambria Math" panose="02040503050406030204" pitchFamily="18" charset="0"/>
                                  </a:rPr>
                                  <m:t>1</m:t>
                                </m:r>
                              </m:sub>
                            </m:sSub>
                          </m:e>
                          <m:e>
                            <m:sSub>
                              <m:sSubPr>
                                <m:ctrlPr>
                                  <a:rPr lang="en-US" altLang="zh-TW" i="1">
                                    <a:latin typeface="Cambria Math" panose="02040503050406030204" pitchFamily="18" charset="0"/>
                                  </a:rPr>
                                </m:ctrlPr>
                              </m:sSubPr>
                              <m:e>
                                <m:r>
                                  <a:rPr lang="en-US" altLang="zh-TW" b="0" i="1">
                                    <a:latin typeface="Cambria Math" panose="02040503050406030204" pitchFamily="18" charset="0"/>
                                  </a:rPr>
                                  <m:t>𝑤</m:t>
                                </m:r>
                              </m:e>
                              <m:sub>
                                <m:r>
                                  <a:rPr lang="en-US" altLang="zh-TW" b="0" i="1" smtClean="0">
                                    <a:latin typeface="Cambria Math" panose="02040503050406030204" pitchFamily="18" charset="0"/>
                                  </a:rPr>
                                  <m:t>2</m:t>
                                </m:r>
                              </m:sub>
                            </m:sSub>
                          </m:e>
                          <m:e>
                            <m:r>
                              <a:rPr lang="en-US" altLang="zh-TW" b="0" i="1" smtClean="0">
                                <a:latin typeface="Cambria Math" panose="02040503050406030204" pitchFamily="18" charset="0"/>
                              </a:rPr>
                              <m:t>…</m:t>
                            </m:r>
                          </m:e>
                          <m:e>
                            <m:sSub>
                              <m:sSubPr>
                                <m:ctrlPr>
                                  <a:rPr lang="en-US" altLang="zh-TW" i="1">
                                    <a:latin typeface="Cambria Math" panose="02040503050406030204" pitchFamily="18" charset="0"/>
                                  </a:rPr>
                                </m:ctrlPr>
                              </m:sSubPr>
                              <m:e>
                                <m:r>
                                  <a:rPr lang="en-US" altLang="zh-TW" b="0" i="1">
                                    <a:latin typeface="Cambria Math" panose="02040503050406030204" pitchFamily="18" charset="0"/>
                                  </a:rPr>
                                  <m:t>𝑤</m:t>
                                </m:r>
                              </m:e>
                              <m:sub>
                                <m:r>
                                  <a:rPr lang="en-US" altLang="zh-TW" b="0" i="1" smtClean="0">
                                    <a:latin typeface="Cambria Math" panose="02040503050406030204" pitchFamily="18" charset="0"/>
                                  </a:rPr>
                                  <m:t>𝑑</m:t>
                                </m:r>
                              </m:sub>
                            </m:sSub>
                          </m:e>
                        </m:eqArr>
                      </m:e>
                    </m:d>
                  </m:oMath>
                </a14:m>
                <a:endParaRPr lang="zh-TW" altLang="en-US" dirty="0"/>
              </a:p>
            </p:txBody>
          </p:sp>
        </mc:Choice>
        <mc:Fallback xmlns="">
          <p:sp>
            <p:nvSpPr>
              <p:cNvPr id="27" name="文字方塊 26">
                <a:extLst>
                  <a:ext uri="{FF2B5EF4-FFF2-40B4-BE49-F238E27FC236}">
                    <a16:creationId xmlns:a16="http://schemas.microsoft.com/office/drawing/2014/main" id="{9DF76F0B-429D-B675-8AE2-6576BF18B6E4}"/>
                  </a:ext>
                </a:extLst>
              </p:cNvPr>
              <p:cNvSpPr txBox="1">
                <a:spLocks noRot="1" noChangeAspect="1" noMove="1" noResize="1" noEditPoints="1" noAdjustHandles="1" noChangeArrowheads="1" noChangeShapeType="1" noTextEdit="1"/>
              </p:cNvSpPr>
              <p:nvPr/>
            </p:nvSpPr>
            <p:spPr>
              <a:xfrm>
                <a:off x="8553750" y="4830145"/>
                <a:ext cx="1065659" cy="1020472"/>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D597BB4F-EF42-B513-64C2-15D6D5BE2CB7}"/>
                  </a:ext>
                </a:extLst>
              </p:cNvPr>
              <p:cNvSpPr txBox="1"/>
              <p:nvPr/>
            </p:nvSpPr>
            <p:spPr>
              <a:xfrm>
                <a:off x="10123302" y="4808928"/>
                <a:ext cx="1065659" cy="1020472"/>
              </a:xfrm>
              <a:prstGeom prst="rect">
                <a:avLst/>
              </a:prstGeom>
              <a:noFill/>
            </p:spPr>
            <p:txBody>
              <a:bodyPr wrap="square" lIns="0" tIns="0" rIns="0" bIns="0" rtlCol="0">
                <a:spAutoFit/>
              </a:bodyPr>
              <a:lstStyle/>
              <a:p>
                <a:r>
                  <a:rPr lang="zh-TW" altLang="en-US" dirty="0"/>
                  <a:t> </a:t>
                </a:r>
                <a14:m>
                  <m:oMath xmlns:m="http://schemas.openxmlformats.org/officeDocument/2006/math">
                    <m:r>
                      <a:rPr lang="en-US" altLang="zh-TW" b="1" i="1" smtClean="0">
                        <a:latin typeface="Cambria Math" panose="02040503050406030204" pitchFamily="18" charset="0"/>
                      </a:rPr>
                      <m:t>𝒙</m:t>
                    </m:r>
                    <m:r>
                      <a:rPr lang="en-US" altLang="zh-TW" b="1" i="1" smtClean="0">
                        <a:latin typeface="Cambria Math" panose="02040503050406030204" pitchFamily="18" charset="0"/>
                      </a:rPr>
                      <m:t>=</m:t>
                    </m:r>
                    <m:d>
                      <m:dPr>
                        <m:begChr m:val="["/>
                        <m:endChr m:val="]"/>
                        <m:ctrlPr>
                          <a:rPr lang="en-US" altLang="zh-TW" i="1" smtClean="0">
                            <a:latin typeface="Cambria Math" panose="02040503050406030204" pitchFamily="18" charset="0"/>
                          </a:rPr>
                        </m:ctrlPr>
                      </m:dPr>
                      <m:e>
                        <m:eqArr>
                          <m:eqArrPr>
                            <m:ctrlPr>
                              <a:rPr lang="en-US" altLang="zh-TW" i="1">
                                <a:latin typeface="Cambria Math" panose="02040503050406030204" pitchFamily="18" charset="0"/>
                              </a:rPr>
                            </m:ctrlPr>
                          </m:eqArrPr>
                          <m:e>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a:latin typeface="Cambria Math" panose="02040503050406030204" pitchFamily="18" charset="0"/>
                                  </a:rPr>
                                  <m:t>1</m:t>
                                </m:r>
                              </m:sub>
                            </m:sSub>
                          </m:e>
                          <m:e>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2</m:t>
                                </m:r>
                              </m:sub>
                            </m:sSub>
                          </m:e>
                          <m:e>
                            <m:r>
                              <a:rPr lang="en-US" altLang="zh-TW" b="0" i="1" smtClean="0">
                                <a:latin typeface="Cambria Math" panose="02040503050406030204" pitchFamily="18" charset="0"/>
                              </a:rPr>
                              <m:t>…</m:t>
                            </m:r>
                          </m:e>
                          <m:e>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𝑑</m:t>
                                </m:r>
                              </m:sub>
                            </m:sSub>
                          </m:e>
                        </m:eqArr>
                      </m:e>
                    </m:d>
                  </m:oMath>
                </a14:m>
                <a:endParaRPr lang="zh-TW" altLang="en-US" dirty="0"/>
              </a:p>
            </p:txBody>
          </p:sp>
        </mc:Choice>
        <mc:Fallback xmlns="">
          <p:sp>
            <p:nvSpPr>
              <p:cNvPr id="28" name="文字方塊 27">
                <a:extLst>
                  <a:ext uri="{FF2B5EF4-FFF2-40B4-BE49-F238E27FC236}">
                    <a16:creationId xmlns:a16="http://schemas.microsoft.com/office/drawing/2014/main" id="{D597BB4F-EF42-B513-64C2-15D6D5BE2CB7}"/>
                  </a:ext>
                </a:extLst>
              </p:cNvPr>
              <p:cNvSpPr txBox="1">
                <a:spLocks noRot="1" noChangeAspect="1" noMove="1" noResize="1" noEditPoints="1" noAdjustHandles="1" noChangeArrowheads="1" noChangeShapeType="1" noTextEdit="1"/>
              </p:cNvSpPr>
              <p:nvPr/>
            </p:nvSpPr>
            <p:spPr>
              <a:xfrm>
                <a:off x="10123302" y="4808928"/>
                <a:ext cx="1065659" cy="1020472"/>
              </a:xfrm>
              <a:prstGeom prst="rect">
                <a:avLst/>
              </a:prstGeom>
              <a:blipFill>
                <a:blip r:embed="rId5"/>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7292552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58B0B2D-97FD-34CA-6052-48F9140FB0E8}"/>
              </a:ext>
            </a:extLst>
          </p:cNvPr>
          <p:cNvSpPr>
            <a:spLocks noGrp="1"/>
          </p:cNvSpPr>
          <p:nvPr>
            <p:ph type="title"/>
          </p:nvPr>
        </p:nvSpPr>
        <p:spPr/>
        <p:txBody>
          <a:bodyPr/>
          <a:lstStyle/>
          <a:p>
            <a:r>
              <a:rPr lang="en-US" altLang="zh-TW" b="1" i="0" dirty="0">
                <a:solidFill>
                  <a:srgbClr val="05192D"/>
                </a:solidFill>
                <a:effectLst/>
                <a:highlight>
                  <a:srgbClr val="FFFFFF"/>
                </a:highlight>
                <a:latin typeface="Studio-Feixen-Sans"/>
              </a:rPr>
              <a:t>Input layer</a:t>
            </a:r>
            <a:endParaRPr lang="zh-TW" altLang="en-US" dirty="0"/>
          </a:p>
        </p:txBody>
      </p:sp>
      <p:sp>
        <p:nvSpPr>
          <p:cNvPr id="3" name="內容版面配置區 2">
            <a:extLst>
              <a:ext uri="{FF2B5EF4-FFF2-40B4-BE49-F238E27FC236}">
                <a16:creationId xmlns:a16="http://schemas.microsoft.com/office/drawing/2014/main" id="{2D7E4445-0B1B-C7F7-49D4-D37E75BA9544}"/>
              </a:ext>
            </a:extLst>
          </p:cNvPr>
          <p:cNvSpPr>
            <a:spLocks noGrp="1"/>
          </p:cNvSpPr>
          <p:nvPr>
            <p:ph idx="1"/>
          </p:nvPr>
        </p:nvSpPr>
        <p:spPr/>
        <p:txBody>
          <a:bodyPr/>
          <a:lstStyle/>
          <a:p>
            <a:r>
              <a:rPr lang="en-US" altLang="zh-TW" dirty="0"/>
              <a:t>The input layer of an MLP receives input data, which could be features extracted from the input samples in a dataset. Each neuron in the input layer represents one feature.</a:t>
            </a:r>
          </a:p>
          <a:p>
            <a:r>
              <a:rPr lang="en-US" altLang="zh-TW" dirty="0"/>
              <a:t>Neurons in the input layer do not perform any computations; they simply pass the input values to the neurons in the first hidden layer.</a:t>
            </a:r>
            <a:endParaRPr lang="zh-TW" altLang="en-US" dirty="0"/>
          </a:p>
        </p:txBody>
      </p:sp>
    </p:spTree>
    <p:extLst>
      <p:ext uri="{BB962C8B-B14F-4D97-AF65-F5344CB8AC3E}">
        <p14:creationId xmlns:p14="http://schemas.microsoft.com/office/powerpoint/2010/main" val="5857623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22FB967-001D-5CB3-697F-D09ED0C1864E}"/>
              </a:ext>
            </a:extLst>
          </p:cNvPr>
          <p:cNvSpPr>
            <a:spLocks noGrp="1"/>
          </p:cNvSpPr>
          <p:nvPr>
            <p:ph type="title"/>
          </p:nvPr>
        </p:nvSpPr>
        <p:spPr/>
        <p:txBody>
          <a:bodyPr/>
          <a:lstStyle/>
          <a:p>
            <a:r>
              <a:rPr lang="en-US" altLang="zh-TW" b="1" i="0" dirty="0">
                <a:solidFill>
                  <a:srgbClr val="05192D"/>
                </a:solidFill>
                <a:effectLst/>
                <a:highlight>
                  <a:srgbClr val="FFFFFF"/>
                </a:highlight>
                <a:latin typeface="Studio-Feixen-Sans"/>
              </a:rPr>
              <a:t>Hidden layers</a:t>
            </a:r>
            <a:endParaRPr lang="zh-TW" altLang="en-US" dirty="0"/>
          </a:p>
        </p:txBody>
      </p:sp>
      <p:sp>
        <p:nvSpPr>
          <p:cNvPr id="3" name="內容版面配置區 2">
            <a:extLst>
              <a:ext uri="{FF2B5EF4-FFF2-40B4-BE49-F238E27FC236}">
                <a16:creationId xmlns:a16="http://schemas.microsoft.com/office/drawing/2014/main" id="{87861BA3-1CCE-A8BC-762B-BFA6845ED22A}"/>
              </a:ext>
            </a:extLst>
          </p:cNvPr>
          <p:cNvSpPr>
            <a:spLocks noGrp="1"/>
          </p:cNvSpPr>
          <p:nvPr>
            <p:ph idx="1"/>
          </p:nvPr>
        </p:nvSpPr>
        <p:spPr/>
        <p:txBody>
          <a:bodyPr>
            <a:normAutofit fontScale="92500" lnSpcReduction="20000"/>
          </a:bodyPr>
          <a:lstStyle/>
          <a:p>
            <a:r>
              <a:rPr lang="en-US" altLang="zh-TW" dirty="0"/>
              <a:t>The hidden layers of an MLP consist of interconnected neurons that perform computations on the input data.</a:t>
            </a:r>
          </a:p>
          <a:p>
            <a:r>
              <a:rPr lang="en-US" altLang="zh-TW" dirty="0"/>
              <a:t>Each neuron in a hidden layer receives input from all neurons in the previous layer. The inputs are multiplied by corresponding weights, denoted as w. The weights determine how much influence the input from one neuron has on the output of another.</a:t>
            </a:r>
          </a:p>
          <a:p>
            <a:r>
              <a:rPr lang="en-US" altLang="zh-TW" dirty="0"/>
              <a:t>In addition to weights, each neuron in the hidden layer has an associated bias, denoted as b. The bias provides an additional input to the neuron, allowing it to adjust its output threshold. Like weights, biases are learned during training.</a:t>
            </a:r>
          </a:p>
          <a:p>
            <a:r>
              <a:rPr lang="en-US" altLang="zh-TW" dirty="0"/>
              <a:t>For each neuron in a hidden layer or the output layer, the weighted sum of its inputs is computed. This involves multiplying each input by its corresponding weight, summing up these products, and adding the bias.</a:t>
            </a:r>
            <a:endParaRPr lang="zh-TW" altLang="en-US" dirty="0"/>
          </a:p>
        </p:txBody>
      </p:sp>
    </p:spTree>
    <p:extLst>
      <p:ext uri="{BB962C8B-B14F-4D97-AF65-F5344CB8AC3E}">
        <p14:creationId xmlns:p14="http://schemas.microsoft.com/office/powerpoint/2010/main" val="20515063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6B159D-CDA4-96C1-787E-ADA3C5F7F3B1}"/>
              </a:ext>
            </a:extLst>
          </p:cNvPr>
          <p:cNvSpPr>
            <a:spLocks noGrp="1"/>
          </p:cNvSpPr>
          <p:nvPr>
            <p:ph type="title"/>
          </p:nvPr>
        </p:nvSpPr>
        <p:spPr/>
        <p:txBody>
          <a:bodyPr/>
          <a:lstStyle/>
          <a:p>
            <a:r>
              <a:rPr lang="en-US" altLang="zh-TW" b="1" i="0" dirty="0">
                <a:solidFill>
                  <a:srgbClr val="05192D"/>
                </a:solidFill>
                <a:effectLst/>
                <a:highlight>
                  <a:srgbClr val="FFFFFF"/>
                </a:highlight>
                <a:latin typeface="Studio-Feixen-Sans"/>
              </a:rPr>
              <a:t>Output layer</a:t>
            </a:r>
            <a:endParaRPr lang="zh-TW" altLang="en-US" dirty="0"/>
          </a:p>
        </p:txBody>
      </p:sp>
      <p:sp>
        <p:nvSpPr>
          <p:cNvPr id="3" name="內容版面配置區 2">
            <a:extLst>
              <a:ext uri="{FF2B5EF4-FFF2-40B4-BE49-F238E27FC236}">
                <a16:creationId xmlns:a16="http://schemas.microsoft.com/office/drawing/2014/main" id="{799F5E72-A81B-C8A5-7FE9-A29F76FD696F}"/>
              </a:ext>
            </a:extLst>
          </p:cNvPr>
          <p:cNvSpPr>
            <a:spLocks noGrp="1"/>
          </p:cNvSpPr>
          <p:nvPr>
            <p:ph idx="1"/>
          </p:nvPr>
        </p:nvSpPr>
        <p:spPr/>
        <p:txBody>
          <a:bodyPr/>
          <a:lstStyle/>
          <a:p>
            <a:r>
              <a:rPr lang="en-US" altLang="zh-TW" dirty="0"/>
              <a:t>The output layer of an MLP produces the final predictions or outputs of the network. The number of neurons in the output layer depends on the task being performed (e.g., binary classification, multi-class classification, regression).</a:t>
            </a:r>
          </a:p>
          <a:p>
            <a:r>
              <a:rPr lang="en-US" altLang="zh-TW" dirty="0"/>
              <a:t>Each neuron in the output layer receives input from the neurons in the last hidden layer and applies an activation function. This activation function is usually different from those used in the hidden layers and produces the final output value or prediction.</a:t>
            </a:r>
            <a:endParaRPr lang="zh-TW" altLang="en-US" dirty="0"/>
          </a:p>
        </p:txBody>
      </p:sp>
    </p:spTree>
    <p:extLst>
      <p:ext uri="{BB962C8B-B14F-4D97-AF65-F5344CB8AC3E}">
        <p14:creationId xmlns:p14="http://schemas.microsoft.com/office/powerpoint/2010/main" val="23303306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BCB5451-D5B3-D89A-E784-4510836A0770}"/>
              </a:ext>
            </a:extLst>
          </p:cNvPr>
          <p:cNvSpPr>
            <a:spLocks noGrp="1"/>
          </p:cNvSpPr>
          <p:nvPr>
            <p:ph type="title"/>
          </p:nvPr>
        </p:nvSpPr>
        <p:spPr/>
        <p:txBody>
          <a:bodyPr/>
          <a:lstStyle/>
          <a:p>
            <a:r>
              <a:rPr lang="en-US" altLang="zh-TW" dirty="0"/>
              <a:t>Training</a:t>
            </a:r>
            <a:endParaRPr lang="zh-TW" altLang="en-US" dirty="0"/>
          </a:p>
        </p:txBody>
      </p:sp>
      <p:sp>
        <p:nvSpPr>
          <p:cNvPr id="3" name="內容版面配置區 2">
            <a:extLst>
              <a:ext uri="{FF2B5EF4-FFF2-40B4-BE49-F238E27FC236}">
                <a16:creationId xmlns:a16="http://schemas.microsoft.com/office/drawing/2014/main" id="{CFBA4318-0EA4-2FC6-6EDD-55572B18FDF1}"/>
              </a:ext>
            </a:extLst>
          </p:cNvPr>
          <p:cNvSpPr>
            <a:spLocks noGrp="1"/>
          </p:cNvSpPr>
          <p:nvPr>
            <p:ph idx="1"/>
          </p:nvPr>
        </p:nvSpPr>
        <p:spPr/>
        <p:txBody>
          <a:bodyPr>
            <a:normAutofit lnSpcReduction="10000"/>
          </a:bodyPr>
          <a:lstStyle/>
          <a:p>
            <a:r>
              <a:rPr lang="en-US" altLang="zh-TW" dirty="0"/>
              <a:t>During the training process, the network learns to adjust the weights associated with each neuron's inputs to minimize the discrepancy between the predicted outputs and the true target values in the training data. By adjusting the weights and learning the appropriate activation functions, the network learns to approximate complex patterns and relationships in the data, enabling it to make accurate predictions on new, unseen samples.</a:t>
            </a:r>
          </a:p>
          <a:p>
            <a:r>
              <a:rPr lang="en-US" altLang="zh-TW" dirty="0"/>
              <a:t>This adjustment is guided by an optimization algorithm, such as stochastic gradient descent (SGD), which computes the gradients of a loss function with respect to the weights and updates the weights iteratively.</a:t>
            </a:r>
            <a:endParaRPr lang="zh-TW" altLang="en-US" dirty="0"/>
          </a:p>
        </p:txBody>
      </p:sp>
    </p:spTree>
    <p:extLst>
      <p:ext uri="{BB962C8B-B14F-4D97-AF65-F5344CB8AC3E}">
        <p14:creationId xmlns:p14="http://schemas.microsoft.com/office/powerpoint/2010/main" val="40347765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E177720-D97A-9402-DF5C-31BBDA494121}"/>
              </a:ext>
            </a:extLst>
          </p:cNvPr>
          <p:cNvSpPr>
            <a:spLocks noGrp="1"/>
          </p:cNvSpPr>
          <p:nvPr>
            <p:ph type="title"/>
          </p:nvPr>
        </p:nvSpPr>
        <p:spPr/>
        <p:txBody>
          <a:bodyPr/>
          <a:lstStyle/>
          <a:p>
            <a:r>
              <a:rPr lang="en-US" altLang="zh-TW" dirty="0"/>
              <a:t>Stochastic Gradient Descent (SGD)</a:t>
            </a:r>
            <a:endParaRPr lang="zh-TW" altLang="en-US" dirty="0"/>
          </a:p>
        </p:txBody>
      </p:sp>
      <p:sp>
        <p:nvSpPr>
          <p:cNvPr id="3" name="內容版面配置區 2">
            <a:extLst>
              <a:ext uri="{FF2B5EF4-FFF2-40B4-BE49-F238E27FC236}">
                <a16:creationId xmlns:a16="http://schemas.microsoft.com/office/drawing/2014/main" id="{F625CA40-E8C7-E33D-6F87-E7E83DEDCED1}"/>
              </a:ext>
            </a:extLst>
          </p:cNvPr>
          <p:cNvSpPr>
            <a:spLocks noGrp="1"/>
          </p:cNvSpPr>
          <p:nvPr>
            <p:ph idx="1"/>
          </p:nvPr>
        </p:nvSpPr>
        <p:spPr>
          <a:xfrm>
            <a:off x="838200" y="1648759"/>
            <a:ext cx="10515600" cy="4844116"/>
          </a:xfrm>
        </p:spPr>
        <p:txBody>
          <a:bodyPr>
            <a:normAutofit/>
          </a:bodyPr>
          <a:lstStyle/>
          <a:p>
            <a:pPr marL="514350" indent="-514350">
              <a:buFont typeface="+mj-lt"/>
              <a:buAutoNum type="arabicPeriod"/>
            </a:pPr>
            <a:r>
              <a:rPr lang="en-US" altLang="zh-TW" b="1" dirty="0"/>
              <a:t>Initialization: </a:t>
            </a:r>
            <a:r>
              <a:rPr lang="en-US" altLang="zh-TW" dirty="0"/>
              <a:t>SGD starts with an initial set of model parameters (weights and biases) randomly or using some predefined method.</a:t>
            </a:r>
          </a:p>
          <a:p>
            <a:pPr marL="514350" indent="-514350">
              <a:buFont typeface="+mj-lt"/>
              <a:buAutoNum type="arabicPeriod"/>
            </a:pPr>
            <a:r>
              <a:rPr lang="en-US" altLang="zh-TW" b="1" dirty="0"/>
              <a:t>Iterative Optimization: </a:t>
            </a:r>
            <a:r>
              <a:rPr lang="en-US" altLang="zh-TW" dirty="0"/>
              <a:t>The aim of this step is to find the minimum of a loss function, by iteratively moving in the direction of the steepest decrease in the function's value.</a:t>
            </a:r>
          </a:p>
        </p:txBody>
      </p:sp>
    </p:spTree>
    <p:extLst>
      <p:ext uri="{BB962C8B-B14F-4D97-AF65-F5344CB8AC3E}">
        <p14:creationId xmlns:p14="http://schemas.microsoft.com/office/powerpoint/2010/main" val="21427606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1C9353-792F-5412-9C5C-397030147135}"/>
              </a:ext>
            </a:extLst>
          </p:cNvPr>
          <p:cNvSpPr>
            <a:spLocks noGrp="1"/>
          </p:cNvSpPr>
          <p:nvPr>
            <p:ph type="title"/>
          </p:nvPr>
        </p:nvSpPr>
        <p:spPr/>
        <p:txBody>
          <a:bodyPr/>
          <a:lstStyle/>
          <a:p>
            <a:r>
              <a:rPr lang="en-US" altLang="zh-TW" dirty="0"/>
              <a:t>For each iteration (or epoch) of training:</a:t>
            </a:r>
            <a:endParaRPr lang="zh-TW" altLang="en-US" dirty="0"/>
          </a:p>
        </p:txBody>
      </p:sp>
      <p:sp>
        <p:nvSpPr>
          <p:cNvPr id="3" name="內容版面配置區 2">
            <a:extLst>
              <a:ext uri="{FF2B5EF4-FFF2-40B4-BE49-F238E27FC236}">
                <a16:creationId xmlns:a16="http://schemas.microsoft.com/office/drawing/2014/main" id="{2B15DA67-F14A-083B-DAC2-ED7F3AA1FF3D}"/>
              </a:ext>
            </a:extLst>
          </p:cNvPr>
          <p:cNvSpPr>
            <a:spLocks noGrp="1"/>
          </p:cNvSpPr>
          <p:nvPr>
            <p:ph idx="1"/>
          </p:nvPr>
        </p:nvSpPr>
        <p:spPr>
          <a:xfrm>
            <a:off x="838200" y="1407459"/>
            <a:ext cx="10515600" cy="5085416"/>
          </a:xfrm>
        </p:spPr>
        <p:txBody>
          <a:bodyPr>
            <a:normAutofit fontScale="92500" lnSpcReduction="10000"/>
          </a:bodyPr>
          <a:lstStyle/>
          <a:p>
            <a:r>
              <a:rPr lang="en-US" altLang="zh-TW" dirty="0"/>
              <a:t>Shuffle the training data to ensure that the model doesn't learn from the same patterns in the same order every time.</a:t>
            </a:r>
          </a:p>
          <a:p>
            <a:r>
              <a:rPr lang="en-US" altLang="zh-TW" dirty="0"/>
              <a:t>Split the training data into mini-batches (small subsets of data).</a:t>
            </a:r>
          </a:p>
          <a:p>
            <a:r>
              <a:rPr lang="en-US" altLang="zh-TW" dirty="0"/>
              <a:t>For each mini-batch:</a:t>
            </a:r>
          </a:p>
          <a:p>
            <a:pPr lvl="1"/>
            <a:r>
              <a:rPr lang="en-US" altLang="zh-TW" dirty="0"/>
              <a:t>Compute the gradient of the loss function with respect to the model parameters using only the data points in the mini-batch. This gradient estimation is a stochastic approximation of the true gradient.</a:t>
            </a:r>
          </a:p>
          <a:p>
            <a:pPr marL="457200" lvl="1" indent="0">
              <a:buNone/>
            </a:pPr>
            <a:r>
              <a:rPr lang="en-US" altLang="zh-TW" dirty="0"/>
              <a:t>Update the model parameters by taking a step in the opposite direction of the gradient, scaled by a learning rate:</a:t>
            </a:r>
          </a:p>
          <a:p>
            <a:pPr marL="457200" lvl="1" indent="0">
              <a:buNone/>
            </a:pPr>
            <a:r>
              <a:rPr lang="en-US" altLang="zh-TW" dirty="0"/>
              <a:t>Θ</a:t>
            </a:r>
            <a:r>
              <a:rPr lang="en-US" altLang="zh-TW" baseline="-25000" dirty="0"/>
              <a:t>t+1 </a:t>
            </a:r>
            <a:r>
              <a:rPr lang="en-US" altLang="zh-TW" dirty="0"/>
              <a:t>= </a:t>
            </a:r>
            <a:r>
              <a:rPr lang="en-US" altLang="zh-TW" dirty="0" err="1"/>
              <a:t>θ</a:t>
            </a:r>
            <a:r>
              <a:rPr lang="en-US" altLang="zh-TW" baseline="-25000" dirty="0" err="1"/>
              <a:t>t</a:t>
            </a:r>
            <a:r>
              <a:rPr lang="en-US" altLang="zh-TW" dirty="0"/>
              <a:t> - n * ⛛ J (</a:t>
            </a:r>
            <a:r>
              <a:rPr lang="en-US" altLang="zh-TW" dirty="0" err="1"/>
              <a:t>θ</a:t>
            </a:r>
            <a:r>
              <a:rPr lang="en-US" altLang="zh-TW" baseline="-25000" dirty="0" err="1"/>
              <a:t>t</a:t>
            </a:r>
            <a:r>
              <a:rPr lang="en-US" altLang="zh-TW" dirty="0"/>
              <a:t>)</a:t>
            </a:r>
          </a:p>
          <a:p>
            <a:pPr marL="457200" lvl="1" indent="0">
              <a:buNone/>
            </a:pPr>
            <a:r>
              <a:rPr lang="en-US" altLang="zh-TW" dirty="0"/>
              <a:t>Where:</a:t>
            </a:r>
          </a:p>
          <a:p>
            <a:pPr marL="457200" lvl="1" indent="0">
              <a:buNone/>
            </a:pPr>
            <a:r>
              <a:rPr lang="en-US" altLang="zh-TW" dirty="0" err="1"/>
              <a:t>θ</a:t>
            </a:r>
            <a:r>
              <a:rPr lang="en-US" altLang="zh-TW" baseline="-25000" dirty="0" err="1"/>
              <a:t>t</a:t>
            </a:r>
            <a:r>
              <a:rPr lang="en-US" altLang="zh-TW" dirty="0"/>
              <a:t> represents the model parameters at iteration t. This parameter can be the weight</a:t>
            </a:r>
          </a:p>
          <a:p>
            <a:pPr marL="457200" lvl="1" indent="0">
              <a:buNone/>
            </a:pPr>
            <a:r>
              <a:rPr lang="en-US" altLang="zh-TW" dirty="0"/>
              <a:t>⛛ J (</a:t>
            </a:r>
            <a:r>
              <a:rPr lang="en-US" altLang="zh-TW" dirty="0" err="1"/>
              <a:t>θ</a:t>
            </a:r>
            <a:r>
              <a:rPr lang="en-US" altLang="zh-TW" baseline="-25000" dirty="0" err="1"/>
              <a:t>t</a:t>
            </a:r>
            <a:r>
              <a:rPr lang="en-US" altLang="zh-TW" dirty="0"/>
              <a:t>) is the gradient of the loss function J with respect to the parameters </a:t>
            </a:r>
            <a:r>
              <a:rPr lang="en-US" altLang="zh-TW" dirty="0" err="1"/>
              <a:t>θ</a:t>
            </a:r>
            <a:r>
              <a:rPr lang="en-US" altLang="zh-TW" baseline="-25000" dirty="0" err="1"/>
              <a:t>t</a:t>
            </a:r>
            <a:endParaRPr lang="en-US" altLang="zh-TW" baseline="-25000" dirty="0"/>
          </a:p>
          <a:p>
            <a:pPr marL="457200" lvl="1" indent="0">
              <a:buNone/>
            </a:pPr>
            <a:r>
              <a:rPr lang="en-US" altLang="zh-TW" dirty="0"/>
              <a:t>n is the learning rate, which controls the size of the steps taken during optimization.</a:t>
            </a:r>
            <a:endParaRPr lang="zh-TW" altLang="en-US" dirty="0"/>
          </a:p>
        </p:txBody>
      </p:sp>
    </p:spTree>
    <p:extLst>
      <p:ext uri="{BB962C8B-B14F-4D97-AF65-F5344CB8AC3E}">
        <p14:creationId xmlns:p14="http://schemas.microsoft.com/office/powerpoint/2010/main" val="19074289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E177720-D97A-9402-DF5C-31BBDA494121}"/>
              </a:ext>
            </a:extLst>
          </p:cNvPr>
          <p:cNvSpPr>
            <a:spLocks noGrp="1"/>
          </p:cNvSpPr>
          <p:nvPr>
            <p:ph type="title"/>
          </p:nvPr>
        </p:nvSpPr>
        <p:spPr/>
        <p:txBody>
          <a:bodyPr/>
          <a:lstStyle/>
          <a:p>
            <a:r>
              <a:rPr lang="en-US" altLang="zh-TW" dirty="0"/>
              <a:t>Stochastic Gradient Descent (SGD)</a:t>
            </a:r>
            <a:endParaRPr lang="zh-TW" altLang="en-US" dirty="0"/>
          </a:p>
        </p:txBody>
      </p:sp>
      <p:sp>
        <p:nvSpPr>
          <p:cNvPr id="3" name="內容版面配置區 2">
            <a:extLst>
              <a:ext uri="{FF2B5EF4-FFF2-40B4-BE49-F238E27FC236}">
                <a16:creationId xmlns:a16="http://schemas.microsoft.com/office/drawing/2014/main" id="{F625CA40-E8C7-E33D-6F87-E7E83DEDCED1}"/>
              </a:ext>
            </a:extLst>
          </p:cNvPr>
          <p:cNvSpPr>
            <a:spLocks noGrp="1"/>
          </p:cNvSpPr>
          <p:nvPr>
            <p:ph idx="1"/>
          </p:nvPr>
        </p:nvSpPr>
        <p:spPr>
          <a:xfrm>
            <a:off x="838200" y="1648759"/>
            <a:ext cx="10515600" cy="4844116"/>
          </a:xfrm>
        </p:spPr>
        <p:txBody>
          <a:bodyPr>
            <a:normAutofit lnSpcReduction="10000"/>
          </a:bodyPr>
          <a:lstStyle/>
          <a:p>
            <a:pPr marL="514350" indent="-514350">
              <a:buFont typeface="+mj-lt"/>
              <a:buAutoNum type="arabicPeriod" startAt="3"/>
            </a:pPr>
            <a:r>
              <a:rPr lang="en-US" altLang="zh-TW" b="1" dirty="0"/>
              <a:t>Direction of Descent: </a:t>
            </a:r>
            <a:r>
              <a:rPr lang="en-US" altLang="zh-TW" dirty="0"/>
              <a:t>The gradient of the loss function indicates the direction of the steepest ascent. To minimize the loss function, gradient descent moves in the opposite direction, towards the steepest descent.</a:t>
            </a:r>
          </a:p>
          <a:p>
            <a:pPr marL="514350" indent="-514350">
              <a:buFont typeface="+mj-lt"/>
              <a:buAutoNum type="arabicPeriod" startAt="3"/>
            </a:pPr>
            <a:r>
              <a:rPr lang="en-US" altLang="zh-TW" b="1" dirty="0"/>
              <a:t>Learning Rate: </a:t>
            </a:r>
            <a:r>
              <a:rPr lang="en-US" altLang="zh-TW" dirty="0"/>
              <a:t>The step size taken in each iteration of gradient descent is determined by a parameter called the learning rate, denoted above as n. This parameter controls the size of the steps taken towards the minimum. If the learning rate is too small, convergence may be slow; if it is too large, the algorithm may oscillate or diverge.</a:t>
            </a:r>
          </a:p>
          <a:p>
            <a:pPr marL="514350" indent="-514350">
              <a:buFont typeface="+mj-lt"/>
              <a:buAutoNum type="arabicPeriod" startAt="3"/>
            </a:pPr>
            <a:r>
              <a:rPr lang="en-US" altLang="zh-TW" b="1" dirty="0"/>
              <a:t>Convergence: </a:t>
            </a:r>
            <a:r>
              <a:rPr lang="en-US" altLang="zh-TW" dirty="0"/>
              <a:t>Repeat the process for a fixed number of iterations or until a convergence criterion is met (e.g., the change in loss function is below a certain threshold).</a:t>
            </a:r>
            <a:endParaRPr lang="zh-TW" altLang="en-US" dirty="0"/>
          </a:p>
        </p:txBody>
      </p:sp>
    </p:spTree>
    <p:extLst>
      <p:ext uri="{BB962C8B-B14F-4D97-AF65-F5344CB8AC3E}">
        <p14:creationId xmlns:p14="http://schemas.microsoft.com/office/powerpoint/2010/main" val="5359642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1DF700B0-3256-FB49-70C3-32B035FF6927}"/>
              </a:ext>
            </a:extLst>
          </p:cNvPr>
          <p:cNvSpPr>
            <a:spLocks noGrp="1"/>
          </p:cNvSpPr>
          <p:nvPr>
            <p:ph idx="1"/>
          </p:nvPr>
        </p:nvSpPr>
        <p:spPr>
          <a:xfrm>
            <a:off x="838200" y="493059"/>
            <a:ext cx="10515600" cy="5683904"/>
          </a:xfrm>
        </p:spPr>
        <p:txBody>
          <a:bodyPr>
            <a:normAutofit lnSpcReduction="10000"/>
          </a:bodyPr>
          <a:lstStyle/>
          <a:p>
            <a:r>
              <a:rPr lang="en-US" altLang="zh-TW" dirty="0"/>
              <a:t>Stochastic gradient descent updates the model parameters more frequently using smaller subsets of data, making it computationally efficient, especially for large datasets. The randomness introduced by SGD can have a regularization effect, preventing the model from overfitting to the training data. It is also well-suited for online learning scenarios where new data becomes available incrementally, as it can update the model quickly with each new data point or mini-batch.</a:t>
            </a:r>
          </a:p>
          <a:p>
            <a:r>
              <a:rPr lang="en-US" altLang="zh-TW" dirty="0"/>
              <a:t>However, SGD can also have some challenges, such as increased noise due to the stochastic nature of the gradient estimation and the need to tune hyperparameters like the learning rate. </a:t>
            </a:r>
          </a:p>
          <a:p>
            <a:r>
              <a:rPr lang="en-US" altLang="zh-TW" dirty="0"/>
              <a:t>Various extensions and adaptations of SGD, such as </a:t>
            </a:r>
            <a:r>
              <a:rPr lang="en-US" altLang="zh-TW" dirty="0">
                <a:solidFill>
                  <a:srgbClr val="0070C0"/>
                </a:solidFill>
              </a:rPr>
              <a:t>mini-batch stochastic gradient descent</a:t>
            </a:r>
            <a:r>
              <a:rPr lang="en-US" altLang="zh-TW" dirty="0"/>
              <a:t>, </a:t>
            </a:r>
            <a:r>
              <a:rPr lang="en-US" altLang="zh-TW" dirty="0">
                <a:solidFill>
                  <a:srgbClr val="0070C0"/>
                </a:solidFill>
              </a:rPr>
              <a:t>momentum</a:t>
            </a:r>
            <a:r>
              <a:rPr lang="en-US" altLang="zh-TW" dirty="0"/>
              <a:t>, and adaptive learning rate methods like </a:t>
            </a:r>
            <a:r>
              <a:rPr lang="en-US" altLang="zh-TW" dirty="0" err="1">
                <a:solidFill>
                  <a:srgbClr val="0070C0"/>
                </a:solidFill>
              </a:rPr>
              <a:t>AdaGrad</a:t>
            </a:r>
            <a:r>
              <a:rPr lang="en-US" altLang="zh-TW" dirty="0">
                <a:solidFill>
                  <a:srgbClr val="0070C0"/>
                </a:solidFill>
              </a:rPr>
              <a:t>, </a:t>
            </a:r>
            <a:r>
              <a:rPr lang="en-US" altLang="zh-TW" dirty="0" err="1">
                <a:solidFill>
                  <a:srgbClr val="0070C0"/>
                </a:solidFill>
              </a:rPr>
              <a:t>RMSProp</a:t>
            </a:r>
            <a:r>
              <a:rPr lang="en-US" altLang="zh-TW" dirty="0">
                <a:solidFill>
                  <a:srgbClr val="0070C0"/>
                </a:solidFill>
              </a:rPr>
              <a:t>, and Adam, </a:t>
            </a:r>
            <a:r>
              <a:rPr lang="en-US" altLang="zh-TW" dirty="0"/>
              <a:t>have been developed to address these challenges and improve convergence and performance.</a:t>
            </a:r>
            <a:endParaRPr lang="zh-TW" altLang="en-US" dirty="0"/>
          </a:p>
        </p:txBody>
      </p:sp>
    </p:spTree>
    <p:extLst>
      <p:ext uri="{BB962C8B-B14F-4D97-AF65-F5344CB8AC3E}">
        <p14:creationId xmlns:p14="http://schemas.microsoft.com/office/powerpoint/2010/main" val="2760455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D2BC846-24C3-B1F8-F829-63A7BA1A4802}"/>
              </a:ext>
            </a:extLst>
          </p:cNvPr>
          <p:cNvSpPr>
            <a:spLocks noGrp="1"/>
          </p:cNvSpPr>
          <p:nvPr>
            <p:ph type="title"/>
          </p:nvPr>
        </p:nvSpPr>
        <p:spPr/>
        <p:txBody>
          <a:bodyPr/>
          <a:lstStyle/>
          <a:p>
            <a:r>
              <a:rPr lang="en-US" altLang="zh-TW" b="1" i="0" dirty="0">
                <a:solidFill>
                  <a:srgbClr val="05192D"/>
                </a:solidFill>
                <a:effectLst/>
                <a:highlight>
                  <a:srgbClr val="FFFFFF"/>
                </a:highlight>
                <a:latin typeface="Studio-Feixen-Sans"/>
              </a:rPr>
              <a:t>Backpropagation</a:t>
            </a:r>
            <a:endParaRPr lang="zh-TW" altLang="en-US" dirty="0"/>
          </a:p>
        </p:txBody>
      </p:sp>
      <p:sp>
        <p:nvSpPr>
          <p:cNvPr id="3" name="內容版面配置區 2">
            <a:extLst>
              <a:ext uri="{FF2B5EF4-FFF2-40B4-BE49-F238E27FC236}">
                <a16:creationId xmlns:a16="http://schemas.microsoft.com/office/drawing/2014/main" id="{7A9F5DD8-5691-34DD-53C8-653CBEDD963F}"/>
              </a:ext>
            </a:extLst>
          </p:cNvPr>
          <p:cNvSpPr>
            <a:spLocks noGrp="1"/>
          </p:cNvSpPr>
          <p:nvPr>
            <p:ph idx="1"/>
          </p:nvPr>
        </p:nvSpPr>
        <p:spPr/>
        <p:txBody>
          <a:bodyPr/>
          <a:lstStyle/>
          <a:p>
            <a:r>
              <a:rPr lang="en-US" altLang="zh-TW" dirty="0"/>
              <a:t>Backpropagation is short for “backward propagation of errors.” In the context of backpropagation, SGD involves updating the network's parameters iteratively based on the gradients computed during each batch of training data. Instead of computing the gradients using the entire training dataset (which can be computationally expensive for large datasets), SGD computes the gradients using small random subsets of the data called mini-batches.</a:t>
            </a:r>
            <a:endParaRPr lang="zh-TW" altLang="en-US" dirty="0"/>
          </a:p>
        </p:txBody>
      </p:sp>
    </p:spTree>
    <p:extLst>
      <p:ext uri="{BB962C8B-B14F-4D97-AF65-F5344CB8AC3E}">
        <p14:creationId xmlns:p14="http://schemas.microsoft.com/office/powerpoint/2010/main" val="3059105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A38ED914-471D-8594-B889-674B9018A82B}"/>
              </a:ext>
            </a:extLst>
          </p:cNvPr>
          <p:cNvSpPr>
            <a:spLocks noGrp="1"/>
          </p:cNvSpPr>
          <p:nvPr>
            <p:ph idx="1"/>
          </p:nvPr>
        </p:nvSpPr>
        <p:spPr>
          <a:xfrm>
            <a:off x="838200" y="215153"/>
            <a:ext cx="10515600" cy="6266330"/>
          </a:xfrm>
        </p:spPr>
        <p:txBody>
          <a:bodyPr>
            <a:normAutofit fontScale="85000" lnSpcReduction="20000"/>
          </a:bodyPr>
          <a:lstStyle/>
          <a:p>
            <a:pPr marL="514350" indent="-514350">
              <a:buFont typeface="+mj-lt"/>
              <a:buAutoNum type="arabicPeriod"/>
            </a:pPr>
            <a:r>
              <a:rPr lang="en-US" altLang="zh-TW" b="1" dirty="0"/>
              <a:t>Forward pass: </a:t>
            </a:r>
            <a:r>
              <a:rPr lang="en-US" altLang="zh-TW" dirty="0"/>
              <a:t>During the forward pass, input data is fed into the neural network, and the network's output is computed layer by layer. Each neuron computes a weighted sum of its inputs, applies an activation function to the result, and passes the output to the neurons in the next layer.</a:t>
            </a:r>
          </a:p>
          <a:p>
            <a:pPr marL="514350" indent="-514350">
              <a:buFont typeface="+mj-lt"/>
              <a:buAutoNum type="arabicPeriod"/>
            </a:pPr>
            <a:r>
              <a:rPr lang="en-US" altLang="zh-TW" b="1" dirty="0"/>
              <a:t>Loss computation: </a:t>
            </a:r>
            <a:r>
              <a:rPr lang="en-US" altLang="zh-TW" dirty="0"/>
              <a:t>After the forward pass, the network's output is compared to the true target values, and a loss function is computed to measure the discrepancy between the predicted output and the actual output.</a:t>
            </a:r>
          </a:p>
          <a:p>
            <a:pPr marL="514350" indent="-514350">
              <a:buFont typeface="+mj-lt"/>
              <a:buAutoNum type="arabicPeriod"/>
            </a:pPr>
            <a:r>
              <a:rPr lang="en-US" altLang="zh-TW" b="1" dirty="0"/>
              <a:t>Backward Pass (Gradient Calculation): </a:t>
            </a:r>
            <a:r>
              <a:rPr lang="en-US" altLang="zh-TW" dirty="0"/>
              <a:t>In the backward pass, the gradients of the loss function with respect to the network's parameters (weights and biases) are computed using the chain rule of calculus. The gradients represent the rate of change of the loss function with respect to each parameter and provide information about how to adjust the parameters to decrease the loss.</a:t>
            </a:r>
          </a:p>
          <a:p>
            <a:pPr marL="514350" indent="-514350">
              <a:buFont typeface="+mj-lt"/>
              <a:buAutoNum type="arabicPeriod"/>
            </a:pPr>
            <a:r>
              <a:rPr lang="en-US" altLang="zh-TW" b="1" dirty="0"/>
              <a:t>Parameter update: </a:t>
            </a:r>
            <a:r>
              <a:rPr lang="en-US" altLang="zh-TW" dirty="0"/>
              <a:t>Once the gradients have been computed, the network's parameters are updated in the opposite direction of the gradients in order to minimize the loss function. This update is typically performed using an optimization algorithm such as stochastic gradient descent (SGD), that we discussed earlier.</a:t>
            </a:r>
          </a:p>
          <a:p>
            <a:pPr marL="514350" indent="-514350">
              <a:buFont typeface="+mj-lt"/>
              <a:buAutoNum type="arabicPeriod"/>
            </a:pPr>
            <a:r>
              <a:rPr lang="en-US" altLang="zh-TW" b="1" dirty="0"/>
              <a:t>Iterative Process: </a:t>
            </a:r>
            <a:r>
              <a:rPr lang="en-US" altLang="zh-TW" dirty="0"/>
              <a:t>Steps 1-4 are repeated iteratively for a fixed number of epochs or until convergence criteria are met. During each iteration, the network's parameters are adjusted based on the gradients computed in the backward pass, gradually reducing the loss and improving the model's performance.</a:t>
            </a:r>
            <a:endParaRPr lang="zh-TW" altLang="en-US" dirty="0"/>
          </a:p>
        </p:txBody>
      </p:sp>
    </p:spTree>
    <p:extLst>
      <p:ext uri="{BB962C8B-B14F-4D97-AF65-F5344CB8AC3E}">
        <p14:creationId xmlns:p14="http://schemas.microsoft.com/office/powerpoint/2010/main" val="9405834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150E8D8C-05FD-98FD-2485-7DF6F7C8E509}"/>
              </a:ext>
            </a:extLst>
          </p:cNvPr>
          <p:cNvSpPr txBox="1"/>
          <p:nvPr/>
        </p:nvSpPr>
        <p:spPr>
          <a:xfrm>
            <a:off x="1" y="1694681"/>
            <a:ext cx="12191999" cy="32501205"/>
          </a:xfrm>
          <a:prstGeom prst="rect">
            <a:avLst/>
          </a:prstGeom>
          <a:solidFill>
            <a:schemeClr val="tx1"/>
          </a:solidFill>
        </p:spPr>
        <p:txBody>
          <a:bodyPr wrap="square">
            <a:spAutoFit/>
          </a:bodyPr>
          <a:lstStyle/>
          <a:p>
            <a:pPr>
              <a:buNone/>
            </a:pPr>
            <a:r>
              <a:rPr lang="en-US" altLang="zh-TW" sz="1800" dirty="0">
                <a:solidFill>
                  <a:srgbClr val="CF8E6D"/>
                </a:solidFill>
                <a:effectLst/>
                <a:latin typeface="JetBrains Mono"/>
              </a:rPr>
              <a:t>import </a:t>
            </a:r>
            <a:r>
              <a:rPr lang="en-US" altLang="zh-TW" sz="1800" dirty="0">
                <a:solidFill>
                  <a:srgbClr val="BCBEC4"/>
                </a:solidFill>
                <a:effectLst/>
                <a:latin typeface="JetBrains Mono"/>
              </a:rPr>
              <a:t>torch</a:t>
            </a:r>
            <a:br>
              <a:rPr lang="en-US" altLang="zh-TW" sz="1800" dirty="0">
                <a:solidFill>
                  <a:srgbClr val="BCBEC4"/>
                </a:solidFill>
                <a:effectLst/>
                <a:latin typeface="JetBrains Mono"/>
              </a:rPr>
            </a:br>
            <a:r>
              <a:rPr lang="en-US" altLang="zh-TW" sz="1800" dirty="0">
                <a:solidFill>
                  <a:srgbClr val="CF8E6D"/>
                </a:solidFill>
                <a:effectLst/>
                <a:latin typeface="JetBrains Mono"/>
              </a:rPr>
              <a:t>from </a:t>
            </a:r>
            <a:r>
              <a:rPr lang="en-US" altLang="zh-TW" sz="1800" dirty="0">
                <a:solidFill>
                  <a:srgbClr val="BCBEC4"/>
                </a:solidFill>
                <a:effectLst/>
                <a:latin typeface="JetBrains Mono"/>
              </a:rPr>
              <a:t>torch </a:t>
            </a:r>
            <a:r>
              <a:rPr lang="en-US" altLang="zh-TW" sz="1800" dirty="0">
                <a:solidFill>
                  <a:srgbClr val="CF8E6D"/>
                </a:solidFill>
                <a:effectLst/>
                <a:latin typeface="JetBrains Mono"/>
              </a:rPr>
              <a:t>import </a:t>
            </a:r>
            <a:r>
              <a:rPr lang="en-US" altLang="zh-TW" sz="1800" dirty="0" err="1">
                <a:solidFill>
                  <a:srgbClr val="BCBEC4"/>
                </a:solidFill>
                <a:effectLst/>
                <a:latin typeface="JetBrains Mono"/>
              </a:rPr>
              <a:t>nn</a:t>
            </a:r>
            <a:br>
              <a:rPr lang="en-US" altLang="zh-TW" sz="1800" dirty="0">
                <a:solidFill>
                  <a:srgbClr val="BCBEC4"/>
                </a:solidFill>
                <a:effectLst/>
                <a:latin typeface="JetBrains Mono"/>
              </a:rPr>
            </a:br>
            <a:r>
              <a:rPr lang="en-US" altLang="zh-TW" sz="1800" dirty="0">
                <a:solidFill>
                  <a:srgbClr val="CF8E6D"/>
                </a:solidFill>
                <a:effectLst/>
                <a:latin typeface="JetBrains Mono"/>
              </a:rPr>
              <a:t>from </a:t>
            </a:r>
            <a:r>
              <a:rPr lang="en-US" altLang="zh-TW" sz="1800" dirty="0" err="1">
                <a:solidFill>
                  <a:srgbClr val="BCBEC4"/>
                </a:solidFill>
                <a:effectLst/>
                <a:latin typeface="JetBrains Mono"/>
              </a:rPr>
              <a:t>torch.utils.data</a:t>
            </a:r>
            <a:r>
              <a:rPr lang="en-US" altLang="zh-TW" sz="1800" dirty="0">
                <a:solidFill>
                  <a:srgbClr val="BCBEC4"/>
                </a:solidFill>
                <a:effectLst/>
                <a:latin typeface="JetBrains Mono"/>
              </a:rPr>
              <a:t> </a:t>
            </a:r>
            <a:r>
              <a:rPr lang="en-US" altLang="zh-TW" sz="1800" dirty="0">
                <a:solidFill>
                  <a:srgbClr val="CF8E6D"/>
                </a:solidFill>
                <a:effectLst/>
                <a:latin typeface="JetBrains Mono"/>
              </a:rPr>
              <a:t>import </a:t>
            </a:r>
            <a:r>
              <a:rPr lang="en-US" altLang="zh-TW" sz="1800" dirty="0" err="1">
                <a:solidFill>
                  <a:srgbClr val="BCBEC4"/>
                </a:solidFill>
                <a:effectLst/>
                <a:latin typeface="JetBrains Mono"/>
              </a:rPr>
              <a:t>DataLoader</a:t>
            </a:r>
            <a:br>
              <a:rPr lang="en-US" altLang="zh-TW" sz="1800" dirty="0">
                <a:solidFill>
                  <a:srgbClr val="BCBEC4"/>
                </a:solidFill>
                <a:effectLst/>
                <a:latin typeface="JetBrains Mono"/>
              </a:rPr>
            </a:br>
            <a:r>
              <a:rPr lang="en-US" altLang="zh-TW" sz="1800" dirty="0">
                <a:solidFill>
                  <a:srgbClr val="CF8E6D"/>
                </a:solidFill>
                <a:effectLst/>
                <a:latin typeface="JetBrains Mono"/>
              </a:rPr>
              <a:t>from </a:t>
            </a:r>
            <a:r>
              <a:rPr lang="en-US" altLang="zh-TW" sz="1800" dirty="0" err="1">
                <a:solidFill>
                  <a:srgbClr val="BCBEC4"/>
                </a:solidFill>
                <a:effectLst/>
                <a:latin typeface="JetBrains Mono"/>
              </a:rPr>
              <a:t>torchvision</a:t>
            </a:r>
            <a:r>
              <a:rPr lang="en-US" altLang="zh-TW" sz="1800" dirty="0">
                <a:solidFill>
                  <a:srgbClr val="BCBEC4"/>
                </a:solidFill>
                <a:effectLst/>
                <a:latin typeface="JetBrains Mono"/>
              </a:rPr>
              <a:t> </a:t>
            </a:r>
            <a:r>
              <a:rPr lang="en-US" altLang="zh-TW" sz="1800" dirty="0">
                <a:solidFill>
                  <a:srgbClr val="CF8E6D"/>
                </a:solidFill>
                <a:effectLst/>
                <a:latin typeface="JetBrains Mono"/>
              </a:rPr>
              <a:t>import </a:t>
            </a:r>
            <a:r>
              <a:rPr lang="en-US" altLang="zh-TW" sz="1800" dirty="0">
                <a:solidFill>
                  <a:srgbClr val="BCBEC4"/>
                </a:solidFill>
                <a:effectLst/>
                <a:latin typeface="JetBrains Mono"/>
              </a:rPr>
              <a:t>datasets</a:t>
            </a:r>
            <a:br>
              <a:rPr lang="en-US" altLang="zh-TW" sz="1800" dirty="0">
                <a:solidFill>
                  <a:srgbClr val="BCBEC4"/>
                </a:solidFill>
                <a:effectLst/>
                <a:latin typeface="JetBrains Mono"/>
              </a:rPr>
            </a:br>
            <a:r>
              <a:rPr lang="en-US" altLang="zh-TW" sz="1800" dirty="0">
                <a:solidFill>
                  <a:srgbClr val="CF8E6D"/>
                </a:solidFill>
                <a:effectLst/>
                <a:latin typeface="JetBrains Mono"/>
              </a:rPr>
              <a:t>from </a:t>
            </a:r>
            <a:r>
              <a:rPr lang="en-US" altLang="zh-TW" sz="1800" dirty="0" err="1">
                <a:solidFill>
                  <a:srgbClr val="BCBEC4"/>
                </a:solidFill>
                <a:effectLst/>
                <a:latin typeface="JetBrains Mono"/>
              </a:rPr>
              <a:t>torchvision.transforms</a:t>
            </a:r>
            <a:r>
              <a:rPr lang="en-US" altLang="zh-TW" sz="1800" dirty="0">
                <a:solidFill>
                  <a:srgbClr val="BCBEC4"/>
                </a:solidFill>
                <a:effectLst/>
                <a:latin typeface="JetBrains Mono"/>
              </a:rPr>
              <a:t> </a:t>
            </a:r>
            <a:r>
              <a:rPr lang="en-US" altLang="zh-TW" sz="1800" dirty="0">
                <a:solidFill>
                  <a:srgbClr val="CF8E6D"/>
                </a:solidFill>
                <a:effectLst/>
                <a:latin typeface="JetBrains Mono"/>
              </a:rPr>
              <a:t>import </a:t>
            </a:r>
            <a:r>
              <a:rPr lang="en-US" altLang="zh-TW" sz="1800" dirty="0" err="1">
                <a:solidFill>
                  <a:srgbClr val="BCBEC4"/>
                </a:solidFill>
                <a:effectLst/>
                <a:latin typeface="JetBrains Mono"/>
              </a:rPr>
              <a:t>ToTensor</a:t>
            </a:r>
            <a:br>
              <a:rPr lang="en-US" altLang="zh-TW" sz="1800" dirty="0">
                <a:solidFill>
                  <a:srgbClr val="BCBEC4"/>
                </a:solidFill>
                <a:effectLst/>
                <a:latin typeface="JetBrains Mono"/>
              </a:rPr>
            </a:br>
            <a:r>
              <a:rPr lang="en-US" altLang="zh-TW" sz="1800" dirty="0">
                <a:solidFill>
                  <a:srgbClr val="CF8E6D"/>
                </a:solidFill>
                <a:effectLst/>
                <a:latin typeface="JetBrains Mono"/>
              </a:rPr>
              <a:t>import </a:t>
            </a:r>
            <a:r>
              <a:rPr lang="en-US" altLang="zh-TW" sz="1800" dirty="0">
                <a:solidFill>
                  <a:srgbClr val="BCBEC4"/>
                </a:solidFill>
                <a:effectLst/>
                <a:latin typeface="JetBrains Mono"/>
              </a:rPr>
              <a:t>time</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7A7E85"/>
                </a:solidFill>
                <a:effectLst/>
                <a:latin typeface="JetBrains Mono"/>
              </a:rPr>
              <a:t># Download training data from open datasets.</a:t>
            </a:r>
            <a:br>
              <a:rPr lang="en-US" altLang="zh-TW" sz="1800" dirty="0">
                <a:solidFill>
                  <a:srgbClr val="7A7E85"/>
                </a:solidFill>
                <a:effectLst/>
                <a:latin typeface="JetBrains Mono"/>
              </a:rPr>
            </a:br>
            <a:r>
              <a:rPr lang="en-US" altLang="zh-TW" sz="1800" dirty="0" err="1">
                <a:solidFill>
                  <a:srgbClr val="BCBEC4"/>
                </a:solidFill>
                <a:effectLst/>
                <a:latin typeface="JetBrains Mono"/>
              </a:rPr>
              <a:t>training_data</a:t>
            </a:r>
            <a:r>
              <a:rPr lang="en-US" altLang="zh-TW" sz="1800" dirty="0">
                <a:solidFill>
                  <a:srgbClr val="BCBEC4"/>
                </a:solidFill>
                <a:effectLst/>
                <a:latin typeface="JetBrains Mono"/>
              </a:rPr>
              <a:t> = </a:t>
            </a:r>
            <a:r>
              <a:rPr lang="en-US" altLang="zh-TW" sz="1800" dirty="0" err="1">
                <a:solidFill>
                  <a:srgbClr val="BCBEC4"/>
                </a:solidFill>
                <a:effectLst/>
                <a:latin typeface="JetBrains Mono"/>
              </a:rPr>
              <a:t>datasets.FashionMNIST</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AA4926"/>
                </a:solidFill>
                <a:effectLst/>
                <a:latin typeface="JetBrains Mono"/>
              </a:rPr>
              <a:t>root</a:t>
            </a:r>
            <a:r>
              <a:rPr lang="en-US" altLang="zh-TW" sz="1800" dirty="0">
                <a:solidFill>
                  <a:srgbClr val="BCBEC4"/>
                </a:solidFill>
                <a:effectLst/>
                <a:latin typeface="JetBrains Mono"/>
              </a:rPr>
              <a:t>=</a:t>
            </a:r>
            <a:r>
              <a:rPr lang="en-US" altLang="zh-TW" sz="1800" dirty="0">
                <a:solidFill>
                  <a:srgbClr val="6AAB73"/>
                </a:solidFill>
                <a:effectLst/>
                <a:latin typeface="JetBrains Mono"/>
              </a:rPr>
              <a:t>"data"</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AA4926"/>
                </a:solidFill>
                <a:effectLst/>
                <a:latin typeface="JetBrains Mono"/>
              </a:rPr>
              <a:t>train</a:t>
            </a:r>
            <a:r>
              <a:rPr lang="en-US" altLang="zh-TW" sz="1800" dirty="0">
                <a:solidFill>
                  <a:srgbClr val="BCBEC4"/>
                </a:solidFill>
                <a:effectLst/>
                <a:latin typeface="JetBrains Mono"/>
              </a:rPr>
              <a:t>=</a:t>
            </a:r>
            <a:r>
              <a:rPr lang="en-US" altLang="zh-TW" sz="1800" dirty="0">
                <a:solidFill>
                  <a:srgbClr val="CF8E6D"/>
                </a:solidFill>
                <a:effectLst/>
                <a:latin typeface="JetBrains Mono"/>
              </a:rPr>
              <a:t>True</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AA4926"/>
                </a:solidFill>
                <a:effectLst/>
                <a:latin typeface="JetBrains Mono"/>
              </a:rPr>
              <a:t>download</a:t>
            </a:r>
            <a:r>
              <a:rPr lang="en-US" altLang="zh-TW" sz="1800" dirty="0">
                <a:solidFill>
                  <a:srgbClr val="BCBEC4"/>
                </a:solidFill>
                <a:effectLst/>
                <a:latin typeface="JetBrains Mono"/>
              </a:rPr>
              <a:t>=</a:t>
            </a:r>
            <a:r>
              <a:rPr lang="en-US" altLang="zh-TW" sz="1800" dirty="0">
                <a:solidFill>
                  <a:srgbClr val="CF8E6D"/>
                </a:solidFill>
                <a:effectLst/>
                <a:latin typeface="JetBrains Mono"/>
              </a:rPr>
              <a:t>True</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AA4926"/>
                </a:solidFill>
                <a:effectLst/>
                <a:latin typeface="JetBrains Mono"/>
              </a:rPr>
              <a:t>transform</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ToTensor</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7A7E85"/>
                </a:solidFill>
                <a:effectLst/>
                <a:latin typeface="JetBrains Mono"/>
              </a:rPr>
              <a:t># Download test data from open datasets.</a:t>
            </a:r>
            <a:br>
              <a:rPr lang="en-US" altLang="zh-TW" sz="1800" dirty="0">
                <a:solidFill>
                  <a:srgbClr val="7A7E85"/>
                </a:solidFill>
                <a:effectLst/>
                <a:latin typeface="JetBrains Mono"/>
              </a:rPr>
            </a:br>
            <a:r>
              <a:rPr lang="en-US" altLang="zh-TW" sz="1800" dirty="0" err="1">
                <a:solidFill>
                  <a:srgbClr val="BCBEC4"/>
                </a:solidFill>
                <a:effectLst/>
                <a:latin typeface="JetBrains Mono"/>
              </a:rPr>
              <a:t>test_data</a:t>
            </a:r>
            <a:r>
              <a:rPr lang="en-US" altLang="zh-TW" sz="1800" dirty="0">
                <a:solidFill>
                  <a:srgbClr val="BCBEC4"/>
                </a:solidFill>
                <a:effectLst/>
                <a:latin typeface="JetBrains Mono"/>
              </a:rPr>
              <a:t> = </a:t>
            </a:r>
            <a:r>
              <a:rPr lang="en-US" altLang="zh-TW" sz="1800" dirty="0" err="1">
                <a:solidFill>
                  <a:srgbClr val="BCBEC4"/>
                </a:solidFill>
                <a:effectLst/>
                <a:latin typeface="JetBrains Mono"/>
              </a:rPr>
              <a:t>datasets.FashionMNIST</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AA4926"/>
                </a:solidFill>
                <a:effectLst/>
                <a:latin typeface="JetBrains Mono"/>
              </a:rPr>
              <a:t>root</a:t>
            </a:r>
            <a:r>
              <a:rPr lang="en-US" altLang="zh-TW" sz="1800" dirty="0">
                <a:solidFill>
                  <a:srgbClr val="BCBEC4"/>
                </a:solidFill>
                <a:effectLst/>
                <a:latin typeface="JetBrains Mono"/>
              </a:rPr>
              <a:t>=</a:t>
            </a:r>
            <a:r>
              <a:rPr lang="en-US" altLang="zh-TW" sz="1800" dirty="0">
                <a:solidFill>
                  <a:srgbClr val="6AAB73"/>
                </a:solidFill>
                <a:effectLst/>
                <a:latin typeface="JetBrains Mono"/>
              </a:rPr>
              <a:t>"data"</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AA4926"/>
                </a:solidFill>
                <a:effectLst/>
                <a:latin typeface="JetBrains Mono"/>
              </a:rPr>
              <a:t>train</a:t>
            </a:r>
            <a:r>
              <a:rPr lang="en-US" altLang="zh-TW" sz="1800" dirty="0">
                <a:solidFill>
                  <a:srgbClr val="BCBEC4"/>
                </a:solidFill>
                <a:effectLst/>
                <a:latin typeface="JetBrains Mono"/>
              </a:rPr>
              <a:t>=</a:t>
            </a:r>
            <a:r>
              <a:rPr lang="en-US" altLang="zh-TW" sz="1800" dirty="0">
                <a:solidFill>
                  <a:srgbClr val="CF8E6D"/>
                </a:solidFill>
                <a:effectLst/>
                <a:latin typeface="JetBrains Mono"/>
              </a:rPr>
              <a:t>False</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AA4926"/>
                </a:solidFill>
                <a:effectLst/>
                <a:latin typeface="JetBrains Mono"/>
              </a:rPr>
              <a:t>download</a:t>
            </a:r>
            <a:r>
              <a:rPr lang="en-US" altLang="zh-TW" sz="1800" dirty="0">
                <a:solidFill>
                  <a:srgbClr val="BCBEC4"/>
                </a:solidFill>
                <a:effectLst/>
                <a:latin typeface="JetBrains Mono"/>
              </a:rPr>
              <a:t>=</a:t>
            </a:r>
            <a:r>
              <a:rPr lang="en-US" altLang="zh-TW" sz="1800" dirty="0">
                <a:solidFill>
                  <a:srgbClr val="CF8E6D"/>
                </a:solidFill>
                <a:effectLst/>
                <a:latin typeface="JetBrains Mono"/>
              </a:rPr>
              <a:t>True</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AA4926"/>
                </a:solidFill>
                <a:effectLst/>
                <a:latin typeface="JetBrains Mono"/>
              </a:rPr>
              <a:t>transform</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ToTensor</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err="1">
                <a:solidFill>
                  <a:srgbClr val="BCBEC4"/>
                </a:solidFill>
                <a:effectLst/>
                <a:latin typeface="JetBrains Mono"/>
              </a:rPr>
              <a:t>batch_size</a:t>
            </a:r>
            <a:r>
              <a:rPr lang="en-US" altLang="zh-TW" sz="1800" dirty="0">
                <a:solidFill>
                  <a:srgbClr val="BCBEC4"/>
                </a:solidFill>
                <a:effectLst/>
                <a:latin typeface="JetBrains Mono"/>
              </a:rPr>
              <a:t> = </a:t>
            </a:r>
            <a:r>
              <a:rPr lang="en-US" altLang="zh-TW" sz="1800" dirty="0">
                <a:solidFill>
                  <a:srgbClr val="2AACB8"/>
                </a:solidFill>
                <a:effectLst/>
                <a:latin typeface="JetBrains Mono"/>
              </a:rPr>
              <a:t>64</a:t>
            </a:r>
            <a:br>
              <a:rPr lang="en-US" altLang="zh-TW" sz="1800" dirty="0">
                <a:solidFill>
                  <a:srgbClr val="2AACB8"/>
                </a:solidFill>
                <a:effectLst/>
                <a:latin typeface="JetBrains Mono"/>
              </a:rPr>
            </a:br>
            <a:br>
              <a:rPr lang="en-US" altLang="zh-TW" sz="1800" dirty="0">
                <a:solidFill>
                  <a:srgbClr val="2AACB8"/>
                </a:solidFill>
                <a:effectLst/>
                <a:latin typeface="JetBrains Mono"/>
              </a:rPr>
            </a:br>
            <a:r>
              <a:rPr lang="en-US" altLang="zh-TW" sz="1800" dirty="0">
                <a:solidFill>
                  <a:srgbClr val="7A7E85"/>
                </a:solidFill>
                <a:effectLst/>
                <a:latin typeface="JetBrains Mono"/>
              </a:rPr>
              <a:t># Create data loaders.</a:t>
            </a:r>
            <a:br>
              <a:rPr lang="en-US" altLang="zh-TW" sz="1800" dirty="0">
                <a:solidFill>
                  <a:srgbClr val="7A7E85"/>
                </a:solidFill>
                <a:effectLst/>
                <a:latin typeface="JetBrains Mono"/>
              </a:rPr>
            </a:br>
            <a:r>
              <a:rPr lang="en-US" altLang="zh-TW" sz="1800" dirty="0" err="1">
                <a:solidFill>
                  <a:srgbClr val="BCBEC4"/>
                </a:solidFill>
                <a:effectLst/>
                <a:latin typeface="JetBrains Mono"/>
              </a:rPr>
              <a:t>train_dataloader</a:t>
            </a:r>
            <a:r>
              <a:rPr lang="en-US" altLang="zh-TW" sz="1800" dirty="0">
                <a:solidFill>
                  <a:srgbClr val="BCBEC4"/>
                </a:solidFill>
                <a:effectLst/>
                <a:latin typeface="JetBrains Mono"/>
              </a:rPr>
              <a:t> = </a:t>
            </a:r>
            <a:r>
              <a:rPr lang="en-US" altLang="zh-TW" sz="1800" dirty="0" err="1">
                <a:solidFill>
                  <a:srgbClr val="BCBEC4"/>
                </a:solidFill>
                <a:effectLst/>
                <a:latin typeface="JetBrains Mono"/>
              </a:rPr>
              <a:t>DataLoader</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training_data</a:t>
            </a:r>
            <a:r>
              <a:rPr lang="en-US" altLang="zh-TW" sz="1800" dirty="0">
                <a:solidFill>
                  <a:srgbClr val="BCBEC4"/>
                </a:solidFill>
                <a:effectLst/>
                <a:latin typeface="JetBrains Mono"/>
              </a:rPr>
              <a:t>, </a:t>
            </a:r>
            <a:r>
              <a:rPr lang="en-US" altLang="zh-TW" sz="1800" dirty="0" err="1">
                <a:solidFill>
                  <a:srgbClr val="AA4926"/>
                </a:solidFill>
                <a:effectLst/>
                <a:latin typeface="JetBrains Mono"/>
              </a:rPr>
              <a:t>batch_size</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batch_size</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err="1">
                <a:solidFill>
                  <a:srgbClr val="BCBEC4"/>
                </a:solidFill>
                <a:effectLst/>
                <a:latin typeface="JetBrains Mono"/>
              </a:rPr>
              <a:t>test_dataloader</a:t>
            </a:r>
            <a:r>
              <a:rPr lang="en-US" altLang="zh-TW" sz="1800" dirty="0">
                <a:solidFill>
                  <a:srgbClr val="BCBEC4"/>
                </a:solidFill>
                <a:effectLst/>
                <a:latin typeface="JetBrains Mono"/>
              </a:rPr>
              <a:t> = </a:t>
            </a:r>
            <a:r>
              <a:rPr lang="en-US" altLang="zh-TW" sz="1800" dirty="0" err="1">
                <a:solidFill>
                  <a:srgbClr val="BCBEC4"/>
                </a:solidFill>
                <a:effectLst/>
                <a:latin typeface="JetBrains Mono"/>
              </a:rPr>
              <a:t>DataLoader</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test_data</a:t>
            </a:r>
            <a:r>
              <a:rPr lang="en-US" altLang="zh-TW" sz="1800" dirty="0">
                <a:solidFill>
                  <a:srgbClr val="BCBEC4"/>
                </a:solidFill>
                <a:effectLst/>
                <a:latin typeface="JetBrains Mono"/>
              </a:rPr>
              <a:t>, </a:t>
            </a:r>
            <a:r>
              <a:rPr lang="en-US" altLang="zh-TW" sz="1800" dirty="0" err="1">
                <a:solidFill>
                  <a:srgbClr val="AA4926"/>
                </a:solidFill>
                <a:effectLst/>
                <a:latin typeface="JetBrains Mono"/>
              </a:rPr>
              <a:t>batch_size</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batch_size</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CF8E6D"/>
                </a:solidFill>
                <a:effectLst/>
                <a:latin typeface="JetBrains Mono"/>
              </a:rPr>
              <a:t>for </a:t>
            </a:r>
            <a:r>
              <a:rPr lang="en-US" altLang="zh-TW" sz="1800" dirty="0">
                <a:solidFill>
                  <a:srgbClr val="BCBEC4"/>
                </a:solidFill>
                <a:effectLst/>
                <a:latin typeface="JetBrains Mono"/>
              </a:rPr>
              <a:t>X, y </a:t>
            </a:r>
            <a:r>
              <a:rPr lang="en-US" altLang="zh-TW" sz="1800" dirty="0">
                <a:solidFill>
                  <a:srgbClr val="CF8E6D"/>
                </a:solidFill>
                <a:effectLst/>
                <a:latin typeface="JetBrains Mono"/>
              </a:rPr>
              <a:t>in </a:t>
            </a:r>
            <a:r>
              <a:rPr lang="en-US" altLang="zh-TW" sz="1800" dirty="0" err="1">
                <a:solidFill>
                  <a:srgbClr val="BCBEC4"/>
                </a:solidFill>
                <a:effectLst/>
                <a:latin typeface="JetBrains Mono"/>
              </a:rPr>
              <a:t>test_dataloader</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8888C6"/>
                </a:solidFill>
                <a:effectLst/>
                <a:latin typeface="JetBrains Mono"/>
              </a:rPr>
              <a:t>print</a:t>
            </a:r>
            <a:r>
              <a:rPr lang="en-US" altLang="zh-TW" sz="1800" dirty="0">
                <a:solidFill>
                  <a:srgbClr val="BCBEC4"/>
                </a:solidFill>
                <a:effectLst/>
                <a:latin typeface="JetBrains Mono"/>
              </a:rPr>
              <a:t>(</a:t>
            </a:r>
            <a:r>
              <a:rPr lang="en-US" altLang="zh-TW" sz="1800" dirty="0" err="1">
                <a:solidFill>
                  <a:srgbClr val="6AAB73"/>
                </a:solidFill>
                <a:effectLst/>
                <a:latin typeface="JetBrains Mono"/>
              </a:rPr>
              <a:t>f"Shape</a:t>
            </a:r>
            <a:r>
              <a:rPr lang="en-US" altLang="zh-TW" sz="1800" dirty="0">
                <a:solidFill>
                  <a:srgbClr val="6AAB73"/>
                </a:solidFill>
                <a:effectLst/>
                <a:latin typeface="JetBrains Mono"/>
              </a:rPr>
              <a:t> of X [N, C, H, W]: </a:t>
            </a:r>
            <a:r>
              <a:rPr lang="en-US" altLang="zh-TW" sz="1800" dirty="0">
                <a:solidFill>
                  <a:srgbClr val="CF8E6D"/>
                </a:solidFill>
                <a:effectLst/>
                <a:latin typeface="JetBrains Mono"/>
              </a:rPr>
              <a:t>{</a:t>
            </a:r>
            <a:r>
              <a:rPr lang="en-US" altLang="zh-TW" sz="1800" dirty="0" err="1">
                <a:solidFill>
                  <a:srgbClr val="BCBEC4"/>
                </a:solidFill>
                <a:effectLst/>
                <a:latin typeface="JetBrains Mono"/>
              </a:rPr>
              <a:t>X.shape</a:t>
            </a:r>
            <a:r>
              <a:rPr lang="en-US" altLang="zh-TW" sz="1800" dirty="0">
                <a:solidFill>
                  <a:srgbClr val="CF8E6D"/>
                </a:solidFill>
                <a:effectLst/>
                <a:latin typeface="JetBrains Mono"/>
              </a:rPr>
              <a:t>}</a:t>
            </a:r>
            <a:r>
              <a:rPr lang="en-US" altLang="zh-TW" sz="1800" dirty="0">
                <a:solidFill>
                  <a:srgbClr val="6AAB73"/>
                </a:solidFill>
                <a:effectLst/>
                <a:latin typeface="JetBrains Mono"/>
              </a:rPr>
              <a:t>"</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8888C6"/>
                </a:solidFill>
                <a:effectLst/>
                <a:latin typeface="JetBrains Mono"/>
              </a:rPr>
              <a:t>print</a:t>
            </a:r>
            <a:r>
              <a:rPr lang="en-US" altLang="zh-TW" sz="1800" dirty="0">
                <a:solidFill>
                  <a:srgbClr val="BCBEC4"/>
                </a:solidFill>
                <a:effectLst/>
                <a:latin typeface="JetBrains Mono"/>
              </a:rPr>
              <a:t>(</a:t>
            </a:r>
            <a:r>
              <a:rPr lang="en-US" altLang="zh-TW" sz="1800" dirty="0" err="1">
                <a:solidFill>
                  <a:srgbClr val="6AAB73"/>
                </a:solidFill>
                <a:effectLst/>
                <a:latin typeface="JetBrains Mono"/>
              </a:rPr>
              <a:t>f"Shape</a:t>
            </a:r>
            <a:r>
              <a:rPr lang="en-US" altLang="zh-TW" sz="1800" dirty="0">
                <a:solidFill>
                  <a:srgbClr val="6AAB73"/>
                </a:solidFill>
                <a:effectLst/>
                <a:latin typeface="JetBrains Mono"/>
              </a:rPr>
              <a:t> of y: </a:t>
            </a:r>
            <a:r>
              <a:rPr lang="en-US" altLang="zh-TW" sz="1800" dirty="0">
                <a:solidFill>
                  <a:srgbClr val="CF8E6D"/>
                </a:solidFill>
                <a:effectLst/>
                <a:latin typeface="JetBrains Mono"/>
              </a:rPr>
              <a:t>{</a:t>
            </a:r>
            <a:r>
              <a:rPr lang="en-US" altLang="zh-TW" sz="1800" dirty="0" err="1">
                <a:solidFill>
                  <a:srgbClr val="BCBEC4"/>
                </a:solidFill>
                <a:effectLst/>
                <a:latin typeface="JetBrains Mono"/>
              </a:rPr>
              <a:t>y.shape</a:t>
            </a:r>
            <a:r>
              <a:rPr lang="en-US" altLang="zh-TW" sz="1800" dirty="0">
                <a:solidFill>
                  <a:srgbClr val="CF8E6D"/>
                </a:solidFill>
                <a:effectLst/>
                <a:latin typeface="JetBrains Mono"/>
              </a:rPr>
              <a:t>} {</a:t>
            </a:r>
            <a:r>
              <a:rPr lang="en-US" altLang="zh-TW" sz="1800" dirty="0" err="1">
                <a:solidFill>
                  <a:srgbClr val="BCBEC4"/>
                </a:solidFill>
                <a:effectLst/>
                <a:latin typeface="JetBrains Mono"/>
              </a:rPr>
              <a:t>y.dtype</a:t>
            </a:r>
            <a:r>
              <a:rPr lang="en-US" altLang="zh-TW" sz="1800" dirty="0">
                <a:solidFill>
                  <a:srgbClr val="CF8E6D"/>
                </a:solidFill>
                <a:effectLst/>
                <a:latin typeface="JetBrains Mono"/>
              </a:rPr>
              <a:t>}</a:t>
            </a:r>
            <a:r>
              <a:rPr lang="en-US" altLang="zh-TW" sz="1800" dirty="0">
                <a:solidFill>
                  <a:srgbClr val="6AAB73"/>
                </a:solidFill>
                <a:effectLst/>
                <a:latin typeface="JetBrains Mono"/>
              </a:rPr>
              <a:t>"</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CF8E6D"/>
                </a:solidFill>
                <a:effectLst/>
                <a:latin typeface="JetBrains Mono"/>
              </a:rPr>
              <a:t>break</a:t>
            </a:r>
            <a:br>
              <a:rPr lang="en-US" altLang="zh-TW" sz="1800" dirty="0">
                <a:solidFill>
                  <a:srgbClr val="CF8E6D"/>
                </a:solidFill>
                <a:effectLst/>
                <a:latin typeface="JetBrains Mono"/>
              </a:rPr>
            </a:br>
            <a:br>
              <a:rPr lang="en-US" altLang="zh-TW" sz="1800" dirty="0">
                <a:solidFill>
                  <a:srgbClr val="CF8E6D"/>
                </a:solidFill>
                <a:effectLst/>
                <a:latin typeface="JetBrains Mono"/>
              </a:rPr>
            </a:br>
            <a:r>
              <a:rPr lang="en-US" altLang="zh-TW" sz="1800" dirty="0">
                <a:solidFill>
                  <a:srgbClr val="7A7E85"/>
                </a:solidFill>
                <a:effectLst/>
                <a:latin typeface="JetBrains Mono"/>
              </a:rPr>
              <a:t>#device = </a:t>
            </a:r>
            <a:r>
              <a:rPr lang="en-US" altLang="zh-TW" sz="1800" dirty="0" err="1">
                <a:solidFill>
                  <a:srgbClr val="7A7E85"/>
                </a:solidFill>
                <a:effectLst/>
                <a:latin typeface="JetBrains Mono"/>
              </a:rPr>
              <a:t>torch.accelerator.current_accelerator</a:t>
            </a:r>
            <a:r>
              <a:rPr lang="en-US" altLang="zh-TW" sz="1800" dirty="0">
                <a:solidFill>
                  <a:srgbClr val="7A7E85"/>
                </a:solidFill>
                <a:effectLst/>
                <a:latin typeface="JetBrains Mono"/>
              </a:rPr>
              <a:t>().type if </a:t>
            </a:r>
            <a:r>
              <a:rPr lang="en-US" altLang="zh-TW" sz="1800" dirty="0" err="1">
                <a:solidFill>
                  <a:srgbClr val="7A7E85"/>
                </a:solidFill>
                <a:effectLst/>
                <a:latin typeface="JetBrains Mono"/>
              </a:rPr>
              <a:t>torch.accelerator.is_available</a:t>
            </a:r>
            <a:r>
              <a:rPr lang="en-US" altLang="zh-TW" sz="1800" dirty="0">
                <a:solidFill>
                  <a:srgbClr val="7A7E85"/>
                </a:solidFill>
                <a:effectLst/>
                <a:latin typeface="JetBrains Mono"/>
              </a:rPr>
              <a:t>() else "</a:t>
            </a:r>
            <a:r>
              <a:rPr lang="en-US" altLang="zh-TW" sz="1800" dirty="0" err="1">
                <a:solidFill>
                  <a:srgbClr val="7A7E85"/>
                </a:solidFill>
                <a:effectLst/>
                <a:latin typeface="JetBrains Mono"/>
              </a:rPr>
              <a:t>cpu</a:t>
            </a:r>
            <a:r>
              <a:rPr lang="en-US" altLang="zh-TW" sz="1800" dirty="0">
                <a:solidFill>
                  <a:srgbClr val="7A7E85"/>
                </a:solidFill>
                <a:effectLst/>
                <a:latin typeface="JetBrains Mono"/>
              </a:rPr>
              <a:t>"</a:t>
            </a:r>
            <a:br>
              <a:rPr lang="en-US" altLang="zh-TW" sz="1800" dirty="0">
                <a:solidFill>
                  <a:srgbClr val="7A7E85"/>
                </a:solidFill>
                <a:effectLst/>
                <a:latin typeface="JetBrains Mono"/>
              </a:rPr>
            </a:br>
            <a:r>
              <a:rPr lang="en-US" altLang="zh-TW" sz="1800" dirty="0">
                <a:solidFill>
                  <a:srgbClr val="BCBEC4"/>
                </a:solidFill>
                <a:effectLst/>
                <a:latin typeface="JetBrains Mono"/>
              </a:rPr>
              <a:t>device = </a:t>
            </a:r>
            <a:r>
              <a:rPr lang="en-US" altLang="zh-TW" sz="1800" dirty="0" err="1">
                <a:solidFill>
                  <a:srgbClr val="BCBEC4"/>
                </a:solidFill>
                <a:effectLst/>
                <a:latin typeface="JetBrains Mono"/>
              </a:rPr>
              <a:t>torch.device</a:t>
            </a:r>
            <a:r>
              <a:rPr lang="en-US" altLang="zh-TW" sz="1800" dirty="0">
                <a:solidFill>
                  <a:srgbClr val="BCBEC4"/>
                </a:solidFill>
                <a:effectLst/>
                <a:latin typeface="JetBrains Mono"/>
              </a:rPr>
              <a:t>(</a:t>
            </a:r>
            <a:r>
              <a:rPr lang="en-US" altLang="zh-TW" sz="1800" dirty="0">
                <a:solidFill>
                  <a:srgbClr val="6AAB73"/>
                </a:solidFill>
                <a:effectLst/>
                <a:latin typeface="JetBrains Mono"/>
              </a:rPr>
              <a:t>"</a:t>
            </a:r>
            <a:r>
              <a:rPr lang="en-US" altLang="zh-TW" sz="1800" dirty="0" err="1">
                <a:solidFill>
                  <a:srgbClr val="6AAB73"/>
                </a:solidFill>
                <a:effectLst/>
                <a:latin typeface="JetBrains Mono"/>
              </a:rPr>
              <a:t>cuda</a:t>
            </a:r>
            <a:r>
              <a:rPr lang="en-US" altLang="zh-TW" sz="1800" dirty="0">
                <a:solidFill>
                  <a:srgbClr val="6AAB73"/>
                </a:solidFill>
                <a:effectLst/>
                <a:latin typeface="JetBrains Mono"/>
              </a:rPr>
              <a:t>" </a:t>
            </a:r>
            <a:r>
              <a:rPr lang="en-US" altLang="zh-TW" sz="1800" dirty="0">
                <a:solidFill>
                  <a:srgbClr val="CF8E6D"/>
                </a:solidFill>
                <a:effectLst/>
                <a:latin typeface="JetBrains Mono"/>
              </a:rPr>
              <a:t>if </a:t>
            </a:r>
            <a:r>
              <a:rPr lang="en-US" altLang="zh-TW" sz="1800" dirty="0" err="1">
                <a:solidFill>
                  <a:srgbClr val="BCBEC4"/>
                </a:solidFill>
                <a:effectLst/>
                <a:latin typeface="JetBrains Mono"/>
              </a:rPr>
              <a:t>torch.cuda.is_available</a:t>
            </a:r>
            <a:r>
              <a:rPr lang="en-US" altLang="zh-TW" sz="1800" dirty="0">
                <a:solidFill>
                  <a:srgbClr val="BCBEC4"/>
                </a:solidFill>
                <a:effectLst/>
                <a:latin typeface="JetBrains Mono"/>
              </a:rPr>
              <a:t>() </a:t>
            </a:r>
            <a:r>
              <a:rPr lang="en-US" altLang="zh-TW" sz="1800" dirty="0">
                <a:solidFill>
                  <a:srgbClr val="CF8E6D"/>
                </a:solidFill>
                <a:effectLst/>
                <a:latin typeface="JetBrains Mono"/>
              </a:rPr>
              <a:t>else </a:t>
            </a:r>
            <a:r>
              <a:rPr lang="en-US" altLang="zh-TW" sz="1800" dirty="0">
                <a:solidFill>
                  <a:srgbClr val="6AAB73"/>
                </a:solidFill>
                <a:effectLst/>
                <a:latin typeface="JetBrains Mono"/>
              </a:rPr>
              <a:t>"</a:t>
            </a:r>
            <a:r>
              <a:rPr lang="en-US" altLang="zh-TW" sz="1800" dirty="0" err="1">
                <a:solidFill>
                  <a:srgbClr val="6AAB73"/>
                </a:solidFill>
                <a:effectLst/>
                <a:latin typeface="JetBrains Mono"/>
              </a:rPr>
              <a:t>cpu</a:t>
            </a:r>
            <a:r>
              <a:rPr lang="en-US" altLang="zh-TW" sz="1800" dirty="0">
                <a:solidFill>
                  <a:srgbClr val="6AAB73"/>
                </a:solidFill>
                <a:effectLst/>
                <a:latin typeface="JetBrains Mono"/>
              </a:rPr>
              <a:t>"</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8888C6"/>
                </a:solidFill>
                <a:effectLst/>
                <a:latin typeface="JetBrains Mono"/>
              </a:rPr>
              <a:t>print</a:t>
            </a:r>
            <a:r>
              <a:rPr lang="en-US" altLang="zh-TW" sz="1800" dirty="0">
                <a:solidFill>
                  <a:srgbClr val="BCBEC4"/>
                </a:solidFill>
                <a:effectLst/>
                <a:latin typeface="JetBrains Mono"/>
              </a:rPr>
              <a:t>(</a:t>
            </a:r>
            <a:r>
              <a:rPr lang="en-US" altLang="zh-TW" sz="1800" dirty="0" err="1">
                <a:solidFill>
                  <a:srgbClr val="6AAB73"/>
                </a:solidFill>
                <a:effectLst/>
                <a:latin typeface="JetBrains Mono"/>
              </a:rPr>
              <a:t>f"Using</a:t>
            </a:r>
            <a:r>
              <a:rPr lang="en-US" altLang="zh-TW" sz="1800" dirty="0">
                <a:solidFill>
                  <a:srgbClr val="6AAB73"/>
                </a:solidFill>
                <a:effectLst/>
                <a:latin typeface="JetBrains Mono"/>
              </a:rPr>
              <a:t> </a:t>
            </a:r>
            <a:r>
              <a:rPr lang="en-US" altLang="zh-TW" sz="1800" dirty="0">
                <a:solidFill>
                  <a:srgbClr val="CF8E6D"/>
                </a:solidFill>
                <a:effectLst/>
                <a:latin typeface="JetBrains Mono"/>
              </a:rPr>
              <a:t>{</a:t>
            </a:r>
            <a:r>
              <a:rPr lang="en-US" altLang="zh-TW" sz="1800" dirty="0">
                <a:solidFill>
                  <a:srgbClr val="BCBEC4"/>
                </a:solidFill>
                <a:effectLst/>
                <a:latin typeface="JetBrains Mono"/>
              </a:rPr>
              <a:t>device</a:t>
            </a:r>
            <a:r>
              <a:rPr lang="en-US" altLang="zh-TW" sz="1800" dirty="0">
                <a:solidFill>
                  <a:srgbClr val="CF8E6D"/>
                </a:solidFill>
                <a:effectLst/>
                <a:latin typeface="JetBrains Mono"/>
              </a:rPr>
              <a:t>}</a:t>
            </a:r>
            <a:r>
              <a:rPr lang="en-US" altLang="zh-TW" sz="1800" dirty="0">
                <a:solidFill>
                  <a:srgbClr val="6AAB73"/>
                </a:solidFill>
                <a:effectLst/>
                <a:latin typeface="JetBrains Mono"/>
              </a:rPr>
              <a:t> device"</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br>
              <a:rPr lang="en-US" altLang="zh-TW" sz="1800" dirty="0">
                <a:solidFill>
                  <a:srgbClr val="BCBEC4"/>
                </a:solidFill>
                <a:effectLst/>
                <a:latin typeface="JetBrains Mono"/>
              </a:rPr>
            </a:b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7A7E85"/>
                </a:solidFill>
                <a:effectLst/>
                <a:latin typeface="JetBrains Mono"/>
              </a:rPr>
              <a:t># Define model</a:t>
            </a:r>
            <a:br>
              <a:rPr lang="en-US" altLang="zh-TW" sz="1800" dirty="0">
                <a:solidFill>
                  <a:srgbClr val="7A7E85"/>
                </a:solidFill>
                <a:effectLst/>
                <a:latin typeface="JetBrains Mono"/>
              </a:rPr>
            </a:br>
            <a:r>
              <a:rPr lang="en-US" altLang="zh-TW" sz="1800" dirty="0">
                <a:solidFill>
                  <a:srgbClr val="CF8E6D"/>
                </a:solidFill>
                <a:effectLst/>
                <a:latin typeface="JetBrains Mono"/>
              </a:rPr>
              <a:t>class </a:t>
            </a:r>
            <a:r>
              <a:rPr lang="en-US" altLang="zh-TW" sz="1800" dirty="0" err="1">
                <a:solidFill>
                  <a:srgbClr val="BCBEC4"/>
                </a:solidFill>
                <a:effectLst/>
                <a:latin typeface="JetBrains Mono"/>
              </a:rPr>
              <a:t>NeuralNetwork</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nn.Module</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CF8E6D"/>
                </a:solidFill>
                <a:effectLst/>
                <a:latin typeface="JetBrains Mono"/>
              </a:rPr>
              <a:t>def </a:t>
            </a:r>
            <a:r>
              <a:rPr lang="en-US" altLang="zh-TW" sz="1800" dirty="0">
                <a:solidFill>
                  <a:srgbClr val="B200B2"/>
                </a:solidFill>
                <a:effectLst/>
                <a:latin typeface="JetBrains Mono"/>
              </a:rPr>
              <a:t>__</a:t>
            </a:r>
            <a:r>
              <a:rPr lang="en-US" altLang="zh-TW" sz="1800" dirty="0" err="1">
                <a:solidFill>
                  <a:srgbClr val="B200B2"/>
                </a:solidFill>
                <a:effectLst/>
                <a:latin typeface="JetBrains Mono"/>
              </a:rPr>
              <a:t>init</a:t>
            </a:r>
            <a:r>
              <a:rPr lang="en-US" altLang="zh-TW" sz="1800" dirty="0">
                <a:solidFill>
                  <a:srgbClr val="B200B2"/>
                </a:solidFill>
                <a:effectLst/>
                <a:latin typeface="JetBrains Mono"/>
              </a:rPr>
              <a:t>__</a:t>
            </a:r>
            <a:r>
              <a:rPr lang="en-US" altLang="zh-TW" sz="1800" dirty="0">
                <a:solidFill>
                  <a:srgbClr val="BCBEC4"/>
                </a:solidFill>
                <a:effectLst/>
                <a:latin typeface="JetBrains Mono"/>
              </a:rPr>
              <a:t>(</a:t>
            </a:r>
            <a:r>
              <a:rPr lang="en-US" altLang="zh-TW" sz="1800" dirty="0">
                <a:solidFill>
                  <a:srgbClr val="94558D"/>
                </a:solidFill>
                <a:effectLst/>
                <a:latin typeface="JetBrains Mono"/>
              </a:rPr>
              <a:t>self</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8888C6"/>
                </a:solidFill>
                <a:effectLst/>
                <a:latin typeface="JetBrains Mono"/>
              </a:rPr>
              <a:t>super</a:t>
            </a:r>
            <a:r>
              <a:rPr lang="en-US" altLang="zh-TW" sz="1800" dirty="0">
                <a:solidFill>
                  <a:srgbClr val="BCBEC4"/>
                </a:solidFill>
                <a:effectLst/>
                <a:latin typeface="JetBrains Mono"/>
              </a:rPr>
              <a:t>().</a:t>
            </a:r>
            <a:r>
              <a:rPr lang="en-US" altLang="zh-TW" sz="1800" dirty="0">
                <a:solidFill>
                  <a:srgbClr val="B200B2"/>
                </a:solidFill>
                <a:effectLst/>
                <a:latin typeface="JetBrains Mono"/>
              </a:rPr>
              <a:t>__</a:t>
            </a:r>
            <a:r>
              <a:rPr lang="en-US" altLang="zh-TW" sz="1800" dirty="0" err="1">
                <a:solidFill>
                  <a:srgbClr val="B200B2"/>
                </a:solidFill>
                <a:effectLst/>
                <a:latin typeface="JetBrains Mono"/>
              </a:rPr>
              <a:t>init</a:t>
            </a:r>
            <a:r>
              <a:rPr lang="en-US" altLang="zh-TW" sz="1800" dirty="0">
                <a:solidFill>
                  <a:srgbClr val="B200B2"/>
                </a:solidFill>
                <a:effectLst/>
                <a:latin typeface="JetBrains Mono"/>
              </a:rPr>
              <a:t>__</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94558D"/>
                </a:solidFill>
                <a:effectLst/>
                <a:latin typeface="JetBrains Mono"/>
              </a:rPr>
              <a:t>self</a:t>
            </a:r>
            <a:r>
              <a:rPr lang="en-US" altLang="zh-TW" sz="1800" dirty="0" err="1">
                <a:solidFill>
                  <a:srgbClr val="BCBEC4"/>
                </a:solidFill>
                <a:effectLst/>
                <a:latin typeface="JetBrains Mono"/>
              </a:rPr>
              <a:t>.flatten</a:t>
            </a:r>
            <a:r>
              <a:rPr lang="en-US" altLang="zh-TW" sz="1800" dirty="0">
                <a:solidFill>
                  <a:srgbClr val="BCBEC4"/>
                </a:solidFill>
                <a:effectLst/>
                <a:latin typeface="JetBrains Mono"/>
              </a:rPr>
              <a:t> = </a:t>
            </a:r>
            <a:r>
              <a:rPr lang="en-US" altLang="zh-TW" sz="1800" dirty="0" err="1">
                <a:solidFill>
                  <a:srgbClr val="BCBEC4"/>
                </a:solidFill>
                <a:effectLst/>
                <a:latin typeface="JetBrains Mono"/>
              </a:rPr>
              <a:t>nn.Flatten</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94558D"/>
                </a:solidFill>
                <a:effectLst/>
                <a:latin typeface="JetBrains Mono"/>
              </a:rPr>
              <a:t>self</a:t>
            </a:r>
            <a:r>
              <a:rPr lang="en-US" altLang="zh-TW" sz="1800" dirty="0" err="1">
                <a:solidFill>
                  <a:srgbClr val="BCBEC4"/>
                </a:solidFill>
                <a:effectLst/>
                <a:latin typeface="JetBrains Mono"/>
              </a:rPr>
              <a:t>.linear_relu_stack</a:t>
            </a:r>
            <a:r>
              <a:rPr lang="en-US" altLang="zh-TW" sz="1800" dirty="0">
                <a:solidFill>
                  <a:srgbClr val="BCBEC4"/>
                </a:solidFill>
                <a:effectLst/>
                <a:latin typeface="JetBrains Mono"/>
              </a:rPr>
              <a:t> = </a:t>
            </a:r>
            <a:r>
              <a:rPr lang="en-US" altLang="zh-TW" sz="1800" dirty="0" err="1">
                <a:solidFill>
                  <a:srgbClr val="BCBEC4"/>
                </a:solidFill>
                <a:effectLst/>
                <a:latin typeface="JetBrains Mono"/>
              </a:rPr>
              <a:t>nn.Sequential</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BCBEC4"/>
                </a:solidFill>
                <a:effectLst/>
                <a:latin typeface="JetBrains Mono"/>
              </a:rPr>
              <a:t>nn.Linear</a:t>
            </a:r>
            <a:r>
              <a:rPr lang="en-US" altLang="zh-TW" sz="1800" dirty="0">
                <a:solidFill>
                  <a:srgbClr val="BCBEC4"/>
                </a:solidFill>
                <a:effectLst/>
                <a:latin typeface="JetBrains Mono"/>
              </a:rPr>
              <a:t>(</a:t>
            </a:r>
            <a:r>
              <a:rPr lang="en-US" altLang="zh-TW" sz="1800" dirty="0">
                <a:solidFill>
                  <a:srgbClr val="2AACB8"/>
                </a:solidFill>
                <a:effectLst/>
                <a:latin typeface="JetBrains Mono"/>
              </a:rPr>
              <a:t>28</a:t>
            </a:r>
            <a:r>
              <a:rPr lang="en-US" altLang="zh-TW" sz="1800" dirty="0">
                <a:solidFill>
                  <a:srgbClr val="BCBEC4"/>
                </a:solidFill>
                <a:effectLst/>
                <a:latin typeface="JetBrains Mono"/>
              </a:rPr>
              <a:t>*</a:t>
            </a:r>
            <a:r>
              <a:rPr lang="en-US" altLang="zh-TW" sz="1800" dirty="0">
                <a:solidFill>
                  <a:srgbClr val="2AACB8"/>
                </a:solidFill>
                <a:effectLst/>
                <a:latin typeface="JetBrains Mono"/>
              </a:rPr>
              <a:t>28</a:t>
            </a:r>
            <a:r>
              <a:rPr lang="en-US" altLang="zh-TW" sz="1800" dirty="0">
                <a:solidFill>
                  <a:srgbClr val="BCBEC4"/>
                </a:solidFill>
                <a:effectLst/>
                <a:latin typeface="JetBrains Mono"/>
              </a:rPr>
              <a:t>, </a:t>
            </a:r>
            <a:r>
              <a:rPr lang="en-US" altLang="zh-TW" sz="1800" dirty="0">
                <a:solidFill>
                  <a:srgbClr val="2AACB8"/>
                </a:solidFill>
                <a:effectLst/>
                <a:latin typeface="JetBrains Mono"/>
              </a:rPr>
              <a:t>512</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BCBEC4"/>
                </a:solidFill>
                <a:effectLst/>
                <a:latin typeface="JetBrains Mono"/>
              </a:rPr>
              <a:t>nn.ReLU</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BCBEC4"/>
                </a:solidFill>
                <a:effectLst/>
                <a:latin typeface="JetBrains Mono"/>
              </a:rPr>
              <a:t>nn.Linear</a:t>
            </a:r>
            <a:r>
              <a:rPr lang="en-US" altLang="zh-TW" sz="1800" dirty="0">
                <a:solidFill>
                  <a:srgbClr val="BCBEC4"/>
                </a:solidFill>
                <a:effectLst/>
                <a:latin typeface="JetBrains Mono"/>
              </a:rPr>
              <a:t>(</a:t>
            </a:r>
            <a:r>
              <a:rPr lang="en-US" altLang="zh-TW" sz="1800" dirty="0">
                <a:solidFill>
                  <a:srgbClr val="2AACB8"/>
                </a:solidFill>
                <a:effectLst/>
                <a:latin typeface="JetBrains Mono"/>
              </a:rPr>
              <a:t>512</a:t>
            </a:r>
            <a:r>
              <a:rPr lang="en-US" altLang="zh-TW" sz="1800" dirty="0">
                <a:solidFill>
                  <a:srgbClr val="BCBEC4"/>
                </a:solidFill>
                <a:effectLst/>
                <a:latin typeface="JetBrains Mono"/>
              </a:rPr>
              <a:t>, </a:t>
            </a:r>
            <a:r>
              <a:rPr lang="en-US" altLang="zh-TW" sz="1800" dirty="0">
                <a:solidFill>
                  <a:srgbClr val="2AACB8"/>
                </a:solidFill>
                <a:effectLst/>
                <a:latin typeface="JetBrains Mono"/>
              </a:rPr>
              <a:t>512</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BCBEC4"/>
                </a:solidFill>
                <a:effectLst/>
                <a:latin typeface="JetBrains Mono"/>
              </a:rPr>
              <a:t>nn.ReLU</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BCBEC4"/>
                </a:solidFill>
                <a:effectLst/>
                <a:latin typeface="JetBrains Mono"/>
              </a:rPr>
              <a:t>nn.Linear</a:t>
            </a:r>
            <a:r>
              <a:rPr lang="en-US" altLang="zh-TW" sz="1800" dirty="0">
                <a:solidFill>
                  <a:srgbClr val="BCBEC4"/>
                </a:solidFill>
                <a:effectLst/>
                <a:latin typeface="JetBrains Mono"/>
              </a:rPr>
              <a:t>(</a:t>
            </a:r>
            <a:r>
              <a:rPr lang="en-US" altLang="zh-TW" sz="1800" dirty="0">
                <a:solidFill>
                  <a:srgbClr val="2AACB8"/>
                </a:solidFill>
                <a:effectLst/>
                <a:latin typeface="JetBrains Mono"/>
              </a:rPr>
              <a:t>512</a:t>
            </a:r>
            <a:r>
              <a:rPr lang="en-US" altLang="zh-TW" sz="1800" dirty="0">
                <a:solidFill>
                  <a:srgbClr val="BCBEC4"/>
                </a:solidFill>
                <a:effectLst/>
                <a:latin typeface="JetBrains Mono"/>
              </a:rPr>
              <a:t>, </a:t>
            </a:r>
            <a:r>
              <a:rPr lang="en-US" altLang="zh-TW" sz="1800" dirty="0">
                <a:solidFill>
                  <a:srgbClr val="2AACB8"/>
                </a:solidFill>
                <a:effectLst/>
                <a:latin typeface="JetBrains Mono"/>
              </a:rPr>
              <a:t>10</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CF8E6D"/>
                </a:solidFill>
                <a:effectLst/>
                <a:latin typeface="JetBrains Mono"/>
              </a:rPr>
              <a:t>def </a:t>
            </a:r>
            <a:r>
              <a:rPr lang="en-US" altLang="zh-TW" sz="1800" dirty="0">
                <a:solidFill>
                  <a:srgbClr val="56A8F5"/>
                </a:solidFill>
                <a:effectLst/>
                <a:latin typeface="JetBrains Mono"/>
              </a:rPr>
              <a:t>forward</a:t>
            </a:r>
            <a:r>
              <a:rPr lang="en-US" altLang="zh-TW" sz="1800" dirty="0">
                <a:solidFill>
                  <a:srgbClr val="BCBEC4"/>
                </a:solidFill>
                <a:effectLst/>
                <a:latin typeface="JetBrains Mono"/>
              </a:rPr>
              <a:t>(</a:t>
            </a:r>
            <a:r>
              <a:rPr lang="en-US" altLang="zh-TW" sz="1800" dirty="0">
                <a:solidFill>
                  <a:srgbClr val="94558D"/>
                </a:solidFill>
                <a:effectLst/>
                <a:latin typeface="JetBrains Mono"/>
              </a:rPr>
              <a:t>self</a:t>
            </a:r>
            <a:r>
              <a:rPr lang="en-US" altLang="zh-TW" sz="1800" dirty="0">
                <a:solidFill>
                  <a:srgbClr val="BCBEC4"/>
                </a:solidFill>
                <a:effectLst/>
                <a:latin typeface="JetBrains Mono"/>
              </a:rPr>
              <a:t>, x):</a:t>
            </a:r>
            <a:br>
              <a:rPr lang="en-US" altLang="zh-TW" sz="1800" dirty="0">
                <a:solidFill>
                  <a:srgbClr val="BCBEC4"/>
                </a:solidFill>
                <a:effectLst/>
                <a:latin typeface="JetBrains Mono"/>
              </a:rPr>
            </a:br>
            <a:r>
              <a:rPr lang="en-US" altLang="zh-TW" sz="1800" dirty="0">
                <a:solidFill>
                  <a:srgbClr val="BCBEC4"/>
                </a:solidFill>
                <a:effectLst/>
                <a:latin typeface="JetBrains Mono"/>
              </a:rPr>
              <a:t>        x = </a:t>
            </a:r>
            <a:r>
              <a:rPr lang="en-US" altLang="zh-TW" sz="1800" dirty="0" err="1">
                <a:solidFill>
                  <a:srgbClr val="94558D"/>
                </a:solidFill>
                <a:effectLst/>
                <a:latin typeface="JetBrains Mono"/>
              </a:rPr>
              <a:t>self</a:t>
            </a:r>
            <a:r>
              <a:rPr lang="en-US" altLang="zh-TW" sz="1800" dirty="0" err="1">
                <a:solidFill>
                  <a:srgbClr val="BCBEC4"/>
                </a:solidFill>
                <a:effectLst/>
                <a:latin typeface="JetBrains Mono"/>
              </a:rPr>
              <a:t>.flatten</a:t>
            </a:r>
            <a:r>
              <a:rPr lang="en-US" altLang="zh-TW" sz="1800" dirty="0">
                <a:solidFill>
                  <a:srgbClr val="BCBEC4"/>
                </a:solidFill>
                <a:effectLst/>
                <a:latin typeface="JetBrains Mono"/>
              </a:rPr>
              <a:t>(x)</a:t>
            </a:r>
            <a:br>
              <a:rPr lang="en-US" altLang="zh-TW" sz="1800" dirty="0">
                <a:solidFill>
                  <a:srgbClr val="BCBEC4"/>
                </a:solidFill>
                <a:effectLst/>
                <a:latin typeface="JetBrains Mono"/>
              </a:rPr>
            </a:br>
            <a:r>
              <a:rPr lang="en-US" altLang="zh-TW" sz="1800" dirty="0">
                <a:solidFill>
                  <a:srgbClr val="BCBEC4"/>
                </a:solidFill>
                <a:effectLst/>
                <a:latin typeface="JetBrains Mono"/>
              </a:rPr>
              <a:t>        logits = </a:t>
            </a:r>
            <a:r>
              <a:rPr lang="en-US" altLang="zh-TW" sz="1800" dirty="0" err="1">
                <a:solidFill>
                  <a:srgbClr val="94558D"/>
                </a:solidFill>
                <a:effectLst/>
                <a:latin typeface="JetBrains Mono"/>
              </a:rPr>
              <a:t>self</a:t>
            </a:r>
            <a:r>
              <a:rPr lang="en-US" altLang="zh-TW" sz="1800" dirty="0" err="1">
                <a:solidFill>
                  <a:srgbClr val="BCBEC4"/>
                </a:solidFill>
                <a:effectLst/>
                <a:latin typeface="JetBrains Mono"/>
              </a:rPr>
              <a:t>.linear_relu_stack</a:t>
            </a:r>
            <a:r>
              <a:rPr lang="en-US" altLang="zh-TW" sz="1800" dirty="0">
                <a:solidFill>
                  <a:srgbClr val="BCBEC4"/>
                </a:solidFill>
                <a:effectLst/>
                <a:latin typeface="JetBrains Mono"/>
              </a:rPr>
              <a:t>(x)</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CF8E6D"/>
                </a:solidFill>
                <a:effectLst/>
                <a:latin typeface="JetBrains Mono"/>
              </a:rPr>
              <a:t>return </a:t>
            </a:r>
            <a:r>
              <a:rPr lang="en-US" altLang="zh-TW" sz="1800" dirty="0">
                <a:solidFill>
                  <a:srgbClr val="BCBEC4"/>
                </a:solidFill>
                <a:effectLst/>
                <a:latin typeface="JetBrains Mono"/>
              </a:rPr>
              <a:t>logits</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BCBEC4"/>
                </a:solidFill>
                <a:effectLst/>
                <a:latin typeface="JetBrains Mono"/>
              </a:rPr>
              <a:t>model = </a:t>
            </a:r>
            <a:r>
              <a:rPr lang="en-US" altLang="zh-TW" sz="1800" dirty="0" err="1">
                <a:solidFill>
                  <a:srgbClr val="BCBEC4"/>
                </a:solidFill>
                <a:effectLst/>
                <a:latin typeface="JetBrains Mono"/>
              </a:rPr>
              <a:t>NeuralNetwork</a:t>
            </a:r>
            <a:r>
              <a:rPr lang="en-US" altLang="zh-TW" sz="1800" dirty="0">
                <a:solidFill>
                  <a:srgbClr val="BCBEC4"/>
                </a:solidFill>
                <a:effectLst/>
                <a:latin typeface="JetBrains Mono"/>
              </a:rPr>
              <a:t>().to(device)</a:t>
            </a:r>
            <a:br>
              <a:rPr lang="en-US" altLang="zh-TW" sz="1800" dirty="0">
                <a:solidFill>
                  <a:srgbClr val="BCBEC4"/>
                </a:solidFill>
                <a:effectLst/>
                <a:latin typeface="JetBrains Mono"/>
              </a:rPr>
            </a:br>
            <a:r>
              <a:rPr lang="en-US" altLang="zh-TW" sz="1800" dirty="0">
                <a:solidFill>
                  <a:srgbClr val="8888C6"/>
                </a:solidFill>
                <a:effectLst/>
                <a:latin typeface="JetBrains Mono"/>
              </a:rPr>
              <a:t>print</a:t>
            </a:r>
            <a:r>
              <a:rPr lang="en-US" altLang="zh-TW" sz="1800" dirty="0">
                <a:solidFill>
                  <a:srgbClr val="BCBEC4"/>
                </a:solidFill>
                <a:effectLst/>
                <a:latin typeface="JetBrains Mono"/>
              </a:rPr>
              <a:t>(model)</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err="1">
                <a:solidFill>
                  <a:srgbClr val="BCBEC4"/>
                </a:solidFill>
                <a:effectLst/>
                <a:latin typeface="JetBrains Mono"/>
              </a:rPr>
              <a:t>loss_fn</a:t>
            </a:r>
            <a:r>
              <a:rPr lang="en-US" altLang="zh-TW" sz="1800" dirty="0">
                <a:solidFill>
                  <a:srgbClr val="BCBEC4"/>
                </a:solidFill>
                <a:effectLst/>
                <a:latin typeface="JetBrains Mono"/>
              </a:rPr>
              <a:t> = </a:t>
            </a:r>
            <a:r>
              <a:rPr lang="en-US" altLang="zh-TW" sz="1800" dirty="0" err="1">
                <a:solidFill>
                  <a:srgbClr val="BCBEC4"/>
                </a:solidFill>
                <a:effectLst/>
                <a:latin typeface="JetBrains Mono"/>
              </a:rPr>
              <a:t>nn.CrossEntropyLoss</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optimizer = </a:t>
            </a:r>
            <a:r>
              <a:rPr lang="en-US" altLang="zh-TW" sz="1800" dirty="0" err="1">
                <a:solidFill>
                  <a:srgbClr val="BCBEC4"/>
                </a:solidFill>
                <a:effectLst/>
                <a:latin typeface="JetBrains Mono"/>
              </a:rPr>
              <a:t>torch.optim.SGD</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model.parameters</a:t>
            </a:r>
            <a:r>
              <a:rPr lang="en-US" altLang="zh-TW" sz="1800" dirty="0">
                <a:solidFill>
                  <a:srgbClr val="BCBEC4"/>
                </a:solidFill>
                <a:effectLst/>
                <a:latin typeface="JetBrains Mono"/>
              </a:rPr>
              <a:t>(), </a:t>
            </a:r>
            <a:r>
              <a:rPr lang="en-US" altLang="zh-TW" sz="1800" dirty="0" err="1">
                <a:solidFill>
                  <a:srgbClr val="AA4926"/>
                </a:solidFill>
                <a:effectLst/>
                <a:latin typeface="JetBrains Mono"/>
              </a:rPr>
              <a:t>lr</a:t>
            </a:r>
            <a:r>
              <a:rPr lang="en-US" altLang="zh-TW" sz="1800" dirty="0">
                <a:solidFill>
                  <a:srgbClr val="BCBEC4"/>
                </a:solidFill>
                <a:effectLst/>
                <a:latin typeface="JetBrains Mono"/>
              </a:rPr>
              <a:t>=</a:t>
            </a:r>
            <a:r>
              <a:rPr lang="en-US" altLang="zh-TW" sz="1800" dirty="0">
                <a:solidFill>
                  <a:srgbClr val="2AACB8"/>
                </a:solidFill>
                <a:effectLst/>
                <a:latin typeface="JetBrains Mono"/>
              </a:rPr>
              <a:t>1e-3</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CF8E6D"/>
                </a:solidFill>
                <a:effectLst/>
                <a:latin typeface="JetBrains Mono"/>
              </a:rPr>
              <a:t>def </a:t>
            </a:r>
            <a:r>
              <a:rPr lang="en-US" altLang="zh-TW" sz="1800" dirty="0">
                <a:solidFill>
                  <a:srgbClr val="56A8F5"/>
                </a:solidFill>
                <a:effectLst/>
                <a:latin typeface="JetBrains Mono"/>
              </a:rPr>
              <a:t>train</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dataloader</a:t>
            </a:r>
            <a:r>
              <a:rPr lang="en-US" altLang="zh-TW" sz="1800" dirty="0">
                <a:solidFill>
                  <a:srgbClr val="BCBEC4"/>
                </a:solidFill>
                <a:effectLst/>
                <a:latin typeface="JetBrains Mono"/>
              </a:rPr>
              <a:t>, model, </a:t>
            </a:r>
            <a:r>
              <a:rPr lang="en-US" altLang="zh-TW" sz="1800" dirty="0" err="1">
                <a:solidFill>
                  <a:srgbClr val="BCBEC4"/>
                </a:solidFill>
                <a:effectLst/>
                <a:latin typeface="JetBrains Mono"/>
              </a:rPr>
              <a:t>loss_fn</a:t>
            </a:r>
            <a:r>
              <a:rPr lang="en-US" altLang="zh-TW" sz="1800" dirty="0">
                <a:solidFill>
                  <a:srgbClr val="BCBEC4"/>
                </a:solidFill>
                <a:effectLst/>
                <a:latin typeface="JetBrains Mono"/>
              </a:rPr>
              <a:t>, optimizer):</a:t>
            </a:r>
            <a:br>
              <a:rPr lang="en-US" altLang="zh-TW" sz="1800" dirty="0">
                <a:solidFill>
                  <a:srgbClr val="BCBEC4"/>
                </a:solidFill>
                <a:effectLst/>
                <a:latin typeface="JetBrains Mono"/>
              </a:rPr>
            </a:br>
            <a:r>
              <a:rPr lang="en-US" altLang="zh-TW" sz="1800" dirty="0">
                <a:solidFill>
                  <a:srgbClr val="BCBEC4"/>
                </a:solidFill>
                <a:effectLst/>
                <a:latin typeface="JetBrains Mono"/>
              </a:rPr>
              <a:t>    size = </a:t>
            </a:r>
            <a:r>
              <a:rPr lang="en-US" altLang="zh-TW" sz="1800" dirty="0" err="1">
                <a:solidFill>
                  <a:srgbClr val="8888C6"/>
                </a:solidFill>
                <a:effectLst/>
                <a:latin typeface="JetBrains Mono"/>
              </a:rPr>
              <a:t>len</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dataloader.dataset</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BCBEC4"/>
                </a:solidFill>
                <a:effectLst/>
                <a:latin typeface="JetBrains Mono"/>
              </a:rPr>
              <a:t>model.train</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CF8E6D"/>
                </a:solidFill>
                <a:effectLst/>
                <a:latin typeface="JetBrains Mono"/>
              </a:rPr>
              <a:t>for </a:t>
            </a:r>
            <a:r>
              <a:rPr lang="en-US" altLang="zh-TW" sz="1800" dirty="0">
                <a:solidFill>
                  <a:srgbClr val="BCBEC4"/>
                </a:solidFill>
                <a:effectLst/>
                <a:latin typeface="JetBrains Mono"/>
              </a:rPr>
              <a:t>batch, (X, y) </a:t>
            </a:r>
            <a:r>
              <a:rPr lang="en-US" altLang="zh-TW" sz="1800" dirty="0">
                <a:solidFill>
                  <a:srgbClr val="CF8E6D"/>
                </a:solidFill>
                <a:effectLst/>
                <a:latin typeface="JetBrains Mono"/>
              </a:rPr>
              <a:t>in </a:t>
            </a:r>
            <a:r>
              <a:rPr lang="en-US" altLang="zh-TW" sz="1800" dirty="0">
                <a:solidFill>
                  <a:srgbClr val="8888C6"/>
                </a:solidFill>
                <a:effectLst/>
                <a:latin typeface="JetBrains Mono"/>
              </a:rPr>
              <a:t>enumerate</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dataloader</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X, y = X.to(device), y.to(device)</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7A7E85"/>
                </a:solidFill>
                <a:effectLst/>
                <a:latin typeface="JetBrains Mono"/>
              </a:rPr>
              <a:t># Compute prediction error</a:t>
            </a:r>
            <a:br>
              <a:rPr lang="en-US" altLang="zh-TW" sz="1800" dirty="0">
                <a:solidFill>
                  <a:srgbClr val="7A7E85"/>
                </a:solidFill>
                <a:effectLst/>
                <a:latin typeface="JetBrains Mono"/>
              </a:rPr>
            </a:br>
            <a:r>
              <a:rPr lang="en-US" altLang="zh-TW" sz="1800" dirty="0">
                <a:solidFill>
                  <a:srgbClr val="7A7E85"/>
                </a:solidFill>
                <a:effectLst/>
                <a:latin typeface="JetBrains Mono"/>
              </a:rPr>
              <a:t>        </a:t>
            </a:r>
            <a:r>
              <a:rPr lang="en-US" altLang="zh-TW" sz="1800" dirty="0">
                <a:solidFill>
                  <a:srgbClr val="BCBEC4"/>
                </a:solidFill>
                <a:effectLst/>
                <a:latin typeface="JetBrains Mono"/>
              </a:rPr>
              <a:t>pred = model(X)</a:t>
            </a:r>
            <a:br>
              <a:rPr lang="en-US" altLang="zh-TW" sz="1800" dirty="0">
                <a:solidFill>
                  <a:srgbClr val="BCBEC4"/>
                </a:solidFill>
                <a:effectLst/>
                <a:latin typeface="JetBrains Mono"/>
              </a:rPr>
            </a:br>
            <a:r>
              <a:rPr lang="en-US" altLang="zh-TW" sz="1800" dirty="0">
                <a:solidFill>
                  <a:srgbClr val="BCBEC4"/>
                </a:solidFill>
                <a:effectLst/>
                <a:latin typeface="JetBrains Mono"/>
              </a:rPr>
              <a:t>        loss = </a:t>
            </a:r>
            <a:r>
              <a:rPr lang="en-US" altLang="zh-TW" sz="1800" dirty="0" err="1">
                <a:solidFill>
                  <a:srgbClr val="BCBEC4"/>
                </a:solidFill>
                <a:effectLst/>
                <a:latin typeface="JetBrains Mono"/>
              </a:rPr>
              <a:t>loss_fn</a:t>
            </a:r>
            <a:r>
              <a:rPr lang="en-US" altLang="zh-TW" sz="1800" dirty="0">
                <a:solidFill>
                  <a:srgbClr val="BCBEC4"/>
                </a:solidFill>
                <a:effectLst/>
                <a:latin typeface="JetBrains Mono"/>
              </a:rPr>
              <a:t>(pred, y)</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7A7E85"/>
                </a:solidFill>
                <a:effectLst/>
                <a:latin typeface="JetBrains Mono"/>
              </a:rPr>
              <a:t># Backpropagation</a:t>
            </a:r>
            <a:br>
              <a:rPr lang="en-US" altLang="zh-TW" sz="1800" dirty="0">
                <a:solidFill>
                  <a:srgbClr val="7A7E85"/>
                </a:solidFill>
                <a:effectLst/>
                <a:latin typeface="JetBrains Mono"/>
              </a:rPr>
            </a:br>
            <a:r>
              <a:rPr lang="en-US" altLang="zh-TW" sz="1800" dirty="0">
                <a:solidFill>
                  <a:srgbClr val="7A7E85"/>
                </a:solidFill>
                <a:effectLst/>
                <a:latin typeface="JetBrains Mono"/>
              </a:rPr>
              <a:t>        </a:t>
            </a:r>
            <a:r>
              <a:rPr lang="en-US" altLang="zh-TW" sz="1800" dirty="0" err="1">
                <a:solidFill>
                  <a:srgbClr val="BCBEC4"/>
                </a:solidFill>
                <a:effectLst/>
                <a:latin typeface="JetBrains Mono"/>
              </a:rPr>
              <a:t>loss.backward</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BCBEC4"/>
                </a:solidFill>
                <a:effectLst/>
                <a:latin typeface="JetBrains Mono"/>
              </a:rPr>
              <a:t>optimizer.step</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BCBEC4"/>
                </a:solidFill>
                <a:effectLst/>
                <a:latin typeface="JetBrains Mono"/>
              </a:rPr>
              <a:t>optimizer.zero_grad</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CF8E6D"/>
                </a:solidFill>
                <a:effectLst/>
                <a:latin typeface="JetBrains Mono"/>
              </a:rPr>
              <a:t>if </a:t>
            </a:r>
            <a:r>
              <a:rPr lang="en-US" altLang="zh-TW" sz="1800" dirty="0">
                <a:solidFill>
                  <a:srgbClr val="BCBEC4"/>
                </a:solidFill>
                <a:effectLst/>
                <a:latin typeface="JetBrains Mono"/>
              </a:rPr>
              <a:t>batch % </a:t>
            </a:r>
            <a:r>
              <a:rPr lang="en-US" altLang="zh-TW" sz="1800" dirty="0">
                <a:solidFill>
                  <a:srgbClr val="2AACB8"/>
                </a:solidFill>
                <a:effectLst/>
                <a:latin typeface="JetBrains Mono"/>
              </a:rPr>
              <a:t>100 </a:t>
            </a:r>
            <a:r>
              <a:rPr lang="en-US" altLang="zh-TW" sz="1800" dirty="0">
                <a:solidFill>
                  <a:srgbClr val="BCBEC4"/>
                </a:solidFill>
                <a:effectLst/>
                <a:latin typeface="JetBrains Mono"/>
              </a:rPr>
              <a:t>== </a:t>
            </a:r>
            <a:r>
              <a:rPr lang="en-US" altLang="zh-TW" sz="1800" dirty="0">
                <a:solidFill>
                  <a:srgbClr val="2AACB8"/>
                </a:solidFill>
                <a:effectLst/>
                <a:latin typeface="JetBrains Mono"/>
              </a:rPr>
              <a:t>0</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loss, current = </a:t>
            </a:r>
            <a:r>
              <a:rPr lang="en-US" altLang="zh-TW" sz="1800" dirty="0" err="1">
                <a:solidFill>
                  <a:srgbClr val="BCBEC4"/>
                </a:solidFill>
                <a:effectLst/>
                <a:latin typeface="JetBrains Mono"/>
              </a:rPr>
              <a:t>loss.item</a:t>
            </a:r>
            <a:r>
              <a:rPr lang="en-US" altLang="zh-TW" sz="1800" dirty="0">
                <a:solidFill>
                  <a:srgbClr val="BCBEC4"/>
                </a:solidFill>
                <a:effectLst/>
                <a:latin typeface="JetBrains Mono"/>
              </a:rPr>
              <a:t>(), (batch + </a:t>
            </a:r>
            <a:r>
              <a:rPr lang="en-US" altLang="zh-TW" sz="1800" dirty="0">
                <a:solidFill>
                  <a:srgbClr val="2AACB8"/>
                </a:solidFill>
                <a:effectLst/>
                <a:latin typeface="JetBrains Mono"/>
              </a:rPr>
              <a:t>1</a:t>
            </a:r>
            <a:r>
              <a:rPr lang="en-US" altLang="zh-TW" sz="1800" dirty="0">
                <a:solidFill>
                  <a:srgbClr val="BCBEC4"/>
                </a:solidFill>
                <a:effectLst/>
                <a:latin typeface="JetBrains Mono"/>
              </a:rPr>
              <a:t>) * </a:t>
            </a:r>
            <a:r>
              <a:rPr lang="en-US" altLang="zh-TW" sz="1800" dirty="0" err="1">
                <a:solidFill>
                  <a:srgbClr val="8888C6"/>
                </a:solidFill>
                <a:effectLst/>
                <a:latin typeface="JetBrains Mono"/>
              </a:rPr>
              <a:t>len</a:t>
            </a:r>
            <a:r>
              <a:rPr lang="en-US" altLang="zh-TW" sz="1800" dirty="0">
                <a:solidFill>
                  <a:srgbClr val="BCBEC4"/>
                </a:solidFill>
                <a:effectLst/>
                <a:latin typeface="JetBrains Mono"/>
              </a:rPr>
              <a:t>(X)</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8888C6"/>
                </a:solidFill>
                <a:effectLst/>
                <a:latin typeface="JetBrains Mono"/>
              </a:rPr>
              <a:t>print</a:t>
            </a:r>
            <a:r>
              <a:rPr lang="en-US" altLang="zh-TW" sz="1800" dirty="0">
                <a:solidFill>
                  <a:srgbClr val="BCBEC4"/>
                </a:solidFill>
                <a:effectLst/>
                <a:latin typeface="JetBrains Mono"/>
              </a:rPr>
              <a:t>(</a:t>
            </a:r>
            <a:r>
              <a:rPr lang="en-US" altLang="zh-TW" sz="1800" dirty="0" err="1">
                <a:solidFill>
                  <a:srgbClr val="6AAB73"/>
                </a:solidFill>
                <a:effectLst/>
                <a:latin typeface="JetBrains Mono"/>
              </a:rPr>
              <a:t>f"loss</a:t>
            </a:r>
            <a:r>
              <a:rPr lang="en-US" altLang="zh-TW" sz="1800" dirty="0">
                <a:solidFill>
                  <a:srgbClr val="6AAB73"/>
                </a:solidFill>
                <a:effectLst/>
                <a:latin typeface="JetBrains Mono"/>
              </a:rPr>
              <a:t>: </a:t>
            </a:r>
            <a:r>
              <a:rPr lang="en-US" altLang="zh-TW" sz="1800" dirty="0">
                <a:solidFill>
                  <a:srgbClr val="CF8E6D"/>
                </a:solidFill>
                <a:effectLst/>
                <a:latin typeface="JetBrains Mono"/>
              </a:rPr>
              <a:t>{</a:t>
            </a:r>
            <a:r>
              <a:rPr lang="en-US" altLang="zh-TW" sz="1800" dirty="0">
                <a:solidFill>
                  <a:srgbClr val="BCBEC4"/>
                </a:solidFill>
                <a:effectLst/>
                <a:latin typeface="JetBrains Mono"/>
              </a:rPr>
              <a:t>loss</a:t>
            </a:r>
            <a:r>
              <a:rPr lang="en-US" altLang="zh-TW" sz="1800" dirty="0">
                <a:solidFill>
                  <a:srgbClr val="CF8E6D"/>
                </a:solidFill>
                <a:effectLst/>
                <a:latin typeface="JetBrains Mono"/>
              </a:rPr>
              <a:t>:</a:t>
            </a:r>
            <a:r>
              <a:rPr lang="en-US" altLang="zh-TW" sz="1800" dirty="0">
                <a:solidFill>
                  <a:srgbClr val="6AAB73"/>
                </a:solidFill>
                <a:effectLst/>
                <a:latin typeface="JetBrains Mono"/>
              </a:rPr>
              <a:t>&gt;7f</a:t>
            </a:r>
            <a:r>
              <a:rPr lang="en-US" altLang="zh-TW" sz="1800" dirty="0">
                <a:solidFill>
                  <a:srgbClr val="CF8E6D"/>
                </a:solidFill>
                <a:effectLst/>
                <a:latin typeface="JetBrains Mono"/>
              </a:rPr>
              <a:t>}</a:t>
            </a:r>
            <a:r>
              <a:rPr lang="en-US" altLang="zh-TW" sz="1800" dirty="0">
                <a:solidFill>
                  <a:srgbClr val="6AAB73"/>
                </a:solidFill>
                <a:effectLst/>
                <a:latin typeface="JetBrains Mono"/>
              </a:rPr>
              <a:t>  [</a:t>
            </a:r>
            <a:r>
              <a:rPr lang="en-US" altLang="zh-TW" sz="1800" dirty="0">
                <a:solidFill>
                  <a:srgbClr val="CF8E6D"/>
                </a:solidFill>
                <a:effectLst/>
                <a:latin typeface="JetBrains Mono"/>
              </a:rPr>
              <a:t>{</a:t>
            </a:r>
            <a:r>
              <a:rPr lang="en-US" altLang="zh-TW" sz="1800" dirty="0">
                <a:solidFill>
                  <a:srgbClr val="BCBEC4"/>
                </a:solidFill>
                <a:effectLst/>
                <a:latin typeface="JetBrains Mono"/>
              </a:rPr>
              <a:t>current</a:t>
            </a:r>
            <a:r>
              <a:rPr lang="en-US" altLang="zh-TW" sz="1800" dirty="0">
                <a:solidFill>
                  <a:srgbClr val="CF8E6D"/>
                </a:solidFill>
                <a:effectLst/>
                <a:latin typeface="JetBrains Mono"/>
              </a:rPr>
              <a:t>:</a:t>
            </a:r>
            <a:r>
              <a:rPr lang="en-US" altLang="zh-TW" sz="1800" dirty="0">
                <a:solidFill>
                  <a:srgbClr val="6AAB73"/>
                </a:solidFill>
                <a:effectLst/>
                <a:latin typeface="JetBrains Mono"/>
              </a:rPr>
              <a:t>&gt;5d</a:t>
            </a:r>
            <a:r>
              <a:rPr lang="en-US" altLang="zh-TW" sz="1800" dirty="0">
                <a:solidFill>
                  <a:srgbClr val="CF8E6D"/>
                </a:solidFill>
                <a:effectLst/>
                <a:latin typeface="JetBrains Mono"/>
              </a:rPr>
              <a:t>}</a:t>
            </a:r>
            <a:r>
              <a:rPr lang="en-US" altLang="zh-TW" sz="1800" dirty="0">
                <a:solidFill>
                  <a:srgbClr val="6AAB73"/>
                </a:solidFill>
                <a:effectLst/>
                <a:latin typeface="JetBrains Mono"/>
              </a:rPr>
              <a:t>/</a:t>
            </a:r>
            <a:r>
              <a:rPr lang="en-US" altLang="zh-TW" sz="1800" dirty="0">
                <a:solidFill>
                  <a:srgbClr val="CF8E6D"/>
                </a:solidFill>
                <a:effectLst/>
                <a:latin typeface="JetBrains Mono"/>
              </a:rPr>
              <a:t>{</a:t>
            </a:r>
            <a:r>
              <a:rPr lang="en-US" altLang="zh-TW" sz="1800" dirty="0">
                <a:solidFill>
                  <a:srgbClr val="BCBEC4"/>
                </a:solidFill>
                <a:effectLst/>
                <a:latin typeface="JetBrains Mono"/>
              </a:rPr>
              <a:t>size</a:t>
            </a:r>
            <a:r>
              <a:rPr lang="en-US" altLang="zh-TW" sz="1800" dirty="0">
                <a:solidFill>
                  <a:srgbClr val="CF8E6D"/>
                </a:solidFill>
                <a:effectLst/>
                <a:latin typeface="JetBrains Mono"/>
              </a:rPr>
              <a:t>:</a:t>
            </a:r>
            <a:r>
              <a:rPr lang="en-US" altLang="zh-TW" sz="1800" dirty="0">
                <a:solidFill>
                  <a:srgbClr val="6AAB73"/>
                </a:solidFill>
                <a:effectLst/>
                <a:latin typeface="JetBrains Mono"/>
              </a:rPr>
              <a:t>&gt;5d</a:t>
            </a:r>
            <a:r>
              <a:rPr lang="en-US" altLang="zh-TW" sz="1800" dirty="0">
                <a:solidFill>
                  <a:srgbClr val="CF8E6D"/>
                </a:solidFill>
                <a:effectLst/>
                <a:latin typeface="JetBrains Mono"/>
              </a:rPr>
              <a:t>}</a:t>
            </a:r>
            <a:r>
              <a:rPr lang="en-US" altLang="zh-TW" sz="1800" dirty="0">
                <a:solidFill>
                  <a:srgbClr val="6AAB73"/>
                </a:solidFill>
                <a:effectLst/>
                <a:latin typeface="JetBrains Mono"/>
              </a:rPr>
              <a:t>]"</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CF8E6D"/>
                </a:solidFill>
                <a:effectLst/>
                <a:latin typeface="JetBrains Mono"/>
              </a:rPr>
              <a:t>def </a:t>
            </a:r>
            <a:r>
              <a:rPr lang="en-US" altLang="zh-TW" sz="1800" dirty="0">
                <a:solidFill>
                  <a:srgbClr val="56A8F5"/>
                </a:solidFill>
                <a:effectLst/>
                <a:latin typeface="JetBrains Mono"/>
              </a:rPr>
              <a:t>test</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dataloader</a:t>
            </a:r>
            <a:r>
              <a:rPr lang="en-US" altLang="zh-TW" sz="1800" dirty="0">
                <a:solidFill>
                  <a:srgbClr val="BCBEC4"/>
                </a:solidFill>
                <a:effectLst/>
                <a:latin typeface="JetBrains Mono"/>
              </a:rPr>
              <a:t>, model, </a:t>
            </a:r>
            <a:r>
              <a:rPr lang="en-US" altLang="zh-TW" sz="1800" dirty="0" err="1">
                <a:solidFill>
                  <a:srgbClr val="BCBEC4"/>
                </a:solidFill>
                <a:effectLst/>
                <a:latin typeface="JetBrains Mono"/>
              </a:rPr>
              <a:t>loss_fn</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size = </a:t>
            </a:r>
            <a:r>
              <a:rPr lang="en-US" altLang="zh-TW" sz="1800" dirty="0" err="1">
                <a:solidFill>
                  <a:srgbClr val="8888C6"/>
                </a:solidFill>
                <a:effectLst/>
                <a:latin typeface="JetBrains Mono"/>
              </a:rPr>
              <a:t>len</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dataloader.dataset</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BCBEC4"/>
                </a:solidFill>
                <a:effectLst/>
                <a:latin typeface="JetBrains Mono"/>
              </a:rPr>
              <a:t>num_batches</a:t>
            </a:r>
            <a:r>
              <a:rPr lang="en-US" altLang="zh-TW" sz="1800" dirty="0">
                <a:solidFill>
                  <a:srgbClr val="BCBEC4"/>
                </a:solidFill>
                <a:effectLst/>
                <a:latin typeface="JetBrains Mono"/>
              </a:rPr>
              <a:t> = </a:t>
            </a:r>
            <a:r>
              <a:rPr lang="en-US" altLang="zh-TW" sz="1800" dirty="0" err="1">
                <a:solidFill>
                  <a:srgbClr val="8888C6"/>
                </a:solidFill>
                <a:effectLst/>
                <a:latin typeface="JetBrains Mono"/>
              </a:rPr>
              <a:t>len</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dataloader</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BCBEC4"/>
                </a:solidFill>
                <a:effectLst/>
                <a:latin typeface="JetBrains Mono"/>
              </a:rPr>
              <a:t>model.eval</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BCBEC4"/>
                </a:solidFill>
                <a:effectLst/>
                <a:latin typeface="JetBrains Mono"/>
              </a:rPr>
              <a:t>test_loss</a:t>
            </a:r>
            <a:r>
              <a:rPr lang="en-US" altLang="zh-TW" sz="1800" dirty="0">
                <a:solidFill>
                  <a:srgbClr val="BCBEC4"/>
                </a:solidFill>
                <a:effectLst/>
                <a:latin typeface="JetBrains Mono"/>
              </a:rPr>
              <a:t>, correct = </a:t>
            </a:r>
            <a:r>
              <a:rPr lang="en-US" altLang="zh-TW" sz="1800" dirty="0">
                <a:solidFill>
                  <a:srgbClr val="2AACB8"/>
                </a:solidFill>
                <a:effectLst/>
                <a:latin typeface="JetBrains Mono"/>
              </a:rPr>
              <a:t>0</a:t>
            </a:r>
            <a:r>
              <a:rPr lang="en-US" altLang="zh-TW" sz="1800" dirty="0">
                <a:solidFill>
                  <a:srgbClr val="BCBEC4"/>
                </a:solidFill>
                <a:effectLst/>
                <a:latin typeface="JetBrains Mono"/>
              </a:rPr>
              <a:t>, </a:t>
            </a:r>
            <a:r>
              <a:rPr lang="en-US" altLang="zh-TW" sz="1800" dirty="0">
                <a:solidFill>
                  <a:srgbClr val="2AACB8"/>
                </a:solidFill>
                <a:effectLst/>
                <a:latin typeface="JetBrains Mono"/>
              </a:rPr>
              <a:t>0</a:t>
            </a:r>
            <a:br>
              <a:rPr lang="en-US" altLang="zh-TW" sz="1800" dirty="0">
                <a:solidFill>
                  <a:srgbClr val="2AACB8"/>
                </a:solidFill>
                <a:effectLst/>
                <a:latin typeface="JetBrains Mono"/>
              </a:rPr>
            </a:br>
            <a:r>
              <a:rPr lang="en-US" altLang="zh-TW" sz="1800" dirty="0">
                <a:solidFill>
                  <a:srgbClr val="2AACB8"/>
                </a:solidFill>
                <a:effectLst/>
                <a:latin typeface="JetBrains Mono"/>
              </a:rPr>
              <a:t>    </a:t>
            </a:r>
            <a:r>
              <a:rPr lang="en-US" altLang="zh-TW" sz="1800" dirty="0">
                <a:solidFill>
                  <a:srgbClr val="CF8E6D"/>
                </a:solidFill>
                <a:effectLst/>
                <a:latin typeface="JetBrains Mono"/>
              </a:rPr>
              <a:t>with </a:t>
            </a:r>
            <a:r>
              <a:rPr lang="en-US" altLang="zh-TW" sz="1800" dirty="0" err="1">
                <a:solidFill>
                  <a:srgbClr val="BCBEC4"/>
                </a:solidFill>
                <a:effectLst/>
                <a:latin typeface="JetBrains Mono"/>
              </a:rPr>
              <a:t>torch.no_grad</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CF8E6D"/>
                </a:solidFill>
                <a:effectLst/>
                <a:latin typeface="JetBrains Mono"/>
              </a:rPr>
              <a:t>for </a:t>
            </a:r>
            <a:r>
              <a:rPr lang="en-US" altLang="zh-TW" sz="1800" dirty="0">
                <a:solidFill>
                  <a:srgbClr val="BCBEC4"/>
                </a:solidFill>
                <a:effectLst/>
                <a:latin typeface="JetBrains Mono"/>
              </a:rPr>
              <a:t>X, y </a:t>
            </a:r>
            <a:r>
              <a:rPr lang="en-US" altLang="zh-TW" sz="1800" dirty="0">
                <a:solidFill>
                  <a:srgbClr val="CF8E6D"/>
                </a:solidFill>
                <a:effectLst/>
                <a:latin typeface="JetBrains Mono"/>
              </a:rPr>
              <a:t>in </a:t>
            </a:r>
            <a:r>
              <a:rPr lang="en-US" altLang="zh-TW" sz="1800" dirty="0" err="1">
                <a:solidFill>
                  <a:srgbClr val="BCBEC4"/>
                </a:solidFill>
                <a:effectLst/>
                <a:latin typeface="JetBrains Mono"/>
              </a:rPr>
              <a:t>dataloader</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X, y = X.to(device), y.to(device)</a:t>
            </a:r>
            <a:br>
              <a:rPr lang="en-US" altLang="zh-TW" sz="1800" dirty="0">
                <a:solidFill>
                  <a:srgbClr val="BCBEC4"/>
                </a:solidFill>
                <a:effectLst/>
                <a:latin typeface="JetBrains Mono"/>
              </a:rPr>
            </a:br>
            <a:r>
              <a:rPr lang="en-US" altLang="zh-TW" sz="1800" dirty="0">
                <a:solidFill>
                  <a:srgbClr val="BCBEC4"/>
                </a:solidFill>
                <a:effectLst/>
                <a:latin typeface="JetBrains Mono"/>
              </a:rPr>
              <a:t>            pred = model(X)</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BCBEC4"/>
                </a:solidFill>
                <a:effectLst/>
                <a:latin typeface="JetBrains Mono"/>
              </a:rPr>
              <a:t>test_loss</a:t>
            </a:r>
            <a:r>
              <a:rPr lang="en-US" altLang="zh-TW" sz="1800" dirty="0">
                <a:solidFill>
                  <a:srgbClr val="BCBEC4"/>
                </a:solidFill>
                <a:effectLst/>
                <a:latin typeface="JetBrains Mono"/>
              </a:rPr>
              <a:t> += </a:t>
            </a:r>
            <a:r>
              <a:rPr lang="en-US" altLang="zh-TW" sz="1800" dirty="0" err="1">
                <a:solidFill>
                  <a:srgbClr val="BCBEC4"/>
                </a:solidFill>
                <a:effectLst/>
                <a:latin typeface="JetBrains Mono"/>
              </a:rPr>
              <a:t>loss_fn</a:t>
            </a:r>
            <a:r>
              <a:rPr lang="en-US" altLang="zh-TW" sz="1800" dirty="0">
                <a:solidFill>
                  <a:srgbClr val="BCBEC4"/>
                </a:solidFill>
                <a:effectLst/>
                <a:latin typeface="JetBrains Mono"/>
              </a:rPr>
              <a:t>(pred, y).item()</a:t>
            </a:r>
            <a:br>
              <a:rPr lang="en-US" altLang="zh-TW" sz="1800" dirty="0">
                <a:solidFill>
                  <a:srgbClr val="BCBEC4"/>
                </a:solidFill>
                <a:effectLst/>
                <a:latin typeface="JetBrains Mono"/>
              </a:rPr>
            </a:br>
            <a:r>
              <a:rPr lang="en-US" altLang="zh-TW" sz="1800" dirty="0">
                <a:solidFill>
                  <a:srgbClr val="BCBEC4"/>
                </a:solidFill>
                <a:effectLst/>
                <a:latin typeface="JetBrains Mono"/>
              </a:rPr>
              <a:t>            correct += (</a:t>
            </a:r>
            <a:r>
              <a:rPr lang="en-US" altLang="zh-TW" sz="1800" dirty="0" err="1">
                <a:solidFill>
                  <a:srgbClr val="BCBEC4"/>
                </a:solidFill>
                <a:effectLst/>
                <a:latin typeface="JetBrains Mono"/>
              </a:rPr>
              <a:t>pred.argmax</a:t>
            </a:r>
            <a:r>
              <a:rPr lang="en-US" altLang="zh-TW" sz="1800" dirty="0">
                <a:solidFill>
                  <a:srgbClr val="BCBEC4"/>
                </a:solidFill>
                <a:effectLst/>
                <a:latin typeface="JetBrains Mono"/>
              </a:rPr>
              <a:t>(</a:t>
            </a:r>
            <a:r>
              <a:rPr lang="en-US" altLang="zh-TW" sz="1800" dirty="0">
                <a:solidFill>
                  <a:srgbClr val="2AACB8"/>
                </a:solidFill>
                <a:effectLst/>
                <a:latin typeface="JetBrains Mono"/>
              </a:rPr>
              <a:t>1</a:t>
            </a:r>
            <a:r>
              <a:rPr lang="en-US" altLang="zh-TW" sz="1800" dirty="0">
                <a:solidFill>
                  <a:srgbClr val="BCBEC4"/>
                </a:solidFill>
                <a:effectLst/>
                <a:latin typeface="JetBrains Mono"/>
              </a:rPr>
              <a:t>) == y).type(</a:t>
            </a:r>
            <a:r>
              <a:rPr lang="en-US" altLang="zh-TW" sz="1800" dirty="0" err="1">
                <a:solidFill>
                  <a:srgbClr val="BCBEC4"/>
                </a:solidFill>
                <a:effectLst/>
                <a:latin typeface="JetBrains Mono"/>
              </a:rPr>
              <a:t>torch.float</a:t>
            </a:r>
            <a:r>
              <a:rPr lang="en-US" altLang="zh-TW" sz="1800" dirty="0">
                <a:solidFill>
                  <a:srgbClr val="BCBEC4"/>
                </a:solidFill>
                <a:effectLst/>
                <a:latin typeface="JetBrains Mono"/>
              </a:rPr>
              <a:t>).sum().item()</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BCBEC4"/>
                </a:solidFill>
                <a:effectLst/>
                <a:latin typeface="JetBrains Mono"/>
              </a:rPr>
              <a:t>test_loss</a:t>
            </a:r>
            <a:r>
              <a:rPr lang="en-US" altLang="zh-TW" sz="1800" dirty="0">
                <a:solidFill>
                  <a:srgbClr val="BCBEC4"/>
                </a:solidFill>
                <a:effectLst/>
                <a:latin typeface="JetBrains Mono"/>
              </a:rPr>
              <a:t> /= </a:t>
            </a:r>
            <a:r>
              <a:rPr lang="en-US" altLang="zh-TW" sz="1800" dirty="0" err="1">
                <a:solidFill>
                  <a:srgbClr val="BCBEC4"/>
                </a:solidFill>
                <a:effectLst/>
                <a:latin typeface="JetBrains Mono"/>
              </a:rPr>
              <a:t>num_batches</a:t>
            </a:r>
            <a:br>
              <a:rPr lang="en-US" altLang="zh-TW" sz="1800" dirty="0">
                <a:solidFill>
                  <a:srgbClr val="BCBEC4"/>
                </a:solidFill>
                <a:effectLst/>
                <a:latin typeface="JetBrains Mono"/>
              </a:rPr>
            </a:br>
            <a:r>
              <a:rPr lang="en-US" altLang="zh-TW" sz="1800" dirty="0">
                <a:solidFill>
                  <a:srgbClr val="BCBEC4"/>
                </a:solidFill>
                <a:effectLst/>
                <a:latin typeface="JetBrains Mono"/>
              </a:rPr>
              <a:t>    correct /= size</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8888C6"/>
                </a:solidFill>
                <a:effectLst/>
                <a:latin typeface="JetBrains Mono"/>
              </a:rPr>
              <a:t>print</a:t>
            </a:r>
            <a:r>
              <a:rPr lang="en-US" altLang="zh-TW" sz="1800" dirty="0">
                <a:solidFill>
                  <a:srgbClr val="BCBEC4"/>
                </a:solidFill>
                <a:effectLst/>
                <a:latin typeface="JetBrains Mono"/>
              </a:rPr>
              <a:t>(</a:t>
            </a:r>
            <a:r>
              <a:rPr lang="en-US" altLang="zh-TW" sz="1800" dirty="0" err="1">
                <a:solidFill>
                  <a:srgbClr val="6AAB73"/>
                </a:solidFill>
                <a:effectLst/>
                <a:latin typeface="JetBrains Mono"/>
              </a:rPr>
              <a:t>f"Test</a:t>
            </a:r>
            <a:r>
              <a:rPr lang="en-US" altLang="zh-TW" sz="1800" dirty="0">
                <a:solidFill>
                  <a:srgbClr val="6AAB73"/>
                </a:solidFill>
                <a:effectLst/>
                <a:latin typeface="JetBrains Mono"/>
              </a:rPr>
              <a:t> Error: </a:t>
            </a:r>
            <a:r>
              <a:rPr lang="en-US" altLang="zh-TW" sz="1800" dirty="0">
                <a:solidFill>
                  <a:srgbClr val="CF8E6D"/>
                </a:solidFill>
                <a:effectLst/>
                <a:latin typeface="JetBrains Mono"/>
              </a:rPr>
              <a:t>\n</a:t>
            </a:r>
            <a:r>
              <a:rPr lang="en-US" altLang="zh-TW" sz="1800" dirty="0">
                <a:solidFill>
                  <a:srgbClr val="6AAB73"/>
                </a:solidFill>
                <a:effectLst/>
                <a:latin typeface="JetBrains Mono"/>
              </a:rPr>
              <a:t> Accuracy: </a:t>
            </a:r>
            <a:r>
              <a:rPr lang="en-US" altLang="zh-TW" sz="1800" dirty="0">
                <a:solidFill>
                  <a:srgbClr val="CF8E6D"/>
                </a:solidFill>
                <a:effectLst/>
                <a:latin typeface="JetBrains Mono"/>
              </a:rPr>
              <a:t>{</a:t>
            </a:r>
            <a:r>
              <a:rPr lang="en-US" altLang="zh-TW" sz="1800" dirty="0">
                <a:solidFill>
                  <a:srgbClr val="BCBEC4"/>
                </a:solidFill>
                <a:effectLst/>
                <a:latin typeface="JetBrains Mono"/>
              </a:rPr>
              <a:t>(</a:t>
            </a:r>
            <a:r>
              <a:rPr lang="en-US" altLang="zh-TW" sz="1800" dirty="0">
                <a:solidFill>
                  <a:srgbClr val="2AACB8"/>
                </a:solidFill>
                <a:effectLst/>
                <a:latin typeface="JetBrains Mono"/>
              </a:rPr>
              <a:t>100</a:t>
            </a:r>
            <a:r>
              <a:rPr lang="en-US" altLang="zh-TW" sz="1800" dirty="0">
                <a:solidFill>
                  <a:srgbClr val="BCBEC4"/>
                </a:solidFill>
                <a:effectLst/>
                <a:latin typeface="JetBrains Mono"/>
              </a:rPr>
              <a:t>*correct)</a:t>
            </a:r>
            <a:r>
              <a:rPr lang="en-US" altLang="zh-TW" sz="1800" dirty="0">
                <a:solidFill>
                  <a:srgbClr val="CF8E6D"/>
                </a:solidFill>
                <a:effectLst/>
                <a:latin typeface="JetBrains Mono"/>
              </a:rPr>
              <a:t>:</a:t>
            </a:r>
            <a:r>
              <a:rPr lang="en-US" altLang="zh-TW" sz="1800" dirty="0">
                <a:solidFill>
                  <a:srgbClr val="6AAB73"/>
                </a:solidFill>
                <a:effectLst/>
                <a:latin typeface="JetBrains Mono"/>
              </a:rPr>
              <a:t>&gt;0.1f</a:t>
            </a:r>
            <a:r>
              <a:rPr lang="en-US" altLang="zh-TW" sz="1800" dirty="0">
                <a:solidFill>
                  <a:srgbClr val="CF8E6D"/>
                </a:solidFill>
                <a:effectLst/>
                <a:latin typeface="JetBrains Mono"/>
              </a:rPr>
              <a:t>}</a:t>
            </a:r>
            <a:r>
              <a:rPr lang="en-US" altLang="zh-TW" sz="1800" dirty="0">
                <a:solidFill>
                  <a:srgbClr val="6AAB73"/>
                </a:solidFill>
                <a:effectLst/>
                <a:latin typeface="JetBrains Mono"/>
              </a:rPr>
              <a:t>%, Avg loss: </a:t>
            </a:r>
            <a:r>
              <a:rPr lang="en-US" altLang="zh-TW" sz="1800" dirty="0">
                <a:solidFill>
                  <a:srgbClr val="CF8E6D"/>
                </a:solidFill>
                <a:effectLst/>
                <a:latin typeface="JetBrains Mono"/>
              </a:rPr>
              <a:t>{</a:t>
            </a:r>
            <a:r>
              <a:rPr lang="en-US" altLang="zh-TW" sz="1800" dirty="0" err="1">
                <a:solidFill>
                  <a:srgbClr val="BCBEC4"/>
                </a:solidFill>
                <a:effectLst/>
                <a:latin typeface="JetBrains Mono"/>
              </a:rPr>
              <a:t>test_loss</a:t>
            </a:r>
            <a:r>
              <a:rPr lang="en-US" altLang="zh-TW" sz="1800" dirty="0">
                <a:solidFill>
                  <a:srgbClr val="CF8E6D"/>
                </a:solidFill>
                <a:effectLst/>
                <a:latin typeface="JetBrains Mono"/>
              </a:rPr>
              <a:t>:</a:t>
            </a:r>
            <a:r>
              <a:rPr lang="en-US" altLang="zh-TW" sz="1800" dirty="0">
                <a:solidFill>
                  <a:srgbClr val="6AAB73"/>
                </a:solidFill>
                <a:effectLst/>
                <a:latin typeface="JetBrains Mono"/>
              </a:rPr>
              <a:t>&gt;8f</a:t>
            </a:r>
            <a:r>
              <a:rPr lang="en-US" altLang="zh-TW" sz="1800" dirty="0">
                <a:solidFill>
                  <a:srgbClr val="CF8E6D"/>
                </a:solidFill>
                <a:effectLst/>
                <a:latin typeface="JetBrains Mono"/>
              </a:rPr>
              <a:t>} \n</a:t>
            </a:r>
            <a:r>
              <a:rPr lang="en-US" altLang="zh-TW" sz="1800" dirty="0">
                <a:solidFill>
                  <a:srgbClr val="6AAB73"/>
                </a:solidFill>
                <a:effectLst/>
                <a:latin typeface="JetBrains Mono"/>
              </a:rPr>
              <a:t>"</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CF8E6D"/>
                </a:solidFill>
                <a:effectLst/>
                <a:latin typeface="JetBrains Mono"/>
              </a:rPr>
              <a:t>if </a:t>
            </a:r>
            <a:r>
              <a:rPr lang="en-US" altLang="zh-TW" sz="1800" dirty="0">
                <a:solidFill>
                  <a:srgbClr val="BCBEC4"/>
                </a:solidFill>
                <a:effectLst/>
                <a:latin typeface="JetBrains Mono"/>
              </a:rPr>
              <a:t>__name__ == </a:t>
            </a:r>
            <a:r>
              <a:rPr lang="en-US" altLang="zh-TW" sz="1800" dirty="0">
                <a:solidFill>
                  <a:srgbClr val="6AAB73"/>
                </a:solidFill>
                <a:effectLst/>
                <a:latin typeface="JetBrains Mono"/>
              </a:rPr>
              <a:t>"__main__"</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epochs = </a:t>
            </a:r>
            <a:r>
              <a:rPr lang="en-US" altLang="zh-TW" sz="1800" dirty="0">
                <a:solidFill>
                  <a:srgbClr val="2AACB8"/>
                </a:solidFill>
                <a:effectLst/>
                <a:latin typeface="JetBrains Mono"/>
              </a:rPr>
              <a:t>10</a:t>
            </a:r>
            <a:br>
              <a:rPr lang="en-US" altLang="zh-TW" sz="1800" dirty="0">
                <a:solidFill>
                  <a:srgbClr val="2AACB8"/>
                </a:solidFill>
                <a:effectLst/>
                <a:latin typeface="JetBrains Mono"/>
              </a:rPr>
            </a:br>
            <a:r>
              <a:rPr lang="en-US" altLang="zh-TW" sz="1800" dirty="0">
                <a:solidFill>
                  <a:srgbClr val="2AACB8"/>
                </a:solidFill>
                <a:effectLst/>
                <a:latin typeface="JetBrains Mono"/>
              </a:rPr>
              <a:t>    </a:t>
            </a:r>
            <a:r>
              <a:rPr lang="en-US" altLang="zh-TW" sz="1800" dirty="0" err="1">
                <a:solidFill>
                  <a:srgbClr val="BCBEC4"/>
                </a:solidFill>
                <a:effectLst/>
                <a:latin typeface="JetBrains Mono"/>
              </a:rPr>
              <a:t>start_time</a:t>
            </a:r>
            <a:r>
              <a:rPr lang="en-US" altLang="zh-TW" sz="1800" dirty="0">
                <a:solidFill>
                  <a:srgbClr val="BCBEC4"/>
                </a:solidFill>
                <a:effectLst/>
                <a:latin typeface="JetBrains Mono"/>
              </a:rPr>
              <a:t> = </a:t>
            </a:r>
            <a:r>
              <a:rPr lang="en-US" altLang="zh-TW" sz="1800" dirty="0" err="1">
                <a:solidFill>
                  <a:srgbClr val="BCBEC4"/>
                </a:solidFill>
                <a:effectLst/>
                <a:latin typeface="JetBrains Mono"/>
              </a:rPr>
              <a:t>time.time</a:t>
            </a:r>
            <a:r>
              <a:rPr lang="en-US" altLang="zh-TW" sz="1800" dirty="0">
                <a:solidFill>
                  <a:srgbClr val="BCBEC4"/>
                </a:solidFill>
                <a:effectLst/>
                <a:latin typeface="JetBrains Mono"/>
              </a:rPr>
              <a:t>()  </a:t>
            </a:r>
            <a:r>
              <a:rPr lang="en-US" altLang="zh-TW" sz="1800" dirty="0">
                <a:solidFill>
                  <a:srgbClr val="7A7E85"/>
                </a:solidFill>
                <a:effectLst/>
                <a:latin typeface="JetBrains Mono"/>
              </a:rPr>
              <a:t># </a:t>
            </a:r>
            <a:r>
              <a:rPr lang="zh-TW" altLang="en-US" sz="1800" dirty="0">
                <a:solidFill>
                  <a:srgbClr val="7A7E85"/>
                </a:solidFill>
                <a:effectLst/>
                <a:latin typeface="Courier New" panose="02070309020205020404" pitchFamily="49" charset="0"/>
              </a:rPr>
              <a:t>記錄開始時間</a:t>
            </a:r>
            <a:br>
              <a:rPr lang="zh-TW" altLang="en-US" sz="1800" dirty="0">
                <a:solidFill>
                  <a:srgbClr val="7A7E85"/>
                </a:solidFill>
                <a:effectLst/>
                <a:latin typeface="Courier New" panose="02070309020205020404" pitchFamily="49" charset="0"/>
              </a:rPr>
            </a:br>
            <a:br>
              <a:rPr lang="zh-TW" altLang="en-US" sz="1800" dirty="0">
                <a:solidFill>
                  <a:srgbClr val="7A7E85"/>
                </a:solidFill>
                <a:effectLst/>
                <a:latin typeface="Courier New" panose="02070309020205020404" pitchFamily="49" charset="0"/>
              </a:rPr>
            </a:br>
            <a:r>
              <a:rPr lang="zh-TW" altLang="en-US" sz="1800" dirty="0">
                <a:solidFill>
                  <a:srgbClr val="7A7E85"/>
                </a:solidFill>
                <a:effectLst/>
                <a:latin typeface="JetBrains Mono"/>
              </a:rPr>
              <a:t>    </a:t>
            </a:r>
            <a:r>
              <a:rPr lang="en-US" altLang="zh-TW" sz="1800" dirty="0">
                <a:solidFill>
                  <a:srgbClr val="CF8E6D"/>
                </a:solidFill>
                <a:effectLst/>
                <a:latin typeface="JetBrains Mono"/>
              </a:rPr>
              <a:t>for </a:t>
            </a:r>
            <a:r>
              <a:rPr lang="en-US" altLang="zh-TW" sz="1800" dirty="0">
                <a:solidFill>
                  <a:srgbClr val="BCBEC4"/>
                </a:solidFill>
                <a:effectLst/>
                <a:latin typeface="JetBrains Mono"/>
              </a:rPr>
              <a:t>t </a:t>
            </a:r>
            <a:r>
              <a:rPr lang="en-US" altLang="zh-TW" sz="1800" dirty="0">
                <a:solidFill>
                  <a:srgbClr val="CF8E6D"/>
                </a:solidFill>
                <a:effectLst/>
                <a:latin typeface="JetBrains Mono"/>
              </a:rPr>
              <a:t>in </a:t>
            </a:r>
            <a:r>
              <a:rPr lang="en-US" altLang="zh-TW" sz="1800" dirty="0">
                <a:solidFill>
                  <a:srgbClr val="8888C6"/>
                </a:solidFill>
                <a:effectLst/>
                <a:latin typeface="JetBrains Mono"/>
              </a:rPr>
              <a:t>range</a:t>
            </a:r>
            <a:r>
              <a:rPr lang="en-US" altLang="zh-TW" sz="1800" dirty="0">
                <a:solidFill>
                  <a:srgbClr val="BCBEC4"/>
                </a:solidFill>
                <a:effectLst/>
                <a:latin typeface="JetBrains Mono"/>
              </a:rPr>
              <a:t>(epochs):</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8888C6"/>
                </a:solidFill>
                <a:effectLst/>
                <a:latin typeface="JetBrains Mono"/>
              </a:rPr>
              <a:t>print</a:t>
            </a:r>
            <a:r>
              <a:rPr lang="en-US" altLang="zh-TW" sz="1800" dirty="0">
                <a:solidFill>
                  <a:srgbClr val="BCBEC4"/>
                </a:solidFill>
                <a:effectLst/>
                <a:latin typeface="JetBrains Mono"/>
              </a:rPr>
              <a:t>(</a:t>
            </a:r>
            <a:r>
              <a:rPr lang="en-US" altLang="zh-TW" sz="1800" dirty="0" err="1">
                <a:solidFill>
                  <a:srgbClr val="6AAB73"/>
                </a:solidFill>
                <a:effectLst/>
                <a:latin typeface="JetBrains Mono"/>
              </a:rPr>
              <a:t>f"Epoch</a:t>
            </a:r>
            <a:r>
              <a:rPr lang="en-US" altLang="zh-TW" sz="1800" dirty="0">
                <a:solidFill>
                  <a:srgbClr val="6AAB73"/>
                </a:solidFill>
                <a:effectLst/>
                <a:latin typeface="JetBrains Mono"/>
              </a:rPr>
              <a:t> </a:t>
            </a:r>
            <a:r>
              <a:rPr lang="en-US" altLang="zh-TW" sz="1800" dirty="0">
                <a:solidFill>
                  <a:srgbClr val="CF8E6D"/>
                </a:solidFill>
                <a:effectLst/>
                <a:latin typeface="JetBrains Mono"/>
              </a:rPr>
              <a:t>{</a:t>
            </a:r>
            <a:r>
              <a:rPr lang="en-US" altLang="zh-TW" sz="1800" dirty="0">
                <a:solidFill>
                  <a:srgbClr val="BCBEC4"/>
                </a:solidFill>
                <a:effectLst/>
                <a:latin typeface="JetBrains Mono"/>
              </a:rPr>
              <a:t>t+</a:t>
            </a:r>
            <a:r>
              <a:rPr lang="en-US" altLang="zh-TW" sz="1800" dirty="0">
                <a:solidFill>
                  <a:srgbClr val="2AACB8"/>
                </a:solidFill>
                <a:effectLst/>
                <a:latin typeface="JetBrains Mono"/>
              </a:rPr>
              <a:t>1</a:t>
            </a:r>
            <a:r>
              <a:rPr lang="en-US" altLang="zh-TW" sz="1800" dirty="0">
                <a:solidFill>
                  <a:srgbClr val="CF8E6D"/>
                </a:solidFill>
                <a:effectLst/>
                <a:latin typeface="JetBrains Mono"/>
              </a:rPr>
              <a:t>}\n</a:t>
            </a:r>
            <a:r>
              <a:rPr lang="en-US" altLang="zh-TW" sz="1800" dirty="0">
                <a:solidFill>
                  <a:srgbClr val="6AAB73"/>
                </a:solidFill>
                <a:effectLst/>
                <a:latin typeface="JetBrains Mono"/>
              </a:rPr>
              <a:t>-------------------------------"</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train(</a:t>
            </a:r>
            <a:r>
              <a:rPr lang="en-US" altLang="zh-TW" sz="1800" dirty="0" err="1">
                <a:solidFill>
                  <a:srgbClr val="BCBEC4"/>
                </a:solidFill>
                <a:effectLst/>
                <a:latin typeface="JetBrains Mono"/>
              </a:rPr>
              <a:t>train_dataloader</a:t>
            </a:r>
            <a:r>
              <a:rPr lang="en-US" altLang="zh-TW" sz="1800" dirty="0">
                <a:solidFill>
                  <a:srgbClr val="BCBEC4"/>
                </a:solidFill>
                <a:effectLst/>
                <a:latin typeface="JetBrains Mono"/>
              </a:rPr>
              <a:t>, model, </a:t>
            </a:r>
            <a:r>
              <a:rPr lang="en-US" altLang="zh-TW" sz="1800" dirty="0" err="1">
                <a:solidFill>
                  <a:srgbClr val="BCBEC4"/>
                </a:solidFill>
                <a:effectLst/>
                <a:latin typeface="JetBrains Mono"/>
              </a:rPr>
              <a:t>loss_fn</a:t>
            </a:r>
            <a:r>
              <a:rPr lang="en-US" altLang="zh-TW" sz="1800" dirty="0">
                <a:solidFill>
                  <a:srgbClr val="BCBEC4"/>
                </a:solidFill>
                <a:effectLst/>
                <a:latin typeface="JetBrains Mono"/>
              </a:rPr>
              <a:t>, optimizer)</a:t>
            </a:r>
            <a:br>
              <a:rPr lang="en-US" altLang="zh-TW" sz="1800" dirty="0">
                <a:solidFill>
                  <a:srgbClr val="BCBEC4"/>
                </a:solidFill>
                <a:effectLst/>
                <a:latin typeface="JetBrains Mono"/>
              </a:rPr>
            </a:br>
            <a:r>
              <a:rPr lang="en-US" altLang="zh-TW" sz="1800" dirty="0">
                <a:solidFill>
                  <a:srgbClr val="BCBEC4"/>
                </a:solidFill>
                <a:effectLst/>
                <a:latin typeface="JetBrains Mono"/>
              </a:rPr>
              <a:t>        test(</a:t>
            </a:r>
            <a:r>
              <a:rPr lang="en-US" altLang="zh-TW" sz="1800" dirty="0" err="1">
                <a:solidFill>
                  <a:srgbClr val="BCBEC4"/>
                </a:solidFill>
                <a:effectLst/>
                <a:latin typeface="JetBrains Mono"/>
              </a:rPr>
              <a:t>test_dataloader</a:t>
            </a:r>
            <a:r>
              <a:rPr lang="en-US" altLang="zh-TW" sz="1800" dirty="0">
                <a:solidFill>
                  <a:srgbClr val="BCBEC4"/>
                </a:solidFill>
                <a:effectLst/>
                <a:latin typeface="JetBrains Mono"/>
              </a:rPr>
              <a:t>, model, </a:t>
            </a:r>
            <a:r>
              <a:rPr lang="en-US" altLang="zh-TW" sz="1800" dirty="0" err="1">
                <a:solidFill>
                  <a:srgbClr val="BCBEC4"/>
                </a:solidFill>
                <a:effectLst/>
                <a:latin typeface="JetBrains Mono"/>
              </a:rPr>
              <a:t>loss_fn</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BCBEC4"/>
                </a:solidFill>
                <a:effectLst/>
                <a:latin typeface="JetBrains Mono"/>
              </a:rPr>
              <a:t>end_time</a:t>
            </a:r>
            <a:r>
              <a:rPr lang="en-US" altLang="zh-TW" sz="1800" dirty="0">
                <a:solidFill>
                  <a:srgbClr val="BCBEC4"/>
                </a:solidFill>
                <a:effectLst/>
                <a:latin typeface="JetBrains Mono"/>
              </a:rPr>
              <a:t> = </a:t>
            </a:r>
            <a:r>
              <a:rPr lang="en-US" altLang="zh-TW" sz="1800" dirty="0" err="1">
                <a:solidFill>
                  <a:srgbClr val="BCBEC4"/>
                </a:solidFill>
                <a:effectLst/>
                <a:latin typeface="JetBrains Mono"/>
              </a:rPr>
              <a:t>time.time</a:t>
            </a:r>
            <a:r>
              <a:rPr lang="en-US" altLang="zh-TW" sz="1800" dirty="0">
                <a:solidFill>
                  <a:srgbClr val="BCBEC4"/>
                </a:solidFill>
                <a:effectLst/>
                <a:latin typeface="JetBrains Mono"/>
              </a:rPr>
              <a:t>()  </a:t>
            </a:r>
            <a:r>
              <a:rPr lang="en-US" altLang="zh-TW" sz="1800" dirty="0">
                <a:solidFill>
                  <a:srgbClr val="7A7E85"/>
                </a:solidFill>
                <a:effectLst/>
                <a:latin typeface="JetBrains Mono"/>
              </a:rPr>
              <a:t># </a:t>
            </a:r>
            <a:r>
              <a:rPr lang="zh-TW" altLang="en-US" sz="1800" dirty="0">
                <a:solidFill>
                  <a:srgbClr val="7A7E85"/>
                </a:solidFill>
                <a:effectLst/>
                <a:latin typeface="Courier New" panose="02070309020205020404" pitchFamily="49" charset="0"/>
              </a:rPr>
              <a:t>記錄結束時間</a:t>
            </a:r>
            <a:br>
              <a:rPr lang="zh-TW" altLang="en-US" sz="1800" dirty="0">
                <a:solidFill>
                  <a:srgbClr val="7A7E85"/>
                </a:solidFill>
                <a:effectLst/>
                <a:latin typeface="Courier New" panose="02070309020205020404" pitchFamily="49" charset="0"/>
              </a:rPr>
            </a:br>
            <a:r>
              <a:rPr lang="zh-TW" altLang="en-US" sz="1800" dirty="0">
                <a:solidFill>
                  <a:srgbClr val="7A7E85"/>
                </a:solidFill>
                <a:effectLst/>
                <a:latin typeface="JetBrains Mono"/>
              </a:rPr>
              <a:t>    </a:t>
            </a:r>
            <a:r>
              <a:rPr lang="en-US" altLang="zh-TW" sz="1800" dirty="0">
                <a:solidFill>
                  <a:srgbClr val="BCBEC4"/>
                </a:solidFill>
                <a:effectLst/>
                <a:latin typeface="JetBrains Mono"/>
              </a:rPr>
              <a:t>elapsed = </a:t>
            </a:r>
            <a:r>
              <a:rPr lang="en-US" altLang="zh-TW" sz="1800" dirty="0" err="1">
                <a:solidFill>
                  <a:srgbClr val="BCBEC4"/>
                </a:solidFill>
                <a:effectLst/>
                <a:latin typeface="JetBrains Mono"/>
              </a:rPr>
              <a:t>end_time</a:t>
            </a:r>
            <a:r>
              <a:rPr lang="en-US" altLang="zh-TW" sz="1800" dirty="0">
                <a:solidFill>
                  <a:srgbClr val="BCBEC4"/>
                </a:solidFill>
                <a:effectLst/>
                <a:latin typeface="JetBrains Mono"/>
              </a:rPr>
              <a:t> - </a:t>
            </a:r>
            <a:r>
              <a:rPr lang="en-US" altLang="zh-TW" sz="1800" dirty="0" err="1">
                <a:solidFill>
                  <a:srgbClr val="BCBEC4"/>
                </a:solidFill>
                <a:effectLst/>
                <a:latin typeface="JetBrains Mono"/>
              </a:rPr>
              <a:t>start_time</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8888C6"/>
                </a:solidFill>
                <a:effectLst/>
                <a:latin typeface="JetBrains Mono"/>
              </a:rPr>
              <a:t>print</a:t>
            </a:r>
            <a:r>
              <a:rPr lang="en-US" altLang="zh-TW" sz="1800" dirty="0">
                <a:solidFill>
                  <a:srgbClr val="BCBEC4"/>
                </a:solidFill>
                <a:effectLst/>
                <a:latin typeface="JetBrains Mono"/>
              </a:rPr>
              <a:t>(</a:t>
            </a:r>
            <a:r>
              <a:rPr lang="en-US" altLang="zh-TW" sz="1800" dirty="0" err="1">
                <a:solidFill>
                  <a:srgbClr val="6AAB73"/>
                </a:solidFill>
                <a:effectLst/>
                <a:latin typeface="JetBrains Mono"/>
              </a:rPr>
              <a:t>f"Total</a:t>
            </a:r>
            <a:r>
              <a:rPr lang="en-US" altLang="zh-TW" sz="1800" dirty="0">
                <a:solidFill>
                  <a:srgbClr val="6AAB73"/>
                </a:solidFill>
                <a:effectLst/>
                <a:latin typeface="JetBrains Mono"/>
              </a:rPr>
              <a:t> training time: </a:t>
            </a:r>
            <a:r>
              <a:rPr lang="en-US" altLang="zh-TW" sz="1800" dirty="0">
                <a:solidFill>
                  <a:srgbClr val="CF8E6D"/>
                </a:solidFill>
                <a:effectLst/>
                <a:latin typeface="JetBrains Mono"/>
              </a:rPr>
              <a:t>{</a:t>
            </a:r>
            <a:r>
              <a:rPr lang="en-US" altLang="zh-TW" sz="1800" dirty="0">
                <a:solidFill>
                  <a:srgbClr val="BCBEC4"/>
                </a:solidFill>
                <a:effectLst/>
                <a:latin typeface="JetBrains Mono"/>
              </a:rPr>
              <a:t>elapsed</a:t>
            </a:r>
            <a:r>
              <a:rPr lang="en-US" altLang="zh-TW" sz="1800" dirty="0">
                <a:solidFill>
                  <a:srgbClr val="CF8E6D"/>
                </a:solidFill>
                <a:effectLst/>
                <a:latin typeface="JetBrains Mono"/>
              </a:rPr>
              <a:t>:</a:t>
            </a:r>
            <a:r>
              <a:rPr lang="en-US" altLang="zh-TW" sz="1800" dirty="0">
                <a:solidFill>
                  <a:srgbClr val="6AAB73"/>
                </a:solidFill>
                <a:effectLst/>
                <a:latin typeface="JetBrains Mono"/>
              </a:rPr>
              <a:t>.2f</a:t>
            </a:r>
            <a:r>
              <a:rPr lang="en-US" altLang="zh-TW" sz="1800" dirty="0">
                <a:solidFill>
                  <a:srgbClr val="CF8E6D"/>
                </a:solidFill>
                <a:effectLst/>
                <a:latin typeface="JetBrains Mono"/>
              </a:rPr>
              <a:t>}</a:t>
            </a:r>
            <a:r>
              <a:rPr lang="en-US" altLang="zh-TW" sz="1800" dirty="0">
                <a:solidFill>
                  <a:srgbClr val="6AAB73"/>
                </a:solidFill>
                <a:effectLst/>
                <a:latin typeface="JetBrains Mono"/>
              </a:rPr>
              <a:t> seconds (</a:t>
            </a:r>
            <a:r>
              <a:rPr lang="en-US" altLang="zh-TW" sz="1800" dirty="0">
                <a:solidFill>
                  <a:srgbClr val="CF8E6D"/>
                </a:solidFill>
                <a:effectLst/>
                <a:latin typeface="JetBrains Mono"/>
              </a:rPr>
              <a:t>{</a:t>
            </a:r>
            <a:r>
              <a:rPr lang="en-US" altLang="zh-TW" sz="1800" dirty="0">
                <a:solidFill>
                  <a:srgbClr val="BCBEC4"/>
                </a:solidFill>
                <a:effectLst/>
                <a:latin typeface="JetBrains Mono"/>
              </a:rPr>
              <a:t>elapsed / </a:t>
            </a:r>
            <a:r>
              <a:rPr lang="en-US" altLang="zh-TW" sz="1800" dirty="0">
                <a:solidFill>
                  <a:srgbClr val="2AACB8"/>
                </a:solidFill>
                <a:effectLst/>
                <a:latin typeface="JetBrains Mono"/>
              </a:rPr>
              <a:t>60</a:t>
            </a:r>
            <a:r>
              <a:rPr lang="en-US" altLang="zh-TW" sz="1800" dirty="0">
                <a:solidFill>
                  <a:srgbClr val="CF8E6D"/>
                </a:solidFill>
                <a:effectLst/>
                <a:latin typeface="JetBrains Mono"/>
              </a:rPr>
              <a:t>:</a:t>
            </a:r>
            <a:r>
              <a:rPr lang="en-US" altLang="zh-TW" sz="1800" dirty="0">
                <a:solidFill>
                  <a:srgbClr val="6AAB73"/>
                </a:solidFill>
                <a:effectLst/>
                <a:latin typeface="JetBrains Mono"/>
              </a:rPr>
              <a:t>.2f</a:t>
            </a:r>
            <a:r>
              <a:rPr lang="en-US" altLang="zh-TW" sz="1800" dirty="0">
                <a:solidFill>
                  <a:srgbClr val="CF8E6D"/>
                </a:solidFill>
                <a:effectLst/>
                <a:latin typeface="JetBrains Mono"/>
              </a:rPr>
              <a:t>}</a:t>
            </a:r>
            <a:r>
              <a:rPr lang="en-US" altLang="zh-TW" sz="1800" dirty="0">
                <a:solidFill>
                  <a:srgbClr val="6AAB73"/>
                </a:solidFill>
                <a:effectLst/>
                <a:latin typeface="JetBrains Mono"/>
              </a:rPr>
              <a:t> minutes)"</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8888C6"/>
                </a:solidFill>
                <a:effectLst/>
                <a:latin typeface="JetBrains Mono"/>
              </a:rPr>
              <a:t>print</a:t>
            </a:r>
            <a:r>
              <a:rPr lang="en-US" altLang="zh-TW" sz="1800" dirty="0">
                <a:solidFill>
                  <a:srgbClr val="BCBEC4"/>
                </a:solidFill>
                <a:effectLst/>
                <a:latin typeface="JetBrains Mono"/>
              </a:rPr>
              <a:t>(</a:t>
            </a:r>
            <a:r>
              <a:rPr lang="en-US" altLang="zh-TW" sz="1800" dirty="0">
                <a:solidFill>
                  <a:srgbClr val="6AAB73"/>
                </a:solidFill>
                <a:effectLst/>
                <a:latin typeface="JetBrains Mono"/>
              </a:rPr>
              <a:t>"Done!"</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br>
              <a:rPr lang="en-US" altLang="zh-TW" sz="1800" dirty="0">
                <a:solidFill>
                  <a:srgbClr val="BCBEC4"/>
                </a:solidFill>
                <a:effectLst/>
                <a:latin typeface="JetBrains Mono"/>
              </a:rPr>
            </a:br>
            <a:br>
              <a:rPr lang="en-US" altLang="zh-TW" sz="1800" dirty="0">
                <a:solidFill>
                  <a:srgbClr val="BCBEC4"/>
                </a:solidFill>
                <a:effectLst/>
                <a:latin typeface="JetBrains Mono"/>
              </a:rPr>
            </a:br>
            <a:br>
              <a:rPr lang="en-US" altLang="zh-TW" sz="1800" dirty="0">
                <a:solidFill>
                  <a:srgbClr val="BCBEC4"/>
                </a:solidFill>
                <a:effectLst/>
                <a:latin typeface="JetBrains Mono"/>
              </a:rPr>
            </a:br>
            <a:endParaRPr lang="en-US" altLang="zh-TW" sz="1800" dirty="0">
              <a:solidFill>
                <a:srgbClr val="BCBEC4"/>
              </a:solidFill>
              <a:effectLst/>
              <a:latin typeface="JetBrains Mono"/>
            </a:endParaRPr>
          </a:p>
        </p:txBody>
      </p:sp>
      <p:sp>
        <p:nvSpPr>
          <p:cNvPr id="2" name="標題 1">
            <a:extLst>
              <a:ext uri="{FF2B5EF4-FFF2-40B4-BE49-F238E27FC236}">
                <a16:creationId xmlns:a16="http://schemas.microsoft.com/office/drawing/2014/main" id="{17609EF8-E730-A515-9B43-D1E049566DD7}"/>
              </a:ext>
            </a:extLst>
          </p:cNvPr>
          <p:cNvSpPr>
            <a:spLocks noGrp="1"/>
          </p:cNvSpPr>
          <p:nvPr>
            <p:ph type="title"/>
          </p:nvPr>
        </p:nvSpPr>
        <p:spPr>
          <a:xfrm>
            <a:off x="0" y="0"/>
            <a:ext cx="12192000" cy="1694681"/>
          </a:xfrm>
          <a:solidFill>
            <a:schemeClr val="accent5">
              <a:lumMod val="20000"/>
              <a:lumOff val="80000"/>
            </a:schemeClr>
          </a:solidFill>
        </p:spPr>
        <p:txBody>
          <a:bodyPr>
            <a:normAutofit/>
          </a:bodyPr>
          <a:lstStyle/>
          <a:p>
            <a:pPr algn="ctr"/>
            <a:r>
              <a:rPr lang="en-US" altLang="zh-TW" sz="6000" dirty="0"/>
              <a:t>Lab</a:t>
            </a:r>
            <a:r>
              <a:rPr lang="zh-TW" altLang="en-US" sz="6000" dirty="0"/>
              <a:t> </a:t>
            </a:r>
            <a:r>
              <a:rPr lang="en-US" altLang="zh-TW" sz="6000" dirty="0"/>
              <a:t>1 mnistMLP.py</a:t>
            </a:r>
            <a:endParaRPr lang="zh-TW" altLang="en-US" sz="6000" dirty="0"/>
          </a:p>
        </p:txBody>
      </p:sp>
    </p:spTree>
    <p:extLst>
      <p:ext uri="{BB962C8B-B14F-4D97-AF65-F5344CB8AC3E}">
        <p14:creationId xmlns:p14="http://schemas.microsoft.com/office/powerpoint/2010/main" val="11192895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018998D-1136-8CAA-50C1-E785B8FCAA35}"/>
              </a:ext>
            </a:extLst>
          </p:cNvPr>
          <p:cNvSpPr>
            <a:spLocks noGrp="1"/>
          </p:cNvSpPr>
          <p:nvPr>
            <p:ph type="title"/>
          </p:nvPr>
        </p:nvSpPr>
        <p:spPr>
          <a:xfrm>
            <a:off x="505279" y="407392"/>
            <a:ext cx="10515600" cy="1658470"/>
          </a:xfrm>
        </p:spPr>
        <p:txBody>
          <a:bodyPr anchor="ctr">
            <a:normAutofit/>
          </a:bodyPr>
          <a:lstStyle/>
          <a:p>
            <a:pPr algn="ctr"/>
            <a:r>
              <a:rPr lang="en-US" altLang="zh-TW" b="1" dirty="0"/>
              <a:t>MLP MNIST Classification </a:t>
            </a:r>
            <a:endParaRPr lang="zh-TW" altLang="en-US" b="1" i="1" dirty="0"/>
          </a:p>
        </p:txBody>
      </p:sp>
      <p:sp>
        <p:nvSpPr>
          <p:cNvPr id="3" name="文字版面配置區 2">
            <a:extLst>
              <a:ext uri="{FF2B5EF4-FFF2-40B4-BE49-F238E27FC236}">
                <a16:creationId xmlns:a16="http://schemas.microsoft.com/office/drawing/2014/main" id="{E7C80F82-B937-FF73-3FC2-D80C67201987}"/>
              </a:ext>
            </a:extLst>
          </p:cNvPr>
          <p:cNvSpPr>
            <a:spLocks noGrp="1"/>
          </p:cNvSpPr>
          <p:nvPr>
            <p:ph type="body" idx="1"/>
          </p:nvPr>
        </p:nvSpPr>
        <p:spPr>
          <a:xfrm>
            <a:off x="831850" y="2403835"/>
            <a:ext cx="10515600" cy="3685816"/>
          </a:xfrm>
        </p:spPr>
        <p:txBody>
          <a:bodyPr>
            <a:normAutofit lnSpcReduction="10000"/>
          </a:bodyPr>
          <a:lstStyle/>
          <a:p>
            <a:pPr marL="342900" indent="-342900">
              <a:buFont typeface="Arial" panose="020B0604020202020204" pitchFamily="34" charset="0"/>
              <a:buChar char="•"/>
            </a:pPr>
            <a:r>
              <a:rPr lang="en-US" altLang="zh-TW" dirty="0">
                <a:solidFill>
                  <a:schemeClr val="tx1"/>
                </a:solidFill>
              </a:rPr>
              <a:t>Find the problem to be solve (tool to be provided)</a:t>
            </a:r>
          </a:p>
          <a:p>
            <a:pPr marL="800100" lvl="1" indent="-342900">
              <a:buFont typeface="Arial" panose="020B0604020202020204" pitchFamily="34" charset="0"/>
              <a:buChar char="•"/>
            </a:pPr>
            <a:r>
              <a:rPr lang="en-US" altLang="zh-TW" dirty="0">
                <a:solidFill>
                  <a:schemeClr val="tx1"/>
                </a:solidFill>
              </a:rPr>
              <a:t>Example: Build an automatic letter dispatching system</a:t>
            </a:r>
          </a:p>
          <a:p>
            <a:pPr marL="1257300" lvl="2" indent="-342900">
              <a:buFont typeface="Arial" panose="020B0604020202020204" pitchFamily="34" charset="0"/>
              <a:buChar char="•"/>
            </a:pPr>
            <a:r>
              <a:rPr lang="en-US" altLang="zh-TW" dirty="0">
                <a:solidFill>
                  <a:schemeClr val="tx1"/>
                </a:solidFill>
              </a:rPr>
              <a:t>Kernel program: zip code recognition (</a:t>
            </a:r>
            <a:r>
              <a:rPr lang="zh-TW" altLang="en-US" dirty="0">
                <a:solidFill>
                  <a:schemeClr val="tx1"/>
                </a:solidFill>
              </a:rPr>
              <a:t>郵遞區號辨識</a:t>
            </a:r>
            <a:r>
              <a:rPr lang="en-US" altLang="zh-TW" dirty="0">
                <a:solidFill>
                  <a:schemeClr val="tx1"/>
                </a:solidFill>
              </a:rPr>
              <a:t>)</a:t>
            </a:r>
          </a:p>
          <a:p>
            <a:pPr marL="1257300" lvl="2" indent="-342900">
              <a:buFont typeface="Arial" panose="020B0604020202020204" pitchFamily="34" charset="0"/>
              <a:buChar char="•"/>
            </a:pPr>
            <a:r>
              <a:rPr lang="zh-TW" altLang="en-US" dirty="0">
                <a:solidFill>
                  <a:schemeClr val="tx1"/>
                </a:solidFill>
              </a:rPr>
              <a:t>學習辨識</a:t>
            </a:r>
            <a:r>
              <a:rPr lang="en-US" altLang="zh-TW" dirty="0">
                <a:solidFill>
                  <a:schemeClr val="tx1"/>
                </a:solidFill>
              </a:rPr>
              <a:t>1</a:t>
            </a:r>
            <a:r>
              <a:rPr lang="zh-TW" altLang="en-US" dirty="0">
                <a:solidFill>
                  <a:schemeClr val="tx1"/>
                </a:solidFill>
              </a:rPr>
              <a:t>張</a:t>
            </a:r>
            <a:r>
              <a:rPr lang="en-US" altLang="zh-TW" dirty="0">
                <a:solidFill>
                  <a:schemeClr val="tx1"/>
                </a:solidFill>
              </a:rPr>
              <a:t>28</a:t>
            </a:r>
            <a:r>
              <a:rPr lang="en-US" altLang="zh-TW" dirty="0">
                <a:solidFill>
                  <a:schemeClr val="tx1"/>
                </a:solidFill>
                <a:sym typeface="Symbol" panose="05050102010706020507" pitchFamily="18" charset="2"/>
              </a:rPr>
              <a:t></a:t>
            </a:r>
            <a:r>
              <a:rPr lang="en-US" altLang="zh-TW" dirty="0">
                <a:solidFill>
                  <a:schemeClr val="tx1"/>
                </a:solidFill>
              </a:rPr>
              <a:t>28</a:t>
            </a:r>
            <a:r>
              <a:rPr lang="zh-TW" altLang="en-US" dirty="0">
                <a:solidFill>
                  <a:schemeClr val="tx1"/>
                </a:solidFill>
              </a:rPr>
              <a:t>圖片的內容是</a:t>
            </a:r>
            <a:r>
              <a:rPr lang="en-US" altLang="zh-TW" dirty="0">
                <a:solidFill>
                  <a:schemeClr val="tx1"/>
                </a:solidFill>
              </a:rPr>
              <a:t>0, 1, 2, …, or 9?</a:t>
            </a:r>
          </a:p>
          <a:p>
            <a:pPr marL="1257300" lvl="2" indent="-342900">
              <a:buFont typeface="Arial" panose="020B0604020202020204" pitchFamily="34" charset="0"/>
              <a:buChar char="•"/>
            </a:pPr>
            <a:r>
              <a:rPr lang="zh-TW" altLang="en-US" dirty="0">
                <a:solidFill>
                  <a:schemeClr val="tx1"/>
                </a:solidFill>
              </a:rPr>
              <a:t>用</a:t>
            </a:r>
            <a:r>
              <a:rPr lang="en-US" altLang="zh-TW" dirty="0" err="1">
                <a:solidFill>
                  <a:schemeClr val="tx1"/>
                </a:solidFill>
              </a:rPr>
              <a:t>FashionMNIST</a:t>
            </a:r>
            <a:r>
              <a:rPr lang="en-US" altLang="zh-TW" dirty="0">
                <a:solidFill>
                  <a:schemeClr val="tx1"/>
                </a:solidFill>
              </a:rPr>
              <a:t> dataset/ Multilayer </a:t>
            </a:r>
            <a:r>
              <a:rPr lang="en-US" altLang="zh-TW">
                <a:solidFill>
                  <a:schemeClr val="tx1"/>
                </a:solidFill>
              </a:rPr>
              <a:t>Perceptron Network</a:t>
            </a:r>
            <a:endParaRPr lang="en-US" altLang="zh-TW" dirty="0">
              <a:solidFill>
                <a:schemeClr val="tx1"/>
              </a:solidFill>
            </a:endParaRPr>
          </a:p>
          <a:p>
            <a:pPr marL="342900" indent="-342900">
              <a:buFont typeface="Arial" panose="020B0604020202020204" pitchFamily="34" charset="0"/>
              <a:buChar char="•"/>
            </a:pPr>
            <a:r>
              <a:rPr lang="en-US" altLang="zh-TW" dirty="0">
                <a:solidFill>
                  <a:schemeClr val="tx1"/>
                </a:solidFill>
              </a:rPr>
              <a:t>Establish the system</a:t>
            </a:r>
            <a:r>
              <a:rPr lang="zh-TW" altLang="en-US" dirty="0">
                <a:solidFill>
                  <a:schemeClr val="tx1"/>
                </a:solidFill>
              </a:rPr>
              <a:t> </a:t>
            </a:r>
            <a:r>
              <a:rPr lang="en-US" altLang="zh-TW" dirty="0">
                <a:solidFill>
                  <a:schemeClr val="tx1"/>
                </a:solidFill>
              </a:rPr>
              <a:t>(implementation)</a:t>
            </a:r>
          </a:p>
          <a:p>
            <a:pPr marL="800100" lvl="1" indent="-342900">
              <a:buFont typeface="Arial" panose="020B0604020202020204" pitchFamily="34" charset="0"/>
              <a:buChar char="•"/>
            </a:pPr>
            <a:r>
              <a:rPr lang="en-US" altLang="zh-TW" dirty="0">
                <a:solidFill>
                  <a:schemeClr val="tx1"/>
                </a:solidFill>
              </a:rPr>
              <a:t>Data</a:t>
            </a:r>
          </a:p>
          <a:p>
            <a:pPr marL="800100" lvl="1" indent="-342900">
              <a:buFont typeface="Arial" panose="020B0604020202020204" pitchFamily="34" charset="0"/>
              <a:buChar char="•"/>
            </a:pPr>
            <a:r>
              <a:rPr lang="en-US" altLang="zh-TW" dirty="0">
                <a:solidFill>
                  <a:schemeClr val="tx1"/>
                </a:solidFill>
              </a:rPr>
              <a:t>Model</a:t>
            </a:r>
          </a:p>
          <a:p>
            <a:pPr marL="800100" lvl="1" indent="-342900">
              <a:buFont typeface="Arial" panose="020B0604020202020204" pitchFamily="34" charset="0"/>
              <a:buChar char="•"/>
            </a:pPr>
            <a:r>
              <a:rPr lang="en-US" altLang="zh-TW" dirty="0">
                <a:solidFill>
                  <a:schemeClr val="tx1"/>
                </a:solidFill>
              </a:rPr>
              <a:t>Objective Function</a:t>
            </a:r>
          </a:p>
          <a:p>
            <a:pPr marL="800100" lvl="1" indent="-342900">
              <a:buFont typeface="Arial" panose="020B0604020202020204" pitchFamily="34" charset="0"/>
              <a:buChar char="•"/>
            </a:pPr>
            <a:r>
              <a:rPr lang="en-US" altLang="zh-TW" dirty="0">
                <a:solidFill>
                  <a:schemeClr val="tx1"/>
                </a:solidFill>
              </a:rPr>
              <a:t>Optimization Algorithm</a:t>
            </a:r>
          </a:p>
          <a:p>
            <a:pPr marL="800100" lvl="1" indent="-342900">
              <a:buFont typeface="Arial" panose="020B0604020202020204" pitchFamily="34" charset="0"/>
              <a:buChar char="•"/>
            </a:pPr>
            <a:r>
              <a:rPr lang="en-US" altLang="zh-TW" dirty="0">
                <a:solidFill>
                  <a:schemeClr val="tx1"/>
                </a:solidFill>
                <a:hlinkClick r:id="rId2"/>
              </a:rPr>
              <a:t>https://docs.pytorch.org/tutorials/beginner/basics/quickstart_tutorial.html</a:t>
            </a:r>
            <a:endParaRPr lang="en-US" altLang="zh-TW" dirty="0">
              <a:solidFill>
                <a:schemeClr val="tx1"/>
              </a:solidFill>
            </a:endParaRPr>
          </a:p>
          <a:p>
            <a:pPr marL="800100" lvl="1" indent="-342900">
              <a:buFont typeface="Arial" panose="020B0604020202020204" pitchFamily="34" charset="0"/>
              <a:buChar char="•"/>
            </a:pPr>
            <a:endParaRPr lang="en-US" altLang="zh-TW" dirty="0">
              <a:solidFill>
                <a:schemeClr val="tx1"/>
              </a:solidFill>
            </a:endParaRPr>
          </a:p>
          <a:p>
            <a:pPr marL="800100" lvl="1" indent="-342900">
              <a:buFont typeface="Arial" panose="020B0604020202020204" pitchFamily="34" charset="0"/>
              <a:buChar char="•"/>
            </a:pPr>
            <a:endParaRPr lang="en-US" altLang="zh-TW" dirty="0">
              <a:solidFill>
                <a:schemeClr val="tx1"/>
              </a:solidFill>
            </a:endParaRPr>
          </a:p>
          <a:p>
            <a:pPr marL="800100" lvl="1" indent="-342900">
              <a:buFont typeface="Arial" panose="020B0604020202020204" pitchFamily="34" charset="0"/>
              <a:buChar char="•"/>
            </a:pPr>
            <a:endParaRPr lang="zh-TW" altLang="en-US" dirty="0">
              <a:solidFill>
                <a:schemeClr val="tx1"/>
              </a:solidFill>
            </a:endParaRPr>
          </a:p>
        </p:txBody>
      </p:sp>
      <p:pic>
        <p:nvPicPr>
          <p:cNvPr id="4" name="Picture 6" descr="歪腰郵筒_劉佳雯攝">
            <a:extLst>
              <a:ext uri="{FF2B5EF4-FFF2-40B4-BE49-F238E27FC236}">
                <a16:creationId xmlns:a16="http://schemas.microsoft.com/office/drawing/2014/main" id="{574D4379-980D-EB5C-0EED-C12305914E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4616" y="2491570"/>
            <a:ext cx="3655234" cy="24308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97655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FA0197D-5BC6-395B-3B70-89C0261D9E40}"/>
              </a:ext>
            </a:extLst>
          </p:cNvPr>
          <p:cNvSpPr>
            <a:spLocks noGrp="1"/>
          </p:cNvSpPr>
          <p:nvPr>
            <p:ph type="title"/>
          </p:nvPr>
        </p:nvSpPr>
        <p:spPr>
          <a:xfrm>
            <a:off x="838200" y="365125"/>
            <a:ext cx="10515600" cy="1325563"/>
          </a:xfrm>
        </p:spPr>
        <p:txBody>
          <a:bodyPr anchor="ctr">
            <a:normAutofit/>
          </a:bodyPr>
          <a:lstStyle/>
          <a:p>
            <a:r>
              <a:rPr lang="en-US" altLang="zh-TW" dirty="0"/>
              <a:t>Learning path </a:t>
            </a:r>
            <a:r>
              <a:rPr lang="zh-TW" altLang="en-US" dirty="0"/>
              <a:t>學習路徑</a:t>
            </a:r>
          </a:p>
        </p:txBody>
      </p:sp>
      <p:sp>
        <p:nvSpPr>
          <p:cNvPr id="4" name="內容版面配置區 2">
            <a:extLst>
              <a:ext uri="{FF2B5EF4-FFF2-40B4-BE49-F238E27FC236}">
                <a16:creationId xmlns:a16="http://schemas.microsoft.com/office/drawing/2014/main" id="{EC53EE63-C64E-909E-F9E3-A4A51E24C5DA}"/>
              </a:ext>
            </a:extLst>
          </p:cNvPr>
          <p:cNvSpPr txBox="1">
            <a:spLocks/>
          </p:cNvSpPr>
          <p:nvPr/>
        </p:nvSpPr>
        <p:spPr>
          <a:xfrm>
            <a:off x="98612" y="4356217"/>
            <a:ext cx="10515600" cy="234041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endParaRPr lang="zh-TW" altLang="en-US" sz="1800" dirty="0"/>
          </a:p>
        </p:txBody>
      </p:sp>
      <p:graphicFrame>
        <p:nvGraphicFramePr>
          <p:cNvPr id="7" name="內容版面配置區 2">
            <a:extLst>
              <a:ext uri="{FF2B5EF4-FFF2-40B4-BE49-F238E27FC236}">
                <a16:creationId xmlns:a16="http://schemas.microsoft.com/office/drawing/2014/main" id="{59A44832-DC06-CD1F-E1FE-0D3A9AB11F32}"/>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715670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字方塊 13">
            <a:extLst>
              <a:ext uri="{FF2B5EF4-FFF2-40B4-BE49-F238E27FC236}">
                <a16:creationId xmlns:a16="http://schemas.microsoft.com/office/drawing/2014/main" id="{A659FE63-9AD9-AD8D-6530-D67ECDBC316A}"/>
              </a:ext>
            </a:extLst>
          </p:cNvPr>
          <p:cNvSpPr txBox="1"/>
          <p:nvPr/>
        </p:nvSpPr>
        <p:spPr>
          <a:xfrm>
            <a:off x="0" y="0"/>
            <a:ext cx="12192000" cy="6463308"/>
          </a:xfrm>
          <a:prstGeom prst="rect">
            <a:avLst/>
          </a:prstGeom>
          <a:solidFill>
            <a:schemeClr val="accent5">
              <a:lumMod val="20000"/>
              <a:lumOff val="80000"/>
            </a:schemeClr>
          </a:solidFill>
        </p:spPr>
        <p:txBody>
          <a:bodyPr wrap="square">
            <a:spAutoFit/>
          </a:bodyPr>
          <a:lstStyle/>
          <a:p>
            <a:pPr>
              <a:buNone/>
            </a:pPr>
            <a:r>
              <a:rPr lang="en-US" altLang="zh-TW" sz="1800" dirty="0">
                <a:effectLst/>
                <a:latin typeface="JetBrains Mono"/>
              </a:rPr>
              <a:t>import torch</a:t>
            </a:r>
            <a:br>
              <a:rPr lang="en-US" altLang="zh-TW" sz="1800" dirty="0">
                <a:effectLst/>
                <a:latin typeface="JetBrains Mono"/>
              </a:rPr>
            </a:br>
            <a:r>
              <a:rPr lang="en-US" altLang="zh-TW" sz="1800" dirty="0">
                <a:effectLst/>
                <a:latin typeface="JetBrains Mono"/>
              </a:rPr>
              <a:t>from torch import </a:t>
            </a:r>
            <a:r>
              <a:rPr lang="en-US" altLang="zh-TW" sz="1800" dirty="0" err="1">
                <a:effectLst/>
                <a:latin typeface="JetBrains Mono"/>
              </a:rPr>
              <a:t>nn</a:t>
            </a:r>
            <a:br>
              <a:rPr lang="en-US" altLang="zh-TW" sz="1800" dirty="0">
                <a:effectLst/>
                <a:latin typeface="JetBrains Mono"/>
              </a:rPr>
            </a:br>
            <a:r>
              <a:rPr lang="en-US" altLang="zh-TW" sz="1800" dirty="0">
                <a:effectLst/>
                <a:latin typeface="JetBrains Mono"/>
              </a:rPr>
              <a:t>from </a:t>
            </a:r>
            <a:r>
              <a:rPr lang="en-US" altLang="zh-TW" sz="1800" dirty="0" err="1">
                <a:effectLst/>
                <a:latin typeface="JetBrains Mono"/>
              </a:rPr>
              <a:t>torch.utils.data</a:t>
            </a:r>
            <a:r>
              <a:rPr lang="en-US" altLang="zh-TW" sz="1800" dirty="0">
                <a:effectLst/>
                <a:latin typeface="JetBrains Mono"/>
              </a:rPr>
              <a:t> import </a:t>
            </a:r>
            <a:r>
              <a:rPr lang="en-US" altLang="zh-TW" sz="1800" dirty="0" err="1">
                <a:effectLst/>
                <a:latin typeface="JetBrains Mono"/>
              </a:rPr>
              <a:t>DataLoader</a:t>
            </a:r>
            <a:br>
              <a:rPr lang="en-US" altLang="zh-TW" sz="1800" dirty="0">
                <a:effectLst/>
                <a:latin typeface="JetBrains Mono"/>
              </a:rPr>
            </a:br>
            <a:r>
              <a:rPr lang="en-US" altLang="zh-TW" sz="1800" dirty="0">
                <a:effectLst/>
                <a:latin typeface="JetBrains Mono"/>
              </a:rPr>
              <a:t>from </a:t>
            </a:r>
            <a:r>
              <a:rPr lang="en-US" altLang="zh-TW" sz="1800" dirty="0" err="1">
                <a:effectLst/>
                <a:latin typeface="JetBrains Mono"/>
              </a:rPr>
              <a:t>torchvision</a:t>
            </a:r>
            <a:r>
              <a:rPr lang="en-US" altLang="zh-TW" sz="1800" dirty="0">
                <a:effectLst/>
                <a:latin typeface="JetBrains Mono"/>
              </a:rPr>
              <a:t> import datasets</a:t>
            </a:r>
            <a:br>
              <a:rPr lang="en-US" altLang="zh-TW" sz="1800" dirty="0">
                <a:effectLst/>
                <a:latin typeface="JetBrains Mono"/>
              </a:rPr>
            </a:br>
            <a:r>
              <a:rPr lang="en-US" altLang="zh-TW" sz="1800" dirty="0">
                <a:effectLst/>
                <a:latin typeface="JetBrains Mono"/>
              </a:rPr>
              <a:t>from </a:t>
            </a:r>
            <a:r>
              <a:rPr lang="en-US" altLang="zh-TW" sz="1800" dirty="0" err="1">
                <a:effectLst/>
                <a:latin typeface="JetBrains Mono"/>
              </a:rPr>
              <a:t>torchvision.transforms</a:t>
            </a:r>
            <a:r>
              <a:rPr lang="en-US" altLang="zh-TW" sz="1800" dirty="0">
                <a:effectLst/>
                <a:latin typeface="JetBrains Mono"/>
              </a:rPr>
              <a:t> import </a:t>
            </a:r>
            <a:r>
              <a:rPr lang="en-US" altLang="zh-TW" sz="1800" dirty="0" err="1">
                <a:effectLst/>
                <a:latin typeface="JetBrains Mono"/>
              </a:rPr>
              <a:t>ToTensor</a:t>
            </a:r>
            <a:br>
              <a:rPr lang="en-US" altLang="zh-TW" sz="1800" dirty="0">
                <a:effectLst/>
                <a:latin typeface="JetBrains Mono"/>
              </a:rPr>
            </a:br>
            <a:br>
              <a:rPr lang="en-US" altLang="zh-TW" sz="1800" dirty="0">
                <a:effectLst/>
                <a:latin typeface="JetBrains Mono"/>
              </a:rPr>
            </a:br>
            <a:r>
              <a:rPr lang="en-US" altLang="zh-TW" sz="1800" dirty="0">
                <a:effectLst/>
                <a:latin typeface="JetBrains Mono"/>
              </a:rPr>
              <a:t># Download training data from open datasets.</a:t>
            </a:r>
            <a:br>
              <a:rPr lang="en-US" altLang="zh-TW" sz="1800" dirty="0">
                <a:effectLst/>
                <a:latin typeface="JetBrains Mono"/>
              </a:rPr>
            </a:br>
            <a:r>
              <a:rPr lang="en-US" altLang="zh-TW" sz="1800" dirty="0" err="1">
                <a:effectLst/>
                <a:latin typeface="JetBrains Mono"/>
              </a:rPr>
              <a:t>training_data</a:t>
            </a:r>
            <a:r>
              <a:rPr lang="en-US" altLang="zh-TW" sz="1800" dirty="0">
                <a:effectLst/>
                <a:latin typeface="JetBrains Mono"/>
              </a:rPr>
              <a:t> = </a:t>
            </a:r>
            <a:r>
              <a:rPr lang="en-US" altLang="zh-TW" sz="1800" dirty="0" err="1">
                <a:effectLst/>
                <a:latin typeface="JetBrains Mono"/>
              </a:rPr>
              <a:t>datasets.MNIST</a:t>
            </a:r>
            <a:r>
              <a:rPr lang="en-US" altLang="zh-TW" sz="1800" dirty="0">
                <a:effectLst/>
                <a:latin typeface="JetBrains Mono"/>
              </a:rPr>
              <a:t>(</a:t>
            </a:r>
            <a:br>
              <a:rPr lang="en-US" altLang="zh-TW" sz="1800" dirty="0">
                <a:effectLst/>
                <a:latin typeface="JetBrains Mono"/>
              </a:rPr>
            </a:br>
            <a:r>
              <a:rPr lang="en-US" altLang="zh-TW" sz="1800" dirty="0">
                <a:effectLst/>
                <a:latin typeface="JetBrains Mono"/>
              </a:rPr>
              <a:t>    root="data",</a:t>
            </a:r>
            <a:br>
              <a:rPr lang="en-US" altLang="zh-TW" sz="1800" dirty="0">
                <a:effectLst/>
                <a:latin typeface="JetBrains Mono"/>
              </a:rPr>
            </a:br>
            <a:r>
              <a:rPr lang="en-US" altLang="zh-TW" sz="1800" dirty="0">
                <a:effectLst/>
                <a:latin typeface="JetBrains Mono"/>
              </a:rPr>
              <a:t>    train=True,</a:t>
            </a:r>
            <a:br>
              <a:rPr lang="en-US" altLang="zh-TW" sz="1800" dirty="0">
                <a:effectLst/>
                <a:latin typeface="JetBrains Mono"/>
              </a:rPr>
            </a:br>
            <a:r>
              <a:rPr lang="en-US" altLang="zh-TW" sz="1800" dirty="0">
                <a:effectLst/>
                <a:latin typeface="JetBrains Mono"/>
              </a:rPr>
              <a:t>    download=True,</a:t>
            </a:r>
            <a:br>
              <a:rPr lang="en-US" altLang="zh-TW" sz="1800" dirty="0">
                <a:effectLst/>
                <a:latin typeface="JetBrains Mono"/>
              </a:rPr>
            </a:br>
            <a:r>
              <a:rPr lang="en-US" altLang="zh-TW" sz="1800" dirty="0">
                <a:effectLst/>
                <a:latin typeface="JetBrains Mono"/>
              </a:rPr>
              <a:t>    transform=</a:t>
            </a:r>
            <a:r>
              <a:rPr lang="en-US" altLang="zh-TW" sz="1800" dirty="0" err="1">
                <a:effectLst/>
                <a:latin typeface="JetBrains Mono"/>
              </a:rPr>
              <a:t>ToTensor</a:t>
            </a:r>
            <a:r>
              <a:rPr lang="en-US" altLang="zh-TW" sz="1800" dirty="0">
                <a:effectLst/>
                <a:latin typeface="JetBrains Mono"/>
              </a:rPr>
              <a:t>(),</a:t>
            </a:r>
            <a:br>
              <a:rPr lang="en-US" altLang="zh-TW" sz="1800" dirty="0">
                <a:effectLst/>
                <a:latin typeface="JetBrains Mono"/>
              </a:rPr>
            </a:br>
            <a:r>
              <a:rPr lang="en-US" altLang="zh-TW" sz="1800" dirty="0">
                <a:effectLst/>
                <a:latin typeface="JetBrains Mono"/>
              </a:rPr>
              <a:t>)</a:t>
            </a:r>
            <a:br>
              <a:rPr lang="en-US" altLang="zh-TW" sz="1800" dirty="0">
                <a:effectLst/>
                <a:latin typeface="JetBrains Mono"/>
              </a:rPr>
            </a:br>
            <a:br>
              <a:rPr lang="en-US" altLang="zh-TW" sz="1800" dirty="0">
                <a:effectLst/>
                <a:latin typeface="JetBrains Mono"/>
              </a:rPr>
            </a:br>
            <a:r>
              <a:rPr lang="en-US" altLang="zh-TW" sz="1800" dirty="0">
                <a:effectLst/>
                <a:latin typeface="JetBrains Mono"/>
              </a:rPr>
              <a:t># Download test data from open datasets.</a:t>
            </a:r>
            <a:br>
              <a:rPr lang="en-US" altLang="zh-TW" sz="1800" dirty="0">
                <a:effectLst/>
                <a:latin typeface="JetBrains Mono"/>
              </a:rPr>
            </a:br>
            <a:r>
              <a:rPr lang="en-US" altLang="zh-TW" sz="1800" dirty="0" err="1">
                <a:effectLst/>
                <a:latin typeface="JetBrains Mono"/>
              </a:rPr>
              <a:t>test_data</a:t>
            </a:r>
            <a:r>
              <a:rPr lang="en-US" altLang="zh-TW" sz="1800" dirty="0">
                <a:effectLst/>
                <a:latin typeface="JetBrains Mono"/>
              </a:rPr>
              <a:t> = </a:t>
            </a:r>
            <a:r>
              <a:rPr lang="en-US" altLang="zh-TW" sz="1800" dirty="0" err="1">
                <a:effectLst/>
                <a:latin typeface="JetBrains Mono"/>
              </a:rPr>
              <a:t>datasets.MNIST</a:t>
            </a:r>
            <a:r>
              <a:rPr lang="en-US" altLang="zh-TW" sz="1800" dirty="0">
                <a:effectLst/>
                <a:latin typeface="JetBrains Mono"/>
              </a:rPr>
              <a:t>(</a:t>
            </a:r>
            <a:br>
              <a:rPr lang="en-US" altLang="zh-TW" sz="1800" dirty="0">
                <a:effectLst/>
                <a:latin typeface="JetBrains Mono"/>
              </a:rPr>
            </a:br>
            <a:r>
              <a:rPr lang="en-US" altLang="zh-TW" sz="1800" dirty="0">
                <a:effectLst/>
                <a:latin typeface="JetBrains Mono"/>
              </a:rPr>
              <a:t>    root="data",</a:t>
            </a:r>
            <a:br>
              <a:rPr lang="en-US" altLang="zh-TW" sz="1800" dirty="0">
                <a:effectLst/>
                <a:latin typeface="JetBrains Mono"/>
              </a:rPr>
            </a:br>
            <a:r>
              <a:rPr lang="en-US" altLang="zh-TW" sz="1800" dirty="0">
                <a:effectLst/>
                <a:latin typeface="JetBrains Mono"/>
              </a:rPr>
              <a:t>    train=False,</a:t>
            </a:r>
            <a:br>
              <a:rPr lang="en-US" altLang="zh-TW" sz="1800" dirty="0">
                <a:effectLst/>
                <a:latin typeface="JetBrains Mono"/>
              </a:rPr>
            </a:br>
            <a:r>
              <a:rPr lang="en-US" altLang="zh-TW" sz="1800" dirty="0">
                <a:effectLst/>
                <a:latin typeface="JetBrains Mono"/>
              </a:rPr>
              <a:t>    download=True,</a:t>
            </a:r>
            <a:br>
              <a:rPr lang="en-US" altLang="zh-TW" sz="1800" dirty="0">
                <a:effectLst/>
                <a:latin typeface="JetBrains Mono"/>
              </a:rPr>
            </a:br>
            <a:r>
              <a:rPr lang="en-US" altLang="zh-TW" sz="1800" dirty="0">
                <a:effectLst/>
                <a:latin typeface="JetBrains Mono"/>
              </a:rPr>
              <a:t>    transform=</a:t>
            </a:r>
            <a:r>
              <a:rPr lang="en-US" altLang="zh-TW" sz="1800" dirty="0" err="1">
                <a:effectLst/>
                <a:latin typeface="JetBrains Mono"/>
              </a:rPr>
              <a:t>ToTensor</a:t>
            </a:r>
            <a:r>
              <a:rPr lang="en-US" altLang="zh-TW" sz="1800" dirty="0">
                <a:effectLst/>
                <a:latin typeface="JetBrains Mono"/>
              </a:rPr>
              <a:t>(),</a:t>
            </a:r>
            <a:br>
              <a:rPr lang="en-US" altLang="zh-TW" sz="1800" dirty="0">
                <a:effectLst/>
                <a:latin typeface="JetBrains Mono"/>
              </a:rPr>
            </a:br>
            <a:r>
              <a:rPr lang="en-US" altLang="zh-TW" sz="1800" dirty="0">
                <a:effectLst/>
                <a:latin typeface="JetBrains Mono"/>
              </a:rPr>
              <a:t>)</a:t>
            </a:r>
            <a:br>
              <a:rPr lang="en-US" altLang="zh-TW" sz="1800" dirty="0">
                <a:effectLst/>
                <a:latin typeface="JetBrains Mono"/>
              </a:rPr>
            </a:br>
            <a:br>
              <a:rPr lang="en-US" altLang="zh-TW" sz="1800" dirty="0">
                <a:effectLst/>
                <a:latin typeface="JetBrains Mono"/>
              </a:rPr>
            </a:br>
            <a:endParaRPr lang="en-US" altLang="zh-TW" sz="1800" dirty="0">
              <a:effectLst/>
              <a:latin typeface="JetBrains Mono"/>
            </a:endParaRPr>
          </a:p>
        </p:txBody>
      </p:sp>
    </p:spTree>
    <p:extLst>
      <p:ext uri="{BB962C8B-B14F-4D97-AF65-F5344CB8AC3E}">
        <p14:creationId xmlns:p14="http://schemas.microsoft.com/office/powerpoint/2010/main" val="22351112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E93F7-B0C2-A5D0-555C-D70ED9DB6748}"/>
            </a:ext>
          </a:extLst>
        </p:cNvPr>
        <p:cNvGrpSpPr/>
        <p:nvPr/>
      </p:nvGrpSpPr>
      <p:grpSpPr>
        <a:xfrm>
          <a:off x="0" y="0"/>
          <a:ext cx="0" cy="0"/>
          <a:chOff x="0" y="0"/>
          <a:chExt cx="0" cy="0"/>
        </a:xfrm>
      </p:grpSpPr>
      <p:sp>
        <p:nvSpPr>
          <p:cNvPr id="15" name="文字方塊 14">
            <a:extLst>
              <a:ext uri="{FF2B5EF4-FFF2-40B4-BE49-F238E27FC236}">
                <a16:creationId xmlns:a16="http://schemas.microsoft.com/office/drawing/2014/main" id="{FDCE36EF-E11F-9B86-C9EC-F28964AA16F4}"/>
              </a:ext>
            </a:extLst>
          </p:cNvPr>
          <p:cNvSpPr txBox="1"/>
          <p:nvPr/>
        </p:nvSpPr>
        <p:spPr>
          <a:xfrm>
            <a:off x="0" y="0"/>
            <a:ext cx="12192000" cy="6463308"/>
          </a:xfrm>
          <a:prstGeom prst="rect">
            <a:avLst/>
          </a:prstGeom>
          <a:solidFill>
            <a:schemeClr val="accent5">
              <a:lumMod val="20000"/>
              <a:lumOff val="80000"/>
            </a:schemeClr>
          </a:solidFill>
        </p:spPr>
        <p:txBody>
          <a:bodyPr wrap="square">
            <a:spAutoFit/>
          </a:bodyPr>
          <a:lstStyle/>
          <a:p>
            <a:pPr>
              <a:buNone/>
            </a:pPr>
            <a:r>
              <a:rPr lang="en-US" altLang="zh-TW" sz="1800" dirty="0" err="1">
                <a:effectLst/>
                <a:latin typeface="JetBrains Mono"/>
              </a:rPr>
              <a:t>batch_size</a:t>
            </a:r>
            <a:r>
              <a:rPr lang="en-US" altLang="zh-TW" sz="1800" dirty="0">
                <a:effectLst/>
                <a:latin typeface="JetBrains Mono"/>
              </a:rPr>
              <a:t> = 64</a:t>
            </a:r>
            <a:br>
              <a:rPr lang="en-US" altLang="zh-TW" sz="1800" dirty="0">
                <a:effectLst/>
                <a:latin typeface="JetBrains Mono"/>
              </a:rPr>
            </a:br>
            <a:br>
              <a:rPr lang="en-US" altLang="zh-TW" sz="1800" dirty="0">
                <a:effectLst/>
                <a:latin typeface="JetBrains Mono"/>
              </a:rPr>
            </a:br>
            <a:r>
              <a:rPr lang="en-US" altLang="zh-TW" sz="1800" dirty="0">
                <a:effectLst/>
                <a:latin typeface="JetBrains Mono"/>
              </a:rPr>
              <a:t># Create data loaders.</a:t>
            </a:r>
            <a:br>
              <a:rPr lang="en-US" altLang="zh-TW" sz="1800" dirty="0">
                <a:effectLst/>
                <a:latin typeface="JetBrains Mono"/>
              </a:rPr>
            </a:br>
            <a:r>
              <a:rPr lang="en-US" altLang="zh-TW" sz="1800" dirty="0" err="1">
                <a:effectLst/>
                <a:latin typeface="JetBrains Mono"/>
              </a:rPr>
              <a:t>train_dataloader</a:t>
            </a:r>
            <a:r>
              <a:rPr lang="en-US" altLang="zh-TW" sz="1800" dirty="0">
                <a:effectLst/>
                <a:latin typeface="JetBrains Mono"/>
              </a:rPr>
              <a:t> = </a:t>
            </a:r>
            <a:r>
              <a:rPr lang="en-US" altLang="zh-TW" sz="1800" dirty="0" err="1">
                <a:effectLst/>
                <a:latin typeface="JetBrains Mono"/>
              </a:rPr>
              <a:t>DataLoader</a:t>
            </a:r>
            <a:r>
              <a:rPr lang="en-US" altLang="zh-TW" sz="1800" dirty="0">
                <a:effectLst/>
                <a:latin typeface="JetBrains Mono"/>
              </a:rPr>
              <a:t>(</a:t>
            </a:r>
            <a:r>
              <a:rPr lang="en-US" altLang="zh-TW" sz="1800" dirty="0" err="1">
                <a:effectLst/>
                <a:latin typeface="JetBrains Mono"/>
              </a:rPr>
              <a:t>training_data</a:t>
            </a:r>
            <a:r>
              <a:rPr lang="en-US" altLang="zh-TW" sz="1800" dirty="0">
                <a:effectLst/>
                <a:latin typeface="JetBrains Mono"/>
              </a:rPr>
              <a:t>, </a:t>
            </a:r>
            <a:r>
              <a:rPr lang="en-US" altLang="zh-TW" sz="1800" dirty="0" err="1">
                <a:effectLst/>
                <a:latin typeface="JetBrains Mono"/>
              </a:rPr>
              <a:t>batch_size</a:t>
            </a:r>
            <a:r>
              <a:rPr lang="en-US" altLang="zh-TW" sz="1800" dirty="0">
                <a:effectLst/>
                <a:latin typeface="JetBrains Mono"/>
              </a:rPr>
              <a:t>=</a:t>
            </a:r>
            <a:r>
              <a:rPr lang="en-US" altLang="zh-TW" sz="1800" dirty="0" err="1">
                <a:effectLst/>
                <a:latin typeface="JetBrains Mono"/>
              </a:rPr>
              <a:t>batch_size</a:t>
            </a:r>
            <a:r>
              <a:rPr lang="en-US" altLang="zh-TW" sz="1800" dirty="0">
                <a:effectLst/>
                <a:latin typeface="JetBrains Mono"/>
              </a:rPr>
              <a:t>)</a:t>
            </a:r>
            <a:br>
              <a:rPr lang="en-US" altLang="zh-TW" sz="1800" dirty="0">
                <a:effectLst/>
                <a:latin typeface="JetBrains Mono"/>
              </a:rPr>
            </a:br>
            <a:r>
              <a:rPr lang="en-US" altLang="zh-TW" sz="1800" dirty="0" err="1">
                <a:effectLst/>
                <a:latin typeface="JetBrains Mono"/>
              </a:rPr>
              <a:t>test_dataloader</a:t>
            </a:r>
            <a:r>
              <a:rPr lang="en-US" altLang="zh-TW" sz="1800" dirty="0">
                <a:effectLst/>
                <a:latin typeface="JetBrains Mono"/>
              </a:rPr>
              <a:t> = </a:t>
            </a:r>
            <a:r>
              <a:rPr lang="en-US" altLang="zh-TW" sz="1800" dirty="0" err="1">
                <a:effectLst/>
                <a:latin typeface="JetBrains Mono"/>
              </a:rPr>
              <a:t>DataLoader</a:t>
            </a:r>
            <a:r>
              <a:rPr lang="en-US" altLang="zh-TW" sz="1800" dirty="0">
                <a:effectLst/>
                <a:latin typeface="JetBrains Mono"/>
              </a:rPr>
              <a:t>(</a:t>
            </a:r>
            <a:r>
              <a:rPr lang="en-US" altLang="zh-TW" sz="1800" dirty="0" err="1">
                <a:effectLst/>
                <a:latin typeface="JetBrains Mono"/>
              </a:rPr>
              <a:t>test_data</a:t>
            </a:r>
            <a:r>
              <a:rPr lang="en-US" altLang="zh-TW" sz="1800" dirty="0">
                <a:effectLst/>
                <a:latin typeface="JetBrains Mono"/>
              </a:rPr>
              <a:t>, </a:t>
            </a:r>
            <a:r>
              <a:rPr lang="en-US" altLang="zh-TW" sz="1800" dirty="0" err="1">
                <a:effectLst/>
                <a:latin typeface="JetBrains Mono"/>
              </a:rPr>
              <a:t>batch_size</a:t>
            </a:r>
            <a:r>
              <a:rPr lang="en-US" altLang="zh-TW" sz="1800" dirty="0">
                <a:effectLst/>
                <a:latin typeface="JetBrains Mono"/>
              </a:rPr>
              <a:t>=</a:t>
            </a:r>
            <a:r>
              <a:rPr lang="en-US" altLang="zh-TW" sz="1800" dirty="0" err="1">
                <a:effectLst/>
                <a:latin typeface="JetBrains Mono"/>
              </a:rPr>
              <a:t>batch_size</a:t>
            </a:r>
            <a:r>
              <a:rPr lang="en-US" altLang="zh-TW" sz="1800" dirty="0">
                <a:effectLst/>
                <a:latin typeface="JetBrains Mono"/>
              </a:rPr>
              <a:t>)</a:t>
            </a:r>
            <a:br>
              <a:rPr lang="en-US" altLang="zh-TW" sz="1800" dirty="0">
                <a:effectLst/>
                <a:latin typeface="JetBrains Mono"/>
              </a:rPr>
            </a:br>
            <a:br>
              <a:rPr lang="en-US" altLang="zh-TW" sz="1800" dirty="0">
                <a:effectLst/>
                <a:latin typeface="JetBrains Mono"/>
              </a:rPr>
            </a:br>
            <a:r>
              <a:rPr lang="en-US" altLang="zh-TW" sz="1800" dirty="0">
                <a:effectLst/>
                <a:latin typeface="JetBrains Mono"/>
              </a:rPr>
              <a:t>for X, y in </a:t>
            </a:r>
            <a:r>
              <a:rPr lang="en-US" altLang="zh-TW" sz="1800" dirty="0" err="1">
                <a:effectLst/>
                <a:latin typeface="JetBrains Mono"/>
              </a:rPr>
              <a:t>test_dataloader</a:t>
            </a:r>
            <a:r>
              <a:rPr lang="en-US" altLang="zh-TW" sz="1800" dirty="0">
                <a:effectLst/>
                <a:latin typeface="JetBrains Mono"/>
              </a:rPr>
              <a:t>:</a:t>
            </a:r>
            <a:br>
              <a:rPr lang="en-US" altLang="zh-TW" sz="1800" dirty="0">
                <a:effectLst/>
                <a:latin typeface="JetBrains Mono"/>
              </a:rPr>
            </a:br>
            <a:r>
              <a:rPr lang="en-US" altLang="zh-TW" sz="1800" dirty="0">
                <a:effectLst/>
                <a:latin typeface="JetBrains Mono"/>
              </a:rPr>
              <a:t>    print(</a:t>
            </a:r>
            <a:r>
              <a:rPr lang="en-US" altLang="zh-TW" sz="1800" dirty="0" err="1">
                <a:effectLst/>
                <a:latin typeface="JetBrains Mono"/>
              </a:rPr>
              <a:t>f"Shape</a:t>
            </a:r>
            <a:r>
              <a:rPr lang="en-US" altLang="zh-TW" sz="1800" dirty="0">
                <a:effectLst/>
                <a:latin typeface="JetBrains Mono"/>
              </a:rPr>
              <a:t> of X [N, C, H, W]: {</a:t>
            </a:r>
            <a:r>
              <a:rPr lang="en-US" altLang="zh-TW" sz="1800" dirty="0" err="1">
                <a:effectLst/>
                <a:latin typeface="JetBrains Mono"/>
              </a:rPr>
              <a:t>X.shape</a:t>
            </a:r>
            <a:r>
              <a:rPr lang="en-US" altLang="zh-TW" sz="1800" dirty="0">
                <a:effectLst/>
                <a:latin typeface="JetBrains Mono"/>
              </a:rPr>
              <a:t>}")</a:t>
            </a:r>
            <a:br>
              <a:rPr lang="en-US" altLang="zh-TW" sz="1800" dirty="0">
                <a:effectLst/>
                <a:latin typeface="JetBrains Mono"/>
              </a:rPr>
            </a:br>
            <a:r>
              <a:rPr lang="en-US" altLang="zh-TW" sz="1800" dirty="0">
                <a:effectLst/>
                <a:latin typeface="JetBrains Mono"/>
              </a:rPr>
              <a:t>    print(</a:t>
            </a:r>
            <a:r>
              <a:rPr lang="en-US" altLang="zh-TW" sz="1800" dirty="0" err="1">
                <a:effectLst/>
                <a:latin typeface="JetBrains Mono"/>
              </a:rPr>
              <a:t>f"Shape</a:t>
            </a:r>
            <a:r>
              <a:rPr lang="en-US" altLang="zh-TW" sz="1800" dirty="0">
                <a:effectLst/>
                <a:latin typeface="JetBrains Mono"/>
              </a:rPr>
              <a:t> of y: {</a:t>
            </a:r>
            <a:r>
              <a:rPr lang="en-US" altLang="zh-TW" sz="1800" dirty="0" err="1">
                <a:effectLst/>
                <a:latin typeface="JetBrains Mono"/>
              </a:rPr>
              <a:t>y.shape</a:t>
            </a:r>
            <a:r>
              <a:rPr lang="en-US" altLang="zh-TW" sz="1800" dirty="0">
                <a:effectLst/>
                <a:latin typeface="JetBrains Mono"/>
              </a:rPr>
              <a:t>} {</a:t>
            </a:r>
            <a:r>
              <a:rPr lang="en-US" altLang="zh-TW" sz="1800" dirty="0" err="1">
                <a:effectLst/>
                <a:latin typeface="JetBrains Mono"/>
              </a:rPr>
              <a:t>y.dtype</a:t>
            </a:r>
            <a:r>
              <a:rPr lang="en-US" altLang="zh-TW" sz="1800" dirty="0">
                <a:effectLst/>
                <a:latin typeface="JetBrains Mono"/>
              </a:rPr>
              <a:t>}")</a:t>
            </a:r>
            <a:br>
              <a:rPr lang="en-US" altLang="zh-TW" sz="1800" dirty="0">
                <a:effectLst/>
                <a:latin typeface="JetBrains Mono"/>
              </a:rPr>
            </a:br>
            <a:r>
              <a:rPr lang="en-US" altLang="zh-TW" sz="1800" dirty="0">
                <a:effectLst/>
                <a:latin typeface="JetBrains Mono"/>
              </a:rPr>
              <a:t>    break</a:t>
            </a:r>
            <a:br>
              <a:rPr lang="en-US" altLang="zh-TW" sz="1800" dirty="0">
                <a:effectLst/>
                <a:latin typeface="JetBrains Mono"/>
              </a:rPr>
            </a:br>
            <a:br>
              <a:rPr lang="en-US" altLang="zh-TW" sz="1800" dirty="0">
                <a:effectLst/>
                <a:latin typeface="JetBrains Mono"/>
              </a:rPr>
            </a:br>
            <a:r>
              <a:rPr lang="en-US" altLang="zh-TW" sz="1800" dirty="0">
                <a:effectLst/>
                <a:latin typeface="JetBrains Mono"/>
              </a:rPr>
              <a:t>device = "</a:t>
            </a:r>
            <a:r>
              <a:rPr lang="en-US" altLang="zh-TW" sz="1800" dirty="0" err="1">
                <a:effectLst/>
                <a:latin typeface="JetBrains Mono"/>
              </a:rPr>
              <a:t>cuda</a:t>
            </a:r>
            <a:r>
              <a:rPr lang="en-US" altLang="zh-TW" sz="1800" dirty="0">
                <a:effectLst/>
                <a:latin typeface="JetBrains Mono"/>
              </a:rPr>
              <a:t>" if </a:t>
            </a:r>
            <a:r>
              <a:rPr lang="en-US" altLang="zh-TW" sz="1800" dirty="0" err="1">
                <a:effectLst/>
                <a:latin typeface="JetBrains Mono"/>
              </a:rPr>
              <a:t>torch.cuda.is_available</a:t>
            </a:r>
            <a:r>
              <a:rPr lang="en-US" altLang="zh-TW" sz="1800" dirty="0">
                <a:effectLst/>
                <a:latin typeface="JetBrains Mono"/>
              </a:rPr>
              <a:t>() else "</a:t>
            </a:r>
            <a:r>
              <a:rPr lang="en-US" altLang="zh-TW" sz="1800" dirty="0" err="1">
                <a:effectLst/>
                <a:latin typeface="JetBrains Mono"/>
              </a:rPr>
              <a:t>cpu</a:t>
            </a:r>
            <a:r>
              <a:rPr lang="en-US" altLang="zh-TW" sz="1800" dirty="0">
                <a:effectLst/>
                <a:latin typeface="JetBrains Mono"/>
              </a:rPr>
              <a:t>"</a:t>
            </a:r>
            <a:br>
              <a:rPr lang="en-US" altLang="zh-TW" sz="1800" dirty="0">
                <a:effectLst/>
                <a:latin typeface="JetBrains Mono"/>
              </a:rPr>
            </a:br>
            <a:r>
              <a:rPr lang="en-US" altLang="zh-TW" sz="1800" dirty="0">
                <a:effectLst/>
                <a:latin typeface="JetBrains Mono"/>
              </a:rPr>
              <a:t>print(</a:t>
            </a:r>
            <a:r>
              <a:rPr lang="en-US" altLang="zh-TW" sz="1800" dirty="0" err="1">
                <a:effectLst/>
                <a:latin typeface="JetBrains Mono"/>
              </a:rPr>
              <a:t>f"Using</a:t>
            </a:r>
            <a:r>
              <a:rPr lang="en-US" altLang="zh-TW" sz="1800" dirty="0">
                <a:effectLst/>
                <a:latin typeface="JetBrains Mono"/>
              </a:rPr>
              <a:t> {device} device")</a:t>
            </a:r>
            <a:br>
              <a:rPr lang="en-US" altLang="zh-TW" sz="1800" dirty="0">
                <a:effectLst/>
                <a:latin typeface="JetBrains Mono"/>
              </a:rPr>
            </a:br>
            <a:br>
              <a:rPr lang="en-US" altLang="zh-TW" sz="1800" dirty="0">
                <a:solidFill>
                  <a:srgbClr val="BCBEC4"/>
                </a:solidFill>
                <a:effectLst/>
                <a:latin typeface="JetBrains Mono"/>
              </a:rPr>
            </a:br>
            <a:endParaRPr lang="en-US" altLang="zh-TW" sz="1800" dirty="0">
              <a:solidFill>
                <a:srgbClr val="BCBEC4"/>
              </a:solidFill>
              <a:effectLst/>
              <a:latin typeface="JetBrains Mono"/>
            </a:endParaRPr>
          </a:p>
          <a:p>
            <a:pPr>
              <a:buNone/>
            </a:pPr>
            <a:endParaRPr lang="en-US" altLang="zh-TW" dirty="0">
              <a:solidFill>
                <a:srgbClr val="BCBEC4"/>
              </a:solidFill>
              <a:latin typeface="JetBrains Mono"/>
            </a:endParaRPr>
          </a:p>
          <a:p>
            <a:pPr>
              <a:buNone/>
            </a:pPr>
            <a:endParaRPr lang="en-US" altLang="zh-TW" sz="1800" dirty="0">
              <a:solidFill>
                <a:srgbClr val="BCBEC4"/>
              </a:solidFill>
              <a:effectLst/>
              <a:latin typeface="JetBrains Mono"/>
            </a:endParaRPr>
          </a:p>
          <a:p>
            <a:pPr>
              <a:buNone/>
            </a:pPr>
            <a:endParaRPr lang="en-US" altLang="zh-TW" dirty="0">
              <a:solidFill>
                <a:srgbClr val="BCBEC4"/>
              </a:solidFill>
              <a:latin typeface="JetBrains Mono"/>
            </a:endParaRPr>
          </a:p>
          <a:p>
            <a:pPr>
              <a:buNone/>
            </a:pPr>
            <a:endParaRPr lang="en-US" altLang="zh-TW" sz="1800" dirty="0">
              <a:solidFill>
                <a:srgbClr val="BCBEC4"/>
              </a:solidFill>
              <a:effectLst/>
              <a:latin typeface="JetBrains Mono"/>
            </a:endParaRPr>
          </a:p>
          <a:p>
            <a:pPr>
              <a:buNone/>
            </a:pPr>
            <a:endParaRPr lang="en-US" altLang="zh-TW" dirty="0">
              <a:solidFill>
                <a:srgbClr val="BCBEC4"/>
              </a:solidFill>
              <a:latin typeface="JetBrains Mono"/>
            </a:endParaRPr>
          </a:p>
          <a:p>
            <a:pPr>
              <a:buNone/>
            </a:pPr>
            <a:endParaRPr lang="en-US" altLang="zh-TW" sz="1800" dirty="0">
              <a:solidFill>
                <a:srgbClr val="BCBEC4"/>
              </a:solidFill>
              <a:effectLst/>
              <a:latin typeface="JetBrains Mono"/>
            </a:endParaRPr>
          </a:p>
          <a:p>
            <a:pPr>
              <a:buNone/>
            </a:pPr>
            <a:endParaRPr lang="en-US" altLang="zh-TW" dirty="0">
              <a:solidFill>
                <a:srgbClr val="BCBEC4"/>
              </a:solidFill>
              <a:latin typeface="JetBrains Mono"/>
            </a:endParaRPr>
          </a:p>
          <a:p>
            <a:pPr>
              <a:buNone/>
            </a:pPr>
            <a:endParaRPr lang="en-US" altLang="zh-TW" sz="1800" dirty="0">
              <a:solidFill>
                <a:srgbClr val="BCBEC4"/>
              </a:solidFill>
              <a:effectLst/>
              <a:latin typeface="JetBrains Mono"/>
            </a:endParaRPr>
          </a:p>
        </p:txBody>
      </p:sp>
      <p:sp>
        <p:nvSpPr>
          <p:cNvPr id="2" name="文字方塊 1">
            <a:extLst>
              <a:ext uri="{FF2B5EF4-FFF2-40B4-BE49-F238E27FC236}">
                <a16:creationId xmlns:a16="http://schemas.microsoft.com/office/drawing/2014/main" id="{24C579EC-D580-991B-4AE8-D7A06B6DB120}"/>
              </a:ext>
            </a:extLst>
          </p:cNvPr>
          <p:cNvSpPr txBox="1"/>
          <p:nvPr/>
        </p:nvSpPr>
        <p:spPr>
          <a:xfrm>
            <a:off x="5946140" y="1888212"/>
            <a:ext cx="6121400" cy="923330"/>
          </a:xfrm>
          <a:prstGeom prst="rect">
            <a:avLst/>
          </a:prstGeom>
          <a:solidFill>
            <a:schemeClr val="accent6">
              <a:lumMod val="20000"/>
              <a:lumOff val="80000"/>
            </a:schemeClr>
          </a:solidFill>
        </p:spPr>
        <p:txBody>
          <a:bodyPr wrap="square">
            <a:spAutoFit/>
          </a:bodyPr>
          <a:lstStyle/>
          <a:p>
            <a:r>
              <a:rPr lang="zh-TW" altLang="en-US" dirty="0"/>
              <a:t>Shape of X [N, C, H, W]: torch.Size([64, 1, 28, 28])</a:t>
            </a:r>
          </a:p>
          <a:p>
            <a:r>
              <a:rPr lang="zh-TW" altLang="en-US" dirty="0"/>
              <a:t>Shape of y: torch.Size([64]) torch.int64</a:t>
            </a:r>
          </a:p>
          <a:p>
            <a:r>
              <a:rPr lang="zh-TW" altLang="en-US" dirty="0"/>
              <a:t>Using </a:t>
            </a:r>
            <a:r>
              <a:rPr lang="en-US" altLang="zh-TW" dirty="0" err="1"/>
              <a:t>cuda</a:t>
            </a:r>
            <a:r>
              <a:rPr lang="zh-TW" altLang="en-US" dirty="0"/>
              <a:t> device</a:t>
            </a:r>
          </a:p>
        </p:txBody>
      </p:sp>
    </p:spTree>
    <p:extLst>
      <p:ext uri="{BB962C8B-B14F-4D97-AF65-F5344CB8AC3E}">
        <p14:creationId xmlns:p14="http://schemas.microsoft.com/office/powerpoint/2010/main" val="20948583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E2019-CBAE-2994-98E9-B563163E580C}"/>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CBF5A809-0223-0E68-E472-46846C7817A2}"/>
              </a:ext>
            </a:extLst>
          </p:cNvPr>
          <p:cNvSpPr txBox="1"/>
          <p:nvPr/>
        </p:nvSpPr>
        <p:spPr>
          <a:xfrm>
            <a:off x="0" y="0"/>
            <a:ext cx="12192000" cy="6463308"/>
          </a:xfrm>
          <a:prstGeom prst="rect">
            <a:avLst/>
          </a:prstGeom>
          <a:solidFill>
            <a:schemeClr val="accent5">
              <a:lumMod val="20000"/>
              <a:lumOff val="80000"/>
            </a:schemeClr>
          </a:solidFill>
        </p:spPr>
        <p:txBody>
          <a:bodyPr wrap="square">
            <a:spAutoFit/>
          </a:bodyPr>
          <a:lstStyle/>
          <a:p>
            <a:pPr>
              <a:buNone/>
            </a:pPr>
            <a:r>
              <a:rPr lang="en-US" altLang="zh-TW" sz="1800" dirty="0">
                <a:effectLst/>
                <a:latin typeface="JetBrains Mono"/>
              </a:rPr>
              <a:t># Define model</a:t>
            </a:r>
            <a:br>
              <a:rPr lang="en-US" altLang="zh-TW" sz="1800" dirty="0">
                <a:effectLst/>
                <a:latin typeface="JetBrains Mono"/>
              </a:rPr>
            </a:br>
            <a:r>
              <a:rPr lang="en-US" altLang="zh-TW" sz="1800" dirty="0">
                <a:effectLst/>
                <a:latin typeface="JetBrains Mono"/>
              </a:rPr>
              <a:t>class </a:t>
            </a:r>
            <a:r>
              <a:rPr lang="en-US" altLang="zh-TW" sz="1800" dirty="0" err="1">
                <a:effectLst/>
                <a:latin typeface="JetBrains Mono"/>
              </a:rPr>
              <a:t>NeuralNetwork</a:t>
            </a:r>
            <a:r>
              <a:rPr lang="en-US" altLang="zh-TW" sz="1800" dirty="0">
                <a:effectLst/>
                <a:latin typeface="JetBrains Mono"/>
              </a:rPr>
              <a:t>(</a:t>
            </a:r>
            <a:r>
              <a:rPr lang="en-US" altLang="zh-TW" sz="1800" dirty="0" err="1">
                <a:effectLst/>
                <a:latin typeface="JetBrains Mono"/>
              </a:rPr>
              <a:t>nn.Module</a:t>
            </a:r>
            <a:r>
              <a:rPr lang="en-US" altLang="zh-TW" sz="1800" dirty="0">
                <a:effectLst/>
                <a:latin typeface="JetBrains Mono"/>
              </a:rPr>
              <a:t>):</a:t>
            </a:r>
            <a:br>
              <a:rPr lang="en-US" altLang="zh-TW" sz="1800" dirty="0">
                <a:effectLst/>
                <a:latin typeface="JetBrains Mono"/>
              </a:rPr>
            </a:br>
            <a:r>
              <a:rPr lang="en-US" altLang="zh-TW" sz="1800" dirty="0">
                <a:effectLst/>
                <a:latin typeface="JetBrains Mono"/>
              </a:rPr>
              <a:t>    def __</a:t>
            </a:r>
            <a:r>
              <a:rPr lang="en-US" altLang="zh-TW" sz="1800" dirty="0" err="1">
                <a:effectLst/>
                <a:latin typeface="JetBrains Mono"/>
              </a:rPr>
              <a:t>init</a:t>
            </a:r>
            <a:r>
              <a:rPr lang="en-US" altLang="zh-TW" sz="1800" dirty="0">
                <a:effectLst/>
                <a:latin typeface="JetBrains Mono"/>
              </a:rPr>
              <a:t>__(self):</a:t>
            </a:r>
            <a:br>
              <a:rPr lang="en-US" altLang="zh-TW" sz="1800" dirty="0">
                <a:effectLst/>
                <a:latin typeface="JetBrains Mono"/>
              </a:rPr>
            </a:br>
            <a:r>
              <a:rPr lang="en-US" altLang="zh-TW" sz="1800" dirty="0">
                <a:effectLst/>
                <a:latin typeface="JetBrains Mono"/>
              </a:rPr>
              <a:t>        super().__</a:t>
            </a:r>
            <a:r>
              <a:rPr lang="en-US" altLang="zh-TW" sz="1800" dirty="0" err="1">
                <a:effectLst/>
                <a:latin typeface="JetBrains Mono"/>
              </a:rPr>
              <a:t>init</a:t>
            </a:r>
            <a:r>
              <a:rPr lang="en-US" altLang="zh-TW" sz="1800" dirty="0">
                <a:effectLst/>
                <a:latin typeface="JetBrains Mono"/>
              </a:rPr>
              <a:t>__()</a:t>
            </a:r>
            <a:br>
              <a:rPr lang="en-US" altLang="zh-TW" sz="1800" dirty="0">
                <a:effectLst/>
                <a:latin typeface="JetBrains Mono"/>
              </a:rPr>
            </a:br>
            <a:r>
              <a:rPr lang="en-US" altLang="zh-TW" sz="1800" dirty="0">
                <a:effectLst/>
                <a:latin typeface="JetBrains Mono"/>
              </a:rPr>
              <a:t>        </a:t>
            </a:r>
            <a:r>
              <a:rPr lang="en-US" altLang="zh-TW" sz="1800" dirty="0" err="1">
                <a:effectLst/>
                <a:latin typeface="JetBrains Mono"/>
              </a:rPr>
              <a:t>self.flatten</a:t>
            </a:r>
            <a:r>
              <a:rPr lang="en-US" altLang="zh-TW" sz="1800" dirty="0">
                <a:effectLst/>
                <a:latin typeface="JetBrains Mono"/>
              </a:rPr>
              <a:t> = </a:t>
            </a:r>
            <a:r>
              <a:rPr lang="en-US" altLang="zh-TW" sz="1800" dirty="0" err="1">
                <a:effectLst/>
                <a:latin typeface="JetBrains Mono"/>
              </a:rPr>
              <a:t>nn.Flatten</a:t>
            </a:r>
            <a:r>
              <a:rPr lang="en-US" altLang="zh-TW" sz="1800" dirty="0">
                <a:effectLst/>
                <a:latin typeface="JetBrains Mono"/>
              </a:rPr>
              <a:t>()</a:t>
            </a:r>
            <a:br>
              <a:rPr lang="en-US" altLang="zh-TW" sz="1800" dirty="0">
                <a:effectLst/>
                <a:latin typeface="JetBrains Mono"/>
              </a:rPr>
            </a:br>
            <a:r>
              <a:rPr lang="en-US" altLang="zh-TW" sz="1800" dirty="0">
                <a:effectLst/>
                <a:latin typeface="JetBrains Mono"/>
              </a:rPr>
              <a:t>        </a:t>
            </a:r>
            <a:r>
              <a:rPr lang="en-US" altLang="zh-TW" sz="1800" dirty="0" err="1">
                <a:effectLst/>
                <a:latin typeface="JetBrains Mono"/>
              </a:rPr>
              <a:t>self.linear_relu_stack</a:t>
            </a:r>
            <a:r>
              <a:rPr lang="en-US" altLang="zh-TW" sz="1800" dirty="0">
                <a:effectLst/>
                <a:latin typeface="JetBrains Mono"/>
              </a:rPr>
              <a:t> = </a:t>
            </a:r>
            <a:r>
              <a:rPr lang="en-US" altLang="zh-TW" sz="1800" dirty="0" err="1">
                <a:effectLst/>
                <a:latin typeface="JetBrains Mono"/>
              </a:rPr>
              <a:t>nn.Sequential</a:t>
            </a:r>
            <a:r>
              <a:rPr lang="en-US" altLang="zh-TW" sz="1800" dirty="0">
                <a:effectLst/>
                <a:latin typeface="JetBrains Mono"/>
              </a:rPr>
              <a:t>(</a:t>
            </a:r>
            <a:br>
              <a:rPr lang="en-US" altLang="zh-TW" sz="1800" dirty="0">
                <a:effectLst/>
                <a:latin typeface="JetBrains Mono"/>
              </a:rPr>
            </a:br>
            <a:r>
              <a:rPr lang="en-US" altLang="zh-TW" sz="1800" dirty="0">
                <a:effectLst/>
                <a:latin typeface="JetBrains Mono"/>
              </a:rPr>
              <a:t>            </a:t>
            </a:r>
            <a:r>
              <a:rPr lang="en-US" altLang="zh-TW" sz="1800" dirty="0" err="1">
                <a:effectLst/>
                <a:latin typeface="JetBrains Mono"/>
              </a:rPr>
              <a:t>nn.Linear</a:t>
            </a:r>
            <a:r>
              <a:rPr lang="en-US" altLang="zh-TW" sz="1800" dirty="0">
                <a:effectLst/>
                <a:latin typeface="JetBrains Mono"/>
              </a:rPr>
              <a:t>(28*28, 512),</a:t>
            </a:r>
            <a:br>
              <a:rPr lang="en-US" altLang="zh-TW" sz="1800" dirty="0">
                <a:effectLst/>
                <a:latin typeface="JetBrains Mono"/>
              </a:rPr>
            </a:br>
            <a:r>
              <a:rPr lang="en-US" altLang="zh-TW" sz="1800" dirty="0">
                <a:effectLst/>
                <a:latin typeface="JetBrains Mono"/>
              </a:rPr>
              <a:t>            </a:t>
            </a:r>
            <a:r>
              <a:rPr lang="en-US" altLang="zh-TW" sz="1800" dirty="0" err="1">
                <a:effectLst/>
                <a:latin typeface="JetBrains Mono"/>
              </a:rPr>
              <a:t>nn.ReLU</a:t>
            </a:r>
            <a:r>
              <a:rPr lang="en-US" altLang="zh-TW" sz="1800" dirty="0">
                <a:effectLst/>
                <a:latin typeface="JetBrains Mono"/>
              </a:rPr>
              <a:t>(),</a:t>
            </a:r>
            <a:br>
              <a:rPr lang="en-US" altLang="zh-TW" sz="1800" dirty="0">
                <a:effectLst/>
                <a:latin typeface="JetBrains Mono"/>
              </a:rPr>
            </a:br>
            <a:r>
              <a:rPr lang="en-US" altLang="zh-TW" sz="1800" dirty="0">
                <a:effectLst/>
                <a:latin typeface="JetBrains Mono"/>
              </a:rPr>
              <a:t>            </a:t>
            </a:r>
            <a:r>
              <a:rPr lang="en-US" altLang="zh-TW" sz="1800" dirty="0" err="1">
                <a:effectLst/>
                <a:latin typeface="JetBrains Mono"/>
              </a:rPr>
              <a:t>nn.Linear</a:t>
            </a:r>
            <a:r>
              <a:rPr lang="en-US" altLang="zh-TW" sz="1800" dirty="0">
                <a:effectLst/>
                <a:latin typeface="JetBrains Mono"/>
              </a:rPr>
              <a:t>(512, 512),</a:t>
            </a:r>
            <a:br>
              <a:rPr lang="en-US" altLang="zh-TW" sz="1800" dirty="0">
                <a:effectLst/>
                <a:latin typeface="JetBrains Mono"/>
              </a:rPr>
            </a:br>
            <a:r>
              <a:rPr lang="en-US" altLang="zh-TW" sz="1800" dirty="0">
                <a:effectLst/>
                <a:latin typeface="JetBrains Mono"/>
              </a:rPr>
              <a:t>            </a:t>
            </a:r>
            <a:r>
              <a:rPr lang="en-US" altLang="zh-TW" sz="1800" dirty="0" err="1">
                <a:effectLst/>
                <a:latin typeface="JetBrains Mono"/>
              </a:rPr>
              <a:t>nn.ReLU</a:t>
            </a:r>
            <a:r>
              <a:rPr lang="en-US" altLang="zh-TW" sz="1800" dirty="0">
                <a:effectLst/>
                <a:latin typeface="JetBrains Mono"/>
              </a:rPr>
              <a:t>(),</a:t>
            </a:r>
            <a:br>
              <a:rPr lang="en-US" altLang="zh-TW" sz="1800" dirty="0">
                <a:effectLst/>
                <a:latin typeface="JetBrains Mono"/>
              </a:rPr>
            </a:br>
            <a:r>
              <a:rPr lang="en-US" altLang="zh-TW" sz="1800" dirty="0">
                <a:effectLst/>
                <a:latin typeface="JetBrains Mono"/>
              </a:rPr>
              <a:t>            </a:t>
            </a:r>
            <a:r>
              <a:rPr lang="en-US" altLang="zh-TW" sz="1800" dirty="0" err="1">
                <a:effectLst/>
                <a:latin typeface="JetBrains Mono"/>
              </a:rPr>
              <a:t>nn.Linear</a:t>
            </a:r>
            <a:r>
              <a:rPr lang="en-US" altLang="zh-TW" sz="1800" dirty="0">
                <a:effectLst/>
                <a:latin typeface="JetBrains Mono"/>
              </a:rPr>
              <a:t>(512, 10)</a:t>
            </a:r>
            <a:br>
              <a:rPr lang="en-US" altLang="zh-TW" sz="1800" dirty="0">
                <a:effectLst/>
                <a:latin typeface="JetBrains Mono"/>
              </a:rPr>
            </a:br>
            <a:r>
              <a:rPr lang="en-US" altLang="zh-TW" sz="1800" dirty="0">
                <a:effectLst/>
                <a:latin typeface="JetBrains Mono"/>
              </a:rPr>
              <a:t>        )</a:t>
            </a:r>
            <a:br>
              <a:rPr lang="en-US" altLang="zh-TW" sz="1800" dirty="0">
                <a:effectLst/>
                <a:latin typeface="JetBrains Mono"/>
              </a:rPr>
            </a:br>
            <a:br>
              <a:rPr lang="en-US" altLang="zh-TW" sz="1800" dirty="0">
                <a:effectLst/>
                <a:latin typeface="JetBrains Mono"/>
              </a:rPr>
            </a:br>
            <a:r>
              <a:rPr lang="en-US" altLang="zh-TW" sz="1800" dirty="0">
                <a:effectLst/>
                <a:latin typeface="JetBrains Mono"/>
              </a:rPr>
              <a:t>    def forward(self, x):</a:t>
            </a:r>
            <a:br>
              <a:rPr lang="en-US" altLang="zh-TW" sz="1800" dirty="0">
                <a:effectLst/>
                <a:latin typeface="JetBrains Mono"/>
              </a:rPr>
            </a:br>
            <a:r>
              <a:rPr lang="en-US" altLang="zh-TW" sz="1800" dirty="0">
                <a:effectLst/>
                <a:latin typeface="JetBrains Mono"/>
              </a:rPr>
              <a:t>        x = </a:t>
            </a:r>
            <a:r>
              <a:rPr lang="en-US" altLang="zh-TW" sz="1800" dirty="0" err="1">
                <a:effectLst/>
                <a:latin typeface="JetBrains Mono"/>
              </a:rPr>
              <a:t>self.flatten</a:t>
            </a:r>
            <a:r>
              <a:rPr lang="en-US" altLang="zh-TW" sz="1800" dirty="0">
                <a:effectLst/>
                <a:latin typeface="JetBrains Mono"/>
              </a:rPr>
              <a:t>(x)</a:t>
            </a:r>
            <a:br>
              <a:rPr lang="en-US" altLang="zh-TW" sz="1800" dirty="0">
                <a:effectLst/>
                <a:latin typeface="JetBrains Mono"/>
              </a:rPr>
            </a:br>
            <a:r>
              <a:rPr lang="en-US" altLang="zh-TW" sz="1800" dirty="0">
                <a:effectLst/>
                <a:latin typeface="JetBrains Mono"/>
              </a:rPr>
              <a:t>        logits = </a:t>
            </a:r>
            <a:r>
              <a:rPr lang="en-US" altLang="zh-TW" sz="1800" dirty="0" err="1">
                <a:effectLst/>
                <a:latin typeface="JetBrains Mono"/>
              </a:rPr>
              <a:t>self.linear_relu_stack</a:t>
            </a:r>
            <a:r>
              <a:rPr lang="en-US" altLang="zh-TW" sz="1800" dirty="0">
                <a:effectLst/>
                <a:latin typeface="JetBrains Mono"/>
              </a:rPr>
              <a:t>(x)</a:t>
            </a:r>
            <a:br>
              <a:rPr lang="en-US" altLang="zh-TW" sz="1800" dirty="0">
                <a:effectLst/>
                <a:latin typeface="JetBrains Mono"/>
              </a:rPr>
            </a:br>
            <a:r>
              <a:rPr lang="en-US" altLang="zh-TW" sz="1800" dirty="0">
                <a:effectLst/>
                <a:latin typeface="JetBrains Mono"/>
              </a:rPr>
              <a:t>        return logits</a:t>
            </a:r>
            <a:br>
              <a:rPr lang="en-US" altLang="zh-TW" sz="1800" dirty="0">
                <a:effectLst/>
                <a:latin typeface="JetBrains Mono"/>
              </a:rPr>
            </a:br>
            <a:br>
              <a:rPr lang="en-US" altLang="zh-TW" sz="1800" dirty="0">
                <a:effectLst/>
                <a:latin typeface="JetBrains Mono"/>
              </a:rPr>
            </a:br>
            <a:r>
              <a:rPr lang="en-US" altLang="zh-TW" sz="1800" dirty="0">
                <a:effectLst/>
                <a:latin typeface="JetBrains Mono"/>
              </a:rPr>
              <a:t>model = </a:t>
            </a:r>
            <a:r>
              <a:rPr lang="en-US" altLang="zh-TW" sz="1800" dirty="0" err="1">
                <a:effectLst/>
                <a:latin typeface="JetBrains Mono"/>
              </a:rPr>
              <a:t>NeuralNetwork</a:t>
            </a:r>
            <a:r>
              <a:rPr lang="en-US" altLang="zh-TW" sz="1800" dirty="0">
                <a:effectLst/>
                <a:latin typeface="JetBrains Mono"/>
              </a:rPr>
              <a:t>().to(device)</a:t>
            </a:r>
            <a:br>
              <a:rPr lang="en-US" altLang="zh-TW" sz="1800" dirty="0">
                <a:effectLst/>
                <a:latin typeface="JetBrains Mono"/>
              </a:rPr>
            </a:br>
            <a:r>
              <a:rPr lang="en-US" altLang="zh-TW" sz="1800" dirty="0">
                <a:effectLst/>
                <a:latin typeface="JetBrains Mono"/>
              </a:rPr>
              <a:t>print(model)</a:t>
            </a:r>
            <a:br>
              <a:rPr lang="en-US" altLang="zh-TW" sz="1800" dirty="0">
                <a:effectLst/>
                <a:latin typeface="JetBrains Mono"/>
              </a:rPr>
            </a:br>
            <a:br>
              <a:rPr lang="en-US" altLang="zh-TW" sz="1800" dirty="0">
                <a:effectLst/>
                <a:latin typeface="JetBrains Mono"/>
              </a:rPr>
            </a:br>
            <a:r>
              <a:rPr lang="en-US" altLang="zh-TW" sz="1800" dirty="0" err="1">
                <a:effectLst/>
                <a:latin typeface="JetBrains Mono"/>
              </a:rPr>
              <a:t>loss_fn</a:t>
            </a:r>
            <a:r>
              <a:rPr lang="en-US" altLang="zh-TW" sz="1800" dirty="0">
                <a:effectLst/>
                <a:latin typeface="JetBrains Mono"/>
              </a:rPr>
              <a:t> = </a:t>
            </a:r>
            <a:r>
              <a:rPr lang="en-US" altLang="zh-TW" sz="1800" dirty="0" err="1">
                <a:effectLst/>
                <a:latin typeface="JetBrains Mono"/>
              </a:rPr>
              <a:t>nn.CrossEntropyLoss</a:t>
            </a:r>
            <a:r>
              <a:rPr lang="en-US" altLang="zh-TW" sz="1800" dirty="0">
                <a:effectLst/>
                <a:latin typeface="JetBrains Mono"/>
              </a:rPr>
              <a:t>()</a:t>
            </a:r>
            <a:br>
              <a:rPr lang="en-US" altLang="zh-TW" sz="1800" dirty="0">
                <a:effectLst/>
                <a:latin typeface="JetBrains Mono"/>
              </a:rPr>
            </a:br>
            <a:r>
              <a:rPr lang="en-US" altLang="zh-TW" sz="1800" dirty="0">
                <a:effectLst/>
                <a:latin typeface="JetBrains Mono"/>
              </a:rPr>
              <a:t>optimizer = </a:t>
            </a:r>
            <a:r>
              <a:rPr lang="en-US" altLang="zh-TW" sz="1800" dirty="0" err="1">
                <a:effectLst/>
                <a:latin typeface="JetBrains Mono"/>
              </a:rPr>
              <a:t>torch.optim.SGD</a:t>
            </a:r>
            <a:r>
              <a:rPr lang="en-US" altLang="zh-TW" sz="1800" dirty="0">
                <a:effectLst/>
                <a:latin typeface="JetBrains Mono"/>
              </a:rPr>
              <a:t>(</a:t>
            </a:r>
            <a:r>
              <a:rPr lang="en-US" altLang="zh-TW" sz="1800" dirty="0" err="1">
                <a:effectLst/>
                <a:latin typeface="JetBrains Mono"/>
              </a:rPr>
              <a:t>model.parameters</a:t>
            </a:r>
            <a:r>
              <a:rPr lang="en-US" altLang="zh-TW" sz="1800" dirty="0">
                <a:effectLst/>
                <a:latin typeface="JetBrains Mono"/>
              </a:rPr>
              <a:t>(), </a:t>
            </a:r>
            <a:r>
              <a:rPr lang="en-US" altLang="zh-TW" sz="1800" dirty="0" err="1">
                <a:effectLst/>
                <a:latin typeface="JetBrains Mono"/>
              </a:rPr>
              <a:t>lr</a:t>
            </a:r>
            <a:r>
              <a:rPr lang="en-US" altLang="zh-TW" sz="1800" dirty="0">
                <a:effectLst/>
                <a:latin typeface="JetBrains Mono"/>
              </a:rPr>
              <a:t>=1e-3)</a:t>
            </a:r>
          </a:p>
        </p:txBody>
      </p:sp>
      <p:sp>
        <p:nvSpPr>
          <p:cNvPr id="4" name="文字方塊 3">
            <a:extLst>
              <a:ext uri="{FF2B5EF4-FFF2-40B4-BE49-F238E27FC236}">
                <a16:creationId xmlns:a16="http://schemas.microsoft.com/office/drawing/2014/main" id="{AF494F7C-0495-EC3C-6C6F-62A559FCF928}"/>
              </a:ext>
            </a:extLst>
          </p:cNvPr>
          <p:cNvSpPr txBox="1"/>
          <p:nvPr/>
        </p:nvSpPr>
        <p:spPr>
          <a:xfrm>
            <a:off x="6096000" y="4584849"/>
            <a:ext cx="5901070" cy="2246769"/>
          </a:xfrm>
          <a:prstGeom prst="rect">
            <a:avLst/>
          </a:prstGeom>
          <a:solidFill>
            <a:schemeClr val="accent6">
              <a:lumMod val="20000"/>
              <a:lumOff val="80000"/>
            </a:schemeClr>
          </a:solidFill>
        </p:spPr>
        <p:txBody>
          <a:bodyPr wrap="square">
            <a:spAutoFit/>
          </a:bodyPr>
          <a:lstStyle/>
          <a:p>
            <a:r>
              <a:rPr lang="zh-TW" altLang="en-US" sz="1400" dirty="0"/>
              <a:t>NeuralNetwork(</a:t>
            </a:r>
          </a:p>
          <a:p>
            <a:r>
              <a:rPr lang="zh-TW" altLang="en-US" sz="1400" dirty="0"/>
              <a:t>  (flatten): Flatten(start_dim=1, end_dim=-1)</a:t>
            </a:r>
          </a:p>
          <a:p>
            <a:r>
              <a:rPr lang="zh-TW" altLang="en-US" sz="1400" dirty="0"/>
              <a:t>  (linear_relu_stack): Sequential(</a:t>
            </a:r>
          </a:p>
          <a:p>
            <a:r>
              <a:rPr lang="zh-TW" altLang="en-US" sz="1400" dirty="0"/>
              <a:t>    (0): Linear(in_features=784, out_features=512, bias=True)</a:t>
            </a:r>
          </a:p>
          <a:p>
            <a:r>
              <a:rPr lang="zh-TW" altLang="en-US" sz="1400" dirty="0"/>
              <a:t>    (1): ReLU()</a:t>
            </a:r>
          </a:p>
          <a:p>
            <a:r>
              <a:rPr lang="zh-TW" altLang="en-US" sz="1400" dirty="0"/>
              <a:t>    (2): Linear(in_features=512, out_features=512, bias=True)</a:t>
            </a:r>
          </a:p>
          <a:p>
            <a:r>
              <a:rPr lang="zh-TW" altLang="en-US" sz="1400" dirty="0"/>
              <a:t>    (3): ReLU()</a:t>
            </a:r>
          </a:p>
          <a:p>
            <a:r>
              <a:rPr lang="zh-TW" altLang="en-US" sz="1400" dirty="0"/>
              <a:t>    (4): Linear(in_features=512, out_features=10, bias=True)</a:t>
            </a:r>
          </a:p>
          <a:p>
            <a:r>
              <a:rPr lang="zh-TW" altLang="en-US" sz="1400" dirty="0"/>
              <a:t>  )</a:t>
            </a:r>
          </a:p>
          <a:p>
            <a:r>
              <a:rPr lang="zh-TW" altLang="en-US" sz="1400" dirty="0"/>
              <a:t>)</a:t>
            </a:r>
          </a:p>
        </p:txBody>
      </p:sp>
      <p:grpSp>
        <p:nvGrpSpPr>
          <p:cNvPr id="71" name="群組 70">
            <a:extLst>
              <a:ext uri="{FF2B5EF4-FFF2-40B4-BE49-F238E27FC236}">
                <a16:creationId xmlns:a16="http://schemas.microsoft.com/office/drawing/2014/main" id="{E4BAF437-3695-1CFF-C758-F83CA529E865}"/>
              </a:ext>
            </a:extLst>
          </p:cNvPr>
          <p:cNvGrpSpPr/>
          <p:nvPr/>
        </p:nvGrpSpPr>
        <p:grpSpPr>
          <a:xfrm>
            <a:off x="5172234" y="293652"/>
            <a:ext cx="6800596" cy="4140709"/>
            <a:chOff x="4594718" y="1005921"/>
            <a:chExt cx="6800596" cy="4140709"/>
          </a:xfrm>
        </p:grpSpPr>
        <p:sp>
          <p:nvSpPr>
            <p:cNvPr id="72" name="文字方塊 71">
              <a:extLst>
                <a:ext uri="{FF2B5EF4-FFF2-40B4-BE49-F238E27FC236}">
                  <a16:creationId xmlns:a16="http://schemas.microsoft.com/office/drawing/2014/main" id="{AB380EB3-D746-803E-0362-564E18F3A6AC}"/>
                </a:ext>
              </a:extLst>
            </p:cNvPr>
            <p:cNvSpPr txBox="1"/>
            <p:nvPr/>
          </p:nvSpPr>
          <p:spPr>
            <a:xfrm>
              <a:off x="5495355" y="4726002"/>
              <a:ext cx="5478623" cy="420628"/>
            </a:xfrm>
            <a:prstGeom prst="rect">
              <a:avLst/>
            </a:prstGeom>
            <a:noFill/>
          </p:spPr>
          <p:txBody>
            <a:bodyPr wrap="square" rtlCol="0">
              <a:spAutoFit/>
            </a:bodyPr>
            <a:lstStyle/>
            <a:p>
              <a:r>
                <a:rPr lang="en-US" altLang="zh-TW" sz="2000" baseline="-25000" dirty="0">
                  <a:latin typeface="Times New Roman" panose="02020603050405020304" pitchFamily="18" charset="0"/>
                  <a:cs typeface="Times New Roman" panose="02020603050405020304" pitchFamily="18" charset="0"/>
                </a:rPr>
                <a:t>28</a:t>
              </a:r>
              <a:r>
                <a:rPr lang="en-US" altLang="zh-TW" sz="2000" baseline="-25000" dirty="0">
                  <a:latin typeface="Times New Roman" panose="02020603050405020304" pitchFamily="18" charset="0"/>
                  <a:ea typeface="標楷體" panose="03000509000000000000" pitchFamily="65" charset="-120"/>
                  <a:cs typeface="Times New Roman" panose="02020603050405020304" pitchFamily="18" charset="0"/>
                </a:rPr>
                <a:t>×28=</a:t>
              </a:r>
              <a:r>
                <a:rPr lang="en-US" altLang="zh-TW" sz="2000" baseline="-25000" dirty="0">
                  <a:latin typeface="Times New Roman" panose="02020603050405020304" pitchFamily="18" charset="0"/>
                  <a:cs typeface="Times New Roman" panose="02020603050405020304" pitchFamily="18" charset="0"/>
                </a:rPr>
                <a:t>784             </a:t>
              </a:r>
              <a:r>
                <a:rPr lang="zh-TW" altLang="en-US" sz="2000" baseline="-25000" dirty="0">
                  <a:latin typeface="Times New Roman" panose="02020603050405020304" pitchFamily="18" charset="0"/>
                  <a:cs typeface="Times New Roman" panose="02020603050405020304" pitchFamily="18" charset="0"/>
                </a:rPr>
                <a:t>           </a:t>
              </a:r>
              <a:r>
                <a:rPr lang="en-US" altLang="zh-TW" sz="2000" baseline="-25000" dirty="0">
                  <a:latin typeface="Times New Roman" panose="02020603050405020304" pitchFamily="18" charset="0"/>
                  <a:cs typeface="Times New Roman" panose="02020603050405020304" pitchFamily="18" charset="0"/>
                </a:rPr>
                <a:t>  512                            512                               10</a:t>
              </a:r>
            </a:p>
            <a:p>
              <a:endParaRPr lang="en-US" altLang="zh-TW" sz="800" i="1" dirty="0">
                <a:latin typeface="Times New Roman" panose="02020603050405020304" pitchFamily="18" charset="0"/>
                <a:cs typeface="Times New Roman" panose="02020603050405020304" pitchFamily="18" charset="0"/>
              </a:endParaRPr>
            </a:p>
          </p:txBody>
        </p:sp>
        <p:grpSp>
          <p:nvGrpSpPr>
            <p:cNvPr id="73" name="群組 72">
              <a:extLst>
                <a:ext uri="{FF2B5EF4-FFF2-40B4-BE49-F238E27FC236}">
                  <a16:creationId xmlns:a16="http://schemas.microsoft.com/office/drawing/2014/main" id="{221C6915-520A-E81E-D89F-2A954BA5288C}"/>
                </a:ext>
              </a:extLst>
            </p:cNvPr>
            <p:cNvGrpSpPr/>
            <p:nvPr/>
          </p:nvGrpSpPr>
          <p:grpSpPr>
            <a:xfrm>
              <a:off x="4594718" y="1005921"/>
              <a:ext cx="6800596" cy="3648205"/>
              <a:chOff x="4594718" y="1005921"/>
              <a:chExt cx="6800596" cy="3648205"/>
            </a:xfrm>
          </p:grpSpPr>
          <p:sp>
            <p:nvSpPr>
              <p:cNvPr id="74" name="文字方塊 73">
                <a:extLst>
                  <a:ext uri="{FF2B5EF4-FFF2-40B4-BE49-F238E27FC236}">
                    <a16:creationId xmlns:a16="http://schemas.microsoft.com/office/drawing/2014/main" id="{58FA499F-23C8-B411-105C-3A5956382E0E}"/>
                  </a:ext>
                </a:extLst>
              </p:cNvPr>
              <p:cNvSpPr txBox="1"/>
              <p:nvPr/>
            </p:nvSpPr>
            <p:spPr>
              <a:xfrm>
                <a:off x="5336801" y="3000719"/>
                <a:ext cx="677108" cy="860138"/>
              </a:xfrm>
              <a:prstGeom prst="rect">
                <a:avLst/>
              </a:prstGeom>
              <a:noFill/>
            </p:spPr>
            <p:txBody>
              <a:bodyPr vert="eaVert" wrap="square" rtlCol="0">
                <a:spAutoFit/>
              </a:bodyPr>
              <a:lstStyle/>
              <a:p>
                <a:r>
                  <a:rPr lang="zh-TW" altLang="en-US" sz="3200" b="1" dirty="0">
                    <a:sym typeface="Symbol" panose="05050102010706020507" pitchFamily="18" charset="2"/>
                  </a:rPr>
                  <a:t></a:t>
                </a:r>
                <a:endParaRPr lang="zh-TW" altLang="en-US" sz="3200" b="1" dirty="0"/>
              </a:p>
            </p:txBody>
          </p:sp>
          <p:grpSp>
            <p:nvGrpSpPr>
              <p:cNvPr id="75" name="群組 74">
                <a:extLst>
                  <a:ext uri="{FF2B5EF4-FFF2-40B4-BE49-F238E27FC236}">
                    <a16:creationId xmlns:a16="http://schemas.microsoft.com/office/drawing/2014/main" id="{AB5F64FE-C68A-D0D6-4679-2DD8166290EA}"/>
                  </a:ext>
                </a:extLst>
              </p:cNvPr>
              <p:cNvGrpSpPr/>
              <p:nvPr/>
            </p:nvGrpSpPr>
            <p:grpSpPr>
              <a:xfrm>
                <a:off x="5135355" y="1005921"/>
                <a:ext cx="1080000" cy="360000"/>
                <a:chOff x="1647205" y="2357515"/>
                <a:chExt cx="1080000" cy="360000"/>
              </a:xfrm>
            </p:grpSpPr>
            <p:sp>
              <p:nvSpPr>
                <p:cNvPr id="138" name="橢圓 137">
                  <a:extLst>
                    <a:ext uri="{FF2B5EF4-FFF2-40B4-BE49-F238E27FC236}">
                      <a16:creationId xmlns:a16="http://schemas.microsoft.com/office/drawing/2014/main" id="{5F85C108-8198-36E5-DD15-D99BAF0FB13B}"/>
                    </a:ext>
                  </a:extLst>
                </p:cNvPr>
                <p:cNvSpPr/>
                <p:nvPr/>
              </p:nvSpPr>
              <p:spPr>
                <a:xfrm>
                  <a:off x="2367205" y="2357515"/>
                  <a:ext cx="360000" cy="360000"/>
                </a:xfrm>
                <a:prstGeom prst="ellipse">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lIns="0" tIns="0" rIns="0" bIns="0" rtlCol="0" anchor="b" anchorCtr="0"/>
                <a:lstStyle/>
                <a:p>
                  <a:pPr algn="ctr"/>
                  <a:endParaRPr lang="zh-TW" altLang="en-US" sz="2400" baseline="-25000" dirty="0">
                    <a:latin typeface="Times New Roman" panose="02020603050405020304" pitchFamily="18" charset="0"/>
                    <a:cs typeface="Times New Roman" panose="02020603050405020304" pitchFamily="18" charset="0"/>
                  </a:endParaRPr>
                </a:p>
              </p:txBody>
            </p:sp>
            <p:cxnSp>
              <p:nvCxnSpPr>
                <p:cNvPr id="139" name="直線單箭頭接點 138">
                  <a:extLst>
                    <a:ext uri="{FF2B5EF4-FFF2-40B4-BE49-F238E27FC236}">
                      <a16:creationId xmlns:a16="http://schemas.microsoft.com/office/drawing/2014/main" id="{F1AB1A0B-3B77-0551-9714-7D07BC38DE92}"/>
                    </a:ext>
                  </a:extLst>
                </p:cNvPr>
                <p:cNvCxnSpPr>
                  <a:cxnSpLocks/>
                  <a:endCxn id="138" idx="2"/>
                </p:cNvCxnSpPr>
                <p:nvPr/>
              </p:nvCxnSpPr>
              <p:spPr>
                <a:xfrm>
                  <a:off x="1647205" y="2537515"/>
                  <a:ext cx="7200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76" name="群組 75">
                <a:extLst>
                  <a:ext uri="{FF2B5EF4-FFF2-40B4-BE49-F238E27FC236}">
                    <a16:creationId xmlns:a16="http://schemas.microsoft.com/office/drawing/2014/main" id="{E04293DF-438A-DE9B-5840-743D9094932E}"/>
                  </a:ext>
                </a:extLst>
              </p:cNvPr>
              <p:cNvGrpSpPr/>
              <p:nvPr/>
            </p:nvGrpSpPr>
            <p:grpSpPr>
              <a:xfrm>
                <a:off x="5135355" y="1638262"/>
                <a:ext cx="1080000" cy="360000"/>
                <a:chOff x="1647205" y="2357515"/>
                <a:chExt cx="1080000" cy="360000"/>
              </a:xfrm>
            </p:grpSpPr>
            <p:sp>
              <p:nvSpPr>
                <p:cNvPr id="136" name="橢圓 135">
                  <a:extLst>
                    <a:ext uri="{FF2B5EF4-FFF2-40B4-BE49-F238E27FC236}">
                      <a16:creationId xmlns:a16="http://schemas.microsoft.com/office/drawing/2014/main" id="{D5652721-E789-B8A0-1F1B-8D5F1144DE01}"/>
                    </a:ext>
                  </a:extLst>
                </p:cNvPr>
                <p:cNvSpPr/>
                <p:nvPr/>
              </p:nvSpPr>
              <p:spPr>
                <a:xfrm>
                  <a:off x="2367205" y="2357515"/>
                  <a:ext cx="360000" cy="360000"/>
                </a:xfrm>
                <a:prstGeom prst="ellipse">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lIns="0" tIns="0" rIns="0" bIns="0" rtlCol="0" anchor="b" anchorCtr="0"/>
                <a:lstStyle/>
                <a:p>
                  <a:pPr algn="ctr"/>
                  <a:endParaRPr lang="zh-TW" altLang="en-US" sz="2400" baseline="-25000" dirty="0">
                    <a:latin typeface="Times New Roman" panose="02020603050405020304" pitchFamily="18" charset="0"/>
                    <a:cs typeface="Times New Roman" panose="02020603050405020304" pitchFamily="18" charset="0"/>
                  </a:endParaRPr>
                </a:p>
              </p:txBody>
            </p:sp>
            <p:cxnSp>
              <p:nvCxnSpPr>
                <p:cNvPr id="137" name="直線單箭頭接點 136">
                  <a:extLst>
                    <a:ext uri="{FF2B5EF4-FFF2-40B4-BE49-F238E27FC236}">
                      <a16:creationId xmlns:a16="http://schemas.microsoft.com/office/drawing/2014/main" id="{F7F9FA07-50CF-D569-B438-9882DA997015}"/>
                    </a:ext>
                  </a:extLst>
                </p:cNvPr>
                <p:cNvCxnSpPr>
                  <a:cxnSpLocks/>
                  <a:endCxn id="136" idx="2"/>
                </p:cNvCxnSpPr>
                <p:nvPr/>
              </p:nvCxnSpPr>
              <p:spPr>
                <a:xfrm>
                  <a:off x="1647205" y="2537515"/>
                  <a:ext cx="7200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77" name="群組 76">
                <a:extLst>
                  <a:ext uri="{FF2B5EF4-FFF2-40B4-BE49-F238E27FC236}">
                    <a16:creationId xmlns:a16="http://schemas.microsoft.com/office/drawing/2014/main" id="{10695A78-21AA-DE4B-E748-631C2886FFB9}"/>
                  </a:ext>
                </a:extLst>
              </p:cNvPr>
              <p:cNvGrpSpPr/>
              <p:nvPr/>
            </p:nvGrpSpPr>
            <p:grpSpPr>
              <a:xfrm>
                <a:off x="5135355" y="4294126"/>
                <a:ext cx="1080000" cy="360000"/>
                <a:chOff x="1647205" y="2357515"/>
                <a:chExt cx="1080000" cy="360000"/>
              </a:xfrm>
            </p:grpSpPr>
            <p:sp>
              <p:nvSpPr>
                <p:cNvPr id="134" name="橢圓 133">
                  <a:extLst>
                    <a:ext uri="{FF2B5EF4-FFF2-40B4-BE49-F238E27FC236}">
                      <a16:creationId xmlns:a16="http://schemas.microsoft.com/office/drawing/2014/main" id="{204F5D5C-54C4-5899-F3AF-E408CB4BF238}"/>
                    </a:ext>
                  </a:extLst>
                </p:cNvPr>
                <p:cNvSpPr/>
                <p:nvPr/>
              </p:nvSpPr>
              <p:spPr>
                <a:xfrm>
                  <a:off x="2367205" y="2357515"/>
                  <a:ext cx="360000" cy="360000"/>
                </a:xfrm>
                <a:prstGeom prst="ellipse">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lIns="0" tIns="0" rIns="0" bIns="0" rtlCol="0" anchor="b" anchorCtr="0"/>
                <a:lstStyle/>
                <a:p>
                  <a:pPr algn="ctr"/>
                  <a:endParaRPr lang="zh-TW" altLang="en-US" sz="2400" baseline="-25000" dirty="0">
                    <a:latin typeface="Times New Roman" panose="02020603050405020304" pitchFamily="18" charset="0"/>
                    <a:cs typeface="Times New Roman" panose="02020603050405020304" pitchFamily="18" charset="0"/>
                  </a:endParaRPr>
                </a:p>
              </p:txBody>
            </p:sp>
            <p:cxnSp>
              <p:nvCxnSpPr>
                <p:cNvPr id="135" name="直線單箭頭接點 134">
                  <a:extLst>
                    <a:ext uri="{FF2B5EF4-FFF2-40B4-BE49-F238E27FC236}">
                      <a16:creationId xmlns:a16="http://schemas.microsoft.com/office/drawing/2014/main" id="{67C4E00B-BD97-0398-EB5D-6DE84788B1E6}"/>
                    </a:ext>
                  </a:extLst>
                </p:cNvPr>
                <p:cNvCxnSpPr>
                  <a:cxnSpLocks/>
                  <a:endCxn id="134" idx="2"/>
                </p:cNvCxnSpPr>
                <p:nvPr/>
              </p:nvCxnSpPr>
              <p:spPr>
                <a:xfrm>
                  <a:off x="1647205" y="2537515"/>
                  <a:ext cx="7200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78" name="橢圓 77">
                <a:extLst>
                  <a:ext uri="{FF2B5EF4-FFF2-40B4-BE49-F238E27FC236}">
                    <a16:creationId xmlns:a16="http://schemas.microsoft.com/office/drawing/2014/main" id="{E4E07F89-DB4F-8100-E54B-4716F7216D3F}"/>
                  </a:ext>
                </a:extLst>
              </p:cNvPr>
              <p:cNvSpPr/>
              <p:nvPr/>
            </p:nvSpPr>
            <p:spPr>
              <a:xfrm>
                <a:off x="7424883" y="2106570"/>
                <a:ext cx="360000" cy="360000"/>
              </a:xfrm>
              <a:prstGeom prst="ellipse">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lIns="0" tIns="0" rIns="0" bIns="0" rtlCol="0" anchor="b" anchorCtr="0"/>
              <a:lstStyle/>
              <a:p>
                <a:pPr algn="ctr"/>
                <a:endParaRPr lang="zh-TW" altLang="en-US" sz="2400" baseline="-25000" dirty="0">
                  <a:latin typeface="Times New Roman" panose="02020603050405020304" pitchFamily="18" charset="0"/>
                  <a:cs typeface="Times New Roman" panose="02020603050405020304" pitchFamily="18" charset="0"/>
                </a:endParaRPr>
              </a:p>
            </p:txBody>
          </p:sp>
          <p:cxnSp>
            <p:nvCxnSpPr>
              <p:cNvPr id="79" name="直線單箭頭接點 78">
                <a:extLst>
                  <a:ext uri="{FF2B5EF4-FFF2-40B4-BE49-F238E27FC236}">
                    <a16:creationId xmlns:a16="http://schemas.microsoft.com/office/drawing/2014/main" id="{9B1BB030-BAB6-A7F1-3B65-21B2B9E93FA6}"/>
                  </a:ext>
                </a:extLst>
              </p:cNvPr>
              <p:cNvCxnSpPr>
                <a:cxnSpLocks/>
                <a:stCxn id="138" idx="6"/>
                <a:endCxn id="78" idx="2"/>
              </p:cNvCxnSpPr>
              <p:nvPr/>
            </p:nvCxnSpPr>
            <p:spPr>
              <a:xfrm>
                <a:off x="6215355" y="1185921"/>
                <a:ext cx="1209528" cy="11006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0" name="橢圓 79">
                <a:extLst>
                  <a:ext uri="{FF2B5EF4-FFF2-40B4-BE49-F238E27FC236}">
                    <a16:creationId xmlns:a16="http://schemas.microsoft.com/office/drawing/2014/main" id="{3BCB5A37-52FC-03DE-F859-6C60C47C1B7D}"/>
                  </a:ext>
                </a:extLst>
              </p:cNvPr>
              <p:cNvSpPr/>
              <p:nvPr/>
            </p:nvSpPr>
            <p:spPr>
              <a:xfrm>
                <a:off x="7424883" y="2705914"/>
                <a:ext cx="360000" cy="360000"/>
              </a:xfrm>
              <a:prstGeom prst="ellipse">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lIns="0" tIns="0" rIns="0" bIns="0" rtlCol="0" anchor="b" anchorCtr="0"/>
              <a:lstStyle/>
              <a:p>
                <a:pPr algn="ctr"/>
                <a:endParaRPr lang="zh-TW" altLang="en-US" sz="2400" baseline="-25000" dirty="0">
                  <a:latin typeface="Times New Roman" panose="02020603050405020304" pitchFamily="18" charset="0"/>
                  <a:cs typeface="Times New Roman" panose="02020603050405020304" pitchFamily="18" charset="0"/>
                </a:endParaRPr>
              </a:p>
            </p:txBody>
          </p:sp>
          <p:cxnSp>
            <p:nvCxnSpPr>
              <p:cNvPr id="81" name="直線單箭頭接點 80">
                <a:extLst>
                  <a:ext uri="{FF2B5EF4-FFF2-40B4-BE49-F238E27FC236}">
                    <a16:creationId xmlns:a16="http://schemas.microsoft.com/office/drawing/2014/main" id="{FD594BE1-ADE3-970C-92A7-D14775E2CD24}"/>
                  </a:ext>
                </a:extLst>
              </p:cNvPr>
              <p:cNvCxnSpPr>
                <a:cxnSpLocks/>
                <a:stCxn id="138" idx="6"/>
                <a:endCxn id="80" idx="2"/>
              </p:cNvCxnSpPr>
              <p:nvPr/>
            </p:nvCxnSpPr>
            <p:spPr>
              <a:xfrm>
                <a:off x="6215355" y="1185921"/>
                <a:ext cx="1209528" cy="169999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2" name="橢圓 81">
                <a:extLst>
                  <a:ext uri="{FF2B5EF4-FFF2-40B4-BE49-F238E27FC236}">
                    <a16:creationId xmlns:a16="http://schemas.microsoft.com/office/drawing/2014/main" id="{C63A562B-277E-7378-D823-8A14C48F803E}"/>
                  </a:ext>
                </a:extLst>
              </p:cNvPr>
              <p:cNvSpPr/>
              <p:nvPr/>
            </p:nvSpPr>
            <p:spPr>
              <a:xfrm>
                <a:off x="7424883" y="3958374"/>
                <a:ext cx="360000" cy="360000"/>
              </a:xfrm>
              <a:prstGeom prst="ellipse">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lIns="0" tIns="0" rIns="0" bIns="0" rtlCol="0" anchor="b" anchorCtr="0"/>
              <a:lstStyle/>
              <a:p>
                <a:pPr algn="ctr"/>
                <a:endParaRPr lang="zh-TW" altLang="en-US" sz="2400" baseline="-25000" dirty="0">
                  <a:latin typeface="Times New Roman" panose="02020603050405020304" pitchFamily="18" charset="0"/>
                  <a:cs typeface="Times New Roman" panose="02020603050405020304" pitchFamily="18" charset="0"/>
                </a:endParaRPr>
              </a:p>
            </p:txBody>
          </p:sp>
          <p:cxnSp>
            <p:nvCxnSpPr>
              <p:cNvPr id="83" name="直線單箭頭接點 82">
                <a:extLst>
                  <a:ext uri="{FF2B5EF4-FFF2-40B4-BE49-F238E27FC236}">
                    <a16:creationId xmlns:a16="http://schemas.microsoft.com/office/drawing/2014/main" id="{0B37845B-1F61-489A-2416-A38B04B7FF2D}"/>
                  </a:ext>
                </a:extLst>
              </p:cNvPr>
              <p:cNvCxnSpPr>
                <a:cxnSpLocks/>
                <a:stCxn id="138" idx="6"/>
                <a:endCxn id="82" idx="2"/>
              </p:cNvCxnSpPr>
              <p:nvPr/>
            </p:nvCxnSpPr>
            <p:spPr>
              <a:xfrm>
                <a:off x="6215355" y="1185921"/>
                <a:ext cx="1209528" cy="295245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4" name="橢圓 83">
                <a:extLst>
                  <a:ext uri="{FF2B5EF4-FFF2-40B4-BE49-F238E27FC236}">
                    <a16:creationId xmlns:a16="http://schemas.microsoft.com/office/drawing/2014/main" id="{413694CC-8882-5BBB-956A-562C12FE5EC3}"/>
                  </a:ext>
                </a:extLst>
              </p:cNvPr>
              <p:cNvSpPr/>
              <p:nvPr/>
            </p:nvSpPr>
            <p:spPr>
              <a:xfrm>
                <a:off x="7424883" y="1434618"/>
                <a:ext cx="360000" cy="360000"/>
              </a:xfrm>
              <a:prstGeom prst="ellipse">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lIns="0" tIns="0" rIns="0" bIns="0" rtlCol="0" anchor="b" anchorCtr="0"/>
              <a:lstStyle/>
              <a:p>
                <a:pPr algn="ctr"/>
                <a:endParaRPr lang="zh-TW" altLang="en-US" sz="2400" baseline="-25000" dirty="0">
                  <a:latin typeface="Times New Roman" panose="02020603050405020304" pitchFamily="18" charset="0"/>
                  <a:cs typeface="Times New Roman" panose="02020603050405020304" pitchFamily="18" charset="0"/>
                </a:endParaRPr>
              </a:p>
            </p:txBody>
          </p:sp>
          <p:cxnSp>
            <p:nvCxnSpPr>
              <p:cNvPr id="85" name="直線單箭頭接點 84">
                <a:extLst>
                  <a:ext uri="{FF2B5EF4-FFF2-40B4-BE49-F238E27FC236}">
                    <a16:creationId xmlns:a16="http://schemas.microsoft.com/office/drawing/2014/main" id="{203D389D-B70F-B02C-74C7-E6525EDE49BF}"/>
                  </a:ext>
                </a:extLst>
              </p:cNvPr>
              <p:cNvCxnSpPr>
                <a:cxnSpLocks/>
                <a:stCxn id="138" idx="6"/>
                <a:endCxn id="84" idx="2"/>
              </p:cNvCxnSpPr>
              <p:nvPr/>
            </p:nvCxnSpPr>
            <p:spPr>
              <a:xfrm>
                <a:off x="6215355" y="1185921"/>
                <a:ext cx="1209528" cy="4286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6" name="橢圓 85">
                <a:extLst>
                  <a:ext uri="{FF2B5EF4-FFF2-40B4-BE49-F238E27FC236}">
                    <a16:creationId xmlns:a16="http://schemas.microsoft.com/office/drawing/2014/main" id="{1FE92025-6C9C-5A4B-2A9C-B2F5CECBA5CE}"/>
                  </a:ext>
                </a:extLst>
              </p:cNvPr>
              <p:cNvSpPr/>
              <p:nvPr/>
            </p:nvSpPr>
            <p:spPr>
              <a:xfrm>
                <a:off x="8854056" y="2107362"/>
                <a:ext cx="360000" cy="360000"/>
              </a:xfrm>
              <a:prstGeom prst="ellipse">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lIns="0" tIns="0" rIns="0" bIns="0" rtlCol="0" anchor="b" anchorCtr="0"/>
              <a:lstStyle/>
              <a:p>
                <a:pPr algn="ctr"/>
                <a:endParaRPr lang="zh-TW" altLang="en-US" sz="2400" baseline="-25000" dirty="0">
                  <a:latin typeface="Times New Roman" panose="02020603050405020304" pitchFamily="18" charset="0"/>
                  <a:cs typeface="Times New Roman" panose="02020603050405020304" pitchFamily="18" charset="0"/>
                </a:endParaRPr>
              </a:p>
            </p:txBody>
          </p:sp>
          <p:cxnSp>
            <p:nvCxnSpPr>
              <p:cNvPr id="87" name="直線單箭頭接點 86">
                <a:extLst>
                  <a:ext uri="{FF2B5EF4-FFF2-40B4-BE49-F238E27FC236}">
                    <a16:creationId xmlns:a16="http://schemas.microsoft.com/office/drawing/2014/main" id="{0C091A86-D4D0-D745-C538-35B6068A4A53}"/>
                  </a:ext>
                </a:extLst>
              </p:cNvPr>
              <p:cNvCxnSpPr>
                <a:cxnSpLocks/>
                <a:stCxn id="78" idx="6"/>
                <a:endCxn id="86" idx="2"/>
              </p:cNvCxnSpPr>
              <p:nvPr/>
            </p:nvCxnSpPr>
            <p:spPr>
              <a:xfrm>
                <a:off x="7784883" y="2286570"/>
                <a:ext cx="1069173" cy="7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8" name="橢圓 87">
                <a:extLst>
                  <a:ext uri="{FF2B5EF4-FFF2-40B4-BE49-F238E27FC236}">
                    <a16:creationId xmlns:a16="http://schemas.microsoft.com/office/drawing/2014/main" id="{3DA93F98-2A64-E371-45EF-0C03E86D3836}"/>
                  </a:ext>
                </a:extLst>
              </p:cNvPr>
              <p:cNvSpPr/>
              <p:nvPr/>
            </p:nvSpPr>
            <p:spPr>
              <a:xfrm>
                <a:off x="8854056" y="2706706"/>
                <a:ext cx="360000" cy="360000"/>
              </a:xfrm>
              <a:prstGeom prst="ellipse">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lIns="0" tIns="0" rIns="0" bIns="0" rtlCol="0" anchor="b" anchorCtr="0"/>
              <a:lstStyle/>
              <a:p>
                <a:pPr algn="ctr"/>
                <a:endParaRPr lang="zh-TW" altLang="en-US" sz="2400" baseline="-25000" dirty="0">
                  <a:latin typeface="Times New Roman" panose="02020603050405020304" pitchFamily="18" charset="0"/>
                  <a:cs typeface="Times New Roman" panose="02020603050405020304" pitchFamily="18" charset="0"/>
                </a:endParaRPr>
              </a:p>
            </p:txBody>
          </p:sp>
          <p:cxnSp>
            <p:nvCxnSpPr>
              <p:cNvPr id="89" name="直線單箭頭接點 88">
                <a:extLst>
                  <a:ext uri="{FF2B5EF4-FFF2-40B4-BE49-F238E27FC236}">
                    <a16:creationId xmlns:a16="http://schemas.microsoft.com/office/drawing/2014/main" id="{909CF3F9-BDFC-7EDD-CBC8-2ACF5411D7F7}"/>
                  </a:ext>
                </a:extLst>
              </p:cNvPr>
              <p:cNvCxnSpPr>
                <a:cxnSpLocks/>
                <a:stCxn id="80" idx="6"/>
                <a:endCxn id="88" idx="2"/>
              </p:cNvCxnSpPr>
              <p:nvPr/>
            </p:nvCxnSpPr>
            <p:spPr>
              <a:xfrm>
                <a:off x="7784883" y="2885914"/>
                <a:ext cx="1069173" cy="7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0" name="橢圓 89">
                <a:extLst>
                  <a:ext uri="{FF2B5EF4-FFF2-40B4-BE49-F238E27FC236}">
                    <a16:creationId xmlns:a16="http://schemas.microsoft.com/office/drawing/2014/main" id="{1636EE81-8DA5-33EB-30FB-7E0A9DA3165B}"/>
                  </a:ext>
                </a:extLst>
              </p:cNvPr>
              <p:cNvSpPr/>
              <p:nvPr/>
            </p:nvSpPr>
            <p:spPr>
              <a:xfrm>
                <a:off x="8854056" y="3959166"/>
                <a:ext cx="360000" cy="360000"/>
              </a:xfrm>
              <a:prstGeom prst="ellipse">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lIns="0" tIns="0" rIns="0" bIns="0" rtlCol="0" anchor="b" anchorCtr="0"/>
              <a:lstStyle/>
              <a:p>
                <a:pPr algn="ctr"/>
                <a:endParaRPr lang="zh-TW" altLang="en-US" sz="2400" baseline="-25000" dirty="0">
                  <a:latin typeface="Times New Roman" panose="02020603050405020304" pitchFamily="18" charset="0"/>
                  <a:cs typeface="Times New Roman" panose="02020603050405020304" pitchFamily="18" charset="0"/>
                </a:endParaRPr>
              </a:p>
            </p:txBody>
          </p:sp>
          <p:cxnSp>
            <p:nvCxnSpPr>
              <p:cNvPr id="91" name="直線單箭頭接點 90">
                <a:extLst>
                  <a:ext uri="{FF2B5EF4-FFF2-40B4-BE49-F238E27FC236}">
                    <a16:creationId xmlns:a16="http://schemas.microsoft.com/office/drawing/2014/main" id="{C575523C-F32A-12A5-5A8B-527529363F2C}"/>
                  </a:ext>
                </a:extLst>
              </p:cNvPr>
              <p:cNvCxnSpPr>
                <a:cxnSpLocks/>
                <a:stCxn id="82" idx="6"/>
                <a:endCxn id="90" idx="2"/>
              </p:cNvCxnSpPr>
              <p:nvPr/>
            </p:nvCxnSpPr>
            <p:spPr>
              <a:xfrm>
                <a:off x="7784883" y="4138374"/>
                <a:ext cx="1069173" cy="7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2" name="橢圓 91">
                <a:extLst>
                  <a:ext uri="{FF2B5EF4-FFF2-40B4-BE49-F238E27FC236}">
                    <a16:creationId xmlns:a16="http://schemas.microsoft.com/office/drawing/2014/main" id="{71C299A8-5D75-5090-FF6E-2787592DC459}"/>
                  </a:ext>
                </a:extLst>
              </p:cNvPr>
              <p:cNvSpPr/>
              <p:nvPr/>
            </p:nvSpPr>
            <p:spPr>
              <a:xfrm>
                <a:off x="8854056" y="1444036"/>
                <a:ext cx="360000" cy="360000"/>
              </a:xfrm>
              <a:prstGeom prst="ellipse">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lIns="0" tIns="0" rIns="0" bIns="0" rtlCol="0" anchor="b" anchorCtr="0"/>
              <a:lstStyle/>
              <a:p>
                <a:pPr algn="ctr"/>
                <a:endParaRPr lang="zh-TW" altLang="en-US" sz="2400" baseline="-25000" dirty="0">
                  <a:latin typeface="Times New Roman" panose="02020603050405020304" pitchFamily="18" charset="0"/>
                  <a:cs typeface="Times New Roman" panose="02020603050405020304" pitchFamily="18" charset="0"/>
                </a:endParaRPr>
              </a:p>
            </p:txBody>
          </p:sp>
          <p:cxnSp>
            <p:nvCxnSpPr>
              <p:cNvPr id="93" name="直線單箭頭接點 92">
                <a:extLst>
                  <a:ext uri="{FF2B5EF4-FFF2-40B4-BE49-F238E27FC236}">
                    <a16:creationId xmlns:a16="http://schemas.microsoft.com/office/drawing/2014/main" id="{62C5AC90-A0A3-5A33-D00E-7FA8CA7B2206}"/>
                  </a:ext>
                </a:extLst>
              </p:cNvPr>
              <p:cNvCxnSpPr>
                <a:cxnSpLocks/>
                <a:stCxn id="84" idx="6"/>
                <a:endCxn id="92" idx="2"/>
              </p:cNvCxnSpPr>
              <p:nvPr/>
            </p:nvCxnSpPr>
            <p:spPr>
              <a:xfrm>
                <a:off x="7784883" y="1614618"/>
                <a:ext cx="1069173" cy="94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4" name="橢圓 93">
                <a:extLst>
                  <a:ext uri="{FF2B5EF4-FFF2-40B4-BE49-F238E27FC236}">
                    <a16:creationId xmlns:a16="http://schemas.microsoft.com/office/drawing/2014/main" id="{BB5E49EE-80B1-4232-F52A-D7692585123D}"/>
                  </a:ext>
                </a:extLst>
              </p:cNvPr>
              <p:cNvSpPr/>
              <p:nvPr/>
            </p:nvSpPr>
            <p:spPr>
              <a:xfrm>
                <a:off x="10296870" y="1823382"/>
                <a:ext cx="360000" cy="360000"/>
              </a:xfrm>
              <a:prstGeom prst="ellipse">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lIns="0" tIns="0" rIns="0" bIns="0" rtlCol="0" anchor="b" anchorCtr="0"/>
              <a:lstStyle/>
              <a:p>
                <a:pPr algn="ctr"/>
                <a:endParaRPr lang="zh-TW" altLang="en-US" sz="2400" baseline="-25000" dirty="0">
                  <a:latin typeface="Times New Roman" panose="02020603050405020304" pitchFamily="18" charset="0"/>
                  <a:cs typeface="Times New Roman" panose="02020603050405020304" pitchFamily="18" charset="0"/>
                </a:endParaRPr>
              </a:p>
            </p:txBody>
          </p:sp>
          <p:cxnSp>
            <p:nvCxnSpPr>
              <p:cNvPr id="95" name="直線單箭頭接點 94">
                <a:extLst>
                  <a:ext uri="{FF2B5EF4-FFF2-40B4-BE49-F238E27FC236}">
                    <a16:creationId xmlns:a16="http://schemas.microsoft.com/office/drawing/2014/main" id="{23D686FE-2E14-EBAE-5F0B-583394C87A02}"/>
                  </a:ext>
                </a:extLst>
              </p:cNvPr>
              <p:cNvCxnSpPr>
                <a:cxnSpLocks/>
                <a:stCxn id="86" idx="6"/>
                <a:endCxn id="94" idx="2"/>
              </p:cNvCxnSpPr>
              <p:nvPr/>
            </p:nvCxnSpPr>
            <p:spPr>
              <a:xfrm flipV="1">
                <a:off x="9214056" y="2003382"/>
                <a:ext cx="1082814" cy="2839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6" name="橢圓 95">
                <a:extLst>
                  <a:ext uri="{FF2B5EF4-FFF2-40B4-BE49-F238E27FC236}">
                    <a16:creationId xmlns:a16="http://schemas.microsoft.com/office/drawing/2014/main" id="{C6FB3158-1E33-A7E6-6742-886954C6A500}"/>
                  </a:ext>
                </a:extLst>
              </p:cNvPr>
              <p:cNvSpPr/>
              <p:nvPr/>
            </p:nvSpPr>
            <p:spPr>
              <a:xfrm>
                <a:off x="10335945" y="3584640"/>
                <a:ext cx="360000" cy="360000"/>
              </a:xfrm>
              <a:prstGeom prst="ellipse">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lIns="0" tIns="0" rIns="0" bIns="0" rtlCol="0" anchor="b" anchorCtr="0"/>
              <a:lstStyle/>
              <a:p>
                <a:pPr algn="ctr"/>
                <a:endParaRPr lang="zh-TW" altLang="en-US" sz="2400" baseline="-25000" dirty="0">
                  <a:latin typeface="Times New Roman" panose="02020603050405020304" pitchFamily="18" charset="0"/>
                  <a:cs typeface="Times New Roman" panose="02020603050405020304" pitchFamily="18" charset="0"/>
                </a:endParaRPr>
              </a:p>
            </p:txBody>
          </p:sp>
          <p:cxnSp>
            <p:nvCxnSpPr>
              <p:cNvPr id="97" name="直線單箭頭接點 96">
                <a:extLst>
                  <a:ext uri="{FF2B5EF4-FFF2-40B4-BE49-F238E27FC236}">
                    <a16:creationId xmlns:a16="http://schemas.microsoft.com/office/drawing/2014/main" id="{B8498988-080F-837E-D910-E63182BDA000}"/>
                  </a:ext>
                </a:extLst>
              </p:cNvPr>
              <p:cNvCxnSpPr>
                <a:cxnSpLocks/>
                <a:stCxn id="90" idx="6"/>
                <a:endCxn id="96" idx="2"/>
              </p:cNvCxnSpPr>
              <p:nvPr/>
            </p:nvCxnSpPr>
            <p:spPr>
              <a:xfrm flipV="1">
                <a:off x="9214056" y="3764640"/>
                <a:ext cx="1121889" cy="37452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8" name="文字方塊 97">
                <a:extLst>
                  <a:ext uri="{FF2B5EF4-FFF2-40B4-BE49-F238E27FC236}">
                    <a16:creationId xmlns:a16="http://schemas.microsoft.com/office/drawing/2014/main" id="{EDC2C723-520E-B64F-BD35-8E70E8917D6F}"/>
                  </a:ext>
                </a:extLst>
              </p:cNvPr>
              <p:cNvSpPr txBox="1"/>
              <p:nvPr/>
            </p:nvSpPr>
            <p:spPr>
              <a:xfrm>
                <a:off x="10296870" y="2939617"/>
                <a:ext cx="677108" cy="860138"/>
              </a:xfrm>
              <a:prstGeom prst="rect">
                <a:avLst/>
              </a:prstGeom>
              <a:noFill/>
            </p:spPr>
            <p:txBody>
              <a:bodyPr vert="eaVert" wrap="square" rtlCol="0">
                <a:spAutoFit/>
              </a:bodyPr>
              <a:lstStyle/>
              <a:p>
                <a:r>
                  <a:rPr lang="zh-TW" altLang="en-US" sz="3200" b="1" dirty="0">
                    <a:sym typeface="Symbol" panose="05050102010706020507" pitchFamily="18" charset="2"/>
                  </a:rPr>
                  <a:t></a:t>
                </a:r>
                <a:endParaRPr lang="zh-TW" altLang="en-US" sz="3200" b="1" dirty="0"/>
              </a:p>
            </p:txBody>
          </p:sp>
          <p:cxnSp>
            <p:nvCxnSpPr>
              <p:cNvPr id="99" name="直線單箭頭接點 98">
                <a:extLst>
                  <a:ext uri="{FF2B5EF4-FFF2-40B4-BE49-F238E27FC236}">
                    <a16:creationId xmlns:a16="http://schemas.microsoft.com/office/drawing/2014/main" id="{BD99527C-677A-6A0F-9751-333A27B0832D}"/>
                  </a:ext>
                </a:extLst>
              </p:cNvPr>
              <p:cNvCxnSpPr>
                <a:cxnSpLocks/>
                <a:stCxn id="136" idx="6"/>
                <a:endCxn id="84" idx="2"/>
              </p:cNvCxnSpPr>
              <p:nvPr/>
            </p:nvCxnSpPr>
            <p:spPr>
              <a:xfrm flipV="1">
                <a:off x="6215355" y="1614618"/>
                <a:ext cx="1209528" cy="2036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0" name="直線單箭頭接點 99">
                <a:extLst>
                  <a:ext uri="{FF2B5EF4-FFF2-40B4-BE49-F238E27FC236}">
                    <a16:creationId xmlns:a16="http://schemas.microsoft.com/office/drawing/2014/main" id="{1BB1002B-A19B-3350-0209-CDB4B3FA55FF}"/>
                  </a:ext>
                </a:extLst>
              </p:cNvPr>
              <p:cNvCxnSpPr>
                <a:cxnSpLocks/>
                <a:stCxn id="136" idx="6"/>
                <a:endCxn id="78" idx="2"/>
              </p:cNvCxnSpPr>
              <p:nvPr/>
            </p:nvCxnSpPr>
            <p:spPr>
              <a:xfrm>
                <a:off x="6215355" y="1818262"/>
                <a:ext cx="1209528" cy="4683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1" name="直線單箭頭接點 100">
                <a:extLst>
                  <a:ext uri="{FF2B5EF4-FFF2-40B4-BE49-F238E27FC236}">
                    <a16:creationId xmlns:a16="http://schemas.microsoft.com/office/drawing/2014/main" id="{E36C1754-6048-544A-1F8D-1BCFFFB35549}"/>
                  </a:ext>
                </a:extLst>
              </p:cNvPr>
              <p:cNvCxnSpPr>
                <a:cxnSpLocks/>
                <a:stCxn id="136" idx="6"/>
                <a:endCxn id="80" idx="2"/>
              </p:cNvCxnSpPr>
              <p:nvPr/>
            </p:nvCxnSpPr>
            <p:spPr>
              <a:xfrm>
                <a:off x="6215355" y="1818262"/>
                <a:ext cx="1209528" cy="10676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2" name="直線單箭頭接點 101">
                <a:extLst>
                  <a:ext uri="{FF2B5EF4-FFF2-40B4-BE49-F238E27FC236}">
                    <a16:creationId xmlns:a16="http://schemas.microsoft.com/office/drawing/2014/main" id="{88A801C1-2D6C-E66C-174C-6A5CDB610F40}"/>
                  </a:ext>
                </a:extLst>
              </p:cNvPr>
              <p:cNvCxnSpPr>
                <a:cxnSpLocks/>
                <a:stCxn id="136" idx="6"/>
                <a:endCxn id="82" idx="2"/>
              </p:cNvCxnSpPr>
              <p:nvPr/>
            </p:nvCxnSpPr>
            <p:spPr>
              <a:xfrm>
                <a:off x="6215355" y="1818262"/>
                <a:ext cx="1209528" cy="232011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3" name="直線單箭頭接點 102">
                <a:extLst>
                  <a:ext uri="{FF2B5EF4-FFF2-40B4-BE49-F238E27FC236}">
                    <a16:creationId xmlns:a16="http://schemas.microsoft.com/office/drawing/2014/main" id="{A39BFA1B-DD91-03C8-9FAD-C4759754966F}"/>
                  </a:ext>
                </a:extLst>
              </p:cNvPr>
              <p:cNvCxnSpPr>
                <a:cxnSpLocks/>
                <a:stCxn id="134" idx="6"/>
                <a:endCxn id="84" idx="2"/>
              </p:cNvCxnSpPr>
              <p:nvPr/>
            </p:nvCxnSpPr>
            <p:spPr>
              <a:xfrm flipV="1">
                <a:off x="6215355" y="1614618"/>
                <a:ext cx="1209528" cy="28595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4" name="直線單箭頭接點 103">
                <a:extLst>
                  <a:ext uri="{FF2B5EF4-FFF2-40B4-BE49-F238E27FC236}">
                    <a16:creationId xmlns:a16="http://schemas.microsoft.com/office/drawing/2014/main" id="{08141D8C-C44F-CAA2-54FE-4C49727D0917}"/>
                  </a:ext>
                </a:extLst>
              </p:cNvPr>
              <p:cNvCxnSpPr>
                <a:cxnSpLocks/>
                <a:stCxn id="134" idx="6"/>
                <a:endCxn id="80" idx="2"/>
              </p:cNvCxnSpPr>
              <p:nvPr/>
            </p:nvCxnSpPr>
            <p:spPr>
              <a:xfrm flipV="1">
                <a:off x="6215355" y="2885914"/>
                <a:ext cx="1209528" cy="158821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5" name="直線單箭頭接點 104">
                <a:extLst>
                  <a:ext uri="{FF2B5EF4-FFF2-40B4-BE49-F238E27FC236}">
                    <a16:creationId xmlns:a16="http://schemas.microsoft.com/office/drawing/2014/main" id="{D84D0FDA-A6ED-9285-EF9A-7AD015FCAD8A}"/>
                  </a:ext>
                </a:extLst>
              </p:cNvPr>
              <p:cNvCxnSpPr>
                <a:cxnSpLocks/>
                <a:stCxn id="134" idx="6"/>
                <a:endCxn id="82" idx="2"/>
              </p:cNvCxnSpPr>
              <p:nvPr/>
            </p:nvCxnSpPr>
            <p:spPr>
              <a:xfrm flipV="1">
                <a:off x="6215355" y="4138374"/>
                <a:ext cx="1209528" cy="3357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6" name="直線單箭頭接點 105">
                <a:extLst>
                  <a:ext uri="{FF2B5EF4-FFF2-40B4-BE49-F238E27FC236}">
                    <a16:creationId xmlns:a16="http://schemas.microsoft.com/office/drawing/2014/main" id="{B610B269-2167-40F9-0D06-69EE81BA6501}"/>
                  </a:ext>
                </a:extLst>
              </p:cNvPr>
              <p:cNvCxnSpPr>
                <a:cxnSpLocks/>
                <a:stCxn id="84" idx="6"/>
                <a:endCxn id="86" idx="2"/>
              </p:cNvCxnSpPr>
              <p:nvPr/>
            </p:nvCxnSpPr>
            <p:spPr>
              <a:xfrm>
                <a:off x="7784883" y="1614618"/>
                <a:ext cx="1069173" cy="6727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7" name="直線單箭頭接點 106">
                <a:extLst>
                  <a:ext uri="{FF2B5EF4-FFF2-40B4-BE49-F238E27FC236}">
                    <a16:creationId xmlns:a16="http://schemas.microsoft.com/office/drawing/2014/main" id="{C91905AD-E21C-C94D-853F-BFCCED36BC9F}"/>
                  </a:ext>
                </a:extLst>
              </p:cNvPr>
              <p:cNvCxnSpPr>
                <a:cxnSpLocks/>
                <a:stCxn id="78" idx="6"/>
                <a:endCxn id="88" idx="2"/>
              </p:cNvCxnSpPr>
              <p:nvPr/>
            </p:nvCxnSpPr>
            <p:spPr>
              <a:xfrm>
                <a:off x="7784883" y="2286570"/>
                <a:ext cx="1069173" cy="6001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8" name="直線單箭頭接點 107">
                <a:extLst>
                  <a:ext uri="{FF2B5EF4-FFF2-40B4-BE49-F238E27FC236}">
                    <a16:creationId xmlns:a16="http://schemas.microsoft.com/office/drawing/2014/main" id="{97745833-A174-E70E-769B-EDBE89080CF1}"/>
                  </a:ext>
                </a:extLst>
              </p:cNvPr>
              <p:cNvCxnSpPr>
                <a:cxnSpLocks/>
                <a:stCxn id="92" idx="6"/>
                <a:endCxn id="94" idx="2"/>
              </p:cNvCxnSpPr>
              <p:nvPr/>
            </p:nvCxnSpPr>
            <p:spPr>
              <a:xfrm>
                <a:off x="9214056" y="1624036"/>
                <a:ext cx="1082814" cy="3793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9" name="直線單箭頭接點 108">
                <a:extLst>
                  <a:ext uri="{FF2B5EF4-FFF2-40B4-BE49-F238E27FC236}">
                    <a16:creationId xmlns:a16="http://schemas.microsoft.com/office/drawing/2014/main" id="{01E1A6B4-4449-DB11-A320-6EC0C31AC2A7}"/>
                  </a:ext>
                </a:extLst>
              </p:cNvPr>
              <p:cNvCxnSpPr>
                <a:cxnSpLocks/>
                <a:stCxn id="80" idx="6"/>
                <a:endCxn id="90" idx="2"/>
              </p:cNvCxnSpPr>
              <p:nvPr/>
            </p:nvCxnSpPr>
            <p:spPr>
              <a:xfrm>
                <a:off x="7784883" y="2885914"/>
                <a:ext cx="1069173" cy="12532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0" name="直線單箭頭接點 109">
                <a:extLst>
                  <a:ext uri="{FF2B5EF4-FFF2-40B4-BE49-F238E27FC236}">
                    <a16:creationId xmlns:a16="http://schemas.microsoft.com/office/drawing/2014/main" id="{547B750D-80FC-AF2D-C9FA-3CFD6BB7971C}"/>
                  </a:ext>
                </a:extLst>
              </p:cNvPr>
              <p:cNvCxnSpPr>
                <a:cxnSpLocks/>
                <a:stCxn id="78" idx="6"/>
                <a:endCxn id="92" idx="2"/>
              </p:cNvCxnSpPr>
              <p:nvPr/>
            </p:nvCxnSpPr>
            <p:spPr>
              <a:xfrm flipV="1">
                <a:off x="7784883" y="1624036"/>
                <a:ext cx="1069173" cy="6625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1" name="直線單箭頭接點 110">
                <a:extLst>
                  <a:ext uri="{FF2B5EF4-FFF2-40B4-BE49-F238E27FC236}">
                    <a16:creationId xmlns:a16="http://schemas.microsoft.com/office/drawing/2014/main" id="{5DDB9E05-0759-BC90-5BF5-AE859563A3C9}"/>
                  </a:ext>
                </a:extLst>
              </p:cNvPr>
              <p:cNvCxnSpPr>
                <a:cxnSpLocks/>
                <a:stCxn id="80" idx="6"/>
                <a:endCxn id="86" idx="2"/>
              </p:cNvCxnSpPr>
              <p:nvPr/>
            </p:nvCxnSpPr>
            <p:spPr>
              <a:xfrm flipV="1">
                <a:off x="7784883" y="2287362"/>
                <a:ext cx="1069173" cy="5985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2" name="直線單箭頭接點 111">
                <a:extLst>
                  <a:ext uri="{FF2B5EF4-FFF2-40B4-BE49-F238E27FC236}">
                    <a16:creationId xmlns:a16="http://schemas.microsoft.com/office/drawing/2014/main" id="{BDA59AC4-8341-61B2-19C8-8416A66C01B6}"/>
                  </a:ext>
                </a:extLst>
              </p:cNvPr>
              <p:cNvCxnSpPr>
                <a:cxnSpLocks/>
                <a:stCxn id="82" idx="6"/>
                <a:endCxn id="88" idx="2"/>
              </p:cNvCxnSpPr>
              <p:nvPr/>
            </p:nvCxnSpPr>
            <p:spPr>
              <a:xfrm flipV="1">
                <a:off x="7784883" y="2886706"/>
                <a:ext cx="1069173" cy="12516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3" name="直線單箭頭接點 112">
                <a:extLst>
                  <a:ext uri="{FF2B5EF4-FFF2-40B4-BE49-F238E27FC236}">
                    <a16:creationId xmlns:a16="http://schemas.microsoft.com/office/drawing/2014/main" id="{7275C093-B162-1BC7-FCF6-50DFBA9A0083}"/>
                  </a:ext>
                </a:extLst>
              </p:cNvPr>
              <p:cNvCxnSpPr>
                <a:cxnSpLocks/>
                <a:stCxn id="88" idx="6"/>
                <a:endCxn id="94" idx="2"/>
              </p:cNvCxnSpPr>
              <p:nvPr/>
            </p:nvCxnSpPr>
            <p:spPr>
              <a:xfrm flipV="1">
                <a:off x="9214056" y="2003382"/>
                <a:ext cx="1082814" cy="8833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4" name="直線單箭頭接點 113">
                <a:extLst>
                  <a:ext uri="{FF2B5EF4-FFF2-40B4-BE49-F238E27FC236}">
                    <a16:creationId xmlns:a16="http://schemas.microsoft.com/office/drawing/2014/main" id="{E395988E-9243-DB9B-7B53-D8019378B577}"/>
                  </a:ext>
                </a:extLst>
              </p:cNvPr>
              <p:cNvCxnSpPr>
                <a:cxnSpLocks/>
                <a:stCxn id="86" idx="6"/>
                <a:endCxn id="96" idx="2"/>
              </p:cNvCxnSpPr>
              <p:nvPr/>
            </p:nvCxnSpPr>
            <p:spPr>
              <a:xfrm>
                <a:off x="9214056" y="2287362"/>
                <a:ext cx="1121889" cy="14772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5" name="直線單箭頭接點 114">
                <a:extLst>
                  <a:ext uri="{FF2B5EF4-FFF2-40B4-BE49-F238E27FC236}">
                    <a16:creationId xmlns:a16="http://schemas.microsoft.com/office/drawing/2014/main" id="{3BA10DAB-6F2E-D6CB-BD41-B2E692FAC99E}"/>
                  </a:ext>
                </a:extLst>
              </p:cNvPr>
              <p:cNvCxnSpPr>
                <a:cxnSpLocks/>
                <a:stCxn id="88" idx="6"/>
                <a:endCxn id="96" idx="2"/>
              </p:cNvCxnSpPr>
              <p:nvPr/>
            </p:nvCxnSpPr>
            <p:spPr>
              <a:xfrm>
                <a:off x="9214056" y="2886706"/>
                <a:ext cx="1121889" cy="8779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6" name="直線單箭頭接點 115">
                <a:extLst>
                  <a:ext uri="{FF2B5EF4-FFF2-40B4-BE49-F238E27FC236}">
                    <a16:creationId xmlns:a16="http://schemas.microsoft.com/office/drawing/2014/main" id="{590B3E97-DFF1-F0EF-6AE2-0F150C6E06C9}"/>
                  </a:ext>
                </a:extLst>
              </p:cNvPr>
              <p:cNvCxnSpPr>
                <a:cxnSpLocks/>
                <a:stCxn id="82" idx="6"/>
                <a:endCxn id="92" idx="2"/>
              </p:cNvCxnSpPr>
              <p:nvPr/>
            </p:nvCxnSpPr>
            <p:spPr>
              <a:xfrm flipV="1">
                <a:off x="7784883" y="1624036"/>
                <a:ext cx="1069173" cy="25143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7" name="直線單箭頭接點 116">
                <a:extLst>
                  <a:ext uri="{FF2B5EF4-FFF2-40B4-BE49-F238E27FC236}">
                    <a16:creationId xmlns:a16="http://schemas.microsoft.com/office/drawing/2014/main" id="{9560D8CD-1893-7EC1-A0CB-9E79D6600E9E}"/>
                  </a:ext>
                </a:extLst>
              </p:cNvPr>
              <p:cNvCxnSpPr>
                <a:cxnSpLocks/>
                <a:stCxn id="84" idx="6"/>
                <a:endCxn id="88" idx="2"/>
              </p:cNvCxnSpPr>
              <p:nvPr/>
            </p:nvCxnSpPr>
            <p:spPr>
              <a:xfrm>
                <a:off x="7784883" y="1614618"/>
                <a:ext cx="1069173" cy="12720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8" name="直線單箭頭接點 117">
                <a:extLst>
                  <a:ext uri="{FF2B5EF4-FFF2-40B4-BE49-F238E27FC236}">
                    <a16:creationId xmlns:a16="http://schemas.microsoft.com/office/drawing/2014/main" id="{F743DBF3-B8B3-1696-BB9E-C15AD0865B5C}"/>
                  </a:ext>
                </a:extLst>
              </p:cNvPr>
              <p:cNvCxnSpPr>
                <a:cxnSpLocks/>
                <a:stCxn id="84" idx="6"/>
                <a:endCxn id="90" idx="2"/>
              </p:cNvCxnSpPr>
              <p:nvPr/>
            </p:nvCxnSpPr>
            <p:spPr>
              <a:xfrm>
                <a:off x="7784883" y="1614618"/>
                <a:ext cx="1069173" cy="25245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9" name="直線單箭頭接點 118">
                <a:extLst>
                  <a:ext uri="{FF2B5EF4-FFF2-40B4-BE49-F238E27FC236}">
                    <a16:creationId xmlns:a16="http://schemas.microsoft.com/office/drawing/2014/main" id="{782B1C79-2D68-8212-44A9-65CC787792A2}"/>
                  </a:ext>
                </a:extLst>
              </p:cNvPr>
              <p:cNvCxnSpPr>
                <a:cxnSpLocks/>
                <a:stCxn id="78" idx="6"/>
                <a:endCxn id="90" idx="2"/>
              </p:cNvCxnSpPr>
              <p:nvPr/>
            </p:nvCxnSpPr>
            <p:spPr>
              <a:xfrm>
                <a:off x="7784883" y="2286570"/>
                <a:ext cx="1069173" cy="18525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0" name="直線單箭頭接點 119">
                <a:extLst>
                  <a:ext uri="{FF2B5EF4-FFF2-40B4-BE49-F238E27FC236}">
                    <a16:creationId xmlns:a16="http://schemas.microsoft.com/office/drawing/2014/main" id="{E2B726AC-633B-5B51-EB6F-837787933166}"/>
                  </a:ext>
                </a:extLst>
              </p:cNvPr>
              <p:cNvCxnSpPr>
                <a:cxnSpLocks/>
                <a:stCxn id="82" idx="6"/>
                <a:endCxn id="86" idx="2"/>
              </p:cNvCxnSpPr>
              <p:nvPr/>
            </p:nvCxnSpPr>
            <p:spPr>
              <a:xfrm flipV="1">
                <a:off x="7784883" y="2287362"/>
                <a:ext cx="1069173" cy="185101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1" name="直線單箭頭接點 120">
                <a:extLst>
                  <a:ext uri="{FF2B5EF4-FFF2-40B4-BE49-F238E27FC236}">
                    <a16:creationId xmlns:a16="http://schemas.microsoft.com/office/drawing/2014/main" id="{02AD0984-5780-BC83-A461-8F5B9798796C}"/>
                  </a:ext>
                </a:extLst>
              </p:cNvPr>
              <p:cNvCxnSpPr>
                <a:cxnSpLocks/>
                <a:stCxn id="80" idx="6"/>
                <a:endCxn id="92" idx="2"/>
              </p:cNvCxnSpPr>
              <p:nvPr/>
            </p:nvCxnSpPr>
            <p:spPr>
              <a:xfrm flipV="1">
                <a:off x="7784883" y="1624036"/>
                <a:ext cx="1069173" cy="12618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2" name="直線單箭頭接點 121">
                <a:extLst>
                  <a:ext uri="{FF2B5EF4-FFF2-40B4-BE49-F238E27FC236}">
                    <a16:creationId xmlns:a16="http://schemas.microsoft.com/office/drawing/2014/main" id="{C6503E0E-1964-8230-840D-B9000B7A4BC4}"/>
                  </a:ext>
                </a:extLst>
              </p:cNvPr>
              <p:cNvCxnSpPr>
                <a:cxnSpLocks/>
                <a:stCxn id="90" idx="6"/>
                <a:endCxn id="94" idx="2"/>
              </p:cNvCxnSpPr>
              <p:nvPr/>
            </p:nvCxnSpPr>
            <p:spPr>
              <a:xfrm flipV="1">
                <a:off x="9214056" y="2003382"/>
                <a:ext cx="1082814" cy="21357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3" name="直線單箭頭接點 122">
                <a:extLst>
                  <a:ext uri="{FF2B5EF4-FFF2-40B4-BE49-F238E27FC236}">
                    <a16:creationId xmlns:a16="http://schemas.microsoft.com/office/drawing/2014/main" id="{75131379-E167-ED25-8A90-F20E347E3EC4}"/>
                  </a:ext>
                </a:extLst>
              </p:cNvPr>
              <p:cNvCxnSpPr>
                <a:cxnSpLocks/>
                <a:stCxn id="92" idx="6"/>
                <a:endCxn id="96" idx="2"/>
              </p:cNvCxnSpPr>
              <p:nvPr/>
            </p:nvCxnSpPr>
            <p:spPr>
              <a:xfrm>
                <a:off x="9214056" y="1624036"/>
                <a:ext cx="1121889" cy="214060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4" name="直線單箭頭接點 123">
                <a:extLst>
                  <a:ext uri="{FF2B5EF4-FFF2-40B4-BE49-F238E27FC236}">
                    <a16:creationId xmlns:a16="http://schemas.microsoft.com/office/drawing/2014/main" id="{BD9FC70E-C9C2-4E32-D25B-559AC1CB533C}"/>
                  </a:ext>
                </a:extLst>
              </p:cNvPr>
              <p:cNvCxnSpPr>
                <a:cxnSpLocks/>
                <a:stCxn id="134" idx="6"/>
                <a:endCxn id="78" idx="2"/>
              </p:cNvCxnSpPr>
              <p:nvPr/>
            </p:nvCxnSpPr>
            <p:spPr>
              <a:xfrm flipV="1">
                <a:off x="6215355" y="2286570"/>
                <a:ext cx="1209528" cy="21875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5" name="文字方塊 124">
                <a:extLst>
                  <a:ext uri="{FF2B5EF4-FFF2-40B4-BE49-F238E27FC236}">
                    <a16:creationId xmlns:a16="http://schemas.microsoft.com/office/drawing/2014/main" id="{1D04B2D6-28BD-A364-E95D-63DDF2274A60}"/>
                  </a:ext>
                </a:extLst>
              </p:cNvPr>
              <p:cNvSpPr txBox="1"/>
              <p:nvPr/>
            </p:nvSpPr>
            <p:spPr>
              <a:xfrm>
                <a:off x="4594718" y="1044956"/>
                <a:ext cx="611883" cy="3600986"/>
              </a:xfrm>
              <a:prstGeom prst="rect">
                <a:avLst/>
              </a:prstGeom>
              <a:noFill/>
            </p:spPr>
            <p:txBody>
              <a:bodyPr wrap="square" rtlCol="0">
                <a:spAutoFit/>
              </a:bodyPr>
              <a:lstStyle/>
              <a:p>
                <a:pPr algn="ctr"/>
                <a:r>
                  <a:rPr lang="en-US" altLang="zh-TW" sz="2000" i="1" dirty="0">
                    <a:latin typeface="Times New Roman" panose="02020603050405020304" pitchFamily="18" charset="0"/>
                    <a:cs typeface="Times New Roman" panose="02020603050405020304" pitchFamily="18" charset="0"/>
                  </a:rPr>
                  <a:t>x</a:t>
                </a:r>
                <a:r>
                  <a:rPr lang="en-US" altLang="zh-TW" sz="2000" baseline="-25000" dirty="0">
                    <a:latin typeface="Times New Roman" panose="02020603050405020304" pitchFamily="18" charset="0"/>
                    <a:cs typeface="Times New Roman" panose="02020603050405020304" pitchFamily="18" charset="0"/>
                  </a:rPr>
                  <a:t>1</a:t>
                </a:r>
              </a:p>
              <a:p>
                <a:pPr algn="ctr"/>
                <a:endParaRPr lang="en-US" altLang="zh-TW" sz="800" i="1" dirty="0">
                  <a:latin typeface="Times New Roman" panose="02020603050405020304" pitchFamily="18" charset="0"/>
                  <a:cs typeface="Times New Roman" panose="02020603050405020304" pitchFamily="18" charset="0"/>
                </a:endParaRPr>
              </a:p>
              <a:p>
                <a:pPr algn="ctr"/>
                <a:r>
                  <a:rPr lang="en-US" altLang="zh-TW" sz="2000" i="1" dirty="0">
                    <a:latin typeface="Times New Roman" panose="02020603050405020304" pitchFamily="18" charset="0"/>
                    <a:cs typeface="Times New Roman" panose="02020603050405020304" pitchFamily="18" charset="0"/>
                  </a:rPr>
                  <a:t>x</a:t>
                </a:r>
                <a:r>
                  <a:rPr lang="en-US" altLang="zh-TW" sz="2000" baseline="-25000" dirty="0">
                    <a:latin typeface="Times New Roman" panose="02020603050405020304" pitchFamily="18" charset="0"/>
                    <a:cs typeface="Times New Roman" panose="02020603050405020304" pitchFamily="18" charset="0"/>
                  </a:rPr>
                  <a:t>2</a:t>
                </a:r>
              </a:p>
              <a:p>
                <a:pPr algn="ctr"/>
                <a:endParaRPr lang="en-US" altLang="zh-TW" sz="2000" dirty="0"/>
              </a:p>
              <a:p>
                <a:pPr algn="ctr"/>
                <a:endParaRPr lang="en-US" altLang="zh-TW" sz="2000" dirty="0"/>
              </a:p>
              <a:p>
                <a:pPr algn="ctr"/>
                <a:endParaRPr lang="en-US" altLang="zh-TW" sz="2000" dirty="0"/>
              </a:p>
              <a:p>
                <a:pPr algn="ctr"/>
                <a:r>
                  <a:rPr lang="en-US" altLang="zh-TW" sz="2000" dirty="0"/>
                  <a:t>.</a:t>
                </a:r>
              </a:p>
              <a:p>
                <a:pPr algn="ctr"/>
                <a:r>
                  <a:rPr lang="en-US" altLang="zh-TW" sz="2000" dirty="0"/>
                  <a:t>.</a:t>
                </a:r>
              </a:p>
              <a:p>
                <a:pPr algn="ctr"/>
                <a:r>
                  <a:rPr lang="en-US" altLang="zh-TW" sz="2000" dirty="0"/>
                  <a:t>.</a:t>
                </a:r>
              </a:p>
              <a:p>
                <a:pPr algn="ctr"/>
                <a:endParaRPr lang="en-US" altLang="zh-TW" sz="2000" dirty="0"/>
              </a:p>
              <a:p>
                <a:pPr algn="ctr"/>
                <a:endParaRPr lang="en-US" altLang="zh-TW" sz="2000" dirty="0"/>
              </a:p>
              <a:p>
                <a:pPr algn="ctr"/>
                <a:r>
                  <a:rPr lang="en-US" altLang="zh-TW" sz="2000" i="1" dirty="0">
                    <a:latin typeface="Times New Roman" panose="02020603050405020304" pitchFamily="18" charset="0"/>
                    <a:cs typeface="Times New Roman" panose="02020603050405020304" pitchFamily="18" charset="0"/>
                  </a:rPr>
                  <a:t>x</a:t>
                </a:r>
                <a:r>
                  <a:rPr lang="en-US" altLang="zh-TW" sz="2000" baseline="-25000" dirty="0">
                    <a:latin typeface="Times New Roman" panose="02020603050405020304" pitchFamily="18" charset="0"/>
                    <a:cs typeface="Times New Roman" panose="02020603050405020304" pitchFamily="18" charset="0"/>
                  </a:rPr>
                  <a:t>784</a:t>
                </a:r>
                <a:endParaRPr lang="en-US" altLang="zh-TW" sz="2000" i="1" baseline="-25000" dirty="0">
                  <a:latin typeface="Times New Roman" panose="02020603050405020304" pitchFamily="18" charset="0"/>
                  <a:cs typeface="Times New Roman" panose="02020603050405020304" pitchFamily="18" charset="0"/>
                </a:endParaRPr>
              </a:p>
            </p:txBody>
          </p:sp>
          <p:sp>
            <p:nvSpPr>
              <p:cNvPr id="126" name="文字方塊 125">
                <a:extLst>
                  <a:ext uri="{FF2B5EF4-FFF2-40B4-BE49-F238E27FC236}">
                    <a16:creationId xmlns:a16="http://schemas.microsoft.com/office/drawing/2014/main" id="{D70EF7CE-C9F4-AAA5-2C36-E18EFE815C67}"/>
                  </a:ext>
                </a:extLst>
              </p:cNvPr>
              <p:cNvSpPr txBox="1"/>
              <p:nvPr/>
            </p:nvSpPr>
            <p:spPr>
              <a:xfrm>
                <a:off x="8820129" y="3339300"/>
                <a:ext cx="677108" cy="383406"/>
              </a:xfrm>
              <a:prstGeom prst="rect">
                <a:avLst/>
              </a:prstGeom>
              <a:noFill/>
            </p:spPr>
            <p:txBody>
              <a:bodyPr vert="eaVert" wrap="square" rtlCol="0">
                <a:spAutoFit/>
              </a:bodyPr>
              <a:lstStyle/>
              <a:p>
                <a:r>
                  <a:rPr lang="en-US" altLang="zh-TW" sz="3200" dirty="0"/>
                  <a:t>…</a:t>
                </a:r>
                <a:endParaRPr lang="zh-TW" altLang="en-US" sz="3200" dirty="0"/>
              </a:p>
            </p:txBody>
          </p:sp>
          <p:sp>
            <p:nvSpPr>
              <p:cNvPr id="127" name="文字方塊 126">
                <a:extLst>
                  <a:ext uri="{FF2B5EF4-FFF2-40B4-BE49-F238E27FC236}">
                    <a16:creationId xmlns:a16="http://schemas.microsoft.com/office/drawing/2014/main" id="{7F748E10-D204-838E-378B-33DF424BB56A}"/>
                  </a:ext>
                </a:extLst>
              </p:cNvPr>
              <p:cNvSpPr txBox="1"/>
              <p:nvPr/>
            </p:nvSpPr>
            <p:spPr>
              <a:xfrm>
                <a:off x="7337342" y="3347340"/>
                <a:ext cx="677108" cy="383406"/>
              </a:xfrm>
              <a:prstGeom prst="rect">
                <a:avLst/>
              </a:prstGeom>
              <a:noFill/>
            </p:spPr>
            <p:txBody>
              <a:bodyPr vert="eaVert" wrap="square" rtlCol="0">
                <a:spAutoFit/>
              </a:bodyPr>
              <a:lstStyle/>
              <a:p>
                <a:r>
                  <a:rPr lang="en-US" altLang="zh-TW" sz="3200" dirty="0"/>
                  <a:t>…</a:t>
                </a:r>
                <a:endParaRPr lang="zh-TW" altLang="en-US" sz="3200" dirty="0"/>
              </a:p>
            </p:txBody>
          </p:sp>
          <p:sp>
            <p:nvSpPr>
              <p:cNvPr id="128" name="橢圓 127">
                <a:extLst>
                  <a:ext uri="{FF2B5EF4-FFF2-40B4-BE49-F238E27FC236}">
                    <a16:creationId xmlns:a16="http://schemas.microsoft.com/office/drawing/2014/main" id="{7D91C3F5-7FC4-034E-C1D5-FD20D6F8050C}"/>
                  </a:ext>
                </a:extLst>
              </p:cNvPr>
              <p:cNvSpPr/>
              <p:nvPr/>
            </p:nvSpPr>
            <p:spPr>
              <a:xfrm>
                <a:off x="10316408" y="2372551"/>
                <a:ext cx="360000" cy="360000"/>
              </a:xfrm>
              <a:prstGeom prst="ellipse">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lIns="0" tIns="0" rIns="0" bIns="0" rtlCol="0" anchor="b" anchorCtr="0"/>
              <a:lstStyle/>
              <a:p>
                <a:pPr algn="ctr"/>
                <a:endParaRPr lang="zh-TW" altLang="en-US" sz="2400" baseline="-25000" dirty="0">
                  <a:latin typeface="Times New Roman" panose="02020603050405020304" pitchFamily="18" charset="0"/>
                  <a:cs typeface="Times New Roman" panose="02020603050405020304" pitchFamily="18" charset="0"/>
                </a:endParaRPr>
              </a:p>
            </p:txBody>
          </p:sp>
          <p:cxnSp>
            <p:nvCxnSpPr>
              <p:cNvPr id="129" name="直線單箭頭接點 128">
                <a:extLst>
                  <a:ext uri="{FF2B5EF4-FFF2-40B4-BE49-F238E27FC236}">
                    <a16:creationId xmlns:a16="http://schemas.microsoft.com/office/drawing/2014/main" id="{7B64DC78-5C20-72E2-772D-3E11DEF6CC3E}"/>
                  </a:ext>
                </a:extLst>
              </p:cNvPr>
              <p:cNvCxnSpPr>
                <a:cxnSpLocks/>
                <a:stCxn id="92" idx="6"/>
                <a:endCxn id="128" idx="2"/>
              </p:cNvCxnSpPr>
              <p:nvPr/>
            </p:nvCxnSpPr>
            <p:spPr>
              <a:xfrm>
                <a:off x="9214056" y="1624036"/>
                <a:ext cx="1102352" cy="92851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0" name="直線單箭頭接點 129">
                <a:extLst>
                  <a:ext uri="{FF2B5EF4-FFF2-40B4-BE49-F238E27FC236}">
                    <a16:creationId xmlns:a16="http://schemas.microsoft.com/office/drawing/2014/main" id="{B01CA3D7-2847-E9C2-27E1-9AFD0FD86A9B}"/>
                  </a:ext>
                </a:extLst>
              </p:cNvPr>
              <p:cNvCxnSpPr>
                <a:cxnSpLocks/>
                <a:stCxn id="86" idx="6"/>
                <a:endCxn id="128" idx="2"/>
              </p:cNvCxnSpPr>
              <p:nvPr/>
            </p:nvCxnSpPr>
            <p:spPr>
              <a:xfrm>
                <a:off x="9214056" y="2287362"/>
                <a:ext cx="1102352" cy="26518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1" name="直線單箭頭接點 130">
                <a:extLst>
                  <a:ext uri="{FF2B5EF4-FFF2-40B4-BE49-F238E27FC236}">
                    <a16:creationId xmlns:a16="http://schemas.microsoft.com/office/drawing/2014/main" id="{C77479F9-3997-4EC4-900D-107FC13AAC04}"/>
                  </a:ext>
                </a:extLst>
              </p:cNvPr>
              <p:cNvCxnSpPr>
                <a:cxnSpLocks/>
                <a:stCxn id="88" idx="6"/>
                <a:endCxn id="128" idx="2"/>
              </p:cNvCxnSpPr>
              <p:nvPr/>
            </p:nvCxnSpPr>
            <p:spPr>
              <a:xfrm flipV="1">
                <a:off x="9214056" y="2552551"/>
                <a:ext cx="1102352" cy="3341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2" name="直線單箭頭接點 131">
                <a:extLst>
                  <a:ext uri="{FF2B5EF4-FFF2-40B4-BE49-F238E27FC236}">
                    <a16:creationId xmlns:a16="http://schemas.microsoft.com/office/drawing/2014/main" id="{14C65872-7C90-F090-5BAD-E033A21CE383}"/>
                  </a:ext>
                </a:extLst>
              </p:cNvPr>
              <p:cNvCxnSpPr>
                <a:cxnSpLocks/>
                <a:stCxn id="90" idx="6"/>
                <a:endCxn id="128" idx="2"/>
              </p:cNvCxnSpPr>
              <p:nvPr/>
            </p:nvCxnSpPr>
            <p:spPr>
              <a:xfrm flipV="1">
                <a:off x="9214056" y="2552551"/>
                <a:ext cx="1102352" cy="158661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3" name="文字方塊 132">
                <a:extLst>
                  <a:ext uri="{FF2B5EF4-FFF2-40B4-BE49-F238E27FC236}">
                    <a16:creationId xmlns:a16="http://schemas.microsoft.com/office/drawing/2014/main" id="{53D96DCF-FB7E-7182-50F5-3EA7745D7575}"/>
                  </a:ext>
                </a:extLst>
              </p:cNvPr>
              <p:cNvSpPr txBox="1"/>
              <p:nvPr/>
            </p:nvSpPr>
            <p:spPr>
              <a:xfrm>
                <a:off x="10967253" y="1799849"/>
                <a:ext cx="428061" cy="2215991"/>
              </a:xfrm>
              <a:prstGeom prst="rect">
                <a:avLst/>
              </a:prstGeom>
              <a:noFill/>
            </p:spPr>
            <p:txBody>
              <a:bodyPr wrap="square" rtlCol="0">
                <a:spAutoFit/>
              </a:bodyPr>
              <a:lstStyle/>
              <a:p>
                <a:r>
                  <a:rPr lang="en-US" altLang="zh-TW" sz="2000" dirty="0">
                    <a:latin typeface="Times New Roman" panose="02020603050405020304" pitchFamily="18" charset="0"/>
                    <a:cs typeface="Times New Roman" panose="02020603050405020304" pitchFamily="18" charset="0"/>
                  </a:rPr>
                  <a:t>0</a:t>
                </a:r>
                <a:endParaRPr lang="en-US" altLang="zh-TW" sz="2000" baseline="-25000" dirty="0">
                  <a:latin typeface="Times New Roman" panose="02020603050405020304" pitchFamily="18" charset="0"/>
                  <a:cs typeface="Times New Roman" panose="02020603050405020304" pitchFamily="18" charset="0"/>
                </a:endParaRPr>
              </a:p>
              <a:p>
                <a:endParaRPr lang="en-US" altLang="zh-TW" sz="800" i="1" dirty="0">
                  <a:latin typeface="Times New Roman" panose="02020603050405020304" pitchFamily="18" charset="0"/>
                  <a:cs typeface="Times New Roman" panose="02020603050405020304" pitchFamily="18" charset="0"/>
                </a:endParaRPr>
              </a:p>
              <a:p>
                <a:r>
                  <a:rPr lang="en-US" altLang="zh-TW" sz="2000" dirty="0">
                    <a:latin typeface="Times New Roman" panose="02020603050405020304" pitchFamily="18" charset="0"/>
                    <a:cs typeface="Times New Roman" panose="02020603050405020304" pitchFamily="18" charset="0"/>
                  </a:rPr>
                  <a:t>1</a:t>
                </a:r>
                <a:endParaRPr lang="en-US" altLang="zh-TW" sz="2000" baseline="-25000" dirty="0">
                  <a:latin typeface="Times New Roman" panose="02020603050405020304" pitchFamily="18" charset="0"/>
                  <a:cs typeface="Times New Roman" panose="02020603050405020304" pitchFamily="18" charset="0"/>
                </a:endParaRPr>
              </a:p>
              <a:p>
                <a:r>
                  <a:rPr lang="en-US" altLang="zh-TW" sz="2000" dirty="0"/>
                  <a:t>.</a:t>
                </a:r>
              </a:p>
              <a:p>
                <a:pPr>
                  <a:spcBef>
                    <a:spcPts val="600"/>
                  </a:spcBef>
                </a:pPr>
                <a:r>
                  <a:rPr lang="en-US" altLang="zh-TW" sz="2000" dirty="0"/>
                  <a:t>.</a:t>
                </a:r>
              </a:p>
              <a:p>
                <a:pPr>
                  <a:spcBef>
                    <a:spcPts val="600"/>
                  </a:spcBef>
                </a:pPr>
                <a:r>
                  <a:rPr lang="en-US" altLang="zh-TW" sz="2000" dirty="0"/>
                  <a:t>.</a:t>
                </a:r>
              </a:p>
              <a:p>
                <a:r>
                  <a:rPr lang="en-US" altLang="zh-TW" sz="2000" dirty="0">
                    <a:latin typeface="Times New Roman" panose="02020603050405020304" pitchFamily="18" charset="0"/>
                    <a:cs typeface="Times New Roman" panose="02020603050405020304" pitchFamily="18" charset="0"/>
                  </a:rPr>
                  <a:t>9</a:t>
                </a:r>
                <a:endParaRPr lang="en-US" altLang="zh-TW" sz="2000" baseline="-25000" dirty="0">
                  <a:latin typeface="Times New Roman" panose="02020603050405020304" pitchFamily="18" charset="0"/>
                  <a:cs typeface="Times New Roman" panose="02020603050405020304" pitchFamily="18" charset="0"/>
                </a:endParaRPr>
              </a:p>
            </p:txBody>
          </p:sp>
        </p:grpSp>
      </p:grpSp>
    </p:spTree>
    <p:extLst>
      <p:ext uri="{BB962C8B-B14F-4D97-AF65-F5344CB8AC3E}">
        <p14:creationId xmlns:p14="http://schemas.microsoft.com/office/powerpoint/2010/main" val="26377535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BF4B1-97F7-92F2-E8AA-1E60926BB451}"/>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199EF234-8B4E-ED81-1702-1B314A8A3D04}"/>
              </a:ext>
            </a:extLst>
          </p:cNvPr>
          <p:cNvSpPr txBox="1"/>
          <p:nvPr/>
        </p:nvSpPr>
        <p:spPr>
          <a:xfrm>
            <a:off x="0" y="0"/>
            <a:ext cx="12192000" cy="6740307"/>
          </a:xfrm>
          <a:prstGeom prst="rect">
            <a:avLst/>
          </a:prstGeom>
          <a:solidFill>
            <a:schemeClr val="accent5">
              <a:lumMod val="20000"/>
              <a:lumOff val="80000"/>
            </a:schemeClr>
          </a:solidFill>
        </p:spPr>
        <p:txBody>
          <a:bodyPr wrap="square">
            <a:spAutoFit/>
          </a:bodyPr>
          <a:lstStyle/>
          <a:p>
            <a:pPr>
              <a:buNone/>
            </a:pPr>
            <a:r>
              <a:rPr lang="en-US" altLang="zh-TW" sz="1800" dirty="0">
                <a:effectLst/>
                <a:latin typeface="JetBrains Mono"/>
              </a:rPr>
              <a:t>def train(</a:t>
            </a:r>
            <a:r>
              <a:rPr lang="en-US" altLang="zh-TW" sz="1800" dirty="0" err="1">
                <a:effectLst/>
                <a:latin typeface="JetBrains Mono"/>
              </a:rPr>
              <a:t>dataloader</a:t>
            </a:r>
            <a:r>
              <a:rPr lang="en-US" altLang="zh-TW" sz="1800" dirty="0">
                <a:effectLst/>
                <a:latin typeface="JetBrains Mono"/>
              </a:rPr>
              <a:t>, model, </a:t>
            </a:r>
            <a:r>
              <a:rPr lang="en-US" altLang="zh-TW" sz="1800" dirty="0" err="1">
                <a:effectLst/>
                <a:latin typeface="JetBrains Mono"/>
              </a:rPr>
              <a:t>loss_fn</a:t>
            </a:r>
            <a:r>
              <a:rPr lang="en-US" altLang="zh-TW" sz="1800" dirty="0">
                <a:effectLst/>
                <a:latin typeface="JetBrains Mono"/>
              </a:rPr>
              <a:t>, optimizer):</a:t>
            </a:r>
            <a:br>
              <a:rPr lang="en-US" altLang="zh-TW" sz="1800" dirty="0">
                <a:effectLst/>
                <a:latin typeface="JetBrains Mono"/>
              </a:rPr>
            </a:br>
            <a:r>
              <a:rPr lang="en-US" altLang="zh-TW" sz="1800" dirty="0">
                <a:effectLst/>
                <a:latin typeface="JetBrains Mono"/>
              </a:rPr>
              <a:t>    size = </a:t>
            </a:r>
            <a:r>
              <a:rPr lang="en-US" altLang="zh-TW" sz="1800" dirty="0" err="1">
                <a:effectLst/>
                <a:latin typeface="JetBrains Mono"/>
              </a:rPr>
              <a:t>len</a:t>
            </a:r>
            <a:r>
              <a:rPr lang="en-US" altLang="zh-TW" sz="1800" dirty="0">
                <a:effectLst/>
                <a:latin typeface="JetBrains Mono"/>
              </a:rPr>
              <a:t>(</a:t>
            </a:r>
            <a:r>
              <a:rPr lang="en-US" altLang="zh-TW" sz="1800" dirty="0" err="1">
                <a:effectLst/>
                <a:latin typeface="JetBrains Mono"/>
              </a:rPr>
              <a:t>dataloader.dataset</a:t>
            </a:r>
            <a:r>
              <a:rPr lang="en-US" altLang="zh-TW" sz="1800" dirty="0">
                <a:effectLst/>
                <a:latin typeface="JetBrains Mono"/>
              </a:rPr>
              <a:t>)</a:t>
            </a:r>
            <a:br>
              <a:rPr lang="en-US" altLang="zh-TW" sz="1800" dirty="0">
                <a:effectLst/>
                <a:latin typeface="JetBrains Mono"/>
              </a:rPr>
            </a:br>
            <a:r>
              <a:rPr lang="en-US" altLang="zh-TW" sz="1800" dirty="0">
                <a:effectLst/>
                <a:latin typeface="JetBrains Mono"/>
              </a:rPr>
              <a:t>    </a:t>
            </a:r>
            <a:r>
              <a:rPr lang="en-US" altLang="zh-TW" sz="1800" dirty="0" err="1">
                <a:effectLst/>
                <a:latin typeface="JetBrains Mono"/>
              </a:rPr>
              <a:t>model.train</a:t>
            </a:r>
            <a:r>
              <a:rPr lang="en-US" altLang="zh-TW" sz="1800" dirty="0">
                <a:effectLst/>
                <a:latin typeface="JetBrains Mono"/>
              </a:rPr>
              <a:t>()</a:t>
            </a:r>
          </a:p>
          <a:p>
            <a:pPr>
              <a:buNone/>
            </a:pPr>
            <a:br>
              <a:rPr lang="en-US" altLang="zh-TW" sz="1800" dirty="0">
                <a:effectLst/>
                <a:latin typeface="JetBrains Mono"/>
              </a:rPr>
            </a:br>
            <a:r>
              <a:rPr lang="en-US" altLang="zh-TW" sz="1800" dirty="0">
                <a:effectLst/>
                <a:latin typeface="JetBrains Mono"/>
              </a:rPr>
              <a:t>    for batch, (X, y) in enumerate(</a:t>
            </a:r>
            <a:r>
              <a:rPr lang="en-US" altLang="zh-TW" sz="1800" dirty="0" err="1">
                <a:effectLst/>
                <a:latin typeface="JetBrains Mono"/>
              </a:rPr>
              <a:t>dataloader</a:t>
            </a:r>
            <a:r>
              <a:rPr lang="en-US" altLang="zh-TW" sz="1800" dirty="0">
                <a:effectLst/>
                <a:latin typeface="JetBrains Mono"/>
              </a:rPr>
              <a:t>):</a:t>
            </a:r>
            <a:br>
              <a:rPr lang="en-US" altLang="zh-TW" sz="1800" dirty="0">
                <a:effectLst/>
                <a:latin typeface="JetBrains Mono"/>
              </a:rPr>
            </a:br>
            <a:r>
              <a:rPr lang="en-US" altLang="zh-TW" sz="1800" dirty="0">
                <a:effectLst/>
                <a:latin typeface="JetBrains Mono"/>
              </a:rPr>
              <a:t>        X, y = X.to(device), y.to(device)</a:t>
            </a:r>
            <a:br>
              <a:rPr lang="en-US" altLang="zh-TW" sz="1800" dirty="0">
                <a:effectLst/>
                <a:latin typeface="JetBrains Mono"/>
              </a:rPr>
            </a:br>
            <a:br>
              <a:rPr lang="en-US" altLang="zh-TW" sz="1800" dirty="0">
                <a:effectLst/>
                <a:latin typeface="JetBrains Mono"/>
              </a:rPr>
            </a:br>
            <a:r>
              <a:rPr lang="en-US" altLang="zh-TW" sz="1800" dirty="0">
                <a:effectLst/>
                <a:latin typeface="JetBrains Mono"/>
              </a:rPr>
              <a:t>        # Compute prediction error</a:t>
            </a:r>
            <a:br>
              <a:rPr lang="en-US" altLang="zh-TW" sz="1800" dirty="0">
                <a:effectLst/>
                <a:latin typeface="JetBrains Mono"/>
              </a:rPr>
            </a:br>
            <a:r>
              <a:rPr lang="en-US" altLang="zh-TW" sz="1800" dirty="0">
                <a:effectLst/>
                <a:latin typeface="JetBrains Mono"/>
              </a:rPr>
              <a:t>        pred = model(X)</a:t>
            </a:r>
            <a:br>
              <a:rPr lang="en-US" altLang="zh-TW" sz="1800" dirty="0">
                <a:effectLst/>
                <a:latin typeface="JetBrains Mono"/>
              </a:rPr>
            </a:br>
            <a:r>
              <a:rPr lang="en-US" altLang="zh-TW" sz="1800" dirty="0">
                <a:effectLst/>
                <a:latin typeface="JetBrains Mono"/>
              </a:rPr>
              <a:t>        loss = </a:t>
            </a:r>
            <a:r>
              <a:rPr lang="en-US" altLang="zh-TW" sz="1800" dirty="0" err="1">
                <a:effectLst/>
                <a:latin typeface="JetBrains Mono"/>
              </a:rPr>
              <a:t>loss_fn</a:t>
            </a:r>
            <a:r>
              <a:rPr lang="en-US" altLang="zh-TW" sz="1800" dirty="0">
                <a:effectLst/>
                <a:latin typeface="JetBrains Mono"/>
              </a:rPr>
              <a:t>(pred, y)</a:t>
            </a:r>
            <a:br>
              <a:rPr lang="en-US" altLang="zh-TW" sz="1800" dirty="0">
                <a:effectLst/>
                <a:latin typeface="JetBrains Mono"/>
              </a:rPr>
            </a:br>
            <a:br>
              <a:rPr lang="en-US" altLang="zh-TW" sz="1800" dirty="0">
                <a:effectLst/>
                <a:latin typeface="JetBrains Mono"/>
              </a:rPr>
            </a:br>
            <a:r>
              <a:rPr lang="en-US" altLang="zh-TW" sz="1800" dirty="0">
                <a:effectLst/>
                <a:latin typeface="JetBrains Mono"/>
              </a:rPr>
              <a:t>        # Backpropagation</a:t>
            </a:r>
            <a:br>
              <a:rPr lang="en-US" altLang="zh-TW" sz="1800" dirty="0">
                <a:effectLst/>
                <a:latin typeface="JetBrains Mono"/>
              </a:rPr>
            </a:br>
            <a:r>
              <a:rPr lang="en-US" altLang="zh-TW" sz="1800" dirty="0">
                <a:effectLst/>
                <a:latin typeface="JetBrains Mono"/>
              </a:rPr>
              <a:t>        </a:t>
            </a:r>
            <a:r>
              <a:rPr lang="en-US" altLang="zh-TW" sz="1800" dirty="0" err="1">
                <a:effectLst/>
                <a:latin typeface="JetBrains Mono"/>
              </a:rPr>
              <a:t>loss.backward</a:t>
            </a:r>
            <a:r>
              <a:rPr lang="en-US" altLang="zh-TW" sz="1800" dirty="0">
                <a:effectLst/>
                <a:latin typeface="JetBrains Mono"/>
              </a:rPr>
              <a:t>()</a:t>
            </a:r>
            <a:br>
              <a:rPr lang="en-US" altLang="zh-TW" sz="1800" dirty="0">
                <a:effectLst/>
                <a:latin typeface="JetBrains Mono"/>
              </a:rPr>
            </a:br>
            <a:r>
              <a:rPr lang="en-US" altLang="zh-TW" sz="1800" dirty="0">
                <a:effectLst/>
                <a:latin typeface="JetBrains Mono"/>
              </a:rPr>
              <a:t>        </a:t>
            </a:r>
            <a:r>
              <a:rPr lang="en-US" altLang="zh-TW" sz="1800" dirty="0" err="1">
                <a:effectLst/>
                <a:latin typeface="JetBrains Mono"/>
              </a:rPr>
              <a:t>optimizer.step</a:t>
            </a:r>
            <a:r>
              <a:rPr lang="en-US" altLang="zh-TW" sz="1800" dirty="0">
                <a:effectLst/>
                <a:latin typeface="JetBrains Mono"/>
              </a:rPr>
              <a:t>()</a:t>
            </a:r>
            <a:br>
              <a:rPr lang="en-US" altLang="zh-TW" sz="1800" dirty="0">
                <a:effectLst/>
                <a:latin typeface="JetBrains Mono"/>
              </a:rPr>
            </a:br>
            <a:r>
              <a:rPr lang="en-US" altLang="zh-TW" sz="1800" dirty="0">
                <a:effectLst/>
                <a:latin typeface="JetBrains Mono"/>
              </a:rPr>
              <a:t>        </a:t>
            </a:r>
            <a:r>
              <a:rPr lang="en-US" altLang="zh-TW" sz="1800" dirty="0" err="1">
                <a:effectLst/>
                <a:latin typeface="JetBrains Mono"/>
              </a:rPr>
              <a:t>optimizer.zero_grad</a:t>
            </a:r>
            <a:r>
              <a:rPr lang="en-US" altLang="zh-TW" sz="1800" dirty="0">
                <a:effectLst/>
                <a:latin typeface="JetBrains Mono"/>
              </a:rPr>
              <a:t>()</a:t>
            </a:r>
            <a:br>
              <a:rPr lang="en-US" altLang="zh-TW" sz="1800" dirty="0">
                <a:effectLst/>
                <a:latin typeface="JetBrains Mono"/>
              </a:rPr>
            </a:br>
            <a:br>
              <a:rPr lang="en-US" altLang="zh-TW" sz="1800" dirty="0">
                <a:effectLst/>
                <a:latin typeface="JetBrains Mono"/>
              </a:rPr>
            </a:br>
            <a:r>
              <a:rPr lang="en-US" altLang="zh-TW" sz="1800" dirty="0">
                <a:effectLst/>
                <a:latin typeface="JetBrains Mono"/>
              </a:rPr>
              <a:t>        if batch % 100 == 0:</a:t>
            </a:r>
            <a:br>
              <a:rPr lang="en-US" altLang="zh-TW" sz="1800" dirty="0">
                <a:effectLst/>
                <a:latin typeface="JetBrains Mono"/>
              </a:rPr>
            </a:br>
            <a:r>
              <a:rPr lang="en-US" altLang="zh-TW" sz="1800" dirty="0">
                <a:effectLst/>
                <a:latin typeface="JetBrains Mono"/>
              </a:rPr>
              <a:t>            loss, current = </a:t>
            </a:r>
            <a:r>
              <a:rPr lang="en-US" altLang="zh-TW" sz="1800" dirty="0" err="1">
                <a:effectLst/>
                <a:latin typeface="JetBrains Mono"/>
              </a:rPr>
              <a:t>loss.item</a:t>
            </a:r>
            <a:r>
              <a:rPr lang="en-US" altLang="zh-TW" sz="1800" dirty="0">
                <a:effectLst/>
                <a:latin typeface="JetBrains Mono"/>
              </a:rPr>
              <a:t>(), (batch + 1) * </a:t>
            </a:r>
            <a:r>
              <a:rPr lang="en-US" altLang="zh-TW" sz="1800" dirty="0" err="1">
                <a:effectLst/>
                <a:latin typeface="JetBrains Mono"/>
              </a:rPr>
              <a:t>len</a:t>
            </a:r>
            <a:r>
              <a:rPr lang="en-US" altLang="zh-TW" sz="1800" dirty="0">
                <a:effectLst/>
                <a:latin typeface="JetBrains Mono"/>
              </a:rPr>
              <a:t>(X)</a:t>
            </a:r>
            <a:br>
              <a:rPr lang="en-US" altLang="zh-TW" sz="1800" dirty="0">
                <a:effectLst/>
                <a:latin typeface="JetBrains Mono"/>
              </a:rPr>
            </a:br>
            <a:r>
              <a:rPr lang="en-US" altLang="zh-TW" sz="1800" dirty="0">
                <a:effectLst/>
                <a:latin typeface="JetBrains Mono"/>
              </a:rPr>
              <a:t>            print(</a:t>
            </a:r>
            <a:r>
              <a:rPr lang="en-US" altLang="zh-TW" sz="1800" dirty="0" err="1">
                <a:effectLst/>
                <a:latin typeface="JetBrains Mono"/>
              </a:rPr>
              <a:t>f"loss</a:t>
            </a:r>
            <a:r>
              <a:rPr lang="en-US" altLang="zh-TW" sz="1800" dirty="0">
                <a:effectLst/>
                <a:latin typeface="JetBrains Mono"/>
              </a:rPr>
              <a:t>: {loss:&gt;7f}  [{current:&gt;5d}/{size:&gt;5d}]")</a:t>
            </a:r>
            <a:br>
              <a:rPr lang="en-US" altLang="zh-TW" sz="1800" dirty="0">
                <a:effectLst/>
                <a:latin typeface="JetBrains Mono"/>
              </a:rPr>
            </a:br>
            <a:br>
              <a:rPr lang="en-US" altLang="zh-TW" sz="1800" dirty="0">
                <a:effectLst/>
                <a:latin typeface="JetBrains Mono"/>
              </a:rPr>
            </a:br>
            <a:endParaRPr lang="en-US" altLang="zh-TW" sz="1800" dirty="0">
              <a:effectLst/>
              <a:latin typeface="JetBrains Mono"/>
            </a:endParaRPr>
          </a:p>
          <a:p>
            <a:pPr>
              <a:buNone/>
            </a:pPr>
            <a:endParaRPr lang="en-US" altLang="zh-TW" dirty="0">
              <a:latin typeface="JetBrains Mono"/>
            </a:endParaRPr>
          </a:p>
          <a:p>
            <a:pPr>
              <a:buNone/>
            </a:pPr>
            <a:endParaRPr lang="en-US" altLang="zh-TW" sz="1800" dirty="0">
              <a:effectLst/>
              <a:latin typeface="JetBrains Mono"/>
            </a:endParaRPr>
          </a:p>
          <a:p>
            <a:pPr>
              <a:buNone/>
            </a:pPr>
            <a:endParaRPr lang="en-US" altLang="zh-TW" sz="1800" dirty="0">
              <a:effectLst/>
              <a:latin typeface="JetBrains Mono"/>
            </a:endParaRPr>
          </a:p>
        </p:txBody>
      </p:sp>
    </p:spTree>
    <p:extLst>
      <p:ext uri="{BB962C8B-B14F-4D97-AF65-F5344CB8AC3E}">
        <p14:creationId xmlns:p14="http://schemas.microsoft.com/office/powerpoint/2010/main" val="9978248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2A7973DF-FCF4-948A-34FE-8BF2EDCA7B6E}"/>
              </a:ext>
            </a:extLst>
          </p:cNvPr>
          <p:cNvSpPr txBox="1"/>
          <p:nvPr/>
        </p:nvSpPr>
        <p:spPr>
          <a:xfrm>
            <a:off x="0" y="0"/>
            <a:ext cx="12192000" cy="6463308"/>
          </a:xfrm>
          <a:prstGeom prst="rect">
            <a:avLst/>
          </a:prstGeom>
          <a:solidFill>
            <a:schemeClr val="accent5">
              <a:lumMod val="20000"/>
              <a:lumOff val="80000"/>
            </a:schemeClr>
          </a:solidFill>
        </p:spPr>
        <p:txBody>
          <a:bodyPr wrap="square">
            <a:spAutoFit/>
          </a:bodyPr>
          <a:lstStyle/>
          <a:p>
            <a:pPr>
              <a:buNone/>
            </a:pPr>
            <a:r>
              <a:rPr lang="en-US" altLang="zh-TW" sz="1800" dirty="0">
                <a:effectLst/>
                <a:latin typeface="JetBrains Mono"/>
              </a:rPr>
              <a:t>def test(</a:t>
            </a:r>
            <a:r>
              <a:rPr lang="en-US" altLang="zh-TW" sz="1800" dirty="0" err="1">
                <a:effectLst/>
                <a:latin typeface="JetBrains Mono"/>
              </a:rPr>
              <a:t>dataloader</a:t>
            </a:r>
            <a:r>
              <a:rPr lang="en-US" altLang="zh-TW" sz="1800" dirty="0">
                <a:effectLst/>
                <a:latin typeface="JetBrains Mono"/>
              </a:rPr>
              <a:t>, model, </a:t>
            </a:r>
            <a:r>
              <a:rPr lang="en-US" altLang="zh-TW" sz="1800" dirty="0" err="1">
                <a:effectLst/>
                <a:latin typeface="JetBrains Mono"/>
              </a:rPr>
              <a:t>loss_fn</a:t>
            </a:r>
            <a:r>
              <a:rPr lang="en-US" altLang="zh-TW" sz="1800" dirty="0">
                <a:effectLst/>
                <a:latin typeface="JetBrains Mono"/>
              </a:rPr>
              <a:t>):</a:t>
            </a:r>
            <a:br>
              <a:rPr lang="en-US" altLang="zh-TW" sz="1800" dirty="0">
                <a:effectLst/>
                <a:latin typeface="JetBrains Mono"/>
              </a:rPr>
            </a:br>
            <a:r>
              <a:rPr lang="en-US" altLang="zh-TW" sz="1800" dirty="0">
                <a:effectLst/>
                <a:latin typeface="JetBrains Mono"/>
              </a:rPr>
              <a:t>    size = </a:t>
            </a:r>
            <a:r>
              <a:rPr lang="en-US" altLang="zh-TW" sz="1800" dirty="0" err="1">
                <a:effectLst/>
                <a:latin typeface="JetBrains Mono"/>
              </a:rPr>
              <a:t>len</a:t>
            </a:r>
            <a:r>
              <a:rPr lang="en-US" altLang="zh-TW" sz="1800" dirty="0">
                <a:effectLst/>
                <a:latin typeface="JetBrains Mono"/>
              </a:rPr>
              <a:t>(</a:t>
            </a:r>
            <a:r>
              <a:rPr lang="en-US" altLang="zh-TW" sz="1800" dirty="0" err="1">
                <a:effectLst/>
                <a:latin typeface="JetBrains Mono"/>
              </a:rPr>
              <a:t>dataloader.dataset</a:t>
            </a:r>
            <a:r>
              <a:rPr lang="en-US" altLang="zh-TW" sz="1800" dirty="0">
                <a:effectLst/>
                <a:latin typeface="JetBrains Mono"/>
              </a:rPr>
              <a:t>)</a:t>
            </a:r>
            <a:br>
              <a:rPr lang="en-US" altLang="zh-TW" sz="1800" dirty="0">
                <a:effectLst/>
                <a:latin typeface="JetBrains Mono"/>
              </a:rPr>
            </a:br>
            <a:r>
              <a:rPr lang="en-US" altLang="zh-TW" sz="1800" dirty="0">
                <a:effectLst/>
                <a:latin typeface="JetBrains Mono"/>
              </a:rPr>
              <a:t>    </a:t>
            </a:r>
            <a:r>
              <a:rPr lang="en-US" altLang="zh-TW" sz="1800" dirty="0" err="1">
                <a:effectLst/>
                <a:latin typeface="JetBrains Mono"/>
              </a:rPr>
              <a:t>num_batches</a:t>
            </a:r>
            <a:r>
              <a:rPr lang="en-US" altLang="zh-TW" sz="1800" dirty="0">
                <a:effectLst/>
                <a:latin typeface="JetBrains Mono"/>
              </a:rPr>
              <a:t> = </a:t>
            </a:r>
            <a:r>
              <a:rPr lang="en-US" altLang="zh-TW" sz="1800" dirty="0" err="1">
                <a:effectLst/>
                <a:latin typeface="JetBrains Mono"/>
              </a:rPr>
              <a:t>len</a:t>
            </a:r>
            <a:r>
              <a:rPr lang="en-US" altLang="zh-TW" sz="1800" dirty="0">
                <a:effectLst/>
                <a:latin typeface="JetBrains Mono"/>
              </a:rPr>
              <a:t>(</a:t>
            </a:r>
            <a:r>
              <a:rPr lang="en-US" altLang="zh-TW" sz="1800" dirty="0" err="1">
                <a:effectLst/>
                <a:latin typeface="JetBrains Mono"/>
              </a:rPr>
              <a:t>dataloader</a:t>
            </a:r>
            <a:r>
              <a:rPr lang="en-US" altLang="zh-TW" sz="1800" dirty="0">
                <a:effectLst/>
                <a:latin typeface="JetBrains Mono"/>
              </a:rPr>
              <a:t>)</a:t>
            </a:r>
            <a:br>
              <a:rPr lang="en-US" altLang="zh-TW" sz="1800" dirty="0">
                <a:effectLst/>
                <a:latin typeface="JetBrains Mono"/>
              </a:rPr>
            </a:br>
            <a:r>
              <a:rPr lang="en-US" altLang="zh-TW" sz="1800" dirty="0">
                <a:effectLst/>
                <a:latin typeface="JetBrains Mono"/>
              </a:rPr>
              <a:t>    </a:t>
            </a:r>
            <a:r>
              <a:rPr lang="en-US" altLang="zh-TW" sz="1800" dirty="0" err="1">
                <a:effectLst/>
                <a:latin typeface="JetBrains Mono"/>
              </a:rPr>
              <a:t>model.eval</a:t>
            </a:r>
            <a:r>
              <a:rPr lang="en-US" altLang="zh-TW" sz="1800" dirty="0">
                <a:effectLst/>
                <a:latin typeface="JetBrains Mono"/>
              </a:rPr>
              <a:t>()</a:t>
            </a:r>
            <a:br>
              <a:rPr lang="en-US" altLang="zh-TW" sz="1800" dirty="0">
                <a:effectLst/>
                <a:latin typeface="JetBrains Mono"/>
              </a:rPr>
            </a:br>
            <a:r>
              <a:rPr lang="en-US" altLang="zh-TW" sz="1800" dirty="0">
                <a:effectLst/>
                <a:latin typeface="JetBrains Mono"/>
              </a:rPr>
              <a:t>    </a:t>
            </a:r>
            <a:r>
              <a:rPr lang="en-US" altLang="zh-TW" sz="1800" dirty="0" err="1">
                <a:effectLst/>
                <a:latin typeface="JetBrains Mono"/>
              </a:rPr>
              <a:t>test_loss</a:t>
            </a:r>
            <a:r>
              <a:rPr lang="en-US" altLang="zh-TW" sz="1800" dirty="0">
                <a:effectLst/>
                <a:latin typeface="JetBrains Mono"/>
              </a:rPr>
              <a:t>, correct = 0, 0</a:t>
            </a:r>
            <a:br>
              <a:rPr lang="en-US" altLang="zh-TW" sz="1800" dirty="0">
                <a:effectLst/>
                <a:latin typeface="JetBrains Mono"/>
              </a:rPr>
            </a:br>
            <a:r>
              <a:rPr lang="en-US" altLang="zh-TW" sz="1800" dirty="0">
                <a:effectLst/>
                <a:latin typeface="JetBrains Mono"/>
              </a:rPr>
              <a:t>    with </a:t>
            </a:r>
            <a:r>
              <a:rPr lang="en-US" altLang="zh-TW" sz="1800" dirty="0" err="1">
                <a:effectLst/>
                <a:latin typeface="JetBrains Mono"/>
              </a:rPr>
              <a:t>torch.no_grad</a:t>
            </a:r>
            <a:r>
              <a:rPr lang="en-US" altLang="zh-TW" sz="1800" dirty="0">
                <a:effectLst/>
                <a:latin typeface="JetBrains Mono"/>
              </a:rPr>
              <a:t>():</a:t>
            </a:r>
            <a:br>
              <a:rPr lang="en-US" altLang="zh-TW" sz="1800" dirty="0">
                <a:effectLst/>
                <a:latin typeface="JetBrains Mono"/>
              </a:rPr>
            </a:br>
            <a:r>
              <a:rPr lang="en-US" altLang="zh-TW" sz="1800" dirty="0">
                <a:effectLst/>
                <a:latin typeface="JetBrains Mono"/>
              </a:rPr>
              <a:t>        for X, y in </a:t>
            </a:r>
            <a:r>
              <a:rPr lang="en-US" altLang="zh-TW" sz="1800" dirty="0" err="1">
                <a:effectLst/>
                <a:latin typeface="JetBrains Mono"/>
              </a:rPr>
              <a:t>dataloader</a:t>
            </a:r>
            <a:r>
              <a:rPr lang="en-US" altLang="zh-TW" sz="1800" dirty="0">
                <a:effectLst/>
                <a:latin typeface="JetBrains Mono"/>
              </a:rPr>
              <a:t>:</a:t>
            </a:r>
            <a:br>
              <a:rPr lang="en-US" altLang="zh-TW" sz="1800" dirty="0">
                <a:effectLst/>
                <a:latin typeface="JetBrains Mono"/>
              </a:rPr>
            </a:br>
            <a:r>
              <a:rPr lang="en-US" altLang="zh-TW" sz="1800" dirty="0">
                <a:effectLst/>
                <a:latin typeface="JetBrains Mono"/>
              </a:rPr>
              <a:t>            X, y = X.to(device), y.to(device)</a:t>
            </a:r>
            <a:br>
              <a:rPr lang="en-US" altLang="zh-TW" sz="1800" dirty="0">
                <a:effectLst/>
                <a:latin typeface="JetBrains Mono"/>
              </a:rPr>
            </a:br>
            <a:r>
              <a:rPr lang="en-US" altLang="zh-TW" sz="1800" dirty="0">
                <a:effectLst/>
                <a:latin typeface="JetBrains Mono"/>
              </a:rPr>
              <a:t>            pred = model(X)</a:t>
            </a:r>
            <a:br>
              <a:rPr lang="en-US" altLang="zh-TW" sz="1800" dirty="0">
                <a:effectLst/>
                <a:latin typeface="JetBrains Mono"/>
              </a:rPr>
            </a:br>
            <a:r>
              <a:rPr lang="en-US" altLang="zh-TW" sz="1800" dirty="0">
                <a:effectLst/>
                <a:latin typeface="JetBrains Mono"/>
              </a:rPr>
              <a:t>            </a:t>
            </a:r>
            <a:r>
              <a:rPr lang="en-US" altLang="zh-TW" sz="1800" dirty="0" err="1">
                <a:effectLst/>
                <a:latin typeface="JetBrains Mono"/>
              </a:rPr>
              <a:t>test_loss</a:t>
            </a:r>
            <a:r>
              <a:rPr lang="en-US" altLang="zh-TW" sz="1800" dirty="0">
                <a:effectLst/>
                <a:latin typeface="JetBrains Mono"/>
              </a:rPr>
              <a:t> += </a:t>
            </a:r>
            <a:r>
              <a:rPr lang="en-US" altLang="zh-TW" sz="1800" dirty="0" err="1">
                <a:effectLst/>
                <a:latin typeface="JetBrains Mono"/>
              </a:rPr>
              <a:t>loss_fn</a:t>
            </a:r>
            <a:r>
              <a:rPr lang="en-US" altLang="zh-TW" sz="1800" dirty="0">
                <a:effectLst/>
                <a:latin typeface="JetBrains Mono"/>
              </a:rPr>
              <a:t>(pred, y).item()</a:t>
            </a:r>
            <a:br>
              <a:rPr lang="en-US" altLang="zh-TW" sz="1800" dirty="0">
                <a:effectLst/>
                <a:latin typeface="JetBrains Mono"/>
              </a:rPr>
            </a:br>
            <a:r>
              <a:rPr lang="en-US" altLang="zh-TW" sz="1800" dirty="0">
                <a:effectLst/>
                <a:latin typeface="JetBrains Mono"/>
              </a:rPr>
              <a:t>            correct += (</a:t>
            </a:r>
            <a:r>
              <a:rPr lang="en-US" altLang="zh-TW" sz="1800" dirty="0" err="1">
                <a:effectLst/>
                <a:latin typeface="JetBrains Mono"/>
              </a:rPr>
              <a:t>pred.argmax</a:t>
            </a:r>
            <a:r>
              <a:rPr lang="en-US" altLang="zh-TW" sz="1800" dirty="0">
                <a:effectLst/>
                <a:latin typeface="JetBrains Mono"/>
              </a:rPr>
              <a:t>(1) == y).type(</a:t>
            </a:r>
            <a:r>
              <a:rPr lang="en-US" altLang="zh-TW" sz="1800" dirty="0" err="1">
                <a:effectLst/>
                <a:latin typeface="JetBrains Mono"/>
              </a:rPr>
              <a:t>torch.float</a:t>
            </a:r>
            <a:r>
              <a:rPr lang="en-US" altLang="zh-TW" sz="1800" dirty="0">
                <a:effectLst/>
                <a:latin typeface="JetBrains Mono"/>
              </a:rPr>
              <a:t>).sum().item()</a:t>
            </a:r>
            <a:br>
              <a:rPr lang="en-US" altLang="zh-TW" sz="1800" dirty="0">
                <a:effectLst/>
                <a:latin typeface="JetBrains Mono"/>
              </a:rPr>
            </a:br>
            <a:r>
              <a:rPr lang="en-US" altLang="zh-TW" sz="1800" dirty="0">
                <a:effectLst/>
                <a:latin typeface="JetBrains Mono"/>
              </a:rPr>
              <a:t>    </a:t>
            </a:r>
            <a:r>
              <a:rPr lang="en-US" altLang="zh-TW" sz="1800" dirty="0" err="1">
                <a:effectLst/>
                <a:latin typeface="JetBrains Mono"/>
              </a:rPr>
              <a:t>test_loss</a:t>
            </a:r>
            <a:r>
              <a:rPr lang="en-US" altLang="zh-TW" sz="1800" dirty="0">
                <a:effectLst/>
                <a:latin typeface="JetBrains Mono"/>
              </a:rPr>
              <a:t> /= </a:t>
            </a:r>
            <a:r>
              <a:rPr lang="en-US" altLang="zh-TW" sz="1800" dirty="0" err="1">
                <a:effectLst/>
                <a:latin typeface="JetBrains Mono"/>
              </a:rPr>
              <a:t>num_batches</a:t>
            </a:r>
            <a:br>
              <a:rPr lang="en-US" altLang="zh-TW" sz="1800" dirty="0">
                <a:effectLst/>
                <a:latin typeface="JetBrains Mono"/>
              </a:rPr>
            </a:br>
            <a:r>
              <a:rPr lang="en-US" altLang="zh-TW" sz="1800" dirty="0">
                <a:effectLst/>
                <a:latin typeface="JetBrains Mono"/>
              </a:rPr>
              <a:t>    correct /= size</a:t>
            </a:r>
            <a:br>
              <a:rPr lang="en-US" altLang="zh-TW" sz="1800" dirty="0">
                <a:effectLst/>
                <a:latin typeface="JetBrains Mono"/>
              </a:rPr>
            </a:br>
            <a:r>
              <a:rPr lang="en-US" altLang="zh-TW" sz="1800" dirty="0">
                <a:effectLst/>
                <a:latin typeface="JetBrains Mono"/>
              </a:rPr>
              <a:t>    print(</a:t>
            </a:r>
            <a:r>
              <a:rPr lang="en-US" altLang="zh-TW" sz="1800" dirty="0" err="1">
                <a:effectLst/>
                <a:latin typeface="JetBrains Mono"/>
              </a:rPr>
              <a:t>f"Test</a:t>
            </a:r>
            <a:r>
              <a:rPr lang="en-US" altLang="zh-TW" sz="1800" dirty="0">
                <a:effectLst/>
                <a:latin typeface="JetBrains Mono"/>
              </a:rPr>
              <a:t> Error: \n Accuracy: {(100*correct):&gt;0.1f}%, Avg loss: {</a:t>
            </a:r>
            <a:r>
              <a:rPr lang="en-US" altLang="zh-TW" sz="1800" dirty="0" err="1">
                <a:effectLst/>
                <a:latin typeface="JetBrains Mono"/>
              </a:rPr>
              <a:t>test_loss</a:t>
            </a:r>
            <a:r>
              <a:rPr lang="en-US" altLang="zh-TW" sz="1800" dirty="0">
                <a:effectLst/>
                <a:latin typeface="JetBrains Mono"/>
              </a:rPr>
              <a:t>:&gt;8f} \n")</a:t>
            </a:r>
            <a:br>
              <a:rPr lang="en-US" altLang="zh-TW" sz="1800" dirty="0">
                <a:effectLst/>
                <a:latin typeface="JetBrains Mono"/>
              </a:rPr>
            </a:br>
            <a:br>
              <a:rPr lang="en-US" altLang="zh-TW" sz="1800" dirty="0">
                <a:effectLst/>
                <a:latin typeface="JetBrains Mono"/>
              </a:rPr>
            </a:br>
            <a:r>
              <a:rPr lang="en-US" altLang="zh-TW" sz="1800" dirty="0">
                <a:effectLst/>
                <a:latin typeface="JetBrains Mono"/>
              </a:rPr>
              <a:t>if __name__ == "__main__":</a:t>
            </a:r>
            <a:br>
              <a:rPr lang="en-US" altLang="zh-TW" sz="1800" dirty="0">
                <a:effectLst/>
                <a:latin typeface="JetBrains Mono"/>
              </a:rPr>
            </a:br>
            <a:r>
              <a:rPr lang="en-US" altLang="zh-TW" sz="1800" dirty="0">
                <a:effectLst/>
                <a:latin typeface="JetBrains Mono"/>
              </a:rPr>
              <a:t>    epochs = 5</a:t>
            </a:r>
            <a:br>
              <a:rPr lang="en-US" altLang="zh-TW" sz="1800" dirty="0">
                <a:effectLst/>
                <a:latin typeface="JetBrains Mono"/>
              </a:rPr>
            </a:br>
            <a:r>
              <a:rPr lang="en-US" altLang="zh-TW" sz="1800" dirty="0">
                <a:effectLst/>
                <a:latin typeface="JetBrains Mono"/>
              </a:rPr>
              <a:t>    for t in range(epochs):</a:t>
            </a:r>
            <a:br>
              <a:rPr lang="en-US" altLang="zh-TW" sz="1800" dirty="0">
                <a:effectLst/>
                <a:latin typeface="JetBrains Mono"/>
              </a:rPr>
            </a:br>
            <a:r>
              <a:rPr lang="en-US" altLang="zh-TW" sz="1800" dirty="0">
                <a:effectLst/>
                <a:latin typeface="JetBrains Mono"/>
              </a:rPr>
              <a:t>        print(</a:t>
            </a:r>
            <a:r>
              <a:rPr lang="en-US" altLang="zh-TW" sz="1800" dirty="0" err="1">
                <a:effectLst/>
                <a:latin typeface="JetBrains Mono"/>
              </a:rPr>
              <a:t>f"Epoch</a:t>
            </a:r>
            <a:r>
              <a:rPr lang="en-US" altLang="zh-TW" sz="1800" dirty="0">
                <a:effectLst/>
                <a:latin typeface="JetBrains Mono"/>
              </a:rPr>
              <a:t> {t+1}\n-------------------------------")</a:t>
            </a:r>
            <a:br>
              <a:rPr lang="en-US" altLang="zh-TW" sz="1800" dirty="0">
                <a:effectLst/>
                <a:latin typeface="JetBrains Mono"/>
              </a:rPr>
            </a:br>
            <a:r>
              <a:rPr lang="en-US" altLang="zh-TW" sz="1800" dirty="0">
                <a:effectLst/>
                <a:latin typeface="JetBrains Mono"/>
              </a:rPr>
              <a:t>        train(</a:t>
            </a:r>
            <a:r>
              <a:rPr lang="en-US" altLang="zh-TW" sz="1800" dirty="0" err="1">
                <a:effectLst/>
                <a:latin typeface="JetBrains Mono"/>
              </a:rPr>
              <a:t>train_dataloader</a:t>
            </a:r>
            <a:r>
              <a:rPr lang="en-US" altLang="zh-TW" sz="1800" dirty="0">
                <a:effectLst/>
                <a:latin typeface="JetBrains Mono"/>
              </a:rPr>
              <a:t>, model, </a:t>
            </a:r>
            <a:r>
              <a:rPr lang="en-US" altLang="zh-TW" sz="1800" dirty="0" err="1">
                <a:effectLst/>
                <a:latin typeface="JetBrains Mono"/>
              </a:rPr>
              <a:t>loss_fn</a:t>
            </a:r>
            <a:r>
              <a:rPr lang="en-US" altLang="zh-TW" sz="1800" dirty="0">
                <a:effectLst/>
                <a:latin typeface="JetBrains Mono"/>
              </a:rPr>
              <a:t>, optimizer)</a:t>
            </a:r>
            <a:br>
              <a:rPr lang="en-US" altLang="zh-TW" sz="1800" dirty="0">
                <a:effectLst/>
                <a:latin typeface="JetBrains Mono"/>
              </a:rPr>
            </a:br>
            <a:r>
              <a:rPr lang="en-US" altLang="zh-TW" sz="1800" dirty="0">
                <a:effectLst/>
                <a:latin typeface="JetBrains Mono"/>
              </a:rPr>
              <a:t>        test(</a:t>
            </a:r>
            <a:r>
              <a:rPr lang="en-US" altLang="zh-TW" sz="1800" dirty="0" err="1">
                <a:effectLst/>
                <a:latin typeface="JetBrains Mono"/>
              </a:rPr>
              <a:t>test_dataloader</a:t>
            </a:r>
            <a:r>
              <a:rPr lang="en-US" altLang="zh-TW" sz="1800" dirty="0">
                <a:effectLst/>
                <a:latin typeface="JetBrains Mono"/>
              </a:rPr>
              <a:t>, model, </a:t>
            </a:r>
            <a:r>
              <a:rPr lang="en-US" altLang="zh-TW" sz="1800" dirty="0" err="1">
                <a:effectLst/>
                <a:latin typeface="JetBrains Mono"/>
              </a:rPr>
              <a:t>loss_fn</a:t>
            </a:r>
            <a:r>
              <a:rPr lang="en-US" altLang="zh-TW" sz="1800" dirty="0">
                <a:effectLst/>
                <a:latin typeface="JetBrains Mono"/>
              </a:rPr>
              <a:t>)</a:t>
            </a:r>
            <a:br>
              <a:rPr lang="en-US" altLang="zh-TW" sz="1800" dirty="0">
                <a:effectLst/>
                <a:latin typeface="JetBrains Mono"/>
              </a:rPr>
            </a:br>
            <a:r>
              <a:rPr lang="en-US" altLang="zh-TW" sz="1800" dirty="0">
                <a:effectLst/>
                <a:latin typeface="JetBrains Mono"/>
              </a:rPr>
              <a:t>    print("Done!")</a:t>
            </a:r>
            <a:br>
              <a:rPr lang="en-US" altLang="zh-TW" sz="1800" dirty="0">
                <a:effectLst/>
                <a:latin typeface="JetBrains Mono"/>
              </a:rPr>
            </a:br>
            <a:endParaRPr lang="en-US" altLang="zh-TW" sz="1800" dirty="0">
              <a:effectLst/>
              <a:latin typeface="JetBrains Mono"/>
            </a:endParaRPr>
          </a:p>
        </p:txBody>
      </p:sp>
      <p:sp>
        <p:nvSpPr>
          <p:cNvPr id="4" name="文字方塊 3">
            <a:extLst>
              <a:ext uri="{FF2B5EF4-FFF2-40B4-BE49-F238E27FC236}">
                <a16:creationId xmlns:a16="http://schemas.microsoft.com/office/drawing/2014/main" id="{C7D81531-A838-7DD9-5088-ACE6F6C58DC4}"/>
              </a:ext>
            </a:extLst>
          </p:cNvPr>
          <p:cNvSpPr txBox="1"/>
          <p:nvPr/>
        </p:nvSpPr>
        <p:spPr>
          <a:xfrm>
            <a:off x="8345714" y="58846"/>
            <a:ext cx="3779520" cy="6186309"/>
          </a:xfrm>
          <a:prstGeom prst="rect">
            <a:avLst/>
          </a:prstGeom>
          <a:solidFill>
            <a:schemeClr val="accent6">
              <a:lumMod val="20000"/>
              <a:lumOff val="80000"/>
            </a:schemeClr>
          </a:solidFill>
        </p:spPr>
        <p:txBody>
          <a:bodyPr wrap="square">
            <a:spAutoFit/>
          </a:bodyPr>
          <a:lstStyle/>
          <a:p>
            <a:r>
              <a:rPr lang="sv-SE" altLang="zh-TW" dirty="0"/>
              <a:t>Epoch 1</a:t>
            </a:r>
          </a:p>
          <a:p>
            <a:r>
              <a:rPr lang="sv-SE" altLang="zh-TW" dirty="0"/>
              <a:t>-------------------------------</a:t>
            </a:r>
          </a:p>
          <a:p>
            <a:r>
              <a:rPr lang="sv-SE" altLang="zh-TW" dirty="0"/>
              <a:t>loss: 2.313558  [   64/60000]</a:t>
            </a:r>
          </a:p>
          <a:p>
            <a:r>
              <a:rPr lang="sv-SE" altLang="zh-TW" dirty="0"/>
              <a:t>loss: 2.303183  [ 6464/60000]</a:t>
            </a:r>
            <a:r>
              <a:rPr lang="en-US" altLang="zh-TW" dirty="0"/>
              <a:t>…</a:t>
            </a:r>
            <a:endParaRPr lang="zh-TW" altLang="en-US" dirty="0"/>
          </a:p>
          <a:p>
            <a:r>
              <a:rPr lang="en-US" altLang="zh-TW" dirty="0"/>
              <a:t>Epoch 10</a:t>
            </a:r>
          </a:p>
          <a:p>
            <a:r>
              <a:rPr lang="en-US" altLang="zh-TW" dirty="0"/>
              <a:t>-------------------------------</a:t>
            </a:r>
          </a:p>
          <a:p>
            <a:r>
              <a:rPr lang="en-US" altLang="zh-TW" dirty="0"/>
              <a:t>loss: 0.827288  [   64/60000]</a:t>
            </a:r>
          </a:p>
          <a:p>
            <a:r>
              <a:rPr lang="en-US" altLang="zh-TW" dirty="0"/>
              <a:t>loss: 0.908000  [ 6464/60000]</a:t>
            </a:r>
          </a:p>
          <a:p>
            <a:r>
              <a:rPr lang="en-US" altLang="zh-TW" dirty="0"/>
              <a:t>loss: 0.669429  [12864/60000]</a:t>
            </a:r>
          </a:p>
          <a:p>
            <a:r>
              <a:rPr lang="en-US" altLang="zh-TW" dirty="0"/>
              <a:t>loss: 0.862134  [19264/60000]</a:t>
            </a:r>
          </a:p>
          <a:p>
            <a:r>
              <a:rPr lang="en-US" altLang="zh-TW" dirty="0"/>
              <a:t>loss: 0.779562  [25664/60000]</a:t>
            </a:r>
          </a:p>
          <a:p>
            <a:r>
              <a:rPr lang="en-US" altLang="zh-TW" dirty="0"/>
              <a:t>loss: 0.768864  [32064/60000]</a:t>
            </a:r>
          </a:p>
          <a:p>
            <a:r>
              <a:rPr lang="en-US" altLang="zh-TW" dirty="0"/>
              <a:t>loss: 0.844356  [38464/60000]</a:t>
            </a:r>
          </a:p>
          <a:p>
            <a:r>
              <a:rPr lang="en-US" altLang="zh-TW" dirty="0"/>
              <a:t>loss: 0.797493  [44864/60000]</a:t>
            </a:r>
          </a:p>
          <a:p>
            <a:r>
              <a:rPr lang="en-US" altLang="zh-TW" dirty="0"/>
              <a:t>loss: 0.824290  [51264/60000]</a:t>
            </a:r>
          </a:p>
          <a:p>
            <a:r>
              <a:rPr lang="en-US" altLang="zh-TW" dirty="0"/>
              <a:t>loss: 0.776216  [57664/60000]</a:t>
            </a:r>
          </a:p>
          <a:p>
            <a:r>
              <a:rPr lang="en-US" altLang="zh-TW" dirty="0"/>
              <a:t>Test Error: </a:t>
            </a:r>
          </a:p>
          <a:p>
            <a:r>
              <a:rPr lang="en-US" altLang="zh-TW" dirty="0"/>
              <a:t> Accuracy: 71.4%, Avg loss: 0.783415 </a:t>
            </a:r>
          </a:p>
          <a:p>
            <a:endParaRPr lang="en-US" altLang="zh-TW" dirty="0"/>
          </a:p>
          <a:p>
            <a:r>
              <a:rPr lang="en-US" altLang="zh-TW" dirty="0"/>
              <a:t>Total training time: 95.73 seconds (1.60 minutes)</a:t>
            </a:r>
          </a:p>
          <a:p>
            <a:r>
              <a:rPr lang="en-US" altLang="zh-TW" dirty="0"/>
              <a:t>Done!</a:t>
            </a:r>
            <a:endParaRPr lang="zh-TW" altLang="en-US" dirty="0"/>
          </a:p>
        </p:txBody>
      </p:sp>
    </p:spTree>
    <p:extLst>
      <p:ext uri="{BB962C8B-B14F-4D97-AF65-F5344CB8AC3E}">
        <p14:creationId xmlns:p14="http://schemas.microsoft.com/office/powerpoint/2010/main" val="19502653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字方塊 6">
            <a:extLst>
              <a:ext uri="{FF2B5EF4-FFF2-40B4-BE49-F238E27FC236}">
                <a16:creationId xmlns:a16="http://schemas.microsoft.com/office/drawing/2014/main" id="{FDBE574D-BA23-FD57-F974-9FEF81D1E45E}"/>
              </a:ext>
            </a:extLst>
          </p:cNvPr>
          <p:cNvSpPr txBox="1"/>
          <p:nvPr/>
        </p:nvSpPr>
        <p:spPr>
          <a:xfrm>
            <a:off x="-1" y="1694681"/>
            <a:ext cx="12191999" cy="21275776"/>
          </a:xfrm>
          <a:prstGeom prst="rect">
            <a:avLst/>
          </a:prstGeom>
          <a:solidFill>
            <a:schemeClr val="tx1"/>
          </a:solidFill>
        </p:spPr>
        <p:txBody>
          <a:bodyPr wrap="square">
            <a:spAutoFit/>
          </a:bodyPr>
          <a:lstStyle/>
          <a:p>
            <a:pPr>
              <a:buNone/>
            </a:pPr>
            <a:r>
              <a:rPr lang="en-US" altLang="zh-TW" sz="1800" dirty="0">
                <a:solidFill>
                  <a:srgbClr val="CF8E6D"/>
                </a:solidFill>
                <a:effectLst/>
                <a:latin typeface="JetBrains Mono"/>
              </a:rPr>
              <a:t>import </a:t>
            </a:r>
            <a:r>
              <a:rPr lang="en-US" altLang="zh-TW" sz="1800" dirty="0">
                <a:solidFill>
                  <a:srgbClr val="BCBEC4"/>
                </a:solidFill>
                <a:effectLst/>
                <a:latin typeface="JetBrains Mono"/>
              </a:rPr>
              <a:t>torch</a:t>
            </a:r>
            <a:br>
              <a:rPr lang="en-US" altLang="zh-TW" sz="1800" dirty="0">
                <a:solidFill>
                  <a:srgbClr val="BCBEC4"/>
                </a:solidFill>
                <a:effectLst/>
                <a:latin typeface="JetBrains Mono"/>
              </a:rPr>
            </a:br>
            <a:r>
              <a:rPr lang="en-US" altLang="zh-TW" sz="1800" dirty="0">
                <a:solidFill>
                  <a:srgbClr val="CF8E6D"/>
                </a:solidFill>
                <a:effectLst/>
                <a:latin typeface="JetBrains Mono"/>
              </a:rPr>
              <a:t>import </a:t>
            </a:r>
            <a:r>
              <a:rPr lang="en-US" altLang="zh-TW" sz="1800" dirty="0" err="1">
                <a:solidFill>
                  <a:srgbClr val="BCBEC4"/>
                </a:solidFill>
                <a:effectLst/>
                <a:latin typeface="JetBrains Mono"/>
              </a:rPr>
              <a:t>torch.nn</a:t>
            </a:r>
            <a:r>
              <a:rPr lang="en-US" altLang="zh-TW" sz="1800" dirty="0">
                <a:solidFill>
                  <a:srgbClr val="BCBEC4"/>
                </a:solidFill>
                <a:effectLst/>
                <a:latin typeface="JetBrains Mono"/>
              </a:rPr>
              <a:t> </a:t>
            </a:r>
            <a:r>
              <a:rPr lang="en-US" altLang="zh-TW" sz="1800" dirty="0">
                <a:solidFill>
                  <a:srgbClr val="CF8E6D"/>
                </a:solidFill>
                <a:effectLst/>
                <a:latin typeface="JetBrains Mono"/>
              </a:rPr>
              <a:t>as </a:t>
            </a:r>
            <a:r>
              <a:rPr lang="en-US" altLang="zh-TW" sz="1800" dirty="0" err="1">
                <a:solidFill>
                  <a:srgbClr val="BCBEC4"/>
                </a:solidFill>
                <a:effectLst/>
                <a:latin typeface="JetBrains Mono"/>
              </a:rPr>
              <a:t>nn</a:t>
            </a:r>
            <a:br>
              <a:rPr lang="en-US" altLang="zh-TW" sz="1800" dirty="0">
                <a:solidFill>
                  <a:srgbClr val="BCBEC4"/>
                </a:solidFill>
                <a:effectLst/>
                <a:latin typeface="JetBrains Mono"/>
              </a:rPr>
            </a:br>
            <a:r>
              <a:rPr lang="en-US" altLang="zh-TW" sz="1800" dirty="0">
                <a:solidFill>
                  <a:srgbClr val="CF8E6D"/>
                </a:solidFill>
                <a:effectLst/>
                <a:latin typeface="JetBrains Mono"/>
              </a:rPr>
              <a:t>import </a:t>
            </a:r>
            <a:r>
              <a:rPr lang="en-US" altLang="zh-TW" sz="1800" dirty="0" err="1">
                <a:solidFill>
                  <a:srgbClr val="BCBEC4"/>
                </a:solidFill>
                <a:effectLst/>
                <a:latin typeface="JetBrains Mono"/>
              </a:rPr>
              <a:t>torch.nn.functional</a:t>
            </a:r>
            <a:r>
              <a:rPr lang="en-US" altLang="zh-TW" sz="1800" dirty="0">
                <a:solidFill>
                  <a:srgbClr val="BCBEC4"/>
                </a:solidFill>
                <a:effectLst/>
                <a:latin typeface="JetBrains Mono"/>
              </a:rPr>
              <a:t> </a:t>
            </a:r>
            <a:r>
              <a:rPr lang="en-US" altLang="zh-TW" sz="1800" dirty="0">
                <a:solidFill>
                  <a:srgbClr val="CF8E6D"/>
                </a:solidFill>
                <a:effectLst/>
                <a:latin typeface="JetBrains Mono"/>
              </a:rPr>
              <a:t>as </a:t>
            </a:r>
            <a:r>
              <a:rPr lang="en-US" altLang="zh-TW" sz="1800" dirty="0">
                <a:solidFill>
                  <a:srgbClr val="BCBEC4"/>
                </a:solidFill>
                <a:effectLst/>
                <a:latin typeface="JetBrains Mono"/>
              </a:rPr>
              <a:t>F</a:t>
            </a:r>
            <a:br>
              <a:rPr lang="en-US" altLang="zh-TW" sz="1800" dirty="0">
                <a:solidFill>
                  <a:srgbClr val="BCBEC4"/>
                </a:solidFill>
                <a:effectLst/>
                <a:latin typeface="JetBrains Mono"/>
              </a:rPr>
            </a:br>
            <a:r>
              <a:rPr lang="en-US" altLang="zh-TW" sz="1800" dirty="0">
                <a:solidFill>
                  <a:srgbClr val="CF8E6D"/>
                </a:solidFill>
                <a:effectLst/>
                <a:latin typeface="JetBrains Mono"/>
              </a:rPr>
              <a:t>import </a:t>
            </a:r>
            <a:r>
              <a:rPr lang="en-US" altLang="zh-TW" sz="1800" dirty="0" err="1">
                <a:solidFill>
                  <a:srgbClr val="BCBEC4"/>
                </a:solidFill>
                <a:effectLst/>
                <a:latin typeface="JetBrains Mono"/>
              </a:rPr>
              <a:t>torch.optim</a:t>
            </a:r>
            <a:r>
              <a:rPr lang="en-US" altLang="zh-TW" sz="1800" dirty="0">
                <a:solidFill>
                  <a:srgbClr val="BCBEC4"/>
                </a:solidFill>
                <a:effectLst/>
                <a:latin typeface="JetBrains Mono"/>
              </a:rPr>
              <a:t> </a:t>
            </a:r>
            <a:r>
              <a:rPr lang="en-US" altLang="zh-TW" sz="1800" dirty="0">
                <a:solidFill>
                  <a:srgbClr val="CF8E6D"/>
                </a:solidFill>
                <a:effectLst/>
                <a:latin typeface="JetBrains Mono"/>
              </a:rPr>
              <a:t>as </a:t>
            </a:r>
            <a:r>
              <a:rPr lang="en-US" altLang="zh-TW" sz="1800" dirty="0" err="1">
                <a:solidFill>
                  <a:srgbClr val="BCBEC4"/>
                </a:solidFill>
                <a:effectLst/>
                <a:latin typeface="JetBrains Mono"/>
              </a:rPr>
              <a:t>optim</a:t>
            </a:r>
            <a:br>
              <a:rPr lang="en-US" altLang="zh-TW" sz="1800" dirty="0">
                <a:solidFill>
                  <a:srgbClr val="BCBEC4"/>
                </a:solidFill>
                <a:effectLst/>
                <a:latin typeface="JetBrains Mono"/>
              </a:rPr>
            </a:br>
            <a:r>
              <a:rPr lang="en-US" altLang="zh-TW" sz="1800" dirty="0">
                <a:solidFill>
                  <a:srgbClr val="CF8E6D"/>
                </a:solidFill>
                <a:effectLst/>
                <a:latin typeface="JetBrains Mono"/>
              </a:rPr>
              <a:t>import </a:t>
            </a:r>
            <a:r>
              <a:rPr lang="en-US" altLang="zh-TW" sz="1800" dirty="0" err="1">
                <a:solidFill>
                  <a:srgbClr val="BCBEC4"/>
                </a:solidFill>
                <a:effectLst/>
                <a:latin typeface="JetBrains Mono"/>
              </a:rPr>
              <a:t>torchvision</a:t>
            </a:r>
            <a:br>
              <a:rPr lang="en-US" altLang="zh-TW" sz="1800" dirty="0">
                <a:solidFill>
                  <a:srgbClr val="BCBEC4"/>
                </a:solidFill>
                <a:effectLst/>
                <a:latin typeface="JetBrains Mono"/>
              </a:rPr>
            </a:br>
            <a:r>
              <a:rPr lang="en-US" altLang="zh-TW" sz="1800" dirty="0">
                <a:solidFill>
                  <a:srgbClr val="CF8E6D"/>
                </a:solidFill>
                <a:effectLst/>
                <a:latin typeface="JetBrains Mono"/>
              </a:rPr>
              <a:t>import </a:t>
            </a:r>
            <a:r>
              <a:rPr lang="en-US" altLang="zh-TW" sz="1800" dirty="0" err="1">
                <a:solidFill>
                  <a:srgbClr val="BCBEC4"/>
                </a:solidFill>
                <a:effectLst/>
                <a:latin typeface="JetBrains Mono"/>
              </a:rPr>
              <a:t>torchvision.transforms</a:t>
            </a:r>
            <a:r>
              <a:rPr lang="en-US" altLang="zh-TW" sz="1800" dirty="0">
                <a:solidFill>
                  <a:srgbClr val="BCBEC4"/>
                </a:solidFill>
                <a:effectLst/>
                <a:latin typeface="JetBrains Mono"/>
              </a:rPr>
              <a:t> </a:t>
            </a:r>
            <a:r>
              <a:rPr lang="en-US" altLang="zh-TW" sz="1800" dirty="0">
                <a:solidFill>
                  <a:srgbClr val="CF8E6D"/>
                </a:solidFill>
                <a:effectLst/>
                <a:latin typeface="JetBrains Mono"/>
              </a:rPr>
              <a:t>as </a:t>
            </a:r>
            <a:r>
              <a:rPr lang="en-US" altLang="zh-TW" sz="1800" dirty="0">
                <a:solidFill>
                  <a:srgbClr val="BCBEC4"/>
                </a:solidFill>
                <a:effectLst/>
                <a:latin typeface="JetBrains Mono"/>
              </a:rPr>
              <a:t>transforms</a:t>
            </a:r>
            <a:br>
              <a:rPr lang="en-US" altLang="zh-TW" sz="1800" dirty="0">
                <a:solidFill>
                  <a:srgbClr val="BCBEC4"/>
                </a:solidFill>
                <a:effectLst/>
                <a:latin typeface="JetBrains Mono"/>
              </a:rPr>
            </a:br>
            <a:r>
              <a:rPr lang="en-US" altLang="zh-TW" sz="1800" dirty="0">
                <a:solidFill>
                  <a:srgbClr val="CF8E6D"/>
                </a:solidFill>
                <a:effectLst/>
                <a:latin typeface="JetBrains Mono"/>
              </a:rPr>
              <a:t>import </a:t>
            </a:r>
            <a:r>
              <a:rPr lang="en-US" altLang="zh-TW" sz="1800" dirty="0" err="1">
                <a:solidFill>
                  <a:srgbClr val="BCBEC4"/>
                </a:solidFill>
                <a:effectLst/>
                <a:latin typeface="JetBrains Mono"/>
              </a:rPr>
              <a:t>matplotlib.pyplot</a:t>
            </a:r>
            <a:r>
              <a:rPr lang="en-US" altLang="zh-TW" sz="1800" dirty="0">
                <a:solidFill>
                  <a:srgbClr val="BCBEC4"/>
                </a:solidFill>
                <a:effectLst/>
                <a:latin typeface="JetBrains Mono"/>
              </a:rPr>
              <a:t> </a:t>
            </a:r>
            <a:r>
              <a:rPr lang="en-US" altLang="zh-TW" sz="1800" dirty="0">
                <a:solidFill>
                  <a:srgbClr val="CF8E6D"/>
                </a:solidFill>
                <a:effectLst/>
                <a:latin typeface="JetBrains Mono"/>
              </a:rPr>
              <a:t>as </a:t>
            </a:r>
            <a:r>
              <a:rPr lang="en-US" altLang="zh-TW" sz="1800" dirty="0" err="1">
                <a:solidFill>
                  <a:srgbClr val="BCBEC4"/>
                </a:solidFill>
                <a:effectLst/>
                <a:latin typeface="JetBrains Mono"/>
              </a:rPr>
              <a:t>plt</a:t>
            </a:r>
            <a:br>
              <a:rPr lang="en-US" altLang="zh-TW" sz="1800" dirty="0">
                <a:solidFill>
                  <a:srgbClr val="BCBEC4"/>
                </a:solidFill>
                <a:effectLst/>
                <a:latin typeface="JetBrains Mono"/>
              </a:rPr>
            </a:br>
            <a:r>
              <a:rPr lang="en-US" altLang="zh-TW" sz="1800" dirty="0">
                <a:solidFill>
                  <a:srgbClr val="CF8E6D"/>
                </a:solidFill>
                <a:effectLst/>
                <a:latin typeface="JetBrains Mono"/>
              </a:rPr>
              <a:t>import </a:t>
            </a:r>
            <a:r>
              <a:rPr lang="en-US" altLang="zh-TW" sz="1800" dirty="0" err="1">
                <a:solidFill>
                  <a:srgbClr val="BCBEC4"/>
                </a:solidFill>
                <a:effectLst/>
                <a:latin typeface="JetBrains Mono"/>
              </a:rPr>
              <a:t>numpy</a:t>
            </a:r>
            <a:r>
              <a:rPr lang="en-US" altLang="zh-TW" sz="1800" dirty="0">
                <a:solidFill>
                  <a:srgbClr val="BCBEC4"/>
                </a:solidFill>
                <a:effectLst/>
                <a:latin typeface="JetBrains Mono"/>
              </a:rPr>
              <a:t> </a:t>
            </a:r>
            <a:r>
              <a:rPr lang="en-US" altLang="zh-TW" sz="1800" dirty="0">
                <a:solidFill>
                  <a:srgbClr val="CF8E6D"/>
                </a:solidFill>
                <a:effectLst/>
                <a:latin typeface="JetBrains Mono"/>
              </a:rPr>
              <a:t>as </a:t>
            </a:r>
            <a:r>
              <a:rPr lang="en-US" altLang="zh-TW" sz="1800" dirty="0">
                <a:solidFill>
                  <a:srgbClr val="BCBEC4"/>
                </a:solidFill>
                <a:effectLst/>
                <a:latin typeface="JetBrains Mono"/>
              </a:rPr>
              <a:t>np</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BCBEC4"/>
                </a:solidFill>
                <a:effectLst/>
                <a:latin typeface="JetBrains Mono"/>
              </a:rPr>
              <a:t>classes = (</a:t>
            </a:r>
            <a:r>
              <a:rPr lang="en-US" altLang="zh-TW" sz="1800" dirty="0">
                <a:solidFill>
                  <a:srgbClr val="6AAB73"/>
                </a:solidFill>
                <a:effectLst/>
                <a:latin typeface="JetBrains Mono"/>
              </a:rPr>
              <a:t>'plane'</a:t>
            </a:r>
            <a:r>
              <a:rPr lang="en-US" altLang="zh-TW" sz="1800" dirty="0">
                <a:solidFill>
                  <a:srgbClr val="BCBEC4"/>
                </a:solidFill>
                <a:effectLst/>
                <a:latin typeface="JetBrains Mono"/>
              </a:rPr>
              <a:t>, </a:t>
            </a:r>
            <a:r>
              <a:rPr lang="en-US" altLang="zh-TW" sz="1800" dirty="0">
                <a:solidFill>
                  <a:srgbClr val="6AAB73"/>
                </a:solidFill>
                <a:effectLst/>
                <a:latin typeface="JetBrains Mono"/>
              </a:rPr>
              <a:t>'car'</a:t>
            </a:r>
            <a:r>
              <a:rPr lang="en-US" altLang="zh-TW" sz="1800" dirty="0">
                <a:solidFill>
                  <a:srgbClr val="BCBEC4"/>
                </a:solidFill>
                <a:effectLst/>
                <a:latin typeface="JetBrains Mono"/>
              </a:rPr>
              <a:t>, </a:t>
            </a:r>
            <a:r>
              <a:rPr lang="en-US" altLang="zh-TW" sz="1800" dirty="0">
                <a:solidFill>
                  <a:srgbClr val="6AAB73"/>
                </a:solidFill>
                <a:effectLst/>
                <a:latin typeface="JetBrains Mono"/>
              </a:rPr>
              <a:t>'bird'</a:t>
            </a:r>
            <a:r>
              <a:rPr lang="en-US" altLang="zh-TW" sz="1800" dirty="0">
                <a:solidFill>
                  <a:srgbClr val="BCBEC4"/>
                </a:solidFill>
                <a:effectLst/>
                <a:latin typeface="JetBrains Mono"/>
              </a:rPr>
              <a:t>, </a:t>
            </a:r>
            <a:r>
              <a:rPr lang="en-US" altLang="zh-TW" sz="1800" dirty="0">
                <a:solidFill>
                  <a:srgbClr val="6AAB73"/>
                </a:solidFill>
                <a:effectLst/>
                <a:latin typeface="JetBrains Mono"/>
              </a:rPr>
              <a:t>'cat'</a:t>
            </a:r>
            <a:r>
              <a:rPr lang="en-US" altLang="zh-TW" sz="1800" dirty="0">
                <a:solidFill>
                  <a:srgbClr val="BCBEC4"/>
                </a:solidFill>
                <a:effectLst/>
                <a:latin typeface="JetBrains Mono"/>
              </a:rPr>
              <a:t>, </a:t>
            </a:r>
            <a:r>
              <a:rPr lang="en-US" altLang="zh-TW" sz="1800" dirty="0">
                <a:solidFill>
                  <a:srgbClr val="6AAB73"/>
                </a:solidFill>
                <a:effectLst/>
                <a:latin typeface="JetBrains Mono"/>
              </a:rPr>
              <a:t>'deer'</a:t>
            </a:r>
            <a:r>
              <a:rPr lang="en-US" altLang="zh-TW" sz="1800" dirty="0">
                <a:solidFill>
                  <a:srgbClr val="BCBEC4"/>
                </a:solidFill>
                <a:effectLst/>
                <a:latin typeface="JetBrains Mono"/>
              </a:rPr>
              <a:t>, </a:t>
            </a:r>
            <a:r>
              <a:rPr lang="en-US" altLang="zh-TW" sz="1800" dirty="0">
                <a:solidFill>
                  <a:srgbClr val="6AAB73"/>
                </a:solidFill>
                <a:effectLst/>
                <a:latin typeface="JetBrains Mono"/>
              </a:rPr>
              <a:t>'dog'</a:t>
            </a:r>
            <a:r>
              <a:rPr lang="en-US" altLang="zh-TW" sz="1800" dirty="0">
                <a:solidFill>
                  <a:srgbClr val="BCBEC4"/>
                </a:solidFill>
                <a:effectLst/>
                <a:latin typeface="JetBrains Mono"/>
              </a:rPr>
              <a:t>, </a:t>
            </a:r>
            <a:r>
              <a:rPr lang="en-US" altLang="zh-TW" sz="1800" dirty="0">
                <a:solidFill>
                  <a:srgbClr val="6AAB73"/>
                </a:solidFill>
                <a:effectLst/>
                <a:latin typeface="JetBrains Mono"/>
              </a:rPr>
              <a:t>'frog'</a:t>
            </a:r>
            <a:r>
              <a:rPr lang="en-US" altLang="zh-TW" sz="1800" dirty="0">
                <a:solidFill>
                  <a:srgbClr val="BCBEC4"/>
                </a:solidFill>
                <a:effectLst/>
                <a:latin typeface="JetBrains Mono"/>
              </a:rPr>
              <a:t>, </a:t>
            </a:r>
            <a:r>
              <a:rPr lang="en-US" altLang="zh-TW" sz="1800" dirty="0">
                <a:solidFill>
                  <a:srgbClr val="6AAB73"/>
                </a:solidFill>
                <a:effectLst/>
                <a:latin typeface="JetBrains Mono"/>
              </a:rPr>
              <a:t>'horse'</a:t>
            </a:r>
            <a:r>
              <a:rPr lang="en-US" altLang="zh-TW" sz="1800" dirty="0">
                <a:solidFill>
                  <a:srgbClr val="BCBEC4"/>
                </a:solidFill>
                <a:effectLst/>
                <a:latin typeface="JetBrains Mono"/>
              </a:rPr>
              <a:t>, </a:t>
            </a:r>
            <a:r>
              <a:rPr lang="en-US" altLang="zh-TW" sz="1800" dirty="0">
                <a:solidFill>
                  <a:srgbClr val="6AAB73"/>
                </a:solidFill>
                <a:effectLst/>
                <a:latin typeface="JetBrains Mono"/>
              </a:rPr>
              <a:t>'ship'</a:t>
            </a:r>
            <a:r>
              <a:rPr lang="en-US" altLang="zh-TW" sz="1800" dirty="0">
                <a:solidFill>
                  <a:srgbClr val="BCBEC4"/>
                </a:solidFill>
                <a:effectLst/>
                <a:latin typeface="JetBrains Mono"/>
              </a:rPr>
              <a:t>, </a:t>
            </a:r>
            <a:r>
              <a:rPr lang="en-US" altLang="zh-TW" sz="1800" dirty="0">
                <a:solidFill>
                  <a:srgbClr val="6AAB73"/>
                </a:solidFill>
                <a:effectLst/>
                <a:latin typeface="JetBrains Mono"/>
              </a:rPr>
              <a:t>'truck'</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BCBEC4"/>
                </a:solidFill>
                <a:effectLst/>
                <a:latin typeface="JetBrains Mono"/>
              </a:rPr>
              <a:t>transform = </a:t>
            </a:r>
            <a:r>
              <a:rPr lang="en-US" altLang="zh-TW" sz="1800" dirty="0" err="1">
                <a:solidFill>
                  <a:srgbClr val="BCBEC4"/>
                </a:solidFill>
                <a:effectLst/>
                <a:latin typeface="JetBrains Mono"/>
              </a:rPr>
              <a:t>transforms.Compose</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transforms.ToTensor</a:t>
            </a:r>
            <a:r>
              <a:rPr lang="en-US" altLang="zh-TW" sz="1800" dirty="0">
                <a:solidFill>
                  <a:srgbClr val="BCBEC4"/>
                </a:solidFill>
                <a:effectLst/>
                <a:latin typeface="JetBrains Mono"/>
              </a:rPr>
              <a:t>(), </a:t>
            </a:r>
            <a:r>
              <a:rPr lang="en-US" altLang="zh-TW" sz="1800" dirty="0" err="1">
                <a:solidFill>
                  <a:srgbClr val="BCBEC4"/>
                </a:solidFill>
                <a:effectLst/>
                <a:latin typeface="JetBrains Mono"/>
              </a:rPr>
              <a:t>transforms.Normalize</a:t>
            </a:r>
            <a:r>
              <a:rPr lang="en-US" altLang="zh-TW" sz="1800" dirty="0">
                <a:solidFill>
                  <a:srgbClr val="BCBEC4"/>
                </a:solidFill>
                <a:effectLst/>
                <a:latin typeface="JetBrains Mono"/>
              </a:rPr>
              <a:t>((</a:t>
            </a:r>
            <a:r>
              <a:rPr lang="en-US" altLang="zh-TW" sz="1800" dirty="0">
                <a:solidFill>
                  <a:srgbClr val="2AACB8"/>
                </a:solidFill>
                <a:effectLst/>
                <a:latin typeface="JetBrains Mono"/>
              </a:rPr>
              <a:t>0.5</a:t>
            </a:r>
            <a:r>
              <a:rPr lang="en-US" altLang="zh-TW" sz="1800" dirty="0">
                <a:solidFill>
                  <a:srgbClr val="BCBEC4"/>
                </a:solidFill>
                <a:effectLst/>
                <a:latin typeface="JetBrains Mono"/>
              </a:rPr>
              <a:t>, </a:t>
            </a:r>
            <a:r>
              <a:rPr lang="en-US" altLang="zh-TW" sz="1800" dirty="0">
                <a:solidFill>
                  <a:srgbClr val="2AACB8"/>
                </a:solidFill>
                <a:effectLst/>
                <a:latin typeface="JetBrains Mono"/>
              </a:rPr>
              <a:t>0.5</a:t>
            </a:r>
            <a:r>
              <a:rPr lang="en-US" altLang="zh-TW" sz="1800" dirty="0">
                <a:solidFill>
                  <a:srgbClr val="BCBEC4"/>
                </a:solidFill>
                <a:effectLst/>
                <a:latin typeface="JetBrains Mono"/>
              </a:rPr>
              <a:t>, </a:t>
            </a:r>
            <a:r>
              <a:rPr lang="en-US" altLang="zh-TW" sz="1800" dirty="0">
                <a:solidFill>
                  <a:srgbClr val="2AACB8"/>
                </a:solidFill>
                <a:effectLst/>
                <a:latin typeface="JetBrains Mono"/>
              </a:rPr>
              <a:t>0.5</a:t>
            </a:r>
            <a:r>
              <a:rPr lang="en-US" altLang="zh-TW" sz="1800" dirty="0">
                <a:solidFill>
                  <a:srgbClr val="BCBEC4"/>
                </a:solidFill>
                <a:effectLst/>
                <a:latin typeface="JetBrains Mono"/>
              </a:rPr>
              <a:t>), (</a:t>
            </a:r>
            <a:r>
              <a:rPr lang="en-US" altLang="zh-TW" sz="1800" dirty="0">
                <a:solidFill>
                  <a:srgbClr val="2AACB8"/>
                </a:solidFill>
                <a:effectLst/>
                <a:latin typeface="JetBrains Mono"/>
              </a:rPr>
              <a:t>0.5</a:t>
            </a:r>
            <a:r>
              <a:rPr lang="en-US" altLang="zh-TW" sz="1800" dirty="0">
                <a:solidFill>
                  <a:srgbClr val="BCBEC4"/>
                </a:solidFill>
                <a:effectLst/>
                <a:latin typeface="JetBrains Mono"/>
              </a:rPr>
              <a:t>, </a:t>
            </a:r>
            <a:r>
              <a:rPr lang="en-US" altLang="zh-TW" sz="1800" dirty="0">
                <a:solidFill>
                  <a:srgbClr val="2AACB8"/>
                </a:solidFill>
                <a:effectLst/>
                <a:latin typeface="JetBrains Mono"/>
              </a:rPr>
              <a:t>0.5</a:t>
            </a:r>
            <a:r>
              <a:rPr lang="en-US" altLang="zh-TW" sz="1800" dirty="0">
                <a:solidFill>
                  <a:srgbClr val="BCBEC4"/>
                </a:solidFill>
                <a:effectLst/>
                <a:latin typeface="JetBrains Mono"/>
              </a:rPr>
              <a:t>, </a:t>
            </a:r>
            <a:r>
              <a:rPr lang="en-US" altLang="zh-TW" sz="1800" dirty="0">
                <a:solidFill>
                  <a:srgbClr val="2AACB8"/>
                </a:solidFill>
                <a:effectLst/>
                <a:latin typeface="JetBrains Mono"/>
              </a:rPr>
              <a:t>0.5</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err="1">
                <a:solidFill>
                  <a:srgbClr val="BCBEC4"/>
                </a:solidFill>
                <a:effectLst/>
                <a:latin typeface="JetBrains Mono"/>
              </a:rPr>
              <a:t>batch_size</a:t>
            </a:r>
            <a:r>
              <a:rPr lang="en-US" altLang="zh-TW" sz="1800" dirty="0">
                <a:solidFill>
                  <a:srgbClr val="BCBEC4"/>
                </a:solidFill>
                <a:effectLst/>
                <a:latin typeface="JetBrains Mono"/>
              </a:rPr>
              <a:t> = </a:t>
            </a:r>
            <a:r>
              <a:rPr lang="en-US" altLang="zh-TW" sz="1800" dirty="0">
                <a:solidFill>
                  <a:srgbClr val="2AACB8"/>
                </a:solidFill>
                <a:effectLst/>
                <a:latin typeface="JetBrains Mono"/>
              </a:rPr>
              <a:t>4</a:t>
            </a:r>
            <a:br>
              <a:rPr lang="en-US" altLang="zh-TW" sz="1800" dirty="0">
                <a:solidFill>
                  <a:srgbClr val="2AACB8"/>
                </a:solidFill>
                <a:effectLst/>
                <a:latin typeface="JetBrains Mono"/>
              </a:rPr>
            </a:br>
            <a:br>
              <a:rPr lang="en-US" altLang="zh-TW" sz="1800" dirty="0">
                <a:solidFill>
                  <a:srgbClr val="2AACB8"/>
                </a:solidFill>
                <a:effectLst/>
                <a:latin typeface="JetBrains Mono"/>
              </a:rPr>
            </a:br>
            <a:r>
              <a:rPr lang="en-US" altLang="zh-TW" sz="1800" dirty="0">
                <a:solidFill>
                  <a:srgbClr val="BCBEC4"/>
                </a:solidFill>
                <a:effectLst/>
                <a:latin typeface="JetBrains Mono"/>
              </a:rPr>
              <a:t>trainset = torchvision.datasets.CIFAR10(</a:t>
            </a:r>
            <a:r>
              <a:rPr lang="en-US" altLang="zh-TW" sz="1800" dirty="0">
                <a:solidFill>
                  <a:srgbClr val="AA4926"/>
                </a:solidFill>
                <a:effectLst/>
                <a:latin typeface="JetBrains Mono"/>
              </a:rPr>
              <a:t>root</a:t>
            </a:r>
            <a:r>
              <a:rPr lang="en-US" altLang="zh-TW" sz="1800" dirty="0">
                <a:solidFill>
                  <a:srgbClr val="BCBEC4"/>
                </a:solidFill>
                <a:effectLst/>
                <a:latin typeface="JetBrains Mono"/>
              </a:rPr>
              <a:t>=</a:t>
            </a:r>
            <a:r>
              <a:rPr lang="en-US" altLang="zh-TW" sz="1800" dirty="0">
                <a:solidFill>
                  <a:srgbClr val="6AAB73"/>
                </a:solidFill>
                <a:effectLst/>
                <a:latin typeface="JetBrains Mono"/>
              </a:rPr>
              <a:t>'../data'</a:t>
            </a:r>
            <a:r>
              <a:rPr lang="en-US" altLang="zh-TW" sz="1800" dirty="0">
                <a:solidFill>
                  <a:srgbClr val="BCBEC4"/>
                </a:solidFill>
                <a:effectLst/>
                <a:latin typeface="JetBrains Mono"/>
              </a:rPr>
              <a:t>, </a:t>
            </a:r>
            <a:r>
              <a:rPr lang="en-US" altLang="zh-TW" sz="1800" dirty="0">
                <a:solidFill>
                  <a:srgbClr val="AA4926"/>
                </a:solidFill>
                <a:effectLst/>
                <a:latin typeface="JetBrains Mono"/>
              </a:rPr>
              <a:t>train</a:t>
            </a:r>
            <a:r>
              <a:rPr lang="en-US" altLang="zh-TW" sz="1800" dirty="0">
                <a:solidFill>
                  <a:srgbClr val="BCBEC4"/>
                </a:solidFill>
                <a:effectLst/>
                <a:latin typeface="JetBrains Mono"/>
              </a:rPr>
              <a:t>=</a:t>
            </a:r>
            <a:r>
              <a:rPr lang="en-US" altLang="zh-TW" sz="1800" dirty="0">
                <a:solidFill>
                  <a:srgbClr val="CF8E6D"/>
                </a:solidFill>
                <a:effectLst/>
                <a:latin typeface="JetBrains Mono"/>
              </a:rPr>
              <a:t>True</a:t>
            </a:r>
            <a:r>
              <a:rPr lang="en-US" altLang="zh-TW" sz="1800" dirty="0">
                <a:solidFill>
                  <a:srgbClr val="BCBEC4"/>
                </a:solidFill>
                <a:effectLst/>
                <a:latin typeface="JetBrains Mono"/>
              </a:rPr>
              <a:t>, </a:t>
            </a:r>
            <a:r>
              <a:rPr lang="en-US" altLang="zh-TW" sz="1800" dirty="0">
                <a:solidFill>
                  <a:srgbClr val="AA4926"/>
                </a:solidFill>
                <a:effectLst/>
                <a:latin typeface="JetBrains Mono"/>
              </a:rPr>
              <a:t>download</a:t>
            </a:r>
            <a:r>
              <a:rPr lang="en-US" altLang="zh-TW" sz="1800" dirty="0">
                <a:solidFill>
                  <a:srgbClr val="BCBEC4"/>
                </a:solidFill>
                <a:effectLst/>
                <a:latin typeface="JetBrains Mono"/>
              </a:rPr>
              <a:t>=</a:t>
            </a:r>
            <a:r>
              <a:rPr lang="en-US" altLang="zh-TW" sz="1800" dirty="0">
                <a:solidFill>
                  <a:srgbClr val="CF8E6D"/>
                </a:solidFill>
                <a:effectLst/>
                <a:latin typeface="JetBrains Mono"/>
              </a:rPr>
              <a:t>True</a:t>
            </a:r>
            <a:r>
              <a:rPr lang="en-US" altLang="zh-TW" sz="1800" dirty="0">
                <a:solidFill>
                  <a:srgbClr val="BCBEC4"/>
                </a:solidFill>
                <a:effectLst/>
                <a:latin typeface="JetBrains Mono"/>
              </a:rPr>
              <a:t>, </a:t>
            </a:r>
            <a:r>
              <a:rPr lang="en-US" altLang="zh-TW" sz="1800" dirty="0">
                <a:solidFill>
                  <a:srgbClr val="AA4926"/>
                </a:solidFill>
                <a:effectLst/>
                <a:latin typeface="JetBrains Mono"/>
              </a:rPr>
              <a:t>transform</a:t>
            </a:r>
            <a:r>
              <a:rPr lang="en-US" altLang="zh-TW" sz="1800" dirty="0">
                <a:solidFill>
                  <a:srgbClr val="BCBEC4"/>
                </a:solidFill>
                <a:effectLst/>
                <a:latin typeface="JetBrains Mono"/>
              </a:rPr>
              <a:t>=transform)</a:t>
            </a:r>
            <a:br>
              <a:rPr lang="en-US" altLang="zh-TW" sz="1800" dirty="0">
                <a:solidFill>
                  <a:srgbClr val="BCBEC4"/>
                </a:solidFill>
                <a:effectLst/>
                <a:latin typeface="JetBrains Mono"/>
              </a:rPr>
            </a:br>
            <a:r>
              <a:rPr lang="en-US" altLang="zh-TW" sz="1800" dirty="0" err="1">
                <a:solidFill>
                  <a:srgbClr val="BCBEC4"/>
                </a:solidFill>
                <a:effectLst/>
                <a:latin typeface="JetBrains Mono"/>
              </a:rPr>
              <a:t>trainloader</a:t>
            </a:r>
            <a:r>
              <a:rPr lang="en-US" altLang="zh-TW" sz="1800" dirty="0">
                <a:solidFill>
                  <a:srgbClr val="BCBEC4"/>
                </a:solidFill>
                <a:effectLst/>
                <a:latin typeface="JetBrains Mono"/>
              </a:rPr>
              <a:t> = </a:t>
            </a:r>
            <a:r>
              <a:rPr lang="en-US" altLang="zh-TW" sz="1800" dirty="0" err="1">
                <a:solidFill>
                  <a:srgbClr val="BCBEC4"/>
                </a:solidFill>
                <a:effectLst/>
                <a:latin typeface="JetBrains Mono"/>
              </a:rPr>
              <a:t>torch.utils.data.DataLoader</a:t>
            </a:r>
            <a:r>
              <a:rPr lang="en-US" altLang="zh-TW" sz="1800" dirty="0">
                <a:solidFill>
                  <a:srgbClr val="BCBEC4"/>
                </a:solidFill>
                <a:effectLst/>
                <a:latin typeface="JetBrains Mono"/>
              </a:rPr>
              <a:t>(trainset, </a:t>
            </a:r>
            <a:r>
              <a:rPr lang="en-US" altLang="zh-TW" sz="1800" dirty="0" err="1">
                <a:solidFill>
                  <a:srgbClr val="AA4926"/>
                </a:solidFill>
                <a:effectLst/>
                <a:latin typeface="JetBrains Mono"/>
              </a:rPr>
              <a:t>batch_size</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batch_size</a:t>
            </a:r>
            <a:r>
              <a:rPr lang="en-US" altLang="zh-TW" sz="1800" dirty="0">
                <a:solidFill>
                  <a:srgbClr val="BCBEC4"/>
                </a:solidFill>
                <a:effectLst/>
                <a:latin typeface="JetBrains Mono"/>
              </a:rPr>
              <a:t>, </a:t>
            </a:r>
            <a:r>
              <a:rPr lang="en-US" altLang="zh-TW" sz="1800" dirty="0">
                <a:solidFill>
                  <a:srgbClr val="AA4926"/>
                </a:solidFill>
                <a:effectLst/>
                <a:latin typeface="JetBrains Mono"/>
              </a:rPr>
              <a:t>shuffle</a:t>
            </a:r>
            <a:r>
              <a:rPr lang="en-US" altLang="zh-TW" sz="1800" dirty="0">
                <a:solidFill>
                  <a:srgbClr val="BCBEC4"/>
                </a:solidFill>
                <a:effectLst/>
                <a:latin typeface="JetBrains Mono"/>
              </a:rPr>
              <a:t>=</a:t>
            </a:r>
            <a:r>
              <a:rPr lang="en-US" altLang="zh-TW" sz="1800" dirty="0">
                <a:solidFill>
                  <a:srgbClr val="CF8E6D"/>
                </a:solidFill>
                <a:effectLst/>
                <a:latin typeface="JetBrains Mono"/>
              </a:rPr>
              <a:t>True</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BCBEC4"/>
                </a:solidFill>
                <a:effectLst/>
                <a:latin typeface="JetBrains Mono"/>
              </a:rPr>
              <a:t>device = </a:t>
            </a:r>
            <a:r>
              <a:rPr lang="en-US" altLang="zh-TW" sz="1800" dirty="0">
                <a:solidFill>
                  <a:srgbClr val="6AAB73"/>
                </a:solidFill>
                <a:effectLst/>
                <a:latin typeface="JetBrains Mono"/>
              </a:rPr>
              <a:t>"</a:t>
            </a:r>
            <a:r>
              <a:rPr lang="en-US" altLang="zh-TW" sz="1800" dirty="0" err="1">
                <a:solidFill>
                  <a:srgbClr val="6AAB73"/>
                </a:solidFill>
                <a:effectLst/>
                <a:latin typeface="JetBrains Mono"/>
              </a:rPr>
              <a:t>cuda</a:t>
            </a:r>
            <a:r>
              <a:rPr lang="en-US" altLang="zh-TW" sz="1800" dirty="0">
                <a:solidFill>
                  <a:srgbClr val="6AAB73"/>
                </a:solidFill>
                <a:effectLst/>
                <a:latin typeface="JetBrains Mono"/>
              </a:rPr>
              <a:t>"  </a:t>
            </a:r>
            <a:r>
              <a:rPr lang="en-US" altLang="zh-TW" sz="1800" dirty="0">
                <a:solidFill>
                  <a:srgbClr val="CF8E6D"/>
                </a:solidFill>
                <a:effectLst/>
                <a:latin typeface="JetBrains Mono"/>
              </a:rPr>
              <a:t>if </a:t>
            </a:r>
            <a:r>
              <a:rPr lang="en-US" altLang="zh-TW" sz="1800" dirty="0" err="1">
                <a:solidFill>
                  <a:srgbClr val="BCBEC4"/>
                </a:solidFill>
                <a:effectLst/>
                <a:latin typeface="JetBrains Mono"/>
              </a:rPr>
              <a:t>torch.cuda.is_available</a:t>
            </a:r>
            <a:r>
              <a:rPr lang="en-US" altLang="zh-TW" sz="1800" dirty="0">
                <a:solidFill>
                  <a:srgbClr val="BCBEC4"/>
                </a:solidFill>
                <a:effectLst/>
                <a:latin typeface="JetBrains Mono"/>
              </a:rPr>
              <a:t>() </a:t>
            </a:r>
            <a:r>
              <a:rPr lang="en-US" altLang="zh-TW" sz="1800" dirty="0">
                <a:solidFill>
                  <a:srgbClr val="CF8E6D"/>
                </a:solidFill>
                <a:effectLst/>
                <a:latin typeface="JetBrains Mono"/>
              </a:rPr>
              <a:t>else </a:t>
            </a:r>
            <a:r>
              <a:rPr lang="en-US" altLang="zh-TW" sz="1800" dirty="0">
                <a:solidFill>
                  <a:srgbClr val="6AAB73"/>
                </a:solidFill>
                <a:effectLst/>
                <a:latin typeface="JetBrains Mono"/>
              </a:rPr>
              <a:t>"</a:t>
            </a:r>
            <a:r>
              <a:rPr lang="en-US" altLang="zh-TW" sz="1800" dirty="0" err="1">
                <a:solidFill>
                  <a:srgbClr val="6AAB73"/>
                </a:solidFill>
                <a:effectLst/>
                <a:latin typeface="JetBrains Mono"/>
              </a:rPr>
              <a:t>cpu</a:t>
            </a:r>
            <a:r>
              <a:rPr lang="en-US" altLang="zh-TW" sz="1800" dirty="0">
                <a:solidFill>
                  <a:srgbClr val="6AAB73"/>
                </a:solidFill>
                <a:effectLst/>
                <a:latin typeface="JetBrains Mono"/>
              </a:rPr>
              <a:t>"</a:t>
            </a:r>
            <a:br>
              <a:rPr lang="en-US" altLang="zh-TW" sz="1800" dirty="0">
                <a:solidFill>
                  <a:srgbClr val="6AAB73"/>
                </a:solidFill>
                <a:effectLst/>
                <a:latin typeface="JetBrains Mono"/>
              </a:rPr>
            </a:br>
            <a:r>
              <a:rPr lang="en-US" altLang="zh-TW" sz="1800" dirty="0">
                <a:solidFill>
                  <a:srgbClr val="8888C6"/>
                </a:solidFill>
                <a:effectLst/>
                <a:latin typeface="JetBrains Mono"/>
              </a:rPr>
              <a:t>print</a:t>
            </a:r>
            <a:r>
              <a:rPr lang="en-US" altLang="zh-TW" sz="1800" dirty="0">
                <a:solidFill>
                  <a:srgbClr val="BCBEC4"/>
                </a:solidFill>
                <a:effectLst/>
                <a:latin typeface="JetBrains Mono"/>
              </a:rPr>
              <a:t>(</a:t>
            </a:r>
            <a:r>
              <a:rPr lang="en-US" altLang="zh-TW" sz="1800" dirty="0">
                <a:solidFill>
                  <a:srgbClr val="6AAB73"/>
                </a:solidFill>
                <a:effectLst/>
                <a:latin typeface="JetBrains Mono"/>
              </a:rPr>
              <a:t>'Using {} </a:t>
            </a:r>
            <a:r>
              <a:rPr lang="en-US" altLang="zh-TW" sz="1800" dirty="0" err="1">
                <a:solidFill>
                  <a:srgbClr val="6AAB73"/>
                </a:solidFill>
                <a:effectLst/>
                <a:latin typeface="JetBrains Mono"/>
              </a:rPr>
              <a:t>device'</a:t>
            </a:r>
            <a:r>
              <a:rPr lang="en-US" altLang="zh-TW" sz="1800" dirty="0" err="1">
                <a:solidFill>
                  <a:srgbClr val="BCBEC4"/>
                </a:solidFill>
                <a:effectLst/>
                <a:latin typeface="JetBrains Mono"/>
              </a:rPr>
              <a:t>.format</a:t>
            </a:r>
            <a:r>
              <a:rPr lang="en-US" altLang="zh-TW" sz="1800" dirty="0">
                <a:solidFill>
                  <a:srgbClr val="BCBEC4"/>
                </a:solidFill>
                <a:effectLst/>
                <a:latin typeface="JetBrains Mono"/>
              </a:rPr>
              <a:t>(device))</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CF8E6D"/>
                </a:solidFill>
                <a:effectLst/>
                <a:latin typeface="JetBrains Mono"/>
              </a:rPr>
              <a:t>class </a:t>
            </a:r>
            <a:r>
              <a:rPr lang="en-US" altLang="zh-TW" sz="1800" dirty="0">
                <a:solidFill>
                  <a:srgbClr val="BCBEC4"/>
                </a:solidFill>
                <a:effectLst/>
                <a:latin typeface="JetBrains Mono"/>
              </a:rPr>
              <a:t>LeNet5(</a:t>
            </a:r>
            <a:r>
              <a:rPr lang="en-US" altLang="zh-TW" sz="1800" dirty="0" err="1">
                <a:solidFill>
                  <a:srgbClr val="BCBEC4"/>
                </a:solidFill>
                <a:effectLst/>
                <a:latin typeface="JetBrains Mono"/>
              </a:rPr>
              <a:t>nn.Module</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CF8E6D"/>
                </a:solidFill>
                <a:effectLst/>
                <a:latin typeface="JetBrains Mono"/>
              </a:rPr>
              <a:t>def </a:t>
            </a:r>
            <a:r>
              <a:rPr lang="en-US" altLang="zh-TW" sz="1800" dirty="0">
                <a:solidFill>
                  <a:srgbClr val="B200B2"/>
                </a:solidFill>
                <a:effectLst/>
                <a:latin typeface="JetBrains Mono"/>
              </a:rPr>
              <a:t>__</a:t>
            </a:r>
            <a:r>
              <a:rPr lang="en-US" altLang="zh-TW" sz="1800" dirty="0" err="1">
                <a:solidFill>
                  <a:srgbClr val="B200B2"/>
                </a:solidFill>
                <a:effectLst/>
                <a:latin typeface="JetBrains Mono"/>
              </a:rPr>
              <a:t>init</a:t>
            </a:r>
            <a:r>
              <a:rPr lang="en-US" altLang="zh-TW" sz="1800" dirty="0">
                <a:solidFill>
                  <a:srgbClr val="B200B2"/>
                </a:solidFill>
                <a:effectLst/>
                <a:latin typeface="JetBrains Mono"/>
              </a:rPr>
              <a:t>__</a:t>
            </a:r>
            <a:r>
              <a:rPr lang="en-US" altLang="zh-TW" sz="1800" dirty="0">
                <a:solidFill>
                  <a:srgbClr val="BCBEC4"/>
                </a:solidFill>
                <a:effectLst/>
                <a:latin typeface="JetBrains Mono"/>
              </a:rPr>
              <a:t>(</a:t>
            </a:r>
            <a:r>
              <a:rPr lang="en-US" altLang="zh-TW" sz="1800" dirty="0">
                <a:solidFill>
                  <a:srgbClr val="94558D"/>
                </a:solidFill>
                <a:effectLst/>
                <a:latin typeface="JetBrains Mono"/>
              </a:rPr>
              <a:t>self</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8888C6"/>
                </a:solidFill>
                <a:effectLst/>
                <a:latin typeface="JetBrains Mono"/>
              </a:rPr>
              <a:t>super</a:t>
            </a:r>
            <a:r>
              <a:rPr lang="en-US" altLang="zh-TW" sz="1800" dirty="0">
                <a:solidFill>
                  <a:srgbClr val="BCBEC4"/>
                </a:solidFill>
                <a:effectLst/>
                <a:latin typeface="JetBrains Mono"/>
              </a:rPr>
              <a:t>().</a:t>
            </a:r>
            <a:r>
              <a:rPr lang="en-US" altLang="zh-TW" sz="1800" dirty="0">
                <a:solidFill>
                  <a:srgbClr val="B200B2"/>
                </a:solidFill>
                <a:effectLst/>
                <a:latin typeface="JetBrains Mono"/>
              </a:rPr>
              <a:t>__</a:t>
            </a:r>
            <a:r>
              <a:rPr lang="en-US" altLang="zh-TW" sz="1800" dirty="0" err="1">
                <a:solidFill>
                  <a:srgbClr val="B200B2"/>
                </a:solidFill>
                <a:effectLst/>
                <a:latin typeface="JetBrains Mono"/>
              </a:rPr>
              <a:t>init</a:t>
            </a:r>
            <a:r>
              <a:rPr lang="en-US" altLang="zh-TW" sz="1800" dirty="0">
                <a:solidFill>
                  <a:srgbClr val="B200B2"/>
                </a:solidFill>
                <a:effectLst/>
                <a:latin typeface="JetBrains Mono"/>
              </a:rPr>
              <a:t>__</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94558D"/>
                </a:solidFill>
                <a:effectLst/>
                <a:latin typeface="JetBrains Mono"/>
              </a:rPr>
              <a:t>self</a:t>
            </a:r>
            <a:r>
              <a:rPr lang="en-US" altLang="zh-TW" sz="1800" dirty="0">
                <a:solidFill>
                  <a:srgbClr val="BCBEC4"/>
                </a:solidFill>
                <a:effectLst/>
                <a:latin typeface="JetBrains Mono"/>
              </a:rPr>
              <a:t>.conv1 = nn.Conv2d(</a:t>
            </a:r>
            <a:r>
              <a:rPr lang="en-US" altLang="zh-TW" sz="1800" dirty="0">
                <a:solidFill>
                  <a:srgbClr val="2AACB8"/>
                </a:solidFill>
                <a:effectLst/>
                <a:latin typeface="JetBrains Mono"/>
              </a:rPr>
              <a:t>3</a:t>
            </a:r>
            <a:r>
              <a:rPr lang="en-US" altLang="zh-TW" sz="1800" dirty="0">
                <a:solidFill>
                  <a:srgbClr val="BCBEC4"/>
                </a:solidFill>
                <a:effectLst/>
                <a:latin typeface="JetBrains Mono"/>
              </a:rPr>
              <a:t>, </a:t>
            </a:r>
            <a:r>
              <a:rPr lang="en-US" altLang="zh-TW" sz="1800" dirty="0">
                <a:solidFill>
                  <a:srgbClr val="2AACB8"/>
                </a:solidFill>
                <a:effectLst/>
                <a:latin typeface="JetBrains Mono"/>
              </a:rPr>
              <a:t>6</a:t>
            </a:r>
            <a:r>
              <a:rPr lang="en-US" altLang="zh-TW" sz="1800" dirty="0">
                <a:solidFill>
                  <a:srgbClr val="BCBEC4"/>
                </a:solidFill>
                <a:effectLst/>
                <a:latin typeface="JetBrains Mono"/>
              </a:rPr>
              <a:t>, </a:t>
            </a:r>
            <a:r>
              <a:rPr lang="en-US" altLang="zh-TW" sz="1800" dirty="0">
                <a:solidFill>
                  <a:srgbClr val="2AACB8"/>
                </a:solidFill>
                <a:effectLst/>
                <a:latin typeface="JetBrains Mono"/>
              </a:rPr>
              <a:t>5</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94558D"/>
                </a:solidFill>
                <a:effectLst/>
                <a:latin typeface="JetBrains Mono"/>
              </a:rPr>
              <a:t>self</a:t>
            </a:r>
            <a:r>
              <a:rPr lang="en-US" altLang="zh-TW" sz="1800" dirty="0" err="1">
                <a:solidFill>
                  <a:srgbClr val="BCBEC4"/>
                </a:solidFill>
                <a:effectLst/>
                <a:latin typeface="JetBrains Mono"/>
              </a:rPr>
              <a:t>.pool</a:t>
            </a:r>
            <a:r>
              <a:rPr lang="en-US" altLang="zh-TW" sz="1800" dirty="0">
                <a:solidFill>
                  <a:srgbClr val="BCBEC4"/>
                </a:solidFill>
                <a:effectLst/>
                <a:latin typeface="JetBrains Mono"/>
              </a:rPr>
              <a:t> = nn.MaxPool2d(</a:t>
            </a:r>
            <a:r>
              <a:rPr lang="en-US" altLang="zh-TW" sz="1800" dirty="0">
                <a:solidFill>
                  <a:srgbClr val="2AACB8"/>
                </a:solidFill>
                <a:effectLst/>
                <a:latin typeface="JetBrains Mono"/>
              </a:rPr>
              <a:t>2</a:t>
            </a:r>
            <a:r>
              <a:rPr lang="en-US" altLang="zh-TW" sz="1800" dirty="0">
                <a:solidFill>
                  <a:srgbClr val="BCBEC4"/>
                </a:solidFill>
                <a:effectLst/>
                <a:latin typeface="JetBrains Mono"/>
              </a:rPr>
              <a:t>, </a:t>
            </a:r>
            <a:r>
              <a:rPr lang="en-US" altLang="zh-TW" sz="1800" dirty="0">
                <a:solidFill>
                  <a:srgbClr val="2AACB8"/>
                </a:solidFill>
                <a:effectLst/>
                <a:latin typeface="JetBrains Mono"/>
              </a:rPr>
              <a:t>2</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94558D"/>
                </a:solidFill>
                <a:effectLst/>
                <a:latin typeface="JetBrains Mono"/>
              </a:rPr>
              <a:t>self</a:t>
            </a:r>
            <a:r>
              <a:rPr lang="en-US" altLang="zh-TW" sz="1800" dirty="0">
                <a:solidFill>
                  <a:srgbClr val="BCBEC4"/>
                </a:solidFill>
                <a:effectLst/>
                <a:latin typeface="JetBrains Mono"/>
              </a:rPr>
              <a:t>.conv2 = nn.Conv2d(</a:t>
            </a:r>
            <a:r>
              <a:rPr lang="en-US" altLang="zh-TW" sz="1800" dirty="0">
                <a:solidFill>
                  <a:srgbClr val="2AACB8"/>
                </a:solidFill>
                <a:effectLst/>
                <a:latin typeface="JetBrains Mono"/>
              </a:rPr>
              <a:t>6</a:t>
            </a:r>
            <a:r>
              <a:rPr lang="en-US" altLang="zh-TW" sz="1800" dirty="0">
                <a:solidFill>
                  <a:srgbClr val="BCBEC4"/>
                </a:solidFill>
                <a:effectLst/>
                <a:latin typeface="JetBrains Mono"/>
              </a:rPr>
              <a:t>, </a:t>
            </a:r>
            <a:r>
              <a:rPr lang="en-US" altLang="zh-TW" sz="1800" dirty="0">
                <a:solidFill>
                  <a:srgbClr val="2AACB8"/>
                </a:solidFill>
                <a:effectLst/>
                <a:latin typeface="JetBrains Mono"/>
              </a:rPr>
              <a:t>16</a:t>
            </a:r>
            <a:r>
              <a:rPr lang="en-US" altLang="zh-TW" sz="1800" dirty="0">
                <a:solidFill>
                  <a:srgbClr val="BCBEC4"/>
                </a:solidFill>
                <a:effectLst/>
                <a:latin typeface="JetBrains Mono"/>
              </a:rPr>
              <a:t>, </a:t>
            </a:r>
            <a:r>
              <a:rPr lang="en-US" altLang="zh-TW" sz="1800" dirty="0">
                <a:solidFill>
                  <a:srgbClr val="2AACB8"/>
                </a:solidFill>
                <a:effectLst/>
                <a:latin typeface="JetBrains Mono"/>
              </a:rPr>
              <a:t>5</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94558D"/>
                </a:solidFill>
                <a:effectLst/>
                <a:latin typeface="JetBrains Mono"/>
              </a:rPr>
              <a:t>self</a:t>
            </a:r>
            <a:r>
              <a:rPr lang="en-US" altLang="zh-TW" sz="1800" dirty="0">
                <a:solidFill>
                  <a:srgbClr val="BCBEC4"/>
                </a:solidFill>
                <a:effectLst/>
                <a:latin typeface="JetBrains Mono"/>
              </a:rPr>
              <a:t>.fc1 = </a:t>
            </a:r>
            <a:r>
              <a:rPr lang="en-US" altLang="zh-TW" sz="1800" dirty="0" err="1">
                <a:solidFill>
                  <a:srgbClr val="BCBEC4"/>
                </a:solidFill>
                <a:effectLst/>
                <a:latin typeface="JetBrains Mono"/>
              </a:rPr>
              <a:t>nn.Linear</a:t>
            </a:r>
            <a:r>
              <a:rPr lang="en-US" altLang="zh-TW" sz="1800" dirty="0">
                <a:solidFill>
                  <a:srgbClr val="BCBEC4"/>
                </a:solidFill>
                <a:effectLst/>
                <a:latin typeface="JetBrains Mono"/>
              </a:rPr>
              <a:t>(</a:t>
            </a:r>
            <a:r>
              <a:rPr lang="en-US" altLang="zh-TW" sz="1800" dirty="0">
                <a:solidFill>
                  <a:srgbClr val="2AACB8"/>
                </a:solidFill>
                <a:effectLst/>
                <a:latin typeface="JetBrains Mono"/>
              </a:rPr>
              <a:t>16 </a:t>
            </a:r>
            <a:r>
              <a:rPr lang="en-US" altLang="zh-TW" sz="1800" dirty="0">
                <a:solidFill>
                  <a:srgbClr val="BCBEC4"/>
                </a:solidFill>
                <a:effectLst/>
                <a:latin typeface="JetBrains Mono"/>
              </a:rPr>
              <a:t>* </a:t>
            </a:r>
            <a:r>
              <a:rPr lang="en-US" altLang="zh-TW" sz="1800" dirty="0">
                <a:solidFill>
                  <a:srgbClr val="2AACB8"/>
                </a:solidFill>
                <a:effectLst/>
                <a:latin typeface="JetBrains Mono"/>
              </a:rPr>
              <a:t>5 </a:t>
            </a:r>
            <a:r>
              <a:rPr lang="en-US" altLang="zh-TW" sz="1800" dirty="0">
                <a:solidFill>
                  <a:srgbClr val="BCBEC4"/>
                </a:solidFill>
                <a:effectLst/>
                <a:latin typeface="JetBrains Mono"/>
              </a:rPr>
              <a:t>* </a:t>
            </a:r>
            <a:r>
              <a:rPr lang="en-US" altLang="zh-TW" sz="1800" dirty="0">
                <a:solidFill>
                  <a:srgbClr val="2AACB8"/>
                </a:solidFill>
                <a:effectLst/>
                <a:latin typeface="JetBrains Mono"/>
              </a:rPr>
              <a:t>5</a:t>
            </a:r>
            <a:r>
              <a:rPr lang="en-US" altLang="zh-TW" sz="1800" dirty="0">
                <a:solidFill>
                  <a:srgbClr val="BCBEC4"/>
                </a:solidFill>
                <a:effectLst/>
                <a:latin typeface="JetBrains Mono"/>
              </a:rPr>
              <a:t>, </a:t>
            </a:r>
            <a:r>
              <a:rPr lang="en-US" altLang="zh-TW" sz="1800" dirty="0">
                <a:solidFill>
                  <a:srgbClr val="2AACB8"/>
                </a:solidFill>
                <a:effectLst/>
                <a:latin typeface="JetBrains Mono"/>
              </a:rPr>
              <a:t>120</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94558D"/>
                </a:solidFill>
                <a:effectLst/>
                <a:latin typeface="JetBrains Mono"/>
              </a:rPr>
              <a:t>self</a:t>
            </a:r>
            <a:r>
              <a:rPr lang="en-US" altLang="zh-TW" sz="1800" dirty="0">
                <a:solidFill>
                  <a:srgbClr val="BCBEC4"/>
                </a:solidFill>
                <a:effectLst/>
                <a:latin typeface="JetBrains Mono"/>
              </a:rPr>
              <a:t>.fc2 = </a:t>
            </a:r>
            <a:r>
              <a:rPr lang="en-US" altLang="zh-TW" sz="1800" dirty="0" err="1">
                <a:solidFill>
                  <a:srgbClr val="BCBEC4"/>
                </a:solidFill>
                <a:effectLst/>
                <a:latin typeface="JetBrains Mono"/>
              </a:rPr>
              <a:t>nn.Linear</a:t>
            </a:r>
            <a:r>
              <a:rPr lang="en-US" altLang="zh-TW" sz="1800" dirty="0">
                <a:solidFill>
                  <a:srgbClr val="BCBEC4"/>
                </a:solidFill>
                <a:effectLst/>
                <a:latin typeface="JetBrains Mono"/>
              </a:rPr>
              <a:t>(</a:t>
            </a:r>
            <a:r>
              <a:rPr lang="en-US" altLang="zh-TW" sz="1800" dirty="0">
                <a:solidFill>
                  <a:srgbClr val="2AACB8"/>
                </a:solidFill>
                <a:effectLst/>
                <a:latin typeface="JetBrains Mono"/>
              </a:rPr>
              <a:t>120</a:t>
            </a:r>
            <a:r>
              <a:rPr lang="en-US" altLang="zh-TW" sz="1800" dirty="0">
                <a:solidFill>
                  <a:srgbClr val="BCBEC4"/>
                </a:solidFill>
                <a:effectLst/>
                <a:latin typeface="JetBrains Mono"/>
              </a:rPr>
              <a:t>, </a:t>
            </a:r>
            <a:r>
              <a:rPr lang="en-US" altLang="zh-TW" sz="1800" dirty="0">
                <a:solidFill>
                  <a:srgbClr val="2AACB8"/>
                </a:solidFill>
                <a:effectLst/>
                <a:latin typeface="JetBrains Mono"/>
              </a:rPr>
              <a:t>84</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94558D"/>
                </a:solidFill>
                <a:effectLst/>
                <a:latin typeface="JetBrains Mono"/>
              </a:rPr>
              <a:t>self</a:t>
            </a:r>
            <a:r>
              <a:rPr lang="en-US" altLang="zh-TW" sz="1800" dirty="0">
                <a:solidFill>
                  <a:srgbClr val="BCBEC4"/>
                </a:solidFill>
                <a:effectLst/>
                <a:latin typeface="JetBrains Mono"/>
              </a:rPr>
              <a:t>.fc3 = </a:t>
            </a:r>
            <a:r>
              <a:rPr lang="en-US" altLang="zh-TW" sz="1800" dirty="0" err="1">
                <a:solidFill>
                  <a:srgbClr val="BCBEC4"/>
                </a:solidFill>
                <a:effectLst/>
                <a:latin typeface="JetBrains Mono"/>
              </a:rPr>
              <a:t>nn.Linear</a:t>
            </a:r>
            <a:r>
              <a:rPr lang="en-US" altLang="zh-TW" sz="1800" dirty="0">
                <a:solidFill>
                  <a:srgbClr val="BCBEC4"/>
                </a:solidFill>
                <a:effectLst/>
                <a:latin typeface="JetBrains Mono"/>
              </a:rPr>
              <a:t>(</a:t>
            </a:r>
            <a:r>
              <a:rPr lang="en-US" altLang="zh-TW" sz="1800" dirty="0">
                <a:solidFill>
                  <a:srgbClr val="2AACB8"/>
                </a:solidFill>
                <a:effectLst/>
                <a:latin typeface="JetBrains Mono"/>
              </a:rPr>
              <a:t>84</a:t>
            </a:r>
            <a:r>
              <a:rPr lang="en-US" altLang="zh-TW" sz="1800" dirty="0">
                <a:solidFill>
                  <a:srgbClr val="BCBEC4"/>
                </a:solidFill>
                <a:effectLst/>
                <a:latin typeface="JetBrains Mono"/>
              </a:rPr>
              <a:t>, </a:t>
            </a:r>
            <a:r>
              <a:rPr lang="en-US" altLang="zh-TW" sz="1800" dirty="0">
                <a:solidFill>
                  <a:srgbClr val="2AACB8"/>
                </a:solidFill>
                <a:effectLst/>
                <a:latin typeface="JetBrains Mono"/>
              </a:rPr>
              <a:t>10</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CF8E6D"/>
                </a:solidFill>
                <a:effectLst/>
                <a:latin typeface="JetBrains Mono"/>
              </a:rPr>
              <a:t>def </a:t>
            </a:r>
            <a:r>
              <a:rPr lang="en-US" altLang="zh-TW" sz="1800" dirty="0">
                <a:solidFill>
                  <a:srgbClr val="56A8F5"/>
                </a:solidFill>
                <a:effectLst/>
                <a:latin typeface="JetBrains Mono"/>
              </a:rPr>
              <a:t>forward</a:t>
            </a:r>
            <a:r>
              <a:rPr lang="en-US" altLang="zh-TW" sz="1800" dirty="0">
                <a:solidFill>
                  <a:srgbClr val="BCBEC4"/>
                </a:solidFill>
                <a:effectLst/>
                <a:latin typeface="JetBrains Mono"/>
              </a:rPr>
              <a:t>(</a:t>
            </a:r>
            <a:r>
              <a:rPr lang="en-US" altLang="zh-TW" sz="1800" dirty="0">
                <a:solidFill>
                  <a:srgbClr val="94558D"/>
                </a:solidFill>
                <a:effectLst/>
                <a:latin typeface="JetBrains Mono"/>
              </a:rPr>
              <a:t>self</a:t>
            </a:r>
            <a:r>
              <a:rPr lang="en-US" altLang="zh-TW" sz="1800" dirty="0">
                <a:solidFill>
                  <a:srgbClr val="BCBEC4"/>
                </a:solidFill>
                <a:effectLst/>
                <a:latin typeface="JetBrains Mono"/>
              </a:rPr>
              <a:t>, x):</a:t>
            </a:r>
            <a:br>
              <a:rPr lang="en-US" altLang="zh-TW" sz="1800" dirty="0">
                <a:solidFill>
                  <a:srgbClr val="BCBEC4"/>
                </a:solidFill>
                <a:effectLst/>
                <a:latin typeface="JetBrains Mono"/>
              </a:rPr>
            </a:br>
            <a:r>
              <a:rPr lang="en-US" altLang="zh-TW" sz="1800" dirty="0">
                <a:solidFill>
                  <a:srgbClr val="BCBEC4"/>
                </a:solidFill>
                <a:effectLst/>
                <a:latin typeface="JetBrains Mono"/>
              </a:rPr>
              <a:t>        x = </a:t>
            </a:r>
            <a:r>
              <a:rPr lang="en-US" altLang="zh-TW" sz="1800" dirty="0" err="1">
                <a:solidFill>
                  <a:srgbClr val="94558D"/>
                </a:solidFill>
                <a:effectLst/>
                <a:latin typeface="JetBrains Mono"/>
              </a:rPr>
              <a:t>self</a:t>
            </a:r>
            <a:r>
              <a:rPr lang="en-US" altLang="zh-TW" sz="1800" dirty="0" err="1">
                <a:solidFill>
                  <a:srgbClr val="BCBEC4"/>
                </a:solidFill>
                <a:effectLst/>
                <a:latin typeface="JetBrains Mono"/>
              </a:rPr>
              <a:t>.pool</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F.relu</a:t>
            </a:r>
            <a:r>
              <a:rPr lang="en-US" altLang="zh-TW" sz="1800" dirty="0">
                <a:solidFill>
                  <a:srgbClr val="BCBEC4"/>
                </a:solidFill>
                <a:effectLst/>
                <a:latin typeface="JetBrains Mono"/>
              </a:rPr>
              <a:t>(</a:t>
            </a:r>
            <a:r>
              <a:rPr lang="en-US" altLang="zh-TW" sz="1800" dirty="0">
                <a:solidFill>
                  <a:srgbClr val="94558D"/>
                </a:solidFill>
                <a:effectLst/>
                <a:latin typeface="JetBrains Mono"/>
              </a:rPr>
              <a:t>self</a:t>
            </a:r>
            <a:r>
              <a:rPr lang="en-US" altLang="zh-TW" sz="1800" dirty="0">
                <a:solidFill>
                  <a:srgbClr val="BCBEC4"/>
                </a:solidFill>
                <a:effectLst/>
                <a:latin typeface="JetBrains Mono"/>
              </a:rPr>
              <a:t>.conv1(x)))</a:t>
            </a:r>
            <a:br>
              <a:rPr lang="en-US" altLang="zh-TW" sz="1800" dirty="0">
                <a:solidFill>
                  <a:srgbClr val="BCBEC4"/>
                </a:solidFill>
                <a:effectLst/>
                <a:latin typeface="JetBrains Mono"/>
              </a:rPr>
            </a:br>
            <a:r>
              <a:rPr lang="en-US" altLang="zh-TW" sz="1800" dirty="0">
                <a:solidFill>
                  <a:srgbClr val="BCBEC4"/>
                </a:solidFill>
                <a:effectLst/>
                <a:latin typeface="JetBrains Mono"/>
              </a:rPr>
              <a:t>        x = </a:t>
            </a:r>
            <a:r>
              <a:rPr lang="en-US" altLang="zh-TW" sz="1800" dirty="0" err="1">
                <a:solidFill>
                  <a:srgbClr val="94558D"/>
                </a:solidFill>
                <a:effectLst/>
                <a:latin typeface="JetBrains Mono"/>
              </a:rPr>
              <a:t>self</a:t>
            </a:r>
            <a:r>
              <a:rPr lang="en-US" altLang="zh-TW" sz="1800" dirty="0" err="1">
                <a:solidFill>
                  <a:srgbClr val="BCBEC4"/>
                </a:solidFill>
                <a:effectLst/>
                <a:latin typeface="JetBrains Mono"/>
              </a:rPr>
              <a:t>.pool</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F.relu</a:t>
            </a:r>
            <a:r>
              <a:rPr lang="en-US" altLang="zh-TW" sz="1800" dirty="0">
                <a:solidFill>
                  <a:srgbClr val="BCBEC4"/>
                </a:solidFill>
                <a:effectLst/>
                <a:latin typeface="JetBrains Mono"/>
              </a:rPr>
              <a:t>(</a:t>
            </a:r>
            <a:r>
              <a:rPr lang="en-US" altLang="zh-TW" sz="1800" dirty="0">
                <a:solidFill>
                  <a:srgbClr val="94558D"/>
                </a:solidFill>
                <a:effectLst/>
                <a:latin typeface="JetBrains Mono"/>
              </a:rPr>
              <a:t>self</a:t>
            </a:r>
            <a:r>
              <a:rPr lang="en-US" altLang="zh-TW" sz="1800" dirty="0">
                <a:solidFill>
                  <a:srgbClr val="BCBEC4"/>
                </a:solidFill>
                <a:effectLst/>
                <a:latin typeface="JetBrains Mono"/>
              </a:rPr>
              <a:t>.conv2(x)))</a:t>
            </a:r>
            <a:br>
              <a:rPr lang="en-US" altLang="zh-TW" sz="1800" dirty="0">
                <a:solidFill>
                  <a:srgbClr val="BCBEC4"/>
                </a:solidFill>
                <a:effectLst/>
                <a:latin typeface="JetBrains Mono"/>
              </a:rPr>
            </a:br>
            <a:r>
              <a:rPr lang="en-US" altLang="zh-TW" sz="1800" dirty="0">
                <a:solidFill>
                  <a:srgbClr val="BCBEC4"/>
                </a:solidFill>
                <a:effectLst/>
                <a:latin typeface="JetBrains Mono"/>
              </a:rPr>
              <a:t>        x = </a:t>
            </a:r>
            <a:r>
              <a:rPr lang="en-US" altLang="zh-TW" sz="1800" dirty="0" err="1">
                <a:solidFill>
                  <a:srgbClr val="BCBEC4"/>
                </a:solidFill>
                <a:effectLst/>
                <a:latin typeface="JetBrains Mono"/>
              </a:rPr>
              <a:t>torch.flatten</a:t>
            </a:r>
            <a:r>
              <a:rPr lang="en-US" altLang="zh-TW" sz="1800" dirty="0">
                <a:solidFill>
                  <a:srgbClr val="BCBEC4"/>
                </a:solidFill>
                <a:effectLst/>
                <a:latin typeface="JetBrains Mono"/>
              </a:rPr>
              <a:t>(x, </a:t>
            </a:r>
            <a:r>
              <a:rPr lang="en-US" altLang="zh-TW" sz="1800" dirty="0">
                <a:solidFill>
                  <a:srgbClr val="2AACB8"/>
                </a:solidFill>
                <a:effectLst/>
                <a:latin typeface="JetBrains Mono"/>
              </a:rPr>
              <a:t>1</a:t>
            </a:r>
            <a:r>
              <a:rPr lang="en-US" altLang="zh-TW" sz="1800" dirty="0">
                <a:solidFill>
                  <a:srgbClr val="BCBEC4"/>
                </a:solidFill>
                <a:effectLst/>
                <a:latin typeface="JetBrains Mono"/>
              </a:rPr>
              <a:t>) </a:t>
            </a:r>
            <a:r>
              <a:rPr lang="en-US" altLang="zh-TW" sz="1800" dirty="0">
                <a:solidFill>
                  <a:srgbClr val="7A7E85"/>
                </a:solidFill>
                <a:effectLst/>
                <a:latin typeface="JetBrains Mono"/>
              </a:rPr>
              <a:t># flatten all dimensions except batch</a:t>
            </a:r>
            <a:br>
              <a:rPr lang="en-US" altLang="zh-TW" sz="1800" dirty="0">
                <a:solidFill>
                  <a:srgbClr val="7A7E85"/>
                </a:solidFill>
                <a:effectLst/>
                <a:latin typeface="JetBrains Mono"/>
              </a:rPr>
            </a:br>
            <a:r>
              <a:rPr lang="en-US" altLang="zh-TW" sz="1800" dirty="0">
                <a:solidFill>
                  <a:srgbClr val="7A7E85"/>
                </a:solidFill>
                <a:effectLst/>
                <a:latin typeface="JetBrains Mono"/>
              </a:rPr>
              <a:t>        </a:t>
            </a:r>
            <a:r>
              <a:rPr lang="en-US" altLang="zh-TW" sz="1800" dirty="0">
                <a:solidFill>
                  <a:srgbClr val="BCBEC4"/>
                </a:solidFill>
                <a:effectLst/>
                <a:latin typeface="JetBrains Mono"/>
              </a:rPr>
              <a:t>x = </a:t>
            </a:r>
            <a:r>
              <a:rPr lang="en-US" altLang="zh-TW" sz="1800" dirty="0" err="1">
                <a:solidFill>
                  <a:srgbClr val="BCBEC4"/>
                </a:solidFill>
                <a:effectLst/>
                <a:latin typeface="JetBrains Mono"/>
              </a:rPr>
              <a:t>F.relu</a:t>
            </a:r>
            <a:r>
              <a:rPr lang="en-US" altLang="zh-TW" sz="1800" dirty="0">
                <a:solidFill>
                  <a:srgbClr val="BCBEC4"/>
                </a:solidFill>
                <a:effectLst/>
                <a:latin typeface="JetBrains Mono"/>
              </a:rPr>
              <a:t>(</a:t>
            </a:r>
            <a:r>
              <a:rPr lang="en-US" altLang="zh-TW" sz="1800" dirty="0">
                <a:solidFill>
                  <a:srgbClr val="94558D"/>
                </a:solidFill>
                <a:effectLst/>
                <a:latin typeface="JetBrains Mono"/>
              </a:rPr>
              <a:t>self</a:t>
            </a:r>
            <a:r>
              <a:rPr lang="en-US" altLang="zh-TW" sz="1800" dirty="0">
                <a:solidFill>
                  <a:srgbClr val="BCBEC4"/>
                </a:solidFill>
                <a:effectLst/>
                <a:latin typeface="JetBrains Mono"/>
              </a:rPr>
              <a:t>.fc1(x))</a:t>
            </a:r>
            <a:br>
              <a:rPr lang="en-US" altLang="zh-TW" sz="1800" dirty="0">
                <a:solidFill>
                  <a:srgbClr val="BCBEC4"/>
                </a:solidFill>
                <a:effectLst/>
                <a:latin typeface="JetBrains Mono"/>
              </a:rPr>
            </a:br>
            <a:r>
              <a:rPr lang="en-US" altLang="zh-TW" sz="1800" dirty="0">
                <a:solidFill>
                  <a:srgbClr val="BCBEC4"/>
                </a:solidFill>
                <a:effectLst/>
                <a:latin typeface="JetBrains Mono"/>
              </a:rPr>
              <a:t>        x = </a:t>
            </a:r>
            <a:r>
              <a:rPr lang="en-US" altLang="zh-TW" sz="1800" dirty="0" err="1">
                <a:solidFill>
                  <a:srgbClr val="BCBEC4"/>
                </a:solidFill>
                <a:effectLst/>
                <a:latin typeface="JetBrains Mono"/>
              </a:rPr>
              <a:t>F.relu</a:t>
            </a:r>
            <a:r>
              <a:rPr lang="en-US" altLang="zh-TW" sz="1800" dirty="0">
                <a:solidFill>
                  <a:srgbClr val="BCBEC4"/>
                </a:solidFill>
                <a:effectLst/>
                <a:latin typeface="JetBrains Mono"/>
              </a:rPr>
              <a:t>(</a:t>
            </a:r>
            <a:r>
              <a:rPr lang="en-US" altLang="zh-TW" sz="1800" dirty="0">
                <a:solidFill>
                  <a:srgbClr val="94558D"/>
                </a:solidFill>
                <a:effectLst/>
                <a:latin typeface="JetBrains Mono"/>
              </a:rPr>
              <a:t>self</a:t>
            </a:r>
            <a:r>
              <a:rPr lang="en-US" altLang="zh-TW" sz="1800" dirty="0">
                <a:solidFill>
                  <a:srgbClr val="BCBEC4"/>
                </a:solidFill>
                <a:effectLst/>
                <a:latin typeface="JetBrains Mono"/>
              </a:rPr>
              <a:t>.fc2(x))</a:t>
            </a:r>
            <a:br>
              <a:rPr lang="en-US" altLang="zh-TW" sz="1800" dirty="0">
                <a:solidFill>
                  <a:srgbClr val="BCBEC4"/>
                </a:solidFill>
                <a:effectLst/>
                <a:latin typeface="JetBrains Mono"/>
              </a:rPr>
            </a:br>
            <a:r>
              <a:rPr lang="en-US" altLang="zh-TW" sz="1800" dirty="0">
                <a:solidFill>
                  <a:srgbClr val="BCBEC4"/>
                </a:solidFill>
                <a:effectLst/>
                <a:latin typeface="JetBrains Mono"/>
              </a:rPr>
              <a:t>        x = </a:t>
            </a:r>
            <a:r>
              <a:rPr lang="en-US" altLang="zh-TW" sz="1800" dirty="0">
                <a:solidFill>
                  <a:srgbClr val="94558D"/>
                </a:solidFill>
                <a:effectLst/>
                <a:latin typeface="JetBrains Mono"/>
              </a:rPr>
              <a:t>self</a:t>
            </a:r>
            <a:r>
              <a:rPr lang="en-US" altLang="zh-TW" sz="1800" dirty="0">
                <a:solidFill>
                  <a:srgbClr val="BCBEC4"/>
                </a:solidFill>
                <a:effectLst/>
                <a:latin typeface="JetBrains Mono"/>
              </a:rPr>
              <a:t>.fc3(x)</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CF8E6D"/>
                </a:solidFill>
                <a:effectLst/>
                <a:latin typeface="JetBrains Mono"/>
              </a:rPr>
              <a:t>return </a:t>
            </a:r>
            <a:r>
              <a:rPr lang="en-US" altLang="zh-TW" sz="1800" dirty="0">
                <a:solidFill>
                  <a:srgbClr val="BCBEC4"/>
                </a:solidFill>
                <a:effectLst/>
                <a:latin typeface="JetBrains Mono"/>
              </a:rPr>
              <a:t>x</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BCBEC4"/>
                </a:solidFill>
                <a:effectLst/>
                <a:latin typeface="JetBrains Mono"/>
              </a:rPr>
              <a:t>net = LeNet5().to(device)</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BCBEC4"/>
                </a:solidFill>
                <a:effectLst/>
                <a:latin typeface="JetBrains Mono"/>
              </a:rPr>
              <a:t>criterion = </a:t>
            </a:r>
            <a:r>
              <a:rPr lang="en-US" altLang="zh-TW" sz="1800" dirty="0" err="1">
                <a:solidFill>
                  <a:srgbClr val="BCBEC4"/>
                </a:solidFill>
                <a:effectLst/>
                <a:latin typeface="JetBrains Mono"/>
              </a:rPr>
              <a:t>nn.CrossEntropyLoss</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optimizer = </a:t>
            </a:r>
            <a:r>
              <a:rPr lang="en-US" altLang="zh-TW" sz="1800" dirty="0" err="1">
                <a:solidFill>
                  <a:srgbClr val="BCBEC4"/>
                </a:solidFill>
                <a:effectLst/>
                <a:latin typeface="JetBrains Mono"/>
              </a:rPr>
              <a:t>optim.SGD</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net.parameters</a:t>
            </a:r>
            <a:r>
              <a:rPr lang="en-US" altLang="zh-TW" sz="1800" dirty="0">
                <a:solidFill>
                  <a:srgbClr val="BCBEC4"/>
                </a:solidFill>
                <a:effectLst/>
                <a:latin typeface="JetBrains Mono"/>
              </a:rPr>
              <a:t>(), </a:t>
            </a:r>
            <a:r>
              <a:rPr lang="en-US" altLang="zh-TW" sz="1800" dirty="0" err="1">
                <a:solidFill>
                  <a:srgbClr val="AA4926"/>
                </a:solidFill>
                <a:effectLst/>
                <a:latin typeface="JetBrains Mono"/>
              </a:rPr>
              <a:t>lr</a:t>
            </a:r>
            <a:r>
              <a:rPr lang="en-US" altLang="zh-TW" sz="1800" dirty="0">
                <a:solidFill>
                  <a:srgbClr val="BCBEC4"/>
                </a:solidFill>
                <a:effectLst/>
                <a:latin typeface="JetBrains Mono"/>
              </a:rPr>
              <a:t>=</a:t>
            </a:r>
            <a:r>
              <a:rPr lang="en-US" altLang="zh-TW" sz="1800" dirty="0">
                <a:solidFill>
                  <a:srgbClr val="2AACB8"/>
                </a:solidFill>
                <a:effectLst/>
                <a:latin typeface="JetBrains Mono"/>
              </a:rPr>
              <a:t>0.001</a:t>
            </a:r>
            <a:r>
              <a:rPr lang="en-US" altLang="zh-TW" sz="1800" dirty="0">
                <a:solidFill>
                  <a:srgbClr val="BCBEC4"/>
                </a:solidFill>
                <a:effectLst/>
                <a:latin typeface="JetBrains Mono"/>
              </a:rPr>
              <a:t>, </a:t>
            </a:r>
            <a:r>
              <a:rPr lang="en-US" altLang="zh-TW" sz="1800" dirty="0">
                <a:solidFill>
                  <a:srgbClr val="AA4926"/>
                </a:solidFill>
                <a:effectLst/>
                <a:latin typeface="JetBrains Mono"/>
              </a:rPr>
              <a:t>momentum</a:t>
            </a:r>
            <a:r>
              <a:rPr lang="en-US" altLang="zh-TW" sz="1800" dirty="0">
                <a:solidFill>
                  <a:srgbClr val="BCBEC4"/>
                </a:solidFill>
                <a:effectLst/>
                <a:latin typeface="JetBrains Mono"/>
              </a:rPr>
              <a:t>=</a:t>
            </a:r>
            <a:r>
              <a:rPr lang="en-US" altLang="zh-TW" sz="1800" dirty="0">
                <a:solidFill>
                  <a:srgbClr val="2AACB8"/>
                </a:solidFill>
                <a:effectLst/>
                <a:latin typeface="JetBrains Mono"/>
              </a:rPr>
              <a:t>0.9</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BCBEC4"/>
                </a:solidFill>
                <a:effectLst/>
                <a:latin typeface="JetBrains Mono"/>
              </a:rPr>
              <a:t>losses = []</a:t>
            </a:r>
            <a:br>
              <a:rPr lang="en-US" altLang="zh-TW" sz="1800" dirty="0">
                <a:solidFill>
                  <a:srgbClr val="BCBEC4"/>
                </a:solidFill>
                <a:effectLst/>
                <a:latin typeface="JetBrains Mono"/>
              </a:rPr>
            </a:br>
            <a:r>
              <a:rPr lang="en-US" altLang="zh-TW" sz="1800" dirty="0" err="1">
                <a:solidFill>
                  <a:srgbClr val="BCBEC4"/>
                </a:solidFill>
                <a:effectLst/>
                <a:latin typeface="JetBrains Mono"/>
              </a:rPr>
              <a:t>num_epocs</a:t>
            </a:r>
            <a:r>
              <a:rPr lang="en-US" altLang="zh-TW" sz="1800" dirty="0">
                <a:solidFill>
                  <a:srgbClr val="BCBEC4"/>
                </a:solidFill>
                <a:effectLst/>
                <a:latin typeface="JetBrains Mono"/>
              </a:rPr>
              <a:t> = </a:t>
            </a:r>
            <a:r>
              <a:rPr lang="en-US" altLang="zh-TW" sz="1800" dirty="0">
                <a:solidFill>
                  <a:srgbClr val="2AACB8"/>
                </a:solidFill>
                <a:effectLst/>
                <a:latin typeface="JetBrains Mono"/>
              </a:rPr>
              <a:t>10</a:t>
            </a:r>
            <a:br>
              <a:rPr lang="en-US" altLang="zh-TW" sz="1800" dirty="0">
                <a:solidFill>
                  <a:srgbClr val="2AACB8"/>
                </a:solidFill>
                <a:effectLst/>
                <a:latin typeface="JetBrains Mono"/>
              </a:rPr>
            </a:br>
            <a:r>
              <a:rPr lang="en-US" altLang="zh-TW" sz="1800" dirty="0">
                <a:solidFill>
                  <a:srgbClr val="7A7E85"/>
                </a:solidFill>
                <a:effectLst/>
                <a:latin typeface="JetBrains Mono"/>
              </a:rPr>
              <a:t># loop over the dataset multiple times</a:t>
            </a:r>
            <a:br>
              <a:rPr lang="en-US" altLang="zh-TW" sz="1800" dirty="0">
                <a:solidFill>
                  <a:srgbClr val="7A7E85"/>
                </a:solidFill>
                <a:effectLst/>
                <a:latin typeface="JetBrains Mono"/>
              </a:rPr>
            </a:br>
            <a:r>
              <a:rPr lang="en-US" altLang="zh-TW" sz="1800" dirty="0">
                <a:solidFill>
                  <a:srgbClr val="CF8E6D"/>
                </a:solidFill>
                <a:effectLst/>
                <a:latin typeface="JetBrains Mono"/>
              </a:rPr>
              <a:t>for </a:t>
            </a:r>
            <a:r>
              <a:rPr lang="en-US" altLang="zh-TW" sz="1800" dirty="0">
                <a:solidFill>
                  <a:srgbClr val="BCBEC4"/>
                </a:solidFill>
                <a:effectLst/>
                <a:latin typeface="JetBrains Mono"/>
              </a:rPr>
              <a:t>epoch </a:t>
            </a:r>
            <a:r>
              <a:rPr lang="en-US" altLang="zh-TW" sz="1800" dirty="0">
                <a:solidFill>
                  <a:srgbClr val="CF8E6D"/>
                </a:solidFill>
                <a:effectLst/>
                <a:latin typeface="JetBrains Mono"/>
              </a:rPr>
              <a:t>in </a:t>
            </a:r>
            <a:r>
              <a:rPr lang="en-US" altLang="zh-TW" sz="1800" dirty="0">
                <a:solidFill>
                  <a:srgbClr val="8888C6"/>
                </a:solidFill>
                <a:effectLst/>
                <a:latin typeface="JetBrains Mono"/>
              </a:rPr>
              <a:t>range</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num_epocs</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BCBEC4"/>
                </a:solidFill>
                <a:effectLst/>
                <a:latin typeface="JetBrains Mono"/>
              </a:rPr>
              <a:t>running_loss</a:t>
            </a:r>
            <a:r>
              <a:rPr lang="en-US" altLang="zh-TW" sz="1800" dirty="0">
                <a:solidFill>
                  <a:srgbClr val="BCBEC4"/>
                </a:solidFill>
                <a:effectLst/>
                <a:latin typeface="JetBrains Mono"/>
              </a:rPr>
              <a:t> = </a:t>
            </a:r>
            <a:r>
              <a:rPr lang="en-US" altLang="zh-TW" sz="1800" dirty="0">
                <a:solidFill>
                  <a:srgbClr val="2AACB8"/>
                </a:solidFill>
                <a:effectLst/>
                <a:latin typeface="JetBrains Mono"/>
              </a:rPr>
              <a:t>0.0</a:t>
            </a:r>
            <a:br>
              <a:rPr lang="en-US" altLang="zh-TW" sz="1800" dirty="0">
                <a:solidFill>
                  <a:srgbClr val="2AACB8"/>
                </a:solidFill>
                <a:effectLst/>
                <a:latin typeface="JetBrains Mono"/>
              </a:rPr>
            </a:br>
            <a:r>
              <a:rPr lang="en-US" altLang="zh-TW" sz="1800" dirty="0">
                <a:solidFill>
                  <a:srgbClr val="2AACB8"/>
                </a:solidFill>
                <a:effectLst/>
                <a:latin typeface="JetBrains Mono"/>
              </a:rPr>
              <a:t>    </a:t>
            </a:r>
            <a:r>
              <a:rPr lang="en-US" altLang="zh-TW" sz="1800" dirty="0">
                <a:solidFill>
                  <a:srgbClr val="CF8E6D"/>
                </a:solidFill>
                <a:effectLst/>
                <a:latin typeface="JetBrains Mono"/>
              </a:rPr>
              <a:t>for </a:t>
            </a:r>
            <a:r>
              <a:rPr lang="en-US" altLang="zh-TW" sz="1800" dirty="0" err="1">
                <a:solidFill>
                  <a:srgbClr val="BCBEC4"/>
                </a:solidFill>
                <a:effectLst/>
                <a:latin typeface="JetBrains Mono"/>
              </a:rPr>
              <a:t>i</a:t>
            </a:r>
            <a:r>
              <a:rPr lang="en-US" altLang="zh-TW" sz="1800" dirty="0">
                <a:solidFill>
                  <a:srgbClr val="BCBEC4"/>
                </a:solidFill>
                <a:effectLst/>
                <a:latin typeface="JetBrains Mono"/>
              </a:rPr>
              <a:t>, (X, y) </a:t>
            </a:r>
            <a:r>
              <a:rPr lang="en-US" altLang="zh-TW" sz="1800" dirty="0">
                <a:solidFill>
                  <a:srgbClr val="CF8E6D"/>
                </a:solidFill>
                <a:effectLst/>
                <a:latin typeface="JetBrains Mono"/>
              </a:rPr>
              <a:t>in </a:t>
            </a:r>
            <a:r>
              <a:rPr lang="en-US" altLang="zh-TW" sz="1800" dirty="0">
                <a:solidFill>
                  <a:srgbClr val="8888C6"/>
                </a:solidFill>
                <a:effectLst/>
                <a:latin typeface="JetBrains Mono"/>
              </a:rPr>
              <a:t>enumerate</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trainloader</a:t>
            </a:r>
            <a:r>
              <a:rPr lang="en-US" altLang="zh-TW" sz="1800" dirty="0">
                <a:solidFill>
                  <a:srgbClr val="BCBEC4"/>
                </a:solidFill>
                <a:effectLst/>
                <a:latin typeface="JetBrains Mono"/>
              </a:rPr>
              <a:t>, </a:t>
            </a:r>
            <a:r>
              <a:rPr lang="en-US" altLang="zh-TW" sz="1800" dirty="0">
                <a:solidFill>
                  <a:srgbClr val="2AACB8"/>
                </a:solidFill>
                <a:effectLst/>
                <a:latin typeface="JetBrains Mono"/>
              </a:rPr>
              <a:t>0</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7A7E85"/>
                </a:solidFill>
                <a:effectLst/>
                <a:latin typeface="JetBrains Mono"/>
              </a:rPr>
              <a:t># get the inputs; data is a list of [inputs, labels]</a:t>
            </a:r>
            <a:br>
              <a:rPr lang="en-US" altLang="zh-TW" sz="1800" dirty="0">
                <a:solidFill>
                  <a:srgbClr val="7A7E85"/>
                </a:solidFill>
                <a:effectLst/>
                <a:latin typeface="JetBrains Mono"/>
              </a:rPr>
            </a:br>
            <a:r>
              <a:rPr lang="en-US" altLang="zh-TW" sz="1800" dirty="0">
                <a:solidFill>
                  <a:srgbClr val="7A7E85"/>
                </a:solidFill>
                <a:effectLst/>
                <a:latin typeface="JetBrains Mono"/>
              </a:rPr>
              <a:t>        </a:t>
            </a:r>
            <a:r>
              <a:rPr lang="en-US" altLang="zh-TW" sz="1800" dirty="0">
                <a:solidFill>
                  <a:srgbClr val="BCBEC4"/>
                </a:solidFill>
                <a:effectLst/>
                <a:latin typeface="JetBrains Mono"/>
              </a:rPr>
              <a:t>inputs, labels = X.to(device), y.to(device)</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7A7E85"/>
                </a:solidFill>
                <a:effectLst/>
                <a:latin typeface="JetBrains Mono"/>
              </a:rPr>
              <a:t># zero the parameter gradients</a:t>
            </a:r>
            <a:br>
              <a:rPr lang="en-US" altLang="zh-TW" sz="1800" dirty="0">
                <a:solidFill>
                  <a:srgbClr val="7A7E85"/>
                </a:solidFill>
                <a:effectLst/>
                <a:latin typeface="JetBrains Mono"/>
              </a:rPr>
            </a:br>
            <a:r>
              <a:rPr lang="en-US" altLang="zh-TW" sz="1800" dirty="0">
                <a:solidFill>
                  <a:srgbClr val="7A7E85"/>
                </a:solidFill>
                <a:effectLst/>
                <a:latin typeface="JetBrains Mono"/>
              </a:rPr>
              <a:t>        </a:t>
            </a:r>
            <a:r>
              <a:rPr lang="en-US" altLang="zh-TW" sz="1800" dirty="0" err="1">
                <a:solidFill>
                  <a:srgbClr val="BCBEC4"/>
                </a:solidFill>
                <a:effectLst/>
                <a:latin typeface="JetBrains Mono"/>
              </a:rPr>
              <a:t>optimizer.zero_grad</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7A7E85"/>
                </a:solidFill>
                <a:effectLst/>
                <a:latin typeface="JetBrains Mono"/>
              </a:rPr>
              <a:t># forward + backward + optimize</a:t>
            </a:r>
            <a:br>
              <a:rPr lang="en-US" altLang="zh-TW" sz="1800" dirty="0">
                <a:solidFill>
                  <a:srgbClr val="7A7E85"/>
                </a:solidFill>
                <a:effectLst/>
                <a:latin typeface="JetBrains Mono"/>
              </a:rPr>
            </a:br>
            <a:r>
              <a:rPr lang="en-US" altLang="zh-TW" sz="1800" dirty="0">
                <a:solidFill>
                  <a:srgbClr val="7A7E85"/>
                </a:solidFill>
                <a:effectLst/>
                <a:latin typeface="JetBrains Mono"/>
              </a:rPr>
              <a:t>        </a:t>
            </a:r>
            <a:r>
              <a:rPr lang="en-US" altLang="zh-TW" sz="1800" dirty="0">
                <a:solidFill>
                  <a:srgbClr val="BCBEC4"/>
                </a:solidFill>
                <a:effectLst/>
                <a:latin typeface="JetBrains Mono"/>
              </a:rPr>
              <a:t>outputs = net(inputs)</a:t>
            </a:r>
            <a:br>
              <a:rPr lang="en-US" altLang="zh-TW" sz="1800" dirty="0">
                <a:solidFill>
                  <a:srgbClr val="BCBEC4"/>
                </a:solidFill>
                <a:effectLst/>
                <a:latin typeface="JetBrains Mono"/>
              </a:rPr>
            </a:br>
            <a:r>
              <a:rPr lang="en-US" altLang="zh-TW" sz="1800" dirty="0">
                <a:solidFill>
                  <a:srgbClr val="BCBEC4"/>
                </a:solidFill>
                <a:effectLst/>
                <a:latin typeface="JetBrains Mono"/>
              </a:rPr>
              <a:t>        loss = criterion(outputs, labels)</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BCBEC4"/>
                </a:solidFill>
                <a:effectLst/>
                <a:latin typeface="JetBrains Mono"/>
              </a:rPr>
              <a:t>loss.backward</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BCBEC4"/>
                </a:solidFill>
                <a:effectLst/>
                <a:latin typeface="JetBrains Mono"/>
              </a:rPr>
              <a:t>optimizer.step</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7A7E85"/>
                </a:solidFill>
                <a:effectLst/>
                <a:latin typeface="JetBrains Mono"/>
              </a:rPr>
              <a:t># print statistics</a:t>
            </a:r>
            <a:br>
              <a:rPr lang="en-US" altLang="zh-TW" sz="1800" dirty="0">
                <a:solidFill>
                  <a:srgbClr val="7A7E85"/>
                </a:solidFill>
                <a:effectLst/>
                <a:latin typeface="JetBrains Mono"/>
              </a:rPr>
            </a:br>
            <a:r>
              <a:rPr lang="en-US" altLang="zh-TW" sz="1800" dirty="0">
                <a:solidFill>
                  <a:srgbClr val="7A7E85"/>
                </a:solidFill>
                <a:effectLst/>
                <a:latin typeface="JetBrains Mono"/>
              </a:rPr>
              <a:t>        </a:t>
            </a:r>
            <a:r>
              <a:rPr lang="en-US" altLang="zh-TW" sz="1800" dirty="0" err="1">
                <a:solidFill>
                  <a:srgbClr val="BCBEC4"/>
                </a:solidFill>
                <a:effectLst/>
                <a:latin typeface="JetBrains Mono"/>
              </a:rPr>
              <a:t>running_loss</a:t>
            </a:r>
            <a:r>
              <a:rPr lang="en-US" altLang="zh-TW" sz="1800" dirty="0">
                <a:solidFill>
                  <a:srgbClr val="BCBEC4"/>
                </a:solidFill>
                <a:effectLst/>
                <a:latin typeface="JetBrains Mono"/>
              </a:rPr>
              <a:t> += </a:t>
            </a:r>
            <a:r>
              <a:rPr lang="en-US" altLang="zh-TW" sz="1800" dirty="0" err="1">
                <a:solidFill>
                  <a:srgbClr val="BCBEC4"/>
                </a:solidFill>
                <a:effectLst/>
                <a:latin typeface="JetBrains Mono"/>
              </a:rPr>
              <a:t>loss.item</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8888C6"/>
                </a:solidFill>
                <a:effectLst/>
                <a:latin typeface="JetBrains Mono"/>
              </a:rPr>
              <a:t>print</a:t>
            </a:r>
            <a:r>
              <a:rPr lang="en-US" altLang="zh-TW" sz="1800" dirty="0">
                <a:solidFill>
                  <a:srgbClr val="BCBEC4"/>
                </a:solidFill>
                <a:effectLst/>
                <a:latin typeface="JetBrains Mono"/>
              </a:rPr>
              <a:t>(</a:t>
            </a:r>
            <a:r>
              <a:rPr lang="en-US" altLang="zh-TW" sz="1800" dirty="0" err="1">
                <a:solidFill>
                  <a:srgbClr val="6AAB73"/>
                </a:solidFill>
                <a:effectLst/>
                <a:latin typeface="JetBrains Mono"/>
              </a:rPr>
              <a:t>f'epoch</a:t>
            </a:r>
            <a:r>
              <a:rPr lang="en-US" altLang="zh-TW" sz="1800" dirty="0">
                <a:solidFill>
                  <a:srgbClr val="6AAB73"/>
                </a:solidFill>
                <a:effectLst/>
                <a:latin typeface="JetBrains Mono"/>
              </a:rPr>
              <a:t>: </a:t>
            </a:r>
            <a:r>
              <a:rPr lang="en-US" altLang="zh-TW" sz="1800" dirty="0">
                <a:solidFill>
                  <a:srgbClr val="CF8E6D"/>
                </a:solidFill>
                <a:effectLst/>
                <a:latin typeface="JetBrains Mono"/>
              </a:rPr>
              <a:t>{</a:t>
            </a:r>
            <a:r>
              <a:rPr lang="en-US" altLang="zh-TW" sz="1800" dirty="0">
                <a:solidFill>
                  <a:srgbClr val="BCBEC4"/>
                </a:solidFill>
                <a:effectLst/>
                <a:latin typeface="JetBrains Mono"/>
              </a:rPr>
              <a:t>epoch+</a:t>
            </a:r>
            <a:r>
              <a:rPr lang="en-US" altLang="zh-TW" sz="1800" dirty="0">
                <a:solidFill>
                  <a:srgbClr val="2AACB8"/>
                </a:solidFill>
                <a:effectLst/>
                <a:latin typeface="JetBrains Mono"/>
              </a:rPr>
              <a:t>1</a:t>
            </a:r>
            <a:r>
              <a:rPr lang="en-US" altLang="zh-TW" sz="1800" dirty="0">
                <a:solidFill>
                  <a:srgbClr val="CF8E6D"/>
                </a:solidFill>
                <a:effectLst/>
                <a:latin typeface="JetBrains Mono"/>
              </a:rPr>
              <a:t>}</a:t>
            </a:r>
            <a:r>
              <a:rPr lang="en-US" altLang="zh-TW" sz="1800" dirty="0">
                <a:solidFill>
                  <a:srgbClr val="6AAB73"/>
                </a:solidFill>
                <a:effectLst/>
                <a:latin typeface="JetBrains Mono"/>
              </a:rPr>
              <a:t> loss:</a:t>
            </a:r>
            <a:r>
              <a:rPr lang="en-US" altLang="zh-TW" sz="1800" dirty="0">
                <a:solidFill>
                  <a:srgbClr val="CF8E6D"/>
                </a:solidFill>
                <a:effectLst/>
                <a:latin typeface="JetBrains Mono"/>
              </a:rPr>
              <a:t>{</a:t>
            </a:r>
            <a:r>
              <a:rPr lang="en-US" altLang="zh-TW" sz="1800" dirty="0" err="1">
                <a:solidFill>
                  <a:srgbClr val="BCBEC4"/>
                </a:solidFill>
                <a:effectLst/>
                <a:latin typeface="JetBrains Mono"/>
              </a:rPr>
              <a:t>running_loss</a:t>
            </a:r>
            <a:r>
              <a:rPr lang="en-US" altLang="zh-TW" sz="1800" dirty="0">
                <a:solidFill>
                  <a:srgbClr val="BCBEC4"/>
                </a:solidFill>
                <a:effectLst/>
                <a:latin typeface="JetBrains Mono"/>
              </a:rPr>
              <a:t>/</a:t>
            </a:r>
            <a:r>
              <a:rPr lang="en-US" altLang="zh-TW" sz="1800" dirty="0" err="1">
                <a:solidFill>
                  <a:srgbClr val="8888C6"/>
                </a:solidFill>
                <a:effectLst/>
                <a:latin typeface="JetBrains Mono"/>
              </a:rPr>
              <a:t>len</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trainloader</a:t>
            </a:r>
            <a:r>
              <a:rPr lang="en-US" altLang="zh-TW" sz="1800" dirty="0">
                <a:solidFill>
                  <a:srgbClr val="BCBEC4"/>
                </a:solidFill>
                <a:effectLst/>
                <a:latin typeface="JetBrains Mono"/>
              </a:rPr>
              <a:t>)</a:t>
            </a:r>
            <a:r>
              <a:rPr lang="en-US" altLang="zh-TW" sz="1800" dirty="0">
                <a:solidFill>
                  <a:srgbClr val="CF8E6D"/>
                </a:solidFill>
                <a:effectLst/>
                <a:latin typeface="JetBrains Mono"/>
              </a:rPr>
              <a:t>:</a:t>
            </a:r>
            <a:r>
              <a:rPr lang="en-US" altLang="zh-TW" sz="1800" dirty="0">
                <a:solidFill>
                  <a:srgbClr val="6AAB73"/>
                </a:solidFill>
                <a:effectLst/>
                <a:latin typeface="JetBrains Mono"/>
              </a:rPr>
              <a:t>.4f</a:t>
            </a:r>
            <a:r>
              <a:rPr lang="en-US" altLang="zh-TW" sz="1800" dirty="0">
                <a:solidFill>
                  <a:srgbClr val="CF8E6D"/>
                </a:solidFill>
                <a:effectLst/>
                <a:latin typeface="JetBrains Mono"/>
              </a:rPr>
              <a:t>}</a:t>
            </a:r>
            <a:r>
              <a:rPr lang="en-US" altLang="zh-TW" sz="1800" dirty="0">
                <a:solidFill>
                  <a:srgbClr val="6AAB73"/>
                </a:solidFill>
                <a:effectLst/>
                <a:latin typeface="JetBrains Mono"/>
              </a:rPr>
              <a:t>'</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BCBEC4"/>
                </a:solidFill>
                <a:effectLst/>
                <a:latin typeface="JetBrains Mono"/>
              </a:rPr>
              <a:t>losses.append</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running_loss</a:t>
            </a:r>
            <a:r>
              <a:rPr lang="en-US" altLang="zh-TW" sz="1800" dirty="0">
                <a:solidFill>
                  <a:srgbClr val="BCBEC4"/>
                </a:solidFill>
                <a:effectLst/>
                <a:latin typeface="JetBrains Mono"/>
              </a:rPr>
              <a:t>/</a:t>
            </a:r>
            <a:r>
              <a:rPr lang="en-US" altLang="zh-TW" sz="1800" dirty="0" err="1">
                <a:solidFill>
                  <a:srgbClr val="8888C6"/>
                </a:solidFill>
                <a:effectLst/>
                <a:latin typeface="JetBrains Mono"/>
              </a:rPr>
              <a:t>len</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trainloader</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err="1">
                <a:solidFill>
                  <a:srgbClr val="BCBEC4"/>
                </a:solidFill>
                <a:effectLst/>
                <a:latin typeface="JetBrains Mono"/>
              </a:rPr>
              <a:t>plt.title</a:t>
            </a:r>
            <a:r>
              <a:rPr lang="en-US" altLang="zh-TW" sz="1800" dirty="0">
                <a:solidFill>
                  <a:srgbClr val="BCBEC4"/>
                </a:solidFill>
                <a:effectLst/>
                <a:latin typeface="JetBrains Mono"/>
              </a:rPr>
              <a:t>(</a:t>
            </a:r>
            <a:r>
              <a:rPr lang="en-US" altLang="zh-TW" sz="1800" dirty="0">
                <a:solidFill>
                  <a:srgbClr val="6AAB73"/>
                </a:solidFill>
                <a:effectLst/>
                <a:latin typeface="JetBrains Mono"/>
              </a:rPr>
              <a:t>'training losses'</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err="1">
                <a:solidFill>
                  <a:srgbClr val="BCBEC4"/>
                </a:solidFill>
                <a:effectLst/>
                <a:latin typeface="JetBrains Mono"/>
              </a:rPr>
              <a:t>plt.plot</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np.arange</a:t>
            </a:r>
            <a:r>
              <a:rPr lang="en-US" altLang="zh-TW" sz="1800" dirty="0">
                <a:solidFill>
                  <a:srgbClr val="BCBEC4"/>
                </a:solidFill>
                <a:effectLst/>
                <a:latin typeface="JetBrains Mono"/>
              </a:rPr>
              <a:t>(</a:t>
            </a:r>
            <a:r>
              <a:rPr lang="en-US" altLang="zh-TW" sz="1800" dirty="0">
                <a:solidFill>
                  <a:srgbClr val="2AACB8"/>
                </a:solidFill>
                <a:effectLst/>
                <a:latin typeface="JetBrains Mono"/>
              </a:rPr>
              <a:t>1</a:t>
            </a:r>
            <a:r>
              <a:rPr lang="en-US" altLang="zh-TW" sz="1800" dirty="0">
                <a:solidFill>
                  <a:srgbClr val="BCBEC4"/>
                </a:solidFill>
                <a:effectLst/>
                <a:latin typeface="JetBrains Mono"/>
              </a:rPr>
              <a:t>, num_epocs+</a:t>
            </a:r>
            <a:r>
              <a:rPr lang="en-US" altLang="zh-TW" sz="1800" dirty="0">
                <a:solidFill>
                  <a:srgbClr val="2AACB8"/>
                </a:solidFill>
                <a:effectLst/>
                <a:latin typeface="JetBrains Mono"/>
              </a:rPr>
              <a:t>1</a:t>
            </a:r>
            <a:r>
              <a:rPr lang="en-US" altLang="zh-TW" sz="1800" dirty="0">
                <a:solidFill>
                  <a:srgbClr val="BCBEC4"/>
                </a:solidFill>
                <a:effectLst/>
                <a:latin typeface="JetBrains Mono"/>
              </a:rPr>
              <a:t>), losses)</a:t>
            </a:r>
            <a:br>
              <a:rPr lang="en-US" altLang="zh-TW" sz="1800" dirty="0">
                <a:solidFill>
                  <a:srgbClr val="BCBEC4"/>
                </a:solidFill>
                <a:effectLst/>
                <a:latin typeface="JetBrains Mono"/>
              </a:rPr>
            </a:br>
            <a:r>
              <a:rPr lang="en-US" altLang="zh-TW" sz="1800" dirty="0" err="1">
                <a:solidFill>
                  <a:srgbClr val="BCBEC4"/>
                </a:solidFill>
                <a:effectLst/>
                <a:latin typeface="JetBrains Mono"/>
              </a:rPr>
              <a:t>plt.show</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8888C6"/>
                </a:solidFill>
                <a:effectLst/>
                <a:latin typeface="JetBrains Mono"/>
              </a:rPr>
              <a:t>print</a:t>
            </a:r>
            <a:r>
              <a:rPr lang="en-US" altLang="zh-TW" sz="1800" dirty="0">
                <a:solidFill>
                  <a:srgbClr val="BCBEC4"/>
                </a:solidFill>
                <a:effectLst/>
                <a:latin typeface="JetBrains Mono"/>
              </a:rPr>
              <a:t>(</a:t>
            </a:r>
            <a:r>
              <a:rPr lang="en-US" altLang="zh-TW" sz="1800" dirty="0">
                <a:solidFill>
                  <a:srgbClr val="6AAB73"/>
                </a:solidFill>
                <a:effectLst/>
                <a:latin typeface="JetBrains Mono"/>
              </a:rPr>
              <a:t>'Finished Training'</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PATH = </a:t>
            </a:r>
            <a:r>
              <a:rPr lang="en-US" altLang="zh-TW" sz="1800" dirty="0">
                <a:solidFill>
                  <a:srgbClr val="6AAB73"/>
                </a:solidFill>
                <a:effectLst/>
                <a:latin typeface="JetBrains Mono"/>
              </a:rPr>
              <a:t>'./</a:t>
            </a:r>
            <a:r>
              <a:rPr lang="en-US" altLang="zh-TW" sz="1800" dirty="0" err="1">
                <a:solidFill>
                  <a:srgbClr val="6AAB73"/>
                </a:solidFill>
                <a:effectLst/>
                <a:latin typeface="JetBrains Mono"/>
              </a:rPr>
              <a:t>cifar_net.pth</a:t>
            </a:r>
            <a:r>
              <a:rPr lang="en-US" altLang="zh-TW" sz="1800" dirty="0">
                <a:solidFill>
                  <a:srgbClr val="6AAB73"/>
                </a:solidFill>
                <a:effectLst/>
                <a:latin typeface="JetBrains Mono"/>
              </a:rPr>
              <a:t>'</a:t>
            </a:r>
            <a:br>
              <a:rPr lang="en-US" altLang="zh-TW" sz="1800" dirty="0">
                <a:solidFill>
                  <a:srgbClr val="6AAB73"/>
                </a:solidFill>
                <a:effectLst/>
                <a:latin typeface="JetBrains Mono"/>
              </a:rPr>
            </a:br>
            <a:r>
              <a:rPr lang="en-US" altLang="zh-TW" sz="1800" dirty="0" err="1">
                <a:solidFill>
                  <a:srgbClr val="BCBEC4"/>
                </a:solidFill>
                <a:effectLst/>
                <a:latin typeface="JetBrains Mono"/>
              </a:rPr>
              <a:t>torch.save</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net.state_dict</a:t>
            </a:r>
            <a:r>
              <a:rPr lang="en-US" altLang="zh-TW" sz="1800" dirty="0">
                <a:solidFill>
                  <a:srgbClr val="BCBEC4"/>
                </a:solidFill>
                <a:effectLst/>
                <a:latin typeface="JetBrains Mono"/>
              </a:rPr>
              <a:t>(), PATH)</a:t>
            </a:r>
            <a:br>
              <a:rPr lang="en-US" altLang="zh-TW" sz="1800" dirty="0">
                <a:solidFill>
                  <a:srgbClr val="BCBEC4"/>
                </a:solidFill>
                <a:effectLst/>
                <a:latin typeface="JetBrains Mono"/>
              </a:rPr>
            </a:br>
            <a:r>
              <a:rPr lang="en-US" altLang="zh-TW" sz="1800" dirty="0">
                <a:solidFill>
                  <a:srgbClr val="8888C6"/>
                </a:solidFill>
                <a:effectLst/>
                <a:latin typeface="JetBrains Mono"/>
              </a:rPr>
              <a:t>print</a:t>
            </a:r>
            <a:r>
              <a:rPr lang="en-US" altLang="zh-TW" sz="1800" dirty="0">
                <a:solidFill>
                  <a:srgbClr val="BCBEC4"/>
                </a:solidFill>
                <a:effectLst/>
                <a:latin typeface="JetBrains Mono"/>
              </a:rPr>
              <a:t>(</a:t>
            </a:r>
            <a:r>
              <a:rPr lang="en-US" altLang="zh-TW" sz="1800" dirty="0">
                <a:solidFill>
                  <a:srgbClr val="6AAB73"/>
                </a:solidFill>
                <a:effectLst/>
                <a:latin typeface="JetBrains Mono"/>
              </a:rPr>
              <a:t>'model saved.'</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endParaRPr lang="en-US" altLang="zh-TW" sz="1800" dirty="0">
              <a:solidFill>
                <a:srgbClr val="BCBEC4"/>
              </a:solidFill>
              <a:effectLst/>
              <a:latin typeface="JetBrains Mono"/>
            </a:endParaRPr>
          </a:p>
        </p:txBody>
      </p:sp>
      <p:sp>
        <p:nvSpPr>
          <p:cNvPr id="4" name="標題 1">
            <a:extLst>
              <a:ext uri="{FF2B5EF4-FFF2-40B4-BE49-F238E27FC236}">
                <a16:creationId xmlns:a16="http://schemas.microsoft.com/office/drawing/2014/main" id="{09CEAEB5-79CB-C0EA-4362-676B200F6EFD}"/>
              </a:ext>
            </a:extLst>
          </p:cNvPr>
          <p:cNvSpPr txBox="1">
            <a:spLocks/>
          </p:cNvSpPr>
          <p:nvPr/>
        </p:nvSpPr>
        <p:spPr>
          <a:xfrm>
            <a:off x="0" y="0"/>
            <a:ext cx="12192000" cy="1694681"/>
          </a:xfrm>
          <a:prstGeom prst="rect">
            <a:avLst/>
          </a:prstGeom>
          <a:solidFill>
            <a:schemeClr val="accent5">
              <a:lumMod val="20000"/>
              <a:lumOff val="80000"/>
            </a:schemeClr>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TW" sz="6000" dirty="0"/>
              <a:t>Lab</a:t>
            </a:r>
            <a:r>
              <a:rPr lang="zh-TW" altLang="en-US" sz="6000" dirty="0"/>
              <a:t> </a:t>
            </a:r>
            <a:r>
              <a:rPr lang="en-US" altLang="zh-TW" sz="6000" dirty="0"/>
              <a:t>2 CIFAR10Training.py</a:t>
            </a:r>
            <a:endParaRPr lang="zh-TW" altLang="en-US" sz="6000" dirty="0"/>
          </a:p>
        </p:txBody>
      </p:sp>
      <p:pic>
        <p:nvPicPr>
          <p:cNvPr id="3" name="圖片 2">
            <a:extLst>
              <a:ext uri="{FF2B5EF4-FFF2-40B4-BE49-F238E27FC236}">
                <a16:creationId xmlns:a16="http://schemas.microsoft.com/office/drawing/2014/main" id="{0E43190D-EDD7-E7F2-1379-D7BC3A5901E1}"/>
              </a:ext>
            </a:extLst>
          </p:cNvPr>
          <p:cNvPicPr>
            <a:picLocks noChangeAspect="1"/>
          </p:cNvPicPr>
          <p:nvPr/>
        </p:nvPicPr>
        <p:blipFill>
          <a:blip r:embed="rId2"/>
          <a:stretch>
            <a:fillRect/>
          </a:stretch>
        </p:blipFill>
        <p:spPr>
          <a:xfrm>
            <a:off x="8524341" y="1893917"/>
            <a:ext cx="3140446" cy="2674469"/>
          </a:xfrm>
          <a:prstGeom prst="rect">
            <a:avLst/>
          </a:prstGeom>
        </p:spPr>
      </p:pic>
      <p:sp>
        <p:nvSpPr>
          <p:cNvPr id="9" name="文字方塊 8">
            <a:extLst>
              <a:ext uri="{FF2B5EF4-FFF2-40B4-BE49-F238E27FC236}">
                <a16:creationId xmlns:a16="http://schemas.microsoft.com/office/drawing/2014/main" id="{C2754778-A128-AC08-B335-79B5904C83F5}"/>
              </a:ext>
            </a:extLst>
          </p:cNvPr>
          <p:cNvSpPr txBox="1"/>
          <p:nvPr/>
        </p:nvSpPr>
        <p:spPr>
          <a:xfrm>
            <a:off x="5837960" y="4633988"/>
            <a:ext cx="6120244" cy="4801314"/>
          </a:xfrm>
          <a:prstGeom prst="rect">
            <a:avLst/>
          </a:prstGeom>
          <a:solidFill>
            <a:schemeClr val="accent5">
              <a:lumMod val="20000"/>
              <a:lumOff val="80000"/>
            </a:schemeClr>
          </a:solidFill>
        </p:spPr>
        <p:txBody>
          <a:bodyPr wrap="square">
            <a:spAutoFit/>
          </a:bodyPr>
          <a:lstStyle/>
          <a:p>
            <a:r>
              <a:rPr lang="en-US" altLang="zh-TW" dirty="0"/>
              <a:t>C:\Users\user\anaconda3\envs\torch5800\python.exe E:\Pytorch\L004_MLP\CIFAR10Training.py </a:t>
            </a:r>
          </a:p>
          <a:p>
            <a:r>
              <a:rPr lang="en-US" altLang="zh-TW" dirty="0"/>
              <a:t>Using </a:t>
            </a:r>
            <a:r>
              <a:rPr lang="en-US" altLang="zh-TW" dirty="0" err="1"/>
              <a:t>cuda</a:t>
            </a:r>
            <a:r>
              <a:rPr lang="en-US" altLang="zh-TW" dirty="0"/>
              <a:t> device</a:t>
            </a:r>
          </a:p>
          <a:p>
            <a:r>
              <a:rPr lang="en-US" altLang="zh-TW" dirty="0"/>
              <a:t>epoch: 1 loss:1.7264</a:t>
            </a:r>
          </a:p>
          <a:p>
            <a:r>
              <a:rPr lang="en-US" altLang="zh-TW" dirty="0"/>
              <a:t>epoch: 2 loss:1.3152</a:t>
            </a:r>
          </a:p>
          <a:p>
            <a:r>
              <a:rPr lang="en-US" altLang="zh-TW" dirty="0"/>
              <a:t>epoch: 3 loss:1.1772</a:t>
            </a:r>
          </a:p>
          <a:p>
            <a:r>
              <a:rPr lang="en-US" altLang="zh-TW" dirty="0"/>
              <a:t>epoch: 4 loss:1.0920</a:t>
            </a:r>
          </a:p>
          <a:p>
            <a:r>
              <a:rPr lang="en-US" altLang="zh-TW" dirty="0"/>
              <a:t>epoch: 5 loss:1.0238</a:t>
            </a:r>
          </a:p>
          <a:p>
            <a:r>
              <a:rPr lang="en-US" altLang="zh-TW" dirty="0"/>
              <a:t>epoch: 6 loss:0.9756</a:t>
            </a:r>
          </a:p>
          <a:p>
            <a:r>
              <a:rPr lang="en-US" altLang="zh-TW" dirty="0"/>
              <a:t>epoch: 7 loss:0.9251</a:t>
            </a:r>
          </a:p>
          <a:p>
            <a:r>
              <a:rPr lang="en-US" altLang="zh-TW" dirty="0"/>
              <a:t>epoch: 8 loss:0.8901</a:t>
            </a:r>
          </a:p>
          <a:p>
            <a:r>
              <a:rPr lang="en-US" altLang="zh-TW" dirty="0"/>
              <a:t>epoch: 9 loss:0.8577</a:t>
            </a:r>
          </a:p>
          <a:p>
            <a:r>
              <a:rPr lang="en-US" altLang="zh-TW" dirty="0"/>
              <a:t>epoch: 10 loss:0.8308</a:t>
            </a:r>
          </a:p>
          <a:p>
            <a:r>
              <a:rPr lang="en-US" altLang="zh-TW" dirty="0"/>
              <a:t>Finished Training</a:t>
            </a:r>
          </a:p>
          <a:p>
            <a:r>
              <a:rPr lang="en-US" altLang="zh-TW" dirty="0"/>
              <a:t>model saved.</a:t>
            </a:r>
          </a:p>
          <a:p>
            <a:endParaRPr lang="en-US" altLang="zh-TW" dirty="0"/>
          </a:p>
          <a:p>
            <a:r>
              <a:rPr lang="en-US" altLang="zh-TW" dirty="0"/>
              <a:t>Process finished with exit code 0</a:t>
            </a:r>
            <a:endParaRPr lang="zh-TW" altLang="en-US" dirty="0"/>
          </a:p>
        </p:txBody>
      </p:sp>
    </p:spTree>
    <p:extLst>
      <p:ext uri="{BB962C8B-B14F-4D97-AF65-F5344CB8AC3E}">
        <p14:creationId xmlns:p14="http://schemas.microsoft.com/office/powerpoint/2010/main" val="27677554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字方塊 5">
            <a:extLst>
              <a:ext uri="{FF2B5EF4-FFF2-40B4-BE49-F238E27FC236}">
                <a16:creationId xmlns:a16="http://schemas.microsoft.com/office/drawing/2014/main" id="{AE9AA0C5-925A-2252-AE55-0F354DF62172}"/>
              </a:ext>
            </a:extLst>
          </p:cNvPr>
          <p:cNvSpPr txBox="1"/>
          <p:nvPr/>
        </p:nvSpPr>
        <p:spPr>
          <a:xfrm>
            <a:off x="0" y="1694681"/>
            <a:ext cx="12192000" cy="22127647"/>
          </a:xfrm>
          <a:prstGeom prst="rect">
            <a:avLst/>
          </a:prstGeom>
          <a:solidFill>
            <a:schemeClr val="tx1"/>
          </a:solidFill>
        </p:spPr>
        <p:txBody>
          <a:bodyPr wrap="square">
            <a:spAutoFit/>
          </a:bodyPr>
          <a:lstStyle/>
          <a:p>
            <a:pPr>
              <a:buNone/>
            </a:pPr>
            <a:r>
              <a:rPr lang="en-US" altLang="zh-TW" sz="1800" dirty="0">
                <a:solidFill>
                  <a:srgbClr val="CF8E6D"/>
                </a:solidFill>
                <a:effectLst/>
                <a:latin typeface="JetBrains Mono"/>
              </a:rPr>
              <a:t>import </a:t>
            </a:r>
            <a:r>
              <a:rPr lang="en-US" altLang="zh-TW" sz="1800" dirty="0">
                <a:solidFill>
                  <a:srgbClr val="BCBEC4"/>
                </a:solidFill>
                <a:effectLst/>
                <a:latin typeface="JetBrains Mono"/>
              </a:rPr>
              <a:t>torch</a:t>
            </a:r>
            <a:br>
              <a:rPr lang="en-US" altLang="zh-TW" sz="1800" dirty="0">
                <a:solidFill>
                  <a:srgbClr val="BCBEC4"/>
                </a:solidFill>
                <a:effectLst/>
                <a:latin typeface="JetBrains Mono"/>
              </a:rPr>
            </a:br>
            <a:r>
              <a:rPr lang="en-US" altLang="zh-TW" sz="1800" dirty="0">
                <a:solidFill>
                  <a:srgbClr val="CF8E6D"/>
                </a:solidFill>
                <a:effectLst/>
                <a:latin typeface="JetBrains Mono"/>
              </a:rPr>
              <a:t>import </a:t>
            </a:r>
            <a:r>
              <a:rPr lang="en-US" altLang="zh-TW" sz="1800" dirty="0" err="1">
                <a:solidFill>
                  <a:srgbClr val="BCBEC4"/>
                </a:solidFill>
                <a:effectLst/>
                <a:latin typeface="JetBrains Mono"/>
              </a:rPr>
              <a:t>torch.nn</a:t>
            </a:r>
            <a:r>
              <a:rPr lang="en-US" altLang="zh-TW" sz="1800" dirty="0">
                <a:solidFill>
                  <a:srgbClr val="BCBEC4"/>
                </a:solidFill>
                <a:effectLst/>
                <a:latin typeface="JetBrains Mono"/>
              </a:rPr>
              <a:t> </a:t>
            </a:r>
            <a:r>
              <a:rPr lang="en-US" altLang="zh-TW" sz="1800" dirty="0">
                <a:solidFill>
                  <a:srgbClr val="CF8E6D"/>
                </a:solidFill>
                <a:effectLst/>
                <a:latin typeface="JetBrains Mono"/>
              </a:rPr>
              <a:t>as </a:t>
            </a:r>
            <a:r>
              <a:rPr lang="en-US" altLang="zh-TW" sz="1800" dirty="0" err="1">
                <a:solidFill>
                  <a:srgbClr val="BCBEC4"/>
                </a:solidFill>
                <a:effectLst/>
                <a:latin typeface="JetBrains Mono"/>
              </a:rPr>
              <a:t>nn</a:t>
            </a:r>
            <a:br>
              <a:rPr lang="en-US" altLang="zh-TW" sz="1800" dirty="0">
                <a:solidFill>
                  <a:srgbClr val="BCBEC4"/>
                </a:solidFill>
                <a:effectLst/>
                <a:latin typeface="JetBrains Mono"/>
              </a:rPr>
            </a:br>
            <a:r>
              <a:rPr lang="en-US" altLang="zh-TW" sz="1800" dirty="0">
                <a:solidFill>
                  <a:srgbClr val="CF8E6D"/>
                </a:solidFill>
                <a:effectLst/>
                <a:latin typeface="JetBrains Mono"/>
              </a:rPr>
              <a:t>import </a:t>
            </a:r>
            <a:r>
              <a:rPr lang="en-US" altLang="zh-TW" sz="1800" dirty="0" err="1">
                <a:solidFill>
                  <a:srgbClr val="BCBEC4"/>
                </a:solidFill>
                <a:effectLst/>
                <a:latin typeface="JetBrains Mono"/>
              </a:rPr>
              <a:t>torch.nn.functional</a:t>
            </a:r>
            <a:r>
              <a:rPr lang="en-US" altLang="zh-TW" sz="1800" dirty="0">
                <a:solidFill>
                  <a:srgbClr val="BCBEC4"/>
                </a:solidFill>
                <a:effectLst/>
                <a:latin typeface="JetBrains Mono"/>
              </a:rPr>
              <a:t> </a:t>
            </a:r>
            <a:r>
              <a:rPr lang="en-US" altLang="zh-TW" sz="1800" dirty="0">
                <a:solidFill>
                  <a:srgbClr val="CF8E6D"/>
                </a:solidFill>
                <a:effectLst/>
                <a:latin typeface="JetBrains Mono"/>
              </a:rPr>
              <a:t>as </a:t>
            </a:r>
            <a:r>
              <a:rPr lang="en-US" altLang="zh-TW" sz="1800" dirty="0">
                <a:solidFill>
                  <a:srgbClr val="BCBEC4"/>
                </a:solidFill>
                <a:effectLst/>
                <a:latin typeface="JetBrains Mono"/>
              </a:rPr>
              <a:t>F</a:t>
            </a:r>
            <a:br>
              <a:rPr lang="en-US" altLang="zh-TW" sz="1800" dirty="0">
                <a:solidFill>
                  <a:srgbClr val="BCBEC4"/>
                </a:solidFill>
                <a:effectLst/>
                <a:latin typeface="JetBrains Mono"/>
              </a:rPr>
            </a:br>
            <a:r>
              <a:rPr lang="en-US" altLang="zh-TW" sz="1800" dirty="0">
                <a:solidFill>
                  <a:srgbClr val="CF8E6D"/>
                </a:solidFill>
                <a:effectLst/>
                <a:latin typeface="JetBrains Mono"/>
              </a:rPr>
              <a:t>import </a:t>
            </a:r>
            <a:r>
              <a:rPr lang="en-US" altLang="zh-TW" sz="1800" dirty="0" err="1">
                <a:solidFill>
                  <a:srgbClr val="BCBEC4"/>
                </a:solidFill>
                <a:effectLst/>
                <a:latin typeface="JetBrains Mono"/>
              </a:rPr>
              <a:t>torchvision</a:t>
            </a:r>
            <a:br>
              <a:rPr lang="en-US" altLang="zh-TW" sz="1800" dirty="0">
                <a:solidFill>
                  <a:srgbClr val="BCBEC4"/>
                </a:solidFill>
                <a:effectLst/>
                <a:latin typeface="JetBrains Mono"/>
              </a:rPr>
            </a:br>
            <a:r>
              <a:rPr lang="en-US" altLang="zh-TW" sz="1800" dirty="0">
                <a:solidFill>
                  <a:srgbClr val="CF8E6D"/>
                </a:solidFill>
                <a:effectLst/>
                <a:latin typeface="JetBrains Mono"/>
              </a:rPr>
              <a:t>import </a:t>
            </a:r>
            <a:r>
              <a:rPr lang="en-US" altLang="zh-TW" sz="1800" dirty="0" err="1">
                <a:solidFill>
                  <a:srgbClr val="BCBEC4"/>
                </a:solidFill>
                <a:effectLst/>
                <a:latin typeface="JetBrains Mono"/>
              </a:rPr>
              <a:t>torchvision.transforms</a:t>
            </a:r>
            <a:r>
              <a:rPr lang="en-US" altLang="zh-TW" sz="1800" dirty="0">
                <a:solidFill>
                  <a:srgbClr val="BCBEC4"/>
                </a:solidFill>
                <a:effectLst/>
                <a:latin typeface="JetBrains Mono"/>
              </a:rPr>
              <a:t> </a:t>
            </a:r>
            <a:r>
              <a:rPr lang="en-US" altLang="zh-TW" sz="1800" dirty="0">
                <a:solidFill>
                  <a:srgbClr val="CF8E6D"/>
                </a:solidFill>
                <a:effectLst/>
                <a:latin typeface="JetBrains Mono"/>
              </a:rPr>
              <a:t>as </a:t>
            </a:r>
            <a:r>
              <a:rPr lang="en-US" altLang="zh-TW" sz="1800" dirty="0">
                <a:solidFill>
                  <a:srgbClr val="BCBEC4"/>
                </a:solidFill>
                <a:effectLst/>
                <a:latin typeface="JetBrains Mono"/>
              </a:rPr>
              <a:t>transforms</a:t>
            </a:r>
            <a:br>
              <a:rPr lang="en-US" altLang="zh-TW" sz="1800" dirty="0">
                <a:solidFill>
                  <a:srgbClr val="BCBEC4"/>
                </a:solidFill>
                <a:effectLst/>
                <a:latin typeface="JetBrains Mono"/>
              </a:rPr>
            </a:br>
            <a:r>
              <a:rPr lang="en-US" altLang="zh-TW" sz="1800" dirty="0">
                <a:solidFill>
                  <a:srgbClr val="CF8E6D"/>
                </a:solidFill>
                <a:effectLst/>
                <a:latin typeface="JetBrains Mono"/>
              </a:rPr>
              <a:t>import </a:t>
            </a:r>
            <a:r>
              <a:rPr lang="en-US" altLang="zh-TW" sz="1800" dirty="0" err="1">
                <a:solidFill>
                  <a:srgbClr val="BCBEC4"/>
                </a:solidFill>
                <a:effectLst/>
                <a:latin typeface="JetBrains Mono"/>
              </a:rPr>
              <a:t>matplotlib.pyplot</a:t>
            </a:r>
            <a:r>
              <a:rPr lang="en-US" altLang="zh-TW" sz="1800" dirty="0">
                <a:solidFill>
                  <a:srgbClr val="BCBEC4"/>
                </a:solidFill>
                <a:effectLst/>
                <a:latin typeface="JetBrains Mono"/>
              </a:rPr>
              <a:t> </a:t>
            </a:r>
            <a:r>
              <a:rPr lang="en-US" altLang="zh-TW" sz="1800" dirty="0">
                <a:solidFill>
                  <a:srgbClr val="CF8E6D"/>
                </a:solidFill>
                <a:effectLst/>
                <a:latin typeface="JetBrains Mono"/>
              </a:rPr>
              <a:t>as </a:t>
            </a:r>
            <a:r>
              <a:rPr lang="en-US" altLang="zh-TW" sz="1800" dirty="0" err="1">
                <a:solidFill>
                  <a:srgbClr val="BCBEC4"/>
                </a:solidFill>
                <a:effectLst/>
                <a:latin typeface="JetBrains Mono"/>
              </a:rPr>
              <a:t>plt</a:t>
            </a:r>
            <a:br>
              <a:rPr lang="en-US" altLang="zh-TW" sz="1800" dirty="0">
                <a:solidFill>
                  <a:srgbClr val="BCBEC4"/>
                </a:solidFill>
                <a:effectLst/>
                <a:latin typeface="JetBrains Mono"/>
              </a:rPr>
            </a:br>
            <a:r>
              <a:rPr lang="en-US" altLang="zh-TW" sz="1800" dirty="0">
                <a:solidFill>
                  <a:srgbClr val="CF8E6D"/>
                </a:solidFill>
                <a:effectLst/>
                <a:latin typeface="JetBrains Mono"/>
              </a:rPr>
              <a:t>import </a:t>
            </a:r>
            <a:r>
              <a:rPr lang="en-US" altLang="zh-TW" sz="1800" dirty="0" err="1">
                <a:solidFill>
                  <a:srgbClr val="BCBEC4"/>
                </a:solidFill>
                <a:effectLst/>
                <a:latin typeface="JetBrains Mono"/>
              </a:rPr>
              <a:t>numpy</a:t>
            </a:r>
            <a:r>
              <a:rPr lang="en-US" altLang="zh-TW" sz="1800" dirty="0">
                <a:solidFill>
                  <a:srgbClr val="BCBEC4"/>
                </a:solidFill>
                <a:effectLst/>
                <a:latin typeface="JetBrains Mono"/>
              </a:rPr>
              <a:t> </a:t>
            </a:r>
            <a:r>
              <a:rPr lang="en-US" altLang="zh-TW" sz="1800" dirty="0">
                <a:solidFill>
                  <a:srgbClr val="CF8E6D"/>
                </a:solidFill>
                <a:effectLst/>
                <a:latin typeface="JetBrains Mono"/>
              </a:rPr>
              <a:t>as </a:t>
            </a:r>
            <a:r>
              <a:rPr lang="en-US" altLang="zh-TW" sz="1800" dirty="0">
                <a:solidFill>
                  <a:srgbClr val="BCBEC4"/>
                </a:solidFill>
                <a:effectLst/>
                <a:latin typeface="JetBrains Mono"/>
              </a:rPr>
              <a:t>np</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BCBEC4"/>
                </a:solidFill>
                <a:effectLst/>
                <a:latin typeface="JetBrains Mono"/>
              </a:rPr>
              <a:t>classes = (</a:t>
            </a:r>
            <a:r>
              <a:rPr lang="en-US" altLang="zh-TW" sz="1800" dirty="0">
                <a:solidFill>
                  <a:srgbClr val="6AAB73"/>
                </a:solidFill>
                <a:effectLst/>
                <a:latin typeface="JetBrains Mono"/>
              </a:rPr>
              <a:t>'plane'</a:t>
            </a:r>
            <a:r>
              <a:rPr lang="en-US" altLang="zh-TW" sz="1800" dirty="0">
                <a:solidFill>
                  <a:srgbClr val="BCBEC4"/>
                </a:solidFill>
                <a:effectLst/>
                <a:latin typeface="JetBrains Mono"/>
              </a:rPr>
              <a:t>, </a:t>
            </a:r>
            <a:r>
              <a:rPr lang="en-US" altLang="zh-TW" sz="1800" dirty="0">
                <a:solidFill>
                  <a:srgbClr val="6AAB73"/>
                </a:solidFill>
                <a:effectLst/>
                <a:latin typeface="JetBrains Mono"/>
              </a:rPr>
              <a:t>'car'</a:t>
            </a:r>
            <a:r>
              <a:rPr lang="en-US" altLang="zh-TW" sz="1800" dirty="0">
                <a:solidFill>
                  <a:srgbClr val="BCBEC4"/>
                </a:solidFill>
                <a:effectLst/>
                <a:latin typeface="JetBrains Mono"/>
              </a:rPr>
              <a:t>, </a:t>
            </a:r>
            <a:r>
              <a:rPr lang="en-US" altLang="zh-TW" sz="1800" dirty="0">
                <a:solidFill>
                  <a:srgbClr val="6AAB73"/>
                </a:solidFill>
                <a:effectLst/>
                <a:latin typeface="JetBrains Mono"/>
              </a:rPr>
              <a:t>'bird'</a:t>
            </a:r>
            <a:r>
              <a:rPr lang="en-US" altLang="zh-TW" sz="1800" dirty="0">
                <a:solidFill>
                  <a:srgbClr val="BCBEC4"/>
                </a:solidFill>
                <a:effectLst/>
                <a:latin typeface="JetBrains Mono"/>
              </a:rPr>
              <a:t>, </a:t>
            </a:r>
            <a:r>
              <a:rPr lang="en-US" altLang="zh-TW" sz="1800" dirty="0">
                <a:solidFill>
                  <a:srgbClr val="6AAB73"/>
                </a:solidFill>
                <a:effectLst/>
                <a:latin typeface="JetBrains Mono"/>
              </a:rPr>
              <a:t>'cat'</a:t>
            </a:r>
            <a:r>
              <a:rPr lang="en-US" altLang="zh-TW" sz="1800" dirty="0">
                <a:solidFill>
                  <a:srgbClr val="BCBEC4"/>
                </a:solidFill>
                <a:effectLst/>
                <a:latin typeface="JetBrains Mono"/>
              </a:rPr>
              <a:t>, </a:t>
            </a:r>
            <a:r>
              <a:rPr lang="en-US" altLang="zh-TW" sz="1800" dirty="0">
                <a:solidFill>
                  <a:srgbClr val="6AAB73"/>
                </a:solidFill>
                <a:effectLst/>
                <a:latin typeface="JetBrains Mono"/>
              </a:rPr>
              <a:t>'deer'</a:t>
            </a:r>
            <a:r>
              <a:rPr lang="en-US" altLang="zh-TW" sz="1800" dirty="0">
                <a:solidFill>
                  <a:srgbClr val="BCBEC4"/>
                </a:solidFill>
                <a:effectLst/>
                <a:latin typeface="JetBrains Mono"/>
              </a:rPr>
              <a:t>, </a:t>
            </a:r>
            <a:r>
              <a:rPr lang="en-US" altLang="zh-TW" sz="1800" dirty="0">
                <a:solidFill>
                  <a:srgbClr val="6AAB73"/>
                </a:solidFill>
                <a:effectLst/>
                <a:latin typeface="JetBrains Mono"/>
              </a:rPr>
              <a:t>'dog'</a:t>
            </a:r>
            <a:r>
              <a:rPr lang="en-US" altLang="zh-TW" sz="1800" dirty="0">
                <a:solidFill>
                  <a:srgbClr val="BCBEC4"/>
                </a:solidFill>
                <a:effectLst/>
                <a:latin typeface="JetBrains Mono"/>
              </a:rPr>
              <a:t>, </a:t>
            </a:r>
            <a:r>
              <a:rPr lang="en-US" altLang="zh-TW" sz="1800" dirty="0">
                <a:solidFill>
                  <a:srgbClr val="6AAB73"/>
                </a:solidFill>
                <a:effectLst/>
                <a:latin typeface="JetBrains Mono"/>
              </a:rPr>
              <a:t>'frog'</a:t>
            </a:r>
            <a:r>
              <a:rPr lang="en-US" altLang="zh-TW" sz="1800" dirty="0">
                <a:solidFill>
                  <a:srgbClr val="BCBEC4"/>
                </a:solidFill>
                <a:effectLst/>
                <a:latin typeface="JetBrains Mono"/>
              </a:rPr>
              <a:t>, </a:t>
            </a:r>
            <a:r>
              <a:rPr lang="en-US" altLang="zh-TW" sz="1800" dirty="0">
                <a:solidFill>
                  <a:srgbClr val="6AAB73"/>
                </a:solidFill>
                <a:effectLst/>
                <a:latin typeface="JetBrains Mono"/>
              </a:rPr>
              <a:t>'horse'</a:t>
            </a:r>
            <a:r>
              <a:rPr lang="en-US" altLang="zh-TW" sz="1800" dirty="0">
                <a:solidFill>
                  <a:srgbClr val="BCBEC4"/>
                </a:solidFill>
                <a:effectLst/>
                <a:latin typeface="JetBrains Mono"/>
              </a:rPr>
              <a:t>, </a:t>
            </a:r>
            <a:r>
              <a:rPr lang="en-US" altLang="zh-TW" sz="1800" dirty="0">
                <a:solidFill>
                  <a:srgbClr val="6AAB73"/>
                </a:solidFill>
                <a:effectLst/>
                <a:latin typeface="JetBrains Mono"/>
              </a:rPr>
              <a:t>'ship'</a:t>
            </a:r>
            <a:r>
              <a:rPr lang="en-US" altLang="zh-TW" sz="1800" dirty="0">
                <a:solidFill>
                  <a:srgbClr val="BCBEC4"/>
                </a:solidFill>
                <a:effectLst/>
                <a:latin typeface="JetBrains Mono"/>
              </a:rPr>
              <a:t>, </a:t>
            </a:r>
            <a:r>
              <a:rPr lang="en-US" altLang="zh-TW" sz="1800" dirty="0">
                <a:solidFill>
                  <a:srgbClr val="6AAB73"/>
                </a:solidFill>
                <a:effectLst/>
                <a:latin typeface="JetBrains Mono"/>
              </a:rPr>
              <a:t>'truck'</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BCBEC4"/>
                </a:solidFill>
                <a:effectLst/>
                <a:latin typeface="JetBrains Mono"/>
              </a:rPr>
              <a:t>transform = </a:t>
            </a:r>
            <a:r>
              <a:rPr lang="en-US" altLang="zh-TW" sz="1800" dirty="0" err="1">
                <a:solidFill>
                  <a:srgbClr val="BCBEC4"/>
                </a:solidFill>
                <a:effectLst/>
                <a:latin typeface="JetBrains Mono"/>
              </a:rPr>
              <a:t>transforms.Compose</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transforms.ToTensor</a:t>
            </a:r>
            <a:r>
              <a:rPr lang="en-US" altLang="zh-TW" sz="1800" dirty="0">
                <a:solidFill>
                  <a:srgbClr val="BCBEC4"/>
                </a:solidFill>
                <a:effectLst/>
                <a:latin typeface="JetBrains Mono"/>
              </a:rPr>
              <a:t>(), </a:t>
            </a:r>
            <a:r>
              <a:rPr lang="en-US" altLang="zh-TW" sz="1800" dirty="0" err="1">
                <a:solidFill>
                  <a:srgbClr val="BCBEC4"/>
                </a:solidFill>
                <a:effectLst/>
                <a:latin typeface="JetBrains Mono"/>
              </a:rPr>
              <a:t>transforms.Normalize</a:t>
            </a:r>
            <a:r>
              <a:rPr lang="en-US" altLang="zh-TW" sz="1800" dirty="0">
                <a:solidFill>
                  <a:srgbClr val="BCBEC4"/>
                </a:solidFill>
                <a:effectLst/>
                <a:latin typeface="JetBrains Mono"/>
              </a:rPr>
              <a:t>((</a:t>
            </a:r>
            <a:r>
              <a:rPr lang="en-US" altLang="zh-TW" sz="1800" dirty="0">
                <a:solidFill>
                  <a:srgbClr val="2AACB8"/>
                </a:solidFill>
                <a:effectLst/>
                <a:latin typeface="JetBrains Mono"/>
              </a:rPr>
              <a:t>0.5</a:t>
            </a:r>
            <a:r>
              <a:rPr lang="en-US" altLang="zh-TW" sz="1800" dirty="0">
                <a:solidFill>
                  <a:srgbClr val="BCBEC4"/>
                </a:solidFill>
                <a:effectLst/>
                <a:latin typeface="JetBrains Mono"/>
              </a:rPr>
              <a:t>, </a:t>
            </a:r>
            <a:r>
              <a:rPr lang="en-US" altLang="zh-TW" sz="1800" dirty="0">
                <a:solidFill>
                  <a:srgbClr val="2AACB8"/>
                </a:solidFill>
                <a:effectLst/>
                <a:latin typeface="JetBrains Mono"/>
              </a:rPr>
              <a:t>0.5</a:t>
            </a:r>
            <a:r>
              <a:rPr lang="en-US" altLang="zh-TW" sz="1800" dirty="0">
                <a:solidFill>
                  <a:srgbClr val="BCBEC4"/>
                </a:solidFill>
                <a:effectLst/>
                <a:latin typeface="JetBrains Mono"/>
              </a:rPr>
              <a:t>, </a:t>
            </a:r>
            <a:r>
              <a:rPr lang="en-US" altLang="zh-TW" sz="1800" dirty="0">
                <a:solidFill>
                  <a:srgbClr val="2AACB8"/>
                </a:solidFill>
                <a:effectLst/>
                <a:latin typeface="JetBrains Mono"/>
              </a:rPr>
              <a:t>0.5</a:t>
            </a:r>
            <a:r>
              <a:rPr lang="en-US" altLang="zh-TW" sz="1800" dirty="0">
                <a:solidFill>
                  <a:srgbClr val="BCBEC4"/>
                </a:solidFill>
                <a:effectLst/>
                <a:latin typeface="JetBrains Mono"/>
              </a:rPr>
              <a:t>), (</a:t>
            </a:r>
            <a:r>
              <a:rPr lang="en-US" altLang="zh-TW" sz="1800" dirty="0">
                <a:solidFill>
                  <a:srgbClr val="2AACB8"/>
                </a:solidFill>
                <a:effectLst/>
                <a:latin typeface="JetBrains Mono"/>
              </a:rPr>
              <a:t>0.5</a:t>
            </a:r>
            <a:r>
              <a:rPr lang="en-US" altLang="zh-TW" sz="1800" dirty="0">
                <a:solidFill>
                  <a:srgbClr val="BCBEC4"/>
                </a:solidFill>
                <a:effectLst/>
                <a:latin typeface="JetBrains Mono"/>
              </a:rPr>
              <a:t>, </a:t>
            </a:r>
            <a:r>
              <a:rPr lang="en-US" altLang="zh-TW" sz="1800" dirty="0">
                <a:solidFill>
                  <a:srgbClr val="2AACB8"/>
                </a:solidFill>
                <a:effectLst/>
                <a:latin typeface="JetBrains Mono"/>
              </a:rPr>
              <a:t>0.5</a:t>
            </a:r>
            <a:r>
              <a:rPr lang="en-US" altLang="zh-TW" sz="1800" dirty="0">
                <a:solidFill>
                  <a:srgbClr val="BCBEC4"/>
                </a:solidFill>
                <a:effectLst/>
                <a:latin typeface="JetBrains Mono"/>
              </a:rPr>
              <a:t>, </a:t>
            </a:r>
            <a:r>
              <a:rPr lang="en-US" altLang="zh-TW" sz="1800" dirty="0">
                <a:solidFill>
                  <a:srgbClr val="2AACB8"/>
                </a:solidFill>
                <a:effectLst/>
                <a:latin typeface="JetBrains Mono"/>
              </a:rPr>
              <a:t>0.5</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err="1">
                <a:solidFill>
                  <a:srgbClr val="BCBEC4"/>
                </a:solidFill>
                <a:effectLst/>
                <a:latin typeface="JetBrains Mono"/>
              </a:rPr>
              <a:t>batch_size</a:t>
            </a:r>
            <a:r>
              <a:rPr lang="en-US" altLang="zh-TW" sz="1800" dirty="0">
                <a:solidFill>
                  <a:srgbClr val="BCBEC4"/>
                </a:solidFill>
                <a:effectLst/>
                <a:latin typeface="JetBrains Mono"/>
              </a:rPr>
              <a:t> = </a:t>
            </a:r>
            <a:r>
              <a:rPr lang="en-US" altLang="zh-TW" sz="1800" dirty="0">
                <a:solidFill>
                  <a:srgbClr val="2AACB8"/>
                </a:solidFill>
                <a:effectLst/>
                <a:latin typeface="JetBrains Mono"/>
              </a:rPr>
              <a:t>4</a:t>
            </a:r>
            <a:br>
              <a:rPr lang="en-US" altLang="zh-TW" sz="1800" dirty="0">
                <a:solidFill>
                  <a:srgbClr val="2AACB8"/>
                </a:solidFill>
                <a:effectLst/>
                <a:latin typeface="JetBrains Mono"/>
              </a:rPr>
            </a:br>
            <a:br>
              <a:rPr lang="en-US" altLang="zh-TW" sz="1800" dirty="0">
                <a:solidFill>
                  <a:srgbClr val="2AACB8"/>
                </a:solidFill>
                <a:effectLst/>
                <a:latin typeface="JetBrains Mono"/>
              </a:rPr>
            </a:br>
            <a:r>
              <a:rPr lang="en-US" altLang="zh-TW" sz="1800" dirty="0" err="1">
                <a:solidFill>
                  <a:srgbClr val="BCBEC4"/>
                </a:solidFill>
                <a:effectLst/>
                <a:latin typeface="JetBrains Mono"/>
              </a:rPr>
              <a:t>testset</a:t>
            </a:r>
            <a:r>
              <a:rPr lang="en-US" altLang="zh-TW" sz="1800" dirty="0">
                <a:solidFill>
                  <a:srgbClr val="BCBEC4"/>
                </a:solidFill>
                <a:effectLst/>
                <a:latin typeface="JetBrains Mono"/>
              </a:rPr>
              <a:t> = torchvision.datasets.CIFAR10(</a:t>
            </a:r>
            <a:r>
              <a:rPr lang="en-US" altLang="zh-TW" sz="1800" dirty="0">
                <a:solidFill>
                  <a:srgbClr val="AA4926"/>
                </a:solidFill>
                <a:effectLst/>
                <a:latin typeface="JetBrains Mono"/>
              </a:rPr>
              <a:t>root</a:t>
            </a:r>
            <a:r>
              <a:rPr lang="en-US" altLang="zh-TW" sz="1800" dirty="0">
                <a:solidFill>
                  <a:srgbClr val="BCBEC4"/>
                </a:solidFill>
                <a:effectLst/>
                <a:latin typeface="JetBrains Mono"/>
              </a:rPr>
              <a:t>=</a:t>
            </a:r>
            <a:r>
              <a:rPr lang="en-US" altLang="zh-TW" sz="1800" dirty="0">
                <a:solidFill>
                  <a:srgbClr val="6AAB73"/>
                </a:solidFill>
                <a:effectLst/>
                <a:latin typeface="JetBrains Mono"/>
              </a:rPr>
              <a:t>'../data'</a:t>
            </a:r>
            <a:r>
              <a:rPr lang="en-US" altLang="zh-TW" sz="1800" dirty="0">
                <a:solidFill>
                  <a:srgbClr val="BCBEC4"/>
                </a:solidFill>
                <a:effectLst/>
                <a:latin typeface="JetBrains Mono"/>
              </a:rPr>
              <a:t>, </a:t>
            </a:r>
            <a:r>
              <a:rPr lang="en-US" altLang="zh-TW" sz="1800" dirty="0">
                <a:solidFill>
                  <a:srgbClr val="AA4926"/>
                </a:solidFill>
                <a:effectLst/>
                <a:latin typeface="JetBrains Mono"/>
              </a:rPr>
              <a:t>train</a:t>
            </a:r>
            <a:r>
              <a:rPr lang="en-US" altLang="zh-TW" sz="1800" dirty="0">
                <a:solidFill>
                  <a:srgbClr val="BCBEC4"/>
                </a:solidFill>
                <a:effectLst/>
                <a:latin typeface="JetBrains Mono"/>
              </a:rPr>
              <a:t>=</a:t>
            </a:r>
            <a:r>
              <a:rPr lang="en-US" altLang="zh-TW" sz="1800" dirty="0">
                <a:solidFill>
                  <a:srgbClr val="CF8E6D"/>
                </a:solidFill>
                <a:effectLst/>
                <a:latin typeface="JetBrains Mono"/>
              </a:rPr>
              <a:t>False</a:t>
            </a:r>
            <a:r>
              <a:rPr lang="en-US" altLang="zh-TW" sz="1800" dirty="0">
                <a:solidFill>
                  <a:srgbClr val="BCBEC4"/>
                </a:solidFill>
                <a:effectLst/>
                <a:latin typeface="JetBrains Mono"/>
              </a:rPr>
              <a:t>, </a:t>
            </a:r>
            <a:r>
              <a:rPr lang="en-US" altLang="zh-TW" sz="1800" dirty="0">
                <a:solidFill>
                  <a:srgbClr val="AA4926"/>
                </a:solidFill>
                <a:effectLst/>
                <a:latin typeface="JetBrains Mono"/>
              </a:rPr>
              <a:t>download</a:t>
            </a:r>
            <a:r>
              <a:rPr lang="en-US" altLang="zh-TW" sz="1800" dirty="0">
                <a:solidFill>
                  <a:srgbClr val="BCBEC4"/>
                </a:solidFill>
                <a:effectLst/>
                <a:latin typeface="JetBrains Mono"/>
              </a:rPr>
              <a:t>=</a:t>
            </a:r>
            <a:r>
              <a:rPr lang="en-US" altLang="zh-TW" sz="1800" dirty="0">
                <a:solidFill>
                  <a:srgbClr val="CF8E6D"/>
                </a:solidFill>
                <a:effectLst/>
                <a:latin typeface="JetBrains Mono"/>
              </a:rPr>
              <a:t>True</a:t>
            </a:r>
            <a:r>
              <a:rPr lang="en-US" altLang="zh-TW" sz="1800" dirty="0">
                <a:solidFill>
                  <a:srgbClr val="BCBEC4"/>
                </a:solidFill>
                <a:effectLst/>
                <a:latin typeface="JetBrains Mono"/>
              </a:rPr>
              <a:t>, </a:t>
            </a:r>
            <a:r>
              <a:rPr lang="en-US" altLang="zh-TW" sz="1800" dirty="0">
                <a:solidFill>
                  <a:srgbClr val="AA4926"/>
                </a:solidFill>
                <a:effectLst/>
                <a:latin typeface="JetBrains Mono"/>
              </a:rPr>
              <a:t>transform</a:t>
            </a:r>
            <a:r>
              <a:rPr lang="en-US" altLang="zh-TW" sz="1800" dirty="0">
                <a:solidFill>
                  <a:srgbClr val="BCBEC4"/>
                </a:solidFill>
                <a:effectLst/>
                <a:latin typeface="JetBrains Mono"/>
              </a:rPr>
              <a:t>=transform)</a:t>
            </a:r>
            <a:br>
              <a:rPr lang="en-US" altLang="zh-TW" sz="1800" dirty="0">
                <a:solidFill>
                  <a:srgbClr val="BCBEC4"/>
                </a:solidFill>
                <a:effectLst/>
                <a:latin typeface="JetBrains Mono"/>
              </a:rPr>
            </a:br>
            <a:r>
              <a:rPr lang="en-US" altLang="zh-TW" sz="1800" dirty="0" err="1">
                <a:solidFill>
                  <a:srgbClr val="BCBEC4"/>
                </a:solidFill>
                <a:effectLst/>
                <a:latin typeface="JetBrains Mono"/>
              </a:rPr>
              <a:t>testloader</a:t>
            </a:r>
            <a:r>
              <a:rPr lang="en-US" altLang="zh-TW" sz="1800" dirty="0">
                <a:solidFill>
                  <a:srgbClr val="BCBEC4"/>
                </a:solidFill>
                <a:effectLst/>
                <a:latin typeface="JetBrains Mono"/>
              </a:rPr>
              <a:t> = </a:t>
            </a:r>
            <a:r>
              <a:rPr lang="en-US" altLang="zh-TW" sz="1800" dirty="0" err="1">
                <a:solidFill>
                  <a:srgbClr val="BCBEC4"/>
                </a:solidFill>
                <a:effectLst/>
                <a:latin typeface="JetBrains Mono"/>
              </a:rPr>
              <a:t>torch.utils.data.DataLoader</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testset</a:t>
            </a:r>
            <a:r>
              <a:rPr lang="en-US" altLang="zh-TW" sz="1800" dirty="0">
                <a:solidFill>
                  <a:srgbClr val="BCBEC4"/>
                </a:solidFill>
                <a:effectLst/>
                <a:latin typeface="JetBrains Mono"/>
              </a:rPr>
              <a:t>, </a:t>
            </a:r>
            <a:r>
              <a:rPr lang="en-US" altLang="zh-TW" sz="1800" dirty="0" err="1">
                <a:solidFill>
                  <a:srgbClr val="AA4926"/>
                </a:solidFill>
                <a:effectLst/>
                <a:latin typeface="JetBrains Mono"/>
              </a:rPr>
              <a:t>batch_size</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batch_size</a:t>
            </a:r>
            <a:r>
              <a:rPr lang="en-US" altLang="zh-TW" sz="1800" dirty="0">
                <a:solidFill>
                  <a:srgbClr val="BCBEC4"/>
                </a:solidFill>
                <a:effectLst/>
                <a:latin typeface="JetBrains Mono"/>
              </a:rPr>
              <a:t>, </a:t>
            </a:r>
            <a:r>
              <a:rPr lang="en-US" altLang="zh-TW" sz="1800" dirty="0">
                <a:solidFill>
                  <a:srgbClr val="AA4926"/>
                </a:solidFill>
                <a:effectLst/>
                <a:latin typeface="JetBrains Mono"/>
              </a:rPr>
              <a:t>shuffle</a:t>
            </a:r>
            <a:r>
              <a:rPr lang="en-US" altLang="zh-TW" sz="1800" dirty="0">
                <a:solidFill>
                  <a:srgbClr val="BCBEC4"/>
                </a:solidFill>
                <a:effectLst/>
                <a:latin typeface="JetBrains Mono"/>
              </a:rPr>
              <a:t>=</a:t>
            </a:r>
            <a:r>
              <a:rPr lang="en-US" altLang="zh-TW" sz="1800" dirty="0">
                <a:solidFill>
                  <a:srgbClr val="CF8E6D"/>
                </a:solidFill>
                <a:effectLst/>
                <a:latin typeface="JetBrains Mono"/>
              </a:rPr>
              <a:t>False</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BCBEC4"/>
                </a:solidFill>
                <a:effectLst/>
                <a:latin typeface="JetBrains Mono"/>
              </a:rPr>
              <a:t>PATH = </a:t>
            </a:r>
            <a:r>
              <a:rPr lang="en-US" altLang="zh-TW" sz="1800" dirty="0">
                <a:solidFill>
                  <a:srgbClr val="6AAB73"/>
                </a:solidFill>
                <a:effectLst/>
                <a:latin typeface="JetBrains Mono"/>
              </a:rPr>
              <a:t>'./</a:t>
            </a:r>
            <a:r>
              <a:rPr lang="en-US" altLang="zh-TW" sz="1800" dirty="0" err="1">
                <a:solidFill>
                  <a:srgbClr val="6AAB73"/>
                </a:solidFill>
                <a:effectLst/>
                <a:latin typeface="JetBrains Mono"/>
              </a:rPr>
              <a:t>cifar_net.pth</a:t>
            </a:r>
            <a:r>
              <a:rPr lang="en-US" altLang="zh-TW" sz="1800" dirty="0">
                <a:solidFill>
                  <a:srgbClr val="6AAB73"/>
                </a:solidFill>
                <a:effectLst/>
                <a:latin typeface="JetBrains Mono"/>
              </a:rPr>
              <a:t>'</a:t>
            </a:r>
            <a:br>
              <a:rPr lang="en-US" altLang="zh-TW" sz="1800" dirty="0">
                <a:solidFill>
                  <a:srgbClr val="6AAB73"/>
                </a:solidFill>
                <a:effectLst/>
                <a:latin typeface="JetBrains Mono"/>
              </a:rPr>
            </a:br>
            <a:r>
              <a:rPr lang="en-US" altLang="zh-TW" sz="1800" dirty="0">
                <a:solidFill>
                  <a:srgbClr val="BCBEC4"/>
                </a:solidFill>
                <a:effectLst/>
                <a:latin typeface="JetBrains Mono"/>
              </a:rPr>
              <a:t>device = </a:t>
            </a:r>
            <a:r>
              <a:rPr lang="en-US" altLang="zh-TW" sz="1800" dirty="0">
                <a:solidFill>
                  <a:srgbClr val="6AAB73"/>
                </a:solidFill>
                <a:effectLst/>
                <a:latin typeface="JetBrains Mono"/>
              </a:rPr>
              <a:t>"</a:t>
            </a:r>
            <a:r>
              <a:rPr lang="en-US" altLang="zh-TW" sz="1800" dirty="0" err="1">
                <a:solidFill>
                  <a:srgbClr val="6AAB73"/>
                </a:solidFill>
                <a:effectLst/>
                <a:latin typeface="JetBrains Mono"/>
              </a:rPr>
              <a:t>cuda</a:t>
            </a:r>
            <a:r>
              <a:rPr lang="en-US" altLang="zh-TW" sz="1800" dirty="0">
                <a:solidFill>
                  <a:srgbClr val="6AAB73"/>
                </a:solidFill>
                <a:effectLst/>
                <a:latin typeface="JetBrains Mono"/>
              </a:rPr>
              <a:t>"  </a:t>
            </a:r>
            <a:r>
              <a:rPr lang="en-US" altLang="zh-TW" sz="1800" dirty="0">
                <a:solidFill>
                  <a:srgbClr val="CF8E6D"/>
                </a:solidFill>
                <a:effectLst/>
                <a:latin typeface="JetBrains Mono"/>
              </a:rPr>
              <a:t>if </a:t>
            </a:r>
            <a:r>
              <a:rPr lang="en-US" altLang="zh-TW" sz="1800" dirty="0" err="1">
                <a:solidFill>
                  <a:srgbClr val="BCBEC4"/>
                </a:solidFill>
                <a:effectLst/>
                <a:latin typeface="JetBrains Mono"/>
              </a:rPr>
              <a:t>torch.cuda.is_available</a:t>
            </a:r>
            <a:r>
              <a:rPr lang="en-US" altLang="zh-TW" sz="1800" dirty="0">
                <a:solidFill>
                  <a:srgbClr val="BCBEC4"/>
                </a:solidFill>
                <a:effectLst/>
                <a:latin typeface="JetBrains Mono"/>
              </a:rPr>
              <a:t>() </a:t>
            </a:r>
            <a:r>
              <a:rPr lang="en-US" altLang="zh-TW" sz="1800" dirty="0">
                <a:solidFill>
                  <a:srgbClr val="CF8E6D"/>
                </a:solidFill>
                <a:effectLst/>
                <a:latin typeface="JetBrains Mono"/>
              </a:rPr>
              <a:t>else </a:t>
            </a:r>
            <a:r>
              <a:rPr lang="en-US" altLang="zh-TW" sz="1800" dirty="0">
                <a:solidFill>
                  <a:srgbClr val="6AAB73"/>
                </a:solidFill>
                <a:effectLst/>
                <a:latin typeface="JetBrains Mono"/>
              </a:rPr>
              <a:t>"</a:t>
            </a:r>
            <a:r>
              <a:rPr lang="en-US" altLang="zh-TW" sz="1800" dirty="0" err="1">
                <a:solidFill>
                  <a:srgbClr val="6AAB73"/>
                </a:solidFill>
                <a:effectLst/>
                <a:latin typeface="JetBrains Mono"/>
              </a:rPr>
              <a:t>cpu</a:t>
            </a:r>
            <a:r>
              <a:rPr lang="en-US" altLang="zh-TW" sz="1800" dirty="0">
                <a:solidFill>
                  <a:srgbClr val="6AAB73"/>
                </a:solidFill>
                <a:effectLst/>
                <a:latin typeface="JetBrains Mono"/>
              </a:rPr>
              <a:t>"</a:t>
            </a:r>
            <a:br>
              <a:rPr lang="en-US" altLang="zh-TW" sz="1800" dirty="0">
                <a:solidFill>
                  <a:srgbClr val="6AAB73"/>
                </a:solidFill>
                <a:effectLst/>
                <a:latin typeface="JetBrains Mono"/>
              </a:rPr>
            </a:br>
            <a:r>
              <a:rPr lang="en-US" altLang="zh-TW" sz="1800" dirty="0">
                <a:solidFill>
                  <a:srgbClr val="CF8E6D"/>
                </a:solidFill>
                <a:effectLst/>
                <a:latin typeface="JetBrains Mono"/>
              </a:rPr>
              <a:t>class </a:t>
            </a:r>
            <a:r>
              <a:rPr lang="en-US" altLang="zh-TW" sz="1800" dirty="0">
                <a:solidFill>
                  <a:srgbClr val="BCBEC4"/>
                </a:solidFill>
                <a:effectLst/>
                <a:latin typeface="JetBrains Mono"/>
              </a:rPr>
              <a:t>Net(</a:t>
            </a:r>
            <a:r>
              <a:rPr lang="en-US" altLang="zh-TW" sz="1800" dirty="0" err="1">
                <a:solidFill>
                  <a:srgbClr val="BCBEC4"/>
                </a:solidFill>
                <a:effectLst/>
                <a:latin typeface="JetBrains Mono"/>
              </a:rPr>
              <a:t>nn.Module</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CF8E6D"/>
                </a:solidFill>
                <a:effectLst/>
                <a:latin typeface="JetBrains Mono"/>
              </a:rPr>
              <a:t>def </a:t>
            </a:r>
            <a:r>
              <a:rPr lang="en-US" altLang="zh-TW" sz="1800" dirty="0">
                <a:solidFill>
                  <a:srgbClr val="B200B2"/>
                </a:solidFill>
                <a:effectLst/>
                <a:latin typeface="JetBrains Mono"/>
              </a:rPr>
              <a:t>__</a:t>
            </a:r>
            <a:r>
              <a:rPr lang="en-US" altLang="zh-TW" sz="1800" dirty="0" err="1">
                <a:solidFill>
                  <a:srgbClr val="B200B2"/>
                </a:solidFill>
                <a:effectLst/>
                <a:latin typeface="JetBrains Mono"/>
              </a:rPr>
              <a:t>init</a:t>
            </a:r>
            <a:r>
              <a:rPr lang="en-US" altLang="zh-TW" sz="1800" dirty="0">
                <a:solidFill>
                  <a:srgbClr val="B200B2"/>
                </a:solidFill>
                <a:effectLst/>
                <a:latin typeface="JetBrains Mono"/>
              </a:rPr>
              <a:t>__</a:t>
            </a:r>
            <a:r>
              <a:rPr lang="en-US" altLang="zh-TW" sz="1800" dirty="0">
                <a:solidFill>
                  <a:srgbClr val="BCBEC4"/>
                </a:solidFill>
                <a:effectLst/>
                <a:latin typeface="JetBrains Mono"/>
              </a:rPr>
              <a:t>(</a:t>
            </a:r>
            <a:r>
              <a:rPr lang="en-US" altLang="zh-TW" sz="1800" dirty="0">
                <a:solidFill>
                  <a:srgbClr val="94558D"/>
                </a:solidFill>
                <a:effectLst/>
                <a:latin typeface="JetBrains Mono"/>
              </a:rPr>
              <a:t>self</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8888C6"/>
                </a:solidFill>
                <a:effectLst/>
                <a:latin typeface="JetBrains Mono"/>
              </a:rPr>
              <a:t>super</a:t>
            </a:r>
            <a:r>
              <a:rPr lang="en-US" altLang="zh-TW" sz="1800" dirty="0">
                <a:solidFill>
                  <a:srgbClr val="BCBEC4"/>
                </a:solidFill>
                <a:effectLst/>
                <a:latin typeface="JetBrains Mono"/>
              </a:rPr>
              <a:t>().</a:t>
            </a:r>
            <a:r>
              <a:rPr lang="en-US" altLang="zh-TW" sz="1800" dirty="0">
                <a:solidFill>
                  <a:srgbClr val="B200B2"/>
                </a:solidFill>
                <a:effectLst/>
                <a:latin typeface="JetBrains Mono"/>
              </a:rPr>
              <a:t>__</a:t>
            </a:r>
            <a:r>
              <a:rPr lang="en-US" altLang="zh-TW" sz="1800" dirty="0" err="1">
                <a:solidFill>
                  <a:srgbClr val="B200B2"/>
                </a:solidFill>
                <a:effectLst/>
                <a:latin typeface="JetBrains Mono"/>
              </a:rPr>
              <a:t>init</a:t>
            </a:r>
            <a:r>
              <a:rPr lang="en-US" altLang="zh-TW" sz="1800" dirty="0">
                <a:solidFill>
                  <a:srgbClr val="B200B2"/>
                </a:solidFill>
                <a:effectLst/>
                <a:latin typeface="JetBrains Mono"/>
              </a:rPr>
              <a:t>__</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94558D"/>
                </a:solidFill>
                <a:effectLst/>
                <a:latin typeface="JetBrains Mono"/>
              </a:rPr>
              <a:t>self</a:t>
            </a:r>
            <a:r>
              <a:rPr lang="en-US" altLang="zh-TW" sz="1800" dirty="0">
                <a:solidFill>
                  <a:srgbClr val="BCBEC4"/>
                </a:solidFill>
                <a:effectLst/>
                <a:latin typeface="JetBrains Mono"/>
              </a:rPr>
              <a:t>.conv1 = nn.Conv2d(</a:t>
            </a:r>
            <a:r>
              <a:rPr lang="en-US" altLang="zh-TW" sz="1800" dirty="0">
                <a:solidFill>
                  <a:srgbClr val="2AACB8"/>
                </a:solidFill>
                <a:effectLst/>
                <a:latin typeface="JetBrains Mono"/>
              </a:rPr>
              <a:t>3</a:t>
            </a:r>
            <a:r>
              <a:rPr lang="en-US" altLang="zh-TW" sz="1800" dirty="0">
                <a:solidFill>
                  <a:srgbClr val="BCBEC4"/>
                </a:solidFill>
                <a:effectLst/>
                <a:latin typeface="JetBrains Mono"/>
              </a:rPr>
              <a:t>, </a:t>
            </a:r>
            <a:r>
              <a:rPr lang="en-US" altLang="zh-TW" sz="1800" dirty="0">
                <a:solidFill>
                  <a:srgbClr val="2AACB8"/>
                </a:solidFill>
                <a:effectLst/>
                <a:latin typeface="JetBrains Mono"/>
              </a:rPr>
              <a:t>6</a:t>
            </a:r>
            <a:r>
              <a:rPr lang="en-US" altLang="zh-TW" sz="1800" dirty="0">
                <a:solidFill>
                  <a:srgbClr val="BCBEC4"/>
                </a:solidFill>
                <a:effectLst/>
                <a:latin typeface="JetBrains Mono"/>
              </a:rPr>
              <a:t>, </a:t>
            </a:r>
            <a:r>
              <a:rPr lang="en-US" altLang="zh-TW" sz="1800" dirty="0">
                <a:solidFill>
                  <a:srgbClr val="2AACB8"/>
                </a:solidFill>
                <a:effectLst/>
                <a:latin typeface="JetBrains Mono"/>
              </a:rPr>
              <a:t>5</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94558D"/>
                </a:solidFill>
                <a:effectLst/>
                <a:latin typeface="JetBrains Mono"/>
              </a:rPr>
              <a:t>self</a:t>
            </a:r>
            <a:r>
              <a:rPr lang="en-US" altLang="zh-TW" sz="1800" dirty="0" err="1">
                <a:solidFill>
                  <a:srgbClr val="BCBEC4"/>
                </a:solidFill>
                <a:effectLst/>
                <a:latin typeface="JetBrains Mono"/>
              </a:rPr>
              <a:t>.pool</a:t>
            </a:r>
            <a:r>
              <a:rPr lang="en-US" altLang="zh-TW" sz="1800" dirty="0">
                <a:solidFill>
                  <a:srgbClr val="BCBEC4"/>
                </a:solidFill>
                <a:effectLst/>
                <a:latin typeface="JetBrains Mono"/>
              </a:rPr>
              <a:t> = nn.MaxPool2d(</a:t>
            </a:r>
            <a:r>
              <a:rPr lang="en-US" altLang="zh-TW" sz="1800" dirty="0">
                <a:solidFill>
                  <a:srgbClr val="2AACB8"/>
                </a:solidFill>
                <a:effectLst/>
                <a:latin typeface="JetBrains Mono"/>
              </a:rPr>
              <a:t>2</a:t>
            </a:r>
            <a:r>
              <a:rPr lang="en-US" altLang="zh-TW" sz="1800" dirty="0">
                <a:solidFill>
                  <a:srgbClr val="BCBEC4"/>
                </a:solidFill>
                <a:effectLst/>
                <a:latin typeface="JetBrains Mono"/>
              </a:rPr>
              <a:t>, </a:t>
            </a:r>
            <a:r>
              <a:rPr lang="en-US" altLang="zh-TW" sz="1800" dirty="0">
                <a:solidFill>
                  <a:srgbClr val="2AACB8"/>
                </a:solidFill>
                <a:effectLst/>
                <a:latin typeface="JetBrains Mono"/>
              </a:rPr>
              <a:t>2</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94558D"/>
                </a:solidFill>
                <a:effectLst/>
                <a:latin typeface="JetBrains Mono"/>
              </a:rPr>
              <a:t>self</a:t>
            </a:r>
            <a:r>
              <a:rPr lang="en-US" altLang="zh-TW" sz="1800" dirty="0">
                <a:solidFill>
                  <a:srgbClr val="BCBEC4"/>
                </a:solidFill>
                <a:effectLst/>
                <a:latin typeface="JetBrains Mono"/>
              </a:rPr>
              <a:t>.conv2 = nn.Conv2d(</a:t>
            </a:r>
            <a:r>
              <a:rPr lang="en-US" altLang="zh-TW" sz="1800" dirty="0">
                <a:solidFill>
                  <a:srgbClr val="2AACB8"/>
                </a:solidFill>
                <a:effectLst/>
                <a:latin typeface="JetBrains Mono"/>
              </a:rPr>
              <a:t>6</a:t>
            </a:r>
            <a:r>
              <a:rPr lang="en-US" altLang="zh-TW" sz="1800" dirty="0">
                <a:solidFill>
                  <a:srgbClr val="BCBEC4"/>
                </a:solidFill>
                <a:effectLst/>
                <a:latin typeface="JetBrains Mono"/>
              </a:rPr>
              <a:t>, </a:t>
            </a:r>
            <a:r>
              <a:rPr lang="en-US" altLang="zh-TW" sz="1800" dirty="0">
                <a:solidFill>
                  <a:srgbClr val="2AACB8"/>
                </a:solidFill>
                <a:effectLst/>
                <a:latin typeface="JetBrains Mono"/>
              </a:rPr>
              <a:t>16</a:t>
            </a:r>
            <a:r>
              <a:rPr lang="en-US" altLang="zh-TW" sz="1800" dirty="0">
                <a:solidFill>
                  <a:srgbClr val="BCBEC4"/>
                </a:solidFill>
                <a:effectLst/>
                <a:latin typeface="JetBrains Mono"/>
              </a:rPr>
              <a:t>, </a:t>
            </a:r>
            <a:r>
              <a:rPr lang="en-US" altLang="zh-TW" sz="1800" dirty="0">
                <a:solidFill>
                  <a:srgbClr val="2AACB8"/>
                </a:solidFill>
                <a:effectLst/>
                <a:latin typeface="JetBrains Mono"/>
              </a:rPr>
              <a:t>5</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94558D"/>
                </a:solidFill>
                <a:effectLst/>
                <a:latin typeface="JetBrains Mono"/>
              </a:rPr>
              <a:t>self</a:t>
            </a:r>
            <a:r>
              <a:rPr lang="en-US" altLang="zh-TW" sz="1800" dirty="0">
                <a:solidFill>
                  <a:srgbClr val="BCBEC4"/>
                </a:solidFill>
                <a:effectLst/>
                <a:latin typeface="JetBrains Mono"/>
              </a:rPr>
              <a:t>.fc1 = </a:t>
            </a:r>
            <a:r>
              <a:rPr lang="en-US" altLang="zh-TW" sz="1800" dirty="0" err="1">
                <a:solidFill>
                  <a:srgbClr val="BCBEC4"/>
                </a:solidFill>
                <a:effectLst/>
                <a:latin typeface="JetBrains Mono"/>
              </a:rPr>
              <a:t>nn.Linear</a:t>
            </a:r>
            <a:r>
              <a:rPr lang="en-US" altLang="zh-TW" sz="1800" dirty="0">
                <a:solidFill>
                  <a:srgbClr val="BCBEC4"/>
                </a:solidFill>
                <a:effectLst/>
                <a:latin typeface="JetBrains Mono"/>
              </a:rPr>
              <a:t>(</a:t>
            </a:r>
            <a:r>
              <a:rPr lang="en-US" altLang="zh-TW" sz="1800" dirty="0">
                <a:solidFill>
                  <a:srgbClr val="2AACB8"/>
                </a:solidFill>
                <a:effectLst/>
                <a:latin typeface="JetBrains Mono"/>
              </a:rPr>
              <a:t>16 </a:t>
            </a:r>
            <a:r>
              <a:rPr lang="en-US" altLang="zh-TW" sz="1800" dirty="0">
                <a:solidFill>
                  <a:srgbClr val="BCBEC4"/>
                </a:solidFill>
                <a:effectLst/>
                <a:latin typeface="JetBrains Mono"/>
              </a:rPr>
              <a:t>* </a:t>
            </a:r>
            <a:r>
              <a:rPr lang="en-US" altLang="zh-TW" sz="1800" dirty="0">
                <a:solidFill>
                  <a:srgbClr val="2AACB8"/>
                </a:solidFill>
                <a:effectLst/>
                <a:latin typeface="JetBrains Mono"/>
              </a:rPr>
              <a:t>5 </a:t>
            </a:r>
            <a:r>
              <a:rPr lang="en-US" altLang="zh-TW" sz="1800" dirty="0">
                <a:solidFill>
                  <a:srgbClr val="BCBEC4"/>
                </a:solidFill>
                <a:effectLst/>
                <a:latin typeface="JetBrains Mono"/>
              </a:rPr>
              <a:t>* </a:t>
            </a:r>
            <a:r>
              <a:rPr lang="en-US" altLang="zh-TW" sz="1800" dirty="0">
                <a:solidFill>
                  <a:srgbClr val="2AACB8"/>
                </a:solidFill>
                <a:effectLst/>
                <a:latin typeface="JetBrains Mono"/>
              </a:rPr>
              <a:t>5</a:t>
            </a:r>
            <a:r>
              <a:rPr lang="en-US" altLang="zh-TW" sz="1800" dirty="0">
                <a:solidFill>
                  <a:srgbClr val="BCBEC4"/>
                </a:solidFill>
                <a:effectLst/>
                <a:latin typeface="JetBrains Mono"/>
              </a:rPr>
              <a:t>, </a:t>
            </a:r>
            <a:r>
              <a:rPr lang="en-US" altLang="zh-TW" sz="1800" dirty="0">
                <a:solidFill>
                  <a:srgbClr val="2AACB8"/>
                </a:solidFill>
                <a:effectLst/>
                <a:latin typeface="JetBrains Mono"/>
              </a:rPr>
              <a:t>120</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94558D"/>
                </a:solidFill>
                <a:effectLst/>
                <a:latin typeface="JetBrains Mono"/>
              </a:rPr>
              <a:t>self</a:t>
            </a:r>
            <a:r>
              <a:rPr lang="en-US" altLang="zh-TW" sz="1800" dirty="0">
                <a:solidFill>
                  <a:srgbClr val="BCBEC4"/>
                </a:solidFill>
                <a:effectLst/>
                <a:latin typeface="JetBrains Mono"/>
              </a:rPr>
              <a:t>.fc2 = </a:t>
            </a:r>
            <a:r>
              <a:rPr lang="en-US" altLang="zh-TW" sz="1800" dirty="0" err="1">
                <a:solidFill>
                  <a:srgbClr val="BCBEC4"/>
                </a:solidFill>
                <a:effectLst/>
                <a:latin typeface="JetBrains Mono"/>
              </a:rPr>
              <a:t>nn.Linear</a:t>
            </a:r>
            <a:r>
              <a:rPr lang="en-US" altLang="zh-TW" sz="1800" dirty="0">
                <a:solidFill>
                  <a:srgbClr val="BCBEC4"/>
                </a:solidFill>
                <a:effectLst/>
                <a:latin typeface="JetBrains Mono"/>
              </a:rPr>
              <a:t>(</a:t>
            </a:r>
            <a:r>
              <a:rPr lang="en-US" altLang="zh-TW" sz="1800" dirty="0">
                <a:solidFill>
                  <a:srgbClr val="2AACB8"/>
                </a:solidFill>
                <a:effectLst/>
                <a:latin typeface="JetBrains Mono"/>
              </a:rPr>
              <a:t>120</a:t>
            </a:r>
            <a:r>
              <a:rPr lang="en-US" altLang="zh-TW" sz="1800" dirty="0">
                <a:solidFill>
                  <a:srgbClr val="BCBEC4"/>
                </a:solidFill>
                <a:effectLst/>
                <a:latin typeface="JetBrains Mono"/>
              </a:rPr>
              <a:t>, </a:t>
            </a:r>
            <a:r>
              <a:rPr lang="en-US" altLang="zh-TW" sz="1800" dirty="0">
                <a:solidFill>
                  <a:srgbClr val="2AACB8"/>
                </a:solidFill>
                <a:effectLst/>
                <a:latin typeface="JetBrains Mono"/>
              </a:rPr>
              <a:t>84</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94558D"/>
                </a:solidFill>
                <a:effectLst/>
                <a:latin typeface="JetBrains Mono"/>
              </a:rPr>
              <a:t>self</a:t>
            </a:r>
            <a:r>
              <a:rPr lang="en-US" altLang="zh-TW" sz="1800" dirty="0">
                <a:solidFill>
                  <a:srgbClr val="BCBEC4"/>
                </a:solidFill>
                <a:effectLst/>
                <a:latin typeface="JetBrains Mono"/>
              </a:rPr>
              <a:t>.fc3 = </a:t>
            </a:r>
            <a:r>
              <a:rPr lang="en-US" altLang="zh-TW" sz="1800" dirty="0" err="1">
                <a:solidFill>
                  <a:srgbClr val="BCBEC4"/>
                </a:solidFill>
                <a:effectLst/>
                <a:latin typeface="JetBrains Mono"/>
              </a:rPr>
              <a:t>nn.Linear</a:t>
            </a:r>
            <a:r>
              <a:rPr lang="en-US" altLang="zh-TW" sz="1800" dirty="0">
                <a:solidFill>
                  <a:srgbClr val="BCBEC4"/>
                </a:solidFill>
                <a:effectLst/>
                <a:latin typeface="JetBrains Mono"/>
              </a:rPr>
              <a:t>(</a:t>
            </a:r>
            <a:r>
              <a:rPr lang="en-US" altLang="zh-TW" sz="1800" dirty="0">
                <a:solidFill>
                  <a:srgbClr val="2AACB8"/>
                </a:solidFill>
                <a:effectLst/>
                <a:latin typeface="JetBrains Mono"/>
              </a:rPr>
              <a:t>84</a:t>
            </a:r>
            <a:r>
              <a:rPr lang="en-US" altLang="zh-TW" sz="1800" dirty="0">
                <a:solidFill>
                  <a:srgbClr val="BCBEC4"/>
                </a:solidFill>
                <a:effectLst/>
                <a:latin typeface="JetBrains Mono"/>
              </a:rPr>
              <a:t>, </a:t>
            </a:r>
            <a:r>
              <a:rPr lang="en-US" altLang="zh-TW" sz="1800" dirty="0">
                <a:solidFill>
                  <a:srgbClr val="2AACB8"/>
                </a:solidFill>
                <a:effectLst/>
                <a:latin typeface="JetBrains Mono"/>
              </a:rPr>
              <a:t>10</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CF8E6D"/>
                </a:solidFill>
                <a:effectLst/>
                <a:latin typeface="JetBrains Mono"/>
              </a:rPr>
              <a:t>def </a:t>
            </a:r>
            <a:r>
              <a:rPr lang="en-US" altLang="zh-TW" sz="1800" dirty="0">
                <a:solidFill>
                  <a:srgbClr val="56A8F5"/>
                </a:solidFill>
                <a:effectLst/>
                <a:latin typeface="JetBrains Mono"/>
              </a:rPr>
              <a:t>forward</a:t>
            </a:r>
            <a:r>
              <a:rPr lang="en-US" altLang="zh-TW" sz="1800" dirty="0">
                <a:solidFill>
                  <a:srgbClr val="BCBEC4"/>
                </a:solidFill>
                <a:effectLst/>
                <a:latin typeface="JetBrains Mono"/>
              </a:rPr>
              <a:t>(</a:t>
            </a:r>
            <a:r>
              <a:rPr lang="en-US" altLang="zh-TW" sz="1800" dirty="0">
                <a:solidFill>
                  <a:srgbClr val="94558D"/>
                </a:solidFill>
                <a:effectLst/>
                <a:latin typeface="JetBrains Mono"/>
              </a:rPr>
              <a:t>self</a:t>
            </a:r>
            <a:r>
              <a:rPr lang="en-US" altLang="zh-TW" sz="1800" dirty="0">
                <a:solidFill>
                  <a:srgbClr val="BCBEC4"/>
                </a:solidFill>
                <a:effectLst/>
                <a:latin typeface="JetBrains Mono"/>
              </a:rPr>
              <a:t>, x):</a:t>
            </a:r>
            <a:br>
              <a:rPr lang="en-US" altLang="zh-TW" sz="1800" dirty="0">
                <a:solidFill>
                  <a:srgbClr val="BCBEC4"/>
                </a:solidFill>
                <a:effectLst/>
                <a:latin typeface="JetBrains Mono"/>
              </a:rPr>
            </a:br>
            <a:r>
              <a:rPr lang="en-US" altLang="zh-TW" sz="1800" dirty="0">
                <a:solidFill>
                  <a:srgbClr val="BCBEC4"/>
                </a:solidFill>
                <a:effectLst/>
                <a:latin typeface="JetBrains Mono"/>
              </a:rPr>
              <a:t>        x = </a:t>
            </a:r>
            <a:r>
              <a:rPr lang="en-US" altLang="zh-TW" sz="1800" dirty="0" err="1">
                <a:solidFill>
                  <a:srgbClr val="94558D"/>
                </a:solidFill>
                <a:effectLst/>
                <a:latin typeface="JetBrains Mono"/>
              </a:rPr>
              <a:t>self</a:t>
            </a:r>
            <a:r>
              <a:rPr lang="en-US" altLang="zh-TW" sz="1800" dirty="0" err="1">
                <a:solidFill>
                  <a:srgbClr val="BCBEC4"/>
                </a:solidFill>
                <a:effectLst/>
                <a:latin typeface="JetBrains Mono"/>
              </a:rPr>
              <a:t>.pool</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F.relu</a:t>
            </a:r>
            <a:r>
              <a:rPr lang="en-US" altLang="zh-TW" sz="1800" dirty="0">
                <a:solidFill>
                  <a:srgbClr val="BCBEC4"/>
                </a:solidFill>
                <a:effectLst/>
                <a:latin typeface="JetBrains Mono"/>
              </a:rPr>
              <a:t>(</a:t>
            </a:r>
            <a:r>
              <a:rPr lang="en-US" altLang="zh-TW" sz="1800" dirty="0">
                <a:solidFill>
                  <a:srgbClr val="94558D"/>
                </a:solidFill>
                <a:effectLst/>
                <a:latin typeface="JetBrains Mono"/>
              </a:rPr>
              <a:t>self</a:t>
            </a:r>
            <a:r>
              <a:rPr lang="en-US" altLang="zh-TW" sz="1800" dirty="0">
                <a:solidFill>
                  <a:srgbClr val="BCBEC4"/>
                </a:solidFill>
                <a:effectLst/>
                <a:latin typeface="JetBrains Mono"/>
              </a:rPr>
              <a:t>.conv1(x)))</a:t>
            </a:r>
            <a:br>
              <a:rPr lang="en-US" altLang="zh-TW" sz="1800" dirty="0">
                <a:solidFill>
                  <a:srgbClr val="BCBEC4"/>
                </a:solidFill>
                <a:effectLst/>
                <a:latin typeface="JetBrains Mono"/>
              </a:rPr>
            </a:br>
            <a:r>
              <a:rPr lang="en-US" altLang="zh-TW" sz="1800" dirty="0">
                <a:solidFill>
                  <a:srgbClr val="BCBEC4"/>
                </a:solidFill>
                <a:effectLst/>
                <a:latin typeface="JetBrains Mono"/>
              </a:rPr>
              <a:t>        x = </a:t>
            </a:r>
            <a:r>
              <a:rPr lang="en-US" altLang="zh-TW" sz="1800" dirty="0" err="1">
                <a:solidFill>
                  <a:srgbClr val="94558D"/>
                </a:solidFill>
                <a:effectLst/>
                <a:latin typeface="JetBrains Mono"/>
              </a:rPr>
              <a:t>self</a:t>
            </a:r>
            <a:r>
              <a:rPr lang="en-US" altLang="zh-TW" sz="1800" dirty="0" err="1">
                <a:solidFill>
                  <a:srgbClr val="BCBEC4"/>
                </a:solidFill>
                <a:effectLst/>
                <a:latin typeface="JetBrains Mono"/>
              </a:rPr>
              <a:t>.pool</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F.relu</a:t>
            </a:r>
            <a:r>
              <a:rPr lang="en-US" altLang="zh-TW" sz="1800" dirty="0">
                <a:solidFill>
                  <a:srgbClr val="BCBEC4"/>
                </a:solidFill>
                <a:effectLst/>
                <a:latin typeface="JetBrains Mono"/>
              </a:rPr>
              <a:t>(</a:t>
            </a:r>
            <a:r>
              <a:rPr lang="en-US" altLang="zh-TW" sz="1800" dirty="0">
                <a:solidFill>
                  <a:srgbClr val="94558D"/>
                </a:solidFill>
                <a:effectLst/>
                <a:latin typeface="JetBrains Mono"/>
              </a:rPr>
              <a:t>self</a:t>
            </a:r>
            <a:r>
              <a:rPr lang="en-US" altLang="zh-TW" sz="1800" dirty="0">
                <a:solidFill>
                  <a:srgbClr val="BCBEC4"/>
                </a:solidFill>
                <a:effectLst/>
                <a:latin typeface="JetBrains Mono"/>
              </a:rPr>
              <a:t>.conv2(x)))</a:t>
            </a:r>
            <a:br>
              <a:rPr lang="en-US" altLang="zh-TW" sz="1800" dirty="0">
                <a:solidFill>
                  <a:srgbClr val="BCBEC4"/>
                </a:solidFill>
                <a:effectLst/>
                <a:latin typeface="JetBrains Mono"/>
              </a:rPr>
            </a:br>
            <a:r>
              <a:rPr lang="en-US" altLang="zh-TW" sz="1800" dirty="0">
                <a:solidFill>
                  <a:srgbClr val="BCBEC4"/>
                </a:solidFill>
                <a:effectLst/>
                <a:latin typeface="JetBrains Mono"/>
              </a:rPr>
              <a:t>        x = </a:t>
            </a:r>
            <a:r>
              <a:rPr lang="en-US" altLang="zh-TW" sz="1800" dirty="0" err="1">
                <a:solidFill>
                  <a:srgbClr val="BCBEC4"/>
                </a:solidFill>
                <a:effectLst/>
                <a:latin typeface="JetBrains Mono"/>
              </a:rPr>
              <a:t>torch.flatten</a:t>
            </a:r>
            <a:r>
              <a:rPr lang="en-US" altLang="zh-TW" sz="1800" dirty="0">
                <a:solidFill>
                  <a:srgbClr val="BCBEC4"/>
                </a:solidFill>
                <a:effectLst/>
                <a:latin typeface="JetBrains Mono"/>
              </a:rPr>
              <a:t>(x, </a:t>
            </a:r>
            <a:r>
              <a:rPr lang="en-US" altLang="zh-TW" sz="1800" dirty="0">
                <a:solidFill>
                  <a:srgbClr val="2AACB8"/>
                </a:solidFill>
                <a:effectLst/>
                <a:latin typeface="JetBrains Mono"/>
              </a:rPr>
              <a:t>1</a:t>
            </a:r>
            <a:r>
              <a:rPr lang="en-US" altLang="zh-TW" sz="1800" dirty="0">
                <a:solidFill>
                  <a:srgbClr val="BCBEC4"/>
                </a:solidFill>
                <a:effectLst/>
                <a:latin typeface="JetBrains Mono"/>
              </a:rPr>
              <a:t>) </a:t>
            </a:r>
            <a:r>
              <a:rPr lang="en-US" altLang="zh-TW" sz="1800" dirty="0">
                <a:solidFill>
                  <a:srgbClr val="7A7E85"/>
                </a:solidFill>
                <a:effectLst/>
                <a:latin typeface="JetBrains Mono"/>
              </a:rPr>
              <a:t># flatten all dimensions except batch</a:t>
            </a:r>
            <a:br>
              <a:rPr lang="en-US" altLang="zh-TW" sz="1800" dirty="0">
                <a:solidFill>
                  <a:srgbClr val="7A7E85"/>
                </a:solidFill>
                <a:effectLst/>
                <a:latin typeface="JetBrains Mono"/>
              </a:rPr>
            </a:br>
            <a:r>
              <a:rPr lang="en-US" altLang="zh-TW" sz="1800" dirty="0">
                <a:solidFill>
                  <a:srgbClr val="7A7E85"/>
                </a:solidFill>
                <a:effectLst/>
                <a:latin typeface="JetBrains Mono"/>
              </a:rPr>
              <a:t>        </a:t>
            </a:r>
            <a:r>
              <a:rPr lang="en-US" altLang="zh-TW" sz="1800" dirty="0">
                <a:solidFill>
                  <a:srgbClr val="BCBEC4"/>
                </a:solidFill>
                <a:effectLst/>
                <a:latin typeface="JetBrains Mono"/>
              </a:rPr>
              <a:t>x = </a:t>
            </a:r>
            <a:r>
              <a:rPr lang="en-US" altLang="zh-TW" sz="1800" dirty="0" err="1">
                <a:solidFill>
                  <a:srgbClr val="BCBEC4"/>
                </a:solidFill>
                <a:effectLst/>
                <a:latin typeface="JetBrains Mono"/>
              </a:rPr>
              <a:t>F.relu</a:t>
            </a:r>
            <a:r>
              <a:rPr lang="en-US" altLang="zh-TW" sz="1800" dirty="0">
                <a:solidFill>
                  <a:srgbClr val="BCBEC4"/>
                </a:solidFill>
                <a:effectLst/>
                <a:latin typeface="JetBrains Mono"/>
              </a:rPr>
              <a:t>(</a:t>
            </a:r>
            <a:r>
              <a:rPr lang="en-US" altLang="zh-TW" sz="1800" dirty="0">
                <a:solidFill>
                  <a:srgbClr val="94558D"/>
                </a:solidFill>
                <a:effectLst/>
                <a:latin typeface="JetBrains Mono"/>
              </a:rPr>
              <a:t>self</a:t>
            </a:r>
            <a:r>
              <a:rPr lang="en-US" altLang="zh-TW" sz="1800" dirty="0">
                <a:solidFill>
                  <a:srgbClr val="BCBEC4"/>
                </a:solidFill>
                <a:effectLst/>
                <a:latin typeface="JetBrains Mono"/>
              </a:rPr>
              <a:t>.fc1(x))</a:t>
            </a:r>
            <a:br>
              <a:rPr lang="en-US" altLang="zh-TW" sz="1800" dirty="0">
                <a:solidFill>
                  <a:srgbClr val="BCBEC4"/>
                </a:solidFill>
                <a:effectLst/>
                <a:latin typeface="JetBrains Mono"/>
              </a:rPr>
            </a:br>
            <a:r>
              <a:rPr lang="en-US" altLang="zh-TW" sz="1800" dirty="0">
                <a:solidFill>
                  <a:srgbClr val="BCBEC4"/>
                </a:solidFill>
                <a:effectLst/>
                <a:latin typeface="JetBrains Mono"/>
              </a:rPr>
              <a:t>        x = </a:t>
            </a:r>
            <a:r>
              <a:rPr lang="en-US" altLang="zh-TW" sz="1800" dirty="0" err="1">
                <a:solidFill>
                  <a:srgbClr val="BCBEC4"/>
                </a:solidFill>
                <a:effectLst/>
                <a:latin typeface="JetBrains Mono"/>
              </a:rPr>
              <a:t>F.relu</a:t>
            </a:r>
            <a:r>
              <a:rPr lang="en-US" altLang="zh-TW" sz="1800" dirty="0">
                <a:solidFill>
                  <a:srgbClr val="BCBEC4"/>
                </a:solidFill>
                <a:effectLst/>
                <a:latin typeface="JetBrains Mono"/>
              </a:rPr>
              <a:t>(</a:t>
            </a:r>
            <a:r>
              <a:rPr lang="en-US" altLang="zh-TW" sz="1800" dirty="0">
                <a:solidFill>
                  <a:srgbClr val="94558D"/>
                </a:solidFill>
                <a:effectLst/>
                <a:latin typeface="JetBrains Mono"/>
              </a:rPr>
              <a:t>self</a:t>
            </a:r>
            <a:r>
              <a:rPr lang="en-US" altLang="zh-TW" sz="1800" dirty="0">
                <a:solidFill>
                  <a:srgbClr val="BCBEC4"/>
                </a:solidFill>
                <a:effectLst/>
                <a:latin typeface="JetBrains Mono"/>
              </a:rPr>
              <a:t>.fc2(x))</a:t>
            </a:r>
            <a:br>
              <a:rPr lang="en-US" altLang="zh-TW" sz="1800" dirty="0">
                <a:solidFill>
                  <a:srgbClr val="BCBEC4"/>
                </a:solidFill>
                <a:effectLst/>
                <a:latin typeface="JetBrains Mono"/>
              </a:rPr>
            </a:br>
            <a:r>
              <a:rPr lang="en-US" altLang="zh-TW" sz="1800" dirty="0">
                <a:solidFill>
                  <a:srgbClr val="BCBEC4"/>
                </a:solidFill>
                <a:effectLst/>
                <a:latin typeface="JetBrains Mono"/>
              </a:rPr>
              <a:t>        x = </a:t>
            </a:r>
            <a:r>
              <a:rPr lang="en-US" altLang="zh-TW" sz="1800" dirty="0">
                <a:solidFill>
                  <a:srgbClr val="94558D"/>
                </a:solidFill>
                <a:effectLst/>
                <a:latin typeface="JetBrains Mono"/>
              </a:rPr>
              <a:t>self</a:t>
            </a:r>
            <a:r>
              <a:rPr lang="en-US" altLang="zh-TW" sz="1800" dirty="0">
                <a:solidFill>
                  <a:srgbClr val="BCBEC4"/>
                </a:solidFill>
                <a:effectLst/>
                <a:latin typeface="JetBrains Mono"/>
              </a:rPr>
              <a:t>.fc3(x)</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CF8E6D"/>
                </a:solidFill>
                <a:effectLst/>
                <a:latin typeface="JetBrains Mono"/>
              </a:rPr>
              <a:t>return </a:t>
            </a:r>
            <a:r>
              <a:rPr lang="en-US" altLang="zh-TW" sz="1800" dirty="0">
                <a:solidFill>
                  <a:srgbClr val="BCBEC4"/>
                </a:solidFill>
                <a:effectLst/>
                <a:latin typeface="JetBrains Mono"/>
              </a:rPr>
              <a:t>x</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BCBEC4"/>
                </a:solidFill>
                <a:effectLst/>
                <a:latin typeface="JetBrains Mono"/>
              </a:rPr>
              <a:t>net = Net().to(device)</a:t>
            </a:r>
            <a:br>
              <a:rPr lang="en-US" altLang="zh-TW" sz="1800" dirty="0">
                <a:solidFill>
                  <a:srgbClr val="BCBEC4"/>
                </a:solidFill>
                <a:effectLst/>
                <a:latin typeface="JetBrains Mono"/>
              </a:rPr>
            </a:br>
            <a:r>
              <a:rPr lang="en-US" altLang="zh-TW" sz="1800" dirty="0" err="1">
                <a:solidFill>
                  <a:srgbClr val="BCBEC4"/>
                </a:solidFill>
                <a:effectLst/>
                <a:latin typeface="JetBrains Mono"/>
              </a:rPr>
              <a:t>net.load_state_dict</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torch.load</a:t>
            </a:r>
            <a:r>
              <a:rPr lang="en-US" altLang="zh-TW" sz="1800" dirty="0">
                <a:solidFill>
                  <a:srgbClr val="BCBEC4"/>
                </a:solidFill>
                <a:effectLst/>
                <a:latin typeface="JetBrains Mono"/>
              </a:rPr>
              <a:t>(PATH))</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BCBEC4"/>
                </a:solidFill>
                <a:effectLst/>
                <a:latin typeface="JetBrains Mono"/>
              </a:rPr>
              <a:t>correct = </a:t>
            </a:r>
            <a:r>
              <a:rPr lang="en-US" altLang="zh-TW" sz="1800" dirty="0">
                <a:solidFill>
                  <a:srgbClr val="2AACB8"/>
                </a:solidFill>
                <a:effectLst/>
                <a:latin typeface="JetBrains Mono"/>
              </a:rPr>
              <a:t>0</a:t>
            </a:r>
            <a:br>
              <a:rPr lang="en-US" altLang="zh-TW" sz="1800" dirty="0">
                <a:solidFill>
                  <a:srgbClr val="2AACB8"/>
                </a:solidFill>
                <a:effectLst/>
                <a:latin typeface="JetBrains Mono"/>
              </a:rPr>
            </a:br>
            <a:r>
              <a:rPr lang="en-US" altLang="zh-TW" sz="1800" dirty="0">
                <a:solidFill>
                  <a:srgbClr val="BCBEC4"/>
                </a:solidFill>
                <a:effectLst/>
                <a:latin typeface="JetBrains Mono"/>
              </a:rPr>
              <a:t>total = </a:t>
            </a:r>
            <a:r>
              <a:rPr lang="en-US" altLang="zh-TW" sz="1800" dirty="0">
                <a:solidFill>
                  <a:srgbClr val="2AACB8"/>
                </a:solidFill>
                <a:effectLst/>
                <a:latin typeface="JetBrains Mono"/>
              </a:rPr>
              <a:t>0</a:t>
            </a:r>
            <a:br>
              <a:rPr lang="en-US" altLang="zh-TW" sz="1800" dirty="0">
                <a:solidFill>
                  <a:srgbClr val="2AACB8"/>
                </a:solidFill>
                <a:effectLst/>
                <a:latin typeface="JetBrains Mono"/>
              </a:rPr>
            </a:br>
            <a:r>
              <a:rPr lang="en-US" altLang="zh-TW" sz="1800" dirty="0">
                <a:solidFill>
                  <a:srgbClr val="7A7E85"/>
                </a:solidFill>
                <a:effectLst/>
                <a:latin typeface="JetBrains Mono"/>
              </a:rPr>
              <a:t># since we're not training, we don't need to calculate the gradients for our outputs</a:t>
            </a:r>
            <a:br>
              <a:rPr lang="en-US" altLang="zh-TW" sz="1800" dirty="0">
                <a:solidFill>
                  <a:srgbClr val="7A7E85"/>
                </a:solidFill>
                <a:effectLst/>
                <a:latin typeface="JetBrains Mono"/>
              </a:rPr>
            </a:br>
            <a:r>
              <a:rPr lang="en-US" altLang="zh-TW" sz="1800" dirty="0">
                <a:solidFill>
                  <a:srgbClr val="CF8E6D"/>
                </a:solidFill>
                <a:effectLst/>
                <a:latin typeface="JetBrains Mono"/>
              </a:rPr>
              <a:t>with </a:t>
            </a:r>
            <a:r>
              <a:rPr lang="en-US" altLang="zh-TW" sz="1800" dirty="0" err="1">
                <a:solidFill>
                  <a:srgbClr val="BCBEC4"/>
                </a:solidFill>
                <a:effectLst/>
                <a:latin typeface="JetBrains Mono"/>
              </a:rPr>
              <a:t>torch.no_grad</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CF8E6D"/>
                </a:solidFill>
                <a:effectLst/>
                <a:latin typeface="JetBrains Mono"/>
              </a:rPr>
              <a:t>for </a:t>
            </a:r>
            <a:r>
              <a:rPr lang="en-US" altLang="zh-TW" sz="1800" dirty="0">
                <a:solidFill>
                  <a:srgbClr val="BCBEC4"/>
                </a:solidFill>
                <a:effectLst/>
                <a:latin typeface="JetBrains Mono"/>
              </a:rPr>
              <a:t>(X, y) </a:t>
            </a:r>
            <a:r>
              <a:rPr lang="en-US" altLang="zh-TW" sz="1800" dirty="0">
                <a:solidFill>
                  <a:srgbClr val="CF8E6D"/>
                </a:solidFill>
                <a:effectLst/>
                <a:latin typeface="JetBrains Mono"/>
              </a:rPr>
              <a:t>in </a:t>
            </a:r>
            <a:r>
              <a:rPr lang="en-US" altLang="zh-TW" sz="1800" dirty="0" err="1">
                <a:solidFill>
                  <a:srgbClr val="BCBEC4"/>
                </a:solidFill>
                <a:effectLst/>
                <a:latin typeface="JetBrains Mono"/>
              </a:rPr>
              <a:t>testloader</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images, labels = X.to(device), y.to(device)</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7A7E85"/>
                </a:solidFill>
                <a:effectLst/>
                <a:latin typeface="JetBrains Mono"/>
              </a:rPr>
              <a:t># calculate outputs by running images through the network</a:t>
            </a:r>
            <a:br>
              <a:rPr lang="en-US" altLang="zh-TW" sz="1800" dirty="0">
                <a:solidFill>
                  <a:srgbClr val="7A7E85"/>
                </a:solidFill>
                <a:effectLst/>
                <a:latin typeface="JetBrains Mono"/>
              </a:rPr>
            </a:br>
            <a:r>
              <a:rPr lang="en-US" altLang="zh-TW" sz="1800" dirty="0">
                <a:solidFill>
                  <a:srgbClr val="7A7E85"/>
                </a:solidFill>
                <a:effectLst/>
                <a:latin typeface="JetBrains Mono"/>
              </a:rPr>
              <a:t>        </a:t>
            </a:r>
            <a:r>
              <a:rPr lang="en-US" altLang="zh-TW" sz="1800" dirty="0">
                <a:solidFill>
                  <a:srgbClr val="BCBEC4"/>
                </a:solidFill>
                <a:effectLst/>
                <a:latin typeface="JetBrains Mono"/>
              </a:rPr>
              <a:t>outputs = net(images)</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7A7E85"/>
                </a:solidFill>
                <a:effectLst/>
                <a:latin typeface="JetBrains Mono"/>
              </a:rPr>
              <a:t># the class with the highest energy is what we choose as prediction</a:t>
            </a:r>
            <a:br>
              <a:rPr lang="en-US" altLang="zh-TW" sz="1800" dirty="0">
                <a:solidFill>
                  <a:srgbClr val="7A7E85"/>
                </a:solidFill>
                <a:effectLst/>
                <a:latin typeface="JetBrains Mono"/>
              </a:rPr>
            </a:br>
            <a:r>
              <a:rPr lang="en-US" altLang="zh-TW" sz="1800" dirty="0">
                <a:solidFill>
                  <a:srgbClr val="7A7E85"/>
                </a:solidFill>
                <a:effectLst/>
                <a:latin typeface="JetBrains Mono"/>
              </a:rPr>
              <a:t>        </a:t>
            </a:r>
            <a:r>
              <a:rPr lang="en-US" altLang="zh-TW" sz="1800" dirty="0">
                <a:solidFill>
                  <a:srgbClr val="BCBEC4"/>
                </a:solidFill>
                <a:effectLst/>
                <a:latin typeface="JetBrains Mono"/>
              </a:rPr>
              <a:t>_, predicted = </a:t>
            </a:r>
            <a:r>
              <a:rPr lang="en-US" altLang="zh-TW" sz="1800" dirty="0" err="1">
                <a:solidFill>
                  <a:srgbClr val="BCBEC4"/>
                </a:solidFill>
                <a:effectLst/>
                <a:latin typeface="JetBrains Mono"/>
              </a:rPr>
              <a:t>torch.max</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outputs.data</a:t>
            </a:r>
            <a:r>
              <a:rPr lang="en-US" altLang="zh-TW" sz="1800" dirty="0">
                <a:solidFill>
                  <a:srgbClr val="BCBEC4"/>
                </a:solidFill>
                <a:effectLst/>
                <a:latin typeface="JetBrains Mono"/>
              </a:rPr>
              <a:t>, </a:t>
            </a:r>
            <a:r>
              <a:rPr lang="en-US" altLang="zh-TW" sz="1800" dirty="0">
                <a:solidFill>
                  <a:srgbClr val="2AACB8"/>
                </a:solidFill>
                <a:effectLst/>
                <a:latin typeface="JetBrains Mono"/>
              </a:rPr>
              <a:t>1</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total += </a:t>
            </a:r>
            <a:r>
              <a:rPr lang="en-US" altLang="zh-TW" sz="1800" dirty="0" err="1">
                <a:solidFill>
                  <a:srgbClr val="BCBEC4"/>
                </a:solidFill>
                <a:effectLst/>
                <a:latin typeface="JetBrains Mono"/>
              </a:rPr>
              <a:t>labels.size</a:t>
            </a:r>
            <a:r>
              <a:rPr lang="en-US" altLang="zh-TW" sz="1800" dirty="0">
                <a:solidFill>
                  <a:srgbClr val="BCBEC4"/>
                </a:solidFill>
                <a:effectLst/>
                <a:latin typeface="JetBrains Mono"/>
              </a:rPr>
              <a:t>(</a:t>
            </a:r>
            <a:r>
              <a:rPr lang="en-US" altLang="zh-TW" sz="1800" dirty="0">
                <a:solidFill>
                  <a:srgbClr val="2AACB8"/>
                </a:solidFill>
                <a:effectLst/>
                <a:latin typeface="JetBrains Mono"/>
              </a:rPr>
              <a:t>0</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correct += (predicted == labels).sum().item()</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8888C6"/>
                </a:solidFill>
                <a:effectLst/>
                <a:latin typeface="JetBrains Mono"/>
              </a:rPr>
              <a:t>print</a:t>
            </a:r>
            <a:r>
              <a:rPr lang="en-US" altLang="zh-TW" sz="1800" dirty="0">
                <a:solidFill>
                  <a:srgbClr val="BCBEC4"/>
                </a:solidFill>
                <a:effectLst/>
                <a:latin typeface="JetBrains Mono"/>
              </a:rPr>
              <a:t>(</a:t>
            </a:r>
            <a:r>
              <a:rPr lang="en-US" altLang="zh-TW" sz="1800" dirty="0">
                <a:solidFill>
                  <a:srgbClr val="6AAB73"/>
                </a:solidFill>
                <a:effectLst/>
                <a:latin typeface="JetBrains Mono"/>
              </a:rPr>
              <a:t>f'</a:t>
            </a:r>
            <a:r>
              <a:rPr lang="en-US" altLang="zh-TW" sz="1800" dirty="0">
                <a:solidFill>
                  <a:srgbClr val="CF8E6D"/>
                </a:solidFill>
                <a:effectLst/>
                <a:latin typeface="JetBrains Mono"/>
              </a:rPr>
              <a:t>\</a:t>
            </a:r>
            <a:r>
              <a:rPr lang="en-US" altLang="zh-TW" sz="1800" dirty="0" err="1">
                <a:solidFill>
                  <a:srgbClr val="CF8E6D"/>
                </a:solidFill>
                <a:effectLst/>
                <a:latin typeface="JetBrains Mono"/>
              </a:rPr>
              <a:t>n</a:t>
            </a:r>
            <a:r>
              <a:rPr lang="en-US" altLang="zh-TW" sz="1800" dirty="0" err="1">
                <a:solidFill>
                  <a:srgbClr val="6AAB73"/>
                </a:solidFill>
                <a:effectLst/>
                <a:latin typeface="JetBrains Mono"/>
              </a:rPr>
              <a:t>Accuracy</a:t>
            </a:r>
            <a:r>
              <a:rPr lang="en-US" altLang="zh-TW" sz="1800" dirty="0">
                <a:solidFill>
                  <a:srgbClr val="6AAB73"/>
                </a:solidFill>
                <a:effectLst/>
                <a:latin typeface="JetBrains Mono"/>
              </a:rPr>
              <a:t> of the network on the 10000 test images: </a:t>
            </a:r>
            <a:r>
              <a:rPr lang="en-US" altLang="zh-TW" sz="1800" dirty="0">
                <a:solidFill>
                  <a:srgbClr val="CF8E6D"/>
                </a:solidFill>
                <a:effectLst/>
                <a:latin typeface="JetBrains Mono"/>
              </a:rPr>
              <a:t>{</a:t>
            </a:r>
            <a:r>
              <a:rPr lang="en-US" altLang="zh-TW" sz="1800" dirty="0">
                <a:solidFill>
                  <a:srgbClr val="2AACB8"/>
                </a:solidFill>
                <a:effectLst/>
                <a:latin typeface="JetBrains Mono"/>
              </a:rPr>
              <a:t>100 </a:t>
            </a:r>
            <a:r>
              <a:rPr lang="en-US" altLang="zh-TW" sz="1800" dirty="0">
                <a:solidFill>
                  <a:srgbClr val="BCBEC4"/>
                </a:solidFill>
                <a:effectLst/>
                <a:latin typeface="JetBrains Mono"/>
              </a:rPr>
              <a:t>* correct // total</a:t>
            </a:r>
            <a:r>
              <a:rPr lang="en-US" altLang="zh-TW" sz="1800" dirty="0">
                <a:solidFill>
                  <a:srgbClr val="CF8E6D"/>
                </a:solidFill>
                <a:effectLst/>
                <a:latin typeface="JetBrains Mono"/>
              </a:rPr>
              <a:t>}</a:t>
            </a:r>
            <a:r>
              <a:rPr lang="en-US" altLang="zh-TW" sz="1800" dirty="0">
                <a:solidFill>
                  <a:srgbClr val="6AAB73"/>
                </a:solidFill>
                <a:effectLst/>
                <a:latin typeface="JetBrains Mono"/>
              </a:rPr>
              <a:t> %'</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7A7E85"/>
                </a:solidFill>
                <a:effectLst/>
                <a:latin typeface="JetBrains Mono"/>
              </a:rPr>
              <a:t># prepare to count predictions for each class</a:t>
            </a:r>
            <a:br>
              <a:rPr lang="en-US" altLang="zh-TW" sz="1800" dirty="0">
                <a:solidFill>
                  <a:srgbClr val="7A7E85"/>
                </a:solidFill>
                <a:effectLst/>
                <a:latin typeface="JetBrains Mono"/>
              </a:rPr>
            </a:br>
            <a:r>
              <a:rPr lang="en-US" altLang="zh-TW" sz="1800" dirty="0" err="1">
                <a:solidFill>
                  <a:srgbClr val="BCBEC4"/>
                </a:solidFill>
                <a:effectLst/>
                <a:latin typeface="JetBrains Mono"/>
              </a:rPr>
              <a:t>correct_pred</a:t>
            </a:r>
            <a:r>
              <a:rPr lang="en-US" altLang="zh-TW" sz="1800" dirty="0">
                <a:solidFill>
                  <a:srgbClr val="BCBEC4"/>
                </a:solidFill>
                <a:effectLst/>
                <a:latin typeface="JetBrains Mono"/>
              </a:rPr>
              <a:t> = {</a:t>
            </a:r>
            <a:r>
              <a:rPr lang="en-US" altLang="zh-TW" sz="1800" dirty="0" err="1">
                <a:solidFill>
                  <a:srgbClr val="BCBEC4"/>
                </a:solidFill>
                <a:effectLst/>
                <a:latin typeface="JetBrains Mono"/>
              </a:rPr>
              <a:t>classname</a:t>
            </a:r>
            <a:r>
              <a:rPr lang="en-US" altLang="zh-TW" sz="1800" dirty="0">
                <a:solidFill>
                  <a:srgbClr val="BCBEC4"/>
                </a:solidFill>
                <a:effectLst/>
                <a:latin typeface="JetBrains Mono"/>
              </a:rPr>
              <a:t>: </a:t>
            </a:r>
            <a:r>
              <a:rPr lang="en-US" altLang="zh-TW" sz="1800" dirty="0">
                <a:solidFill>
                  <a:srgbClr val="2AACB8"/>
                </a:solidFill>
                <a:effectLst/>
                <a:latin typeface="JetBrains Mono"/>
              </a:rPr>
              <a:t>0 </a:t>
            </a:r>
            <a:r>
              <a:rPr lang="en-US" altLang="zh-TW" sz="1800" dirty="0">
                <a:solidFill>
                  <a:srgbClr val="CF8E6D"/>
                </a:solidFill>
                <a:effectLst/>
                <a:latin typeface="JetBrains Mono"/>
              </a:rPr>
              <a:t>for </a:t>
            </a:r>
            <a:r>
              <a:rPr lang="en-US" altLang="zh-TW" sz="1800" dirty="0" err="1">
                <a:solidFill>
                  <a:srgbClr val="BCBEC4"/>
                </a:solidFill>
                <a:effectLst/>
                <a:latin typeface="JetBrains Mono"/>
              </a:rPr>
              <a:t>classname</a:t>
            </a:r>
            <a:r>
              <a:rPr lang="en-US" altLang="zh-TW" sz="1800" dirty="0">
                <a:solidFill>
                  <a:srgbClr val="BCBEC4"/>
                </a:solidFill>
                <a:effectLst/>
                <a:latin typeface="JetBrains Mono"/>
              </a:rPr>
              <a:t> </a:t>
            </a:r>
            <a:r>
              <a:rPr lang="en-US" altLang="zh-TW" sz="1800" dirty="0">
                <a:solidFill>
                  <a:srgbClr val="CF8E6D"/>
                </a:solidFill>
                <a:effectLst/>
                <a:latin typeface="JetBrains Mono"/>
              </a:rPr>
              <a:t>in </a:t>
            </a:r>
            <a:r>
              <a:rPr lang="en-US" altLang="zh-TW" sz="1800" dirty="0">
                <a:solidFill>
                  <a:srgbClr val="BCBEC4"/>
                </a:solidFill>
                <a:effectLst/>
                <a:latin typeface="JetBrains Mono"/>
              </a:rPr>
              <a:t>classes}</a:t>
            </a:r>
            <a:br>
              <a:rPr lang="en-US" altLang="zh-TW" sz="1800" dirty="0">
                <a:solidFill>
                  <a:srgbClr val="BCBEC4"/>
                </a:solidFill>
                <a:effectLst/>
                <a:latin typeface="JetBrains Mono"/>
              </a:rPr>
            </a:br>
            <a:r>
              <a:rPr lang="en-US" altLang="zh-TW" sz="1800" dirty="0" err="1">
                <a:solidFill>
                  <a:srgbClr val="BCBEC4"/>
                </a:solidFill>
                <a:effectLst/>
                <a:latin typeface="JetBrains Mono"/>
              </a:rPr>
              <a:t>total_pred</a:t>
            </a:r>
            <a:r>
              <a:rPr lang="en-US" altLang="zh-TW" sz="1800" dirty="0">
                <a:solidFill>
                  <a:srgbClr val="BCBEC4"/>
                </a:solidFill>
                <a:effectLst/>
                <a:latin typeface="JetBrains Mono"/>
              </a:rPr>
              <a:t> = {</a:t>
            </a:r>
            <a:r>
              <a:rPr lang="en-US" altLang="zh-TW" sz="1800" dirty="0" err="1">
                <a:solidFill>
                  <a:srgbClr val="BCBEC4"/>
                </a:solidFill>
                <a:effectLst/>
                <a:latin typeface="JetBrains Mono"/>
              </a:rPr>
              <a:t>classname</a:t>
            </a:r>
            <a:r>
              <a:rPr lang="en-US" altLang="zh-TW" sz="1800" dirty="0">
                <a:solidFill>
                  <a:srgbClr val="BCBEC4"/>
                </a:solidFill>
                <a:effectLst/>
                <a:latin typeface="JetBrains Mono"/>
              </a:rPr>
              <a:t>: </a:t>
            </a:r>
            <a:r>
              <a:rPr lang="en-US" altLang="zh-TW" sz="1800" dirty="0">
                <a:solidFill>
                  <a:srgbClr val="2AACB8"/>
                </a:solidFill>
                <a:effectLst/>
                <a:latin typeface="JetBrains Mono"/>
              </a:rPr>
              <a:t>0 </a:t>
            </a:r>
            <a:r>
              <a:rPr lang="en-US" altLang="zh-TW" sz="1800" dirty="0">
                <a:solidFill>
                  <a:srgbClr val="CF8E6D"/>
                </a:solidFill>
                <a:effectLst/>
                <a:latin typeface="JetBrains Mono"/>
              </a:rPr>
              <a:t>for </a:t>
            </a:r>
            <a:r>
              <a:rPr lang="en-US" altLang="zh-TW" sz="1800" dirty="0" err="1">
                <a:solidFill>
                  <a:srgbClr val="BCBEC4"/>
                </a:solidFill>
                <a:effectLst/>
                <a:latin typeface="JetBrains Mono"/>
              </a:rPr>
              <a:t>classname</a:t>
            </a:r>
            <a:r>
              <a:rPr lang="en-US" altLang="zh-TW" sz="1800" dirty="0">
                <a:solidFill>
                  <a:srgbClr val="BCBEC4"/>
                </a:solidFill>
                <a:effectLst/>
                <a:latin typeface="JetBrains Mono"/>
              </a:rPr>
              <a:t> </a:t>
            </a:r>
            <a:r>
              <a:rPr lang="en-US" altLang="zh-TW" sz="1800" dirty="0">
                <a:solidFill>
                  <a:srgbClr val="CF8E6D"/>
                </a:solidFill>
                <a:effectLst/>
                <a:latin typeface="JetBrains Mono"/>
              </a:rPr>
              <a:t>in </a:t>
            </a:r>
            <a:r>
              <a:rPr lang="en-US" altLang="zh-TW" sz="1800" dirty="0">
                <a:solidFill>
                  <a:srgbClr val="BCBEC4"/>
                </a:solidFill>
                <a:effectLst/>
                <a:latin typeface="JetBrains Mono"/>
              </a:rPr>
              <a:t>classes}</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7A7E85"/>
                </a:solidFill>
                <a:effectLst/>
                <a:latin typeface="JetBrains Mono"/>
              </a:rPr>
              <a:t># again no gradients needed</a:t>
            </a:r>
            <a:br>
              <a:rPr lang="en-US" altLang="zh-TW" sz="1800" dirty="0">
                <a:solidFill>
                  <a:srgbClr val="7A7E85"/>
                </a:solidFill>
                <a:effectLst/>
                <a:latin typeface="JetBrains Mono"/>
              </a:rPr>
            </a:br>
            <a:r>
              <a:rPr lang="en-US" altLang="zh-TW" sz="1800" dirty="0">
                <a:solidFill>
                  <a:srgbClr val="CF8E6D"/>
                </a:solidFill>
                <a:effectLst/>
                <a:latin typeface="JetBrains Mono"/>
              </a:rPr>
              <a:t>with </a:t>
            </a:r>
            <a:r>
              <a:rPr lang="en-US" altLang="zh-TW" sz="1800" dirty="0" err="1">
                <a:solidFill>
                  <a:srgbClr val="BCBEC4"/>
                </a:solidFill>
                <a:effectLst/>
                <a:latin typeface="JetBrains Mono"/>
              </a:rPr>
              <a:t>torch.no_grad</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CF8E6D"/>
                </a:solidFill>
                <a:effectLst/>
                <a:latin typeface="JetBrains Mono"/>
              </a:rPr>
              <a:t>for </a:t>
            </a:r>
            <a:r>
              <a:rPr lang="en-US" altLang="zh-TW" sz="1800" dirty="0">
                <a:solidFill>
                  <a:srgbClr val="BCBEC4"/>
                </a:solidFill>
                <a:effectLst/>
                <a:latin typeface="JetBrains Mono"/>
              </a:rPr>
              <a:t>(X, y) </a:t>
            </a:r>
            <a:r>
              <a:rPr lang="en-US" altLang="zh-TW" sz="1800" dirty="0">
                <a:solidFill>
                  <a:srgbClr val="CF8E6D"/>
                </a:solidFill>
                <a:effectLst/>
                <a:latin typeface="JetBrains Mono"/>
              </a:rPr>
              <a:t>in </a:t>
            </a:r>
            <a:r>
              <a:rPr lang="en-US" altLang="zh-TW" sz="1800" dirty="0" err="1">
                <a:solidFill>
                  <a:srgbClr val="BCBEC4"/>
                </a:solidFill>
                <a:effectLst/>
                <a:latin typeface="JetBrains Mono"/>
              </a:rPr>
              <a:t>testloader</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images, labels = X.to(device), y.to(device)</a:t>
            </a:r>
            <a:br>
              <a:rPr lang="en-US" altLang="zh-TW" sz="1800" dirty="0">
                <a:solidFill>
                  <a:srgbClr val="BCBEC4"/>
                </a:solidFill>
                <a:effectLst/>
                <a:latin typeface="JetBrains Mono"/>
              </a:rPr>
            </a:br>
            <a:r>
              <a:rPr lang="en-US" altLang="zh-TW" sz="1800" dirty="0">
                <a:solidFill>
                  <a:srgbClr val="BCBEC4"/>
                </a:solidFill>
                <a:effectLst/>
                <a:latin typeface="JetBrains Mono"/>
              </a:rPr>
              <a:t>        outputs = net(images)</a:t>
            </a:r>
            <a:br>
              <a:rPr lang="en-US" altLang="zh-TW" sz="1800" dirty="0">
                <a:solidFill>
                  <a:srgbClr val="BCBEC4"/>
                </a:solidFill>
                <a:effectLst/>
                <a:latin typeface="JetBrains Mono"/>
              </a:rPr>
            </a:br>
            <a:r>
              <a:rPr lang="en-US" altLang="zh-TW" sz="1800" dirty="0">
                <a:solidFill>
                  <a:srgbClr val="BCBEC4"/>
                </a:solidFill>
                <a:effectLst/>
                <a:latin typeface="JetBrains Mono"/>
              </a:rPr>
              <a:t>        _, predictions = </a:t>
            </a:r>
            <a:r>
              <a:rPr lang="en-US" altLang="zh-TW" sz="1800" dirty="0" err="1">
                <a:solidFill>
                  <a:srgbClr val="BCBEC4"/>
                </a:solidFill>
                <a:effectLst/>
                <a:latin typeface="JetBrains Mono"/>
              </a:rPr>
              <a:t>torch.max</a:t>
            </a:r>
            <a:r>
              <a:rPr lang="en-US" altLang="zh-TW" sz="1800" dirty="0">
                <a:solidFill>
                  <a:srgbClr val="BCBEC4"/>
                </a:solidFill>
                <a:effectLst/>
                <a:latin typeface="JetBrains Mono"/>
              </a:rPr>
              <a:t>(outputs, </a:t>
            </a:r>
            <a:r>
              <a:rPr lang="en-US" altLang="zh-TW" sz="1800" dirty="0">
                <a:solidFill>
                  <a:srgbClr val="2AACB8"/>
                </a:solidFill>
                <a:effectLst/>
                <a:latin typeface="JetBrains Mono"/>
              </a:rPr>
              <a:t>1</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7A7E85"/>
                </a:solidFill>
                <a:effectLst/>
                <a:latin typeface="JetBrains Mono"/>
              </a:rPr>
              <a:t># collect the correct predictions for each class</a:t>
            </a:r>
            <a:br>
              <a:rPr lang="en-US" altLang="zh-TW" sz="1800" dirty="0">
                <a:solidFill>
                  <a:srgbClr val="7A7E85"/>
                </a:solidFill>
                <a:effectLst/>
                <a:latin typeface="JetBrains Mono"/>
              </a:rPr>
            </a:br>
            <a:r>
              <a:rPr lang="en-US" altLang="zh-TW" sz="1800" dirty="0">
                <a:solidFill>
                  <a:srgbClr val="7A7E85"/>
                </a:solidFill>
                <a:effectLst/>
                <a:latin typeface="JetBrains Mono"/>
              </a:rPr>
              <a:t>        </a:t>
            </a:r>
            <a:r>
              <a:rPr lang="en-US" altLang="zh-TW" sz="1800" dirty="0">
                <a:solidFill>
                  <a:srgbClr val="CF8E6D"/>
                </a:solidFill>
                <a:effectLst/>
                <a:latin typeface="JetBrains Mono"/>
              </a:rPr>
              <a:t>for </a:t>
            </a:r>
            <a:r>
              <a:rPr lang="en-US" altLang="zh-TW" sz="1800" dirty="0">
                <a:solidFill>
                  <a:srgbClr val="BCBEC4"/>
                </a:solidFill>
                <a:effectLst/>
                <a:latin typeface="JetBrains Mono"/>
              </a:rPr>
              <a:t>label, prediction </a:t>
            </a:r>
            <a:r>
              <a:rPr lang="en-US" altLang="zh-TW" sz="1800" dirty="0">
                <a:solidFill>
                  <a:srgbClr val="CF8E6D"/>
                </a:solidFill>
                <a:effectLst/>
                <a:latin typeface="JetBrains Mono"/>
              </a:rPr>
              <a:t>in </a:t>
            </a:r>
            <a:r>
              <a:rPr lang="en-US" altLang="zh-TW" sz="1800" dirty="0">
                <a:solidFill>
                  <a:srgbClr val="8888C6"/>
                </a:solidFill>
                <a:effectLst/>
                <a:latin typeface="JetBrains Mono"/>
              </a:rPr>
              <a:t>zip</a:t>
            </a:r>
            <a:r>
              <a:rPr lang="en-US" altLang="zh-TW" sz="1800" dirty="0">
                <a:solidFill>
                  <a:srgbClr val="BCBEC4"/>
                </a:solidFill>
                <a:effectLst/>
                <a:latin typeface="JetBrains Mono"/>
              </a:rPr>
              <a:t>(labels, predictions):</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CF8E6D"/>
                </a:solidFill>
                <a:effectLst/>
                <a:latin typeface="JetBrains Mono"/>
              </a:rPr>
              <a:t>if </a:t>
            </a:r>
            <a:r>
              <a:rPr lang="en-US" altLang="zh-TW" sz="1800" dirty="0">
                <a:solidFill>
                  <a:srgbClr val="BCBEC4"/>
                </a:solidFill>
                <a:effectLst/>
                <a:latin typeface="JetBrains Mono"/>
              </a:rPr>
              <a:t>label == prediction:</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BCBEC4"/>
                </a:solidFill>
                <a:effectLst/>
                <a:latin typeface="JetBrains Mono"/>
              </a:rPr>
              <a:t>correct_pred</a:t>
            </a:r>
            <a:r>
              <a:rPr lang="en-US" altLang="zh-TW" sz="1800" dirty="0">
                <a:solidFill>
                  <a:srgbClr val="BCBEC4"/>
                </a:solidFill>
                <a:effectLst/>
                <a:latin typeface="JetBrains Mono"/>
              </a:rPr>
              <a:t>[classes[label]] += </a:t>
            </a:r>
            <a:r>
              <a:rPr lang="en-US" altLang="zh-TW" sz="1800" dirty="0">
                <a:solidFill>
                  <a:srgbClr val="2AACB8"/>
                </a:solidFill>
                <a:effectLst/>
                <a:latin typeface="JetBrains Mono"/>
              </a:rPr>
              <a:t>1</a:t>
            </a:r>
            <a:br>
              <a:rPr lang="en-US" altLang="zh-TW" sz="1800" dirty="0">
                <a:solidFill>
                  <a:srgbClr val="2AACB8"/>
                </a:solidFill>
                <a:effectLst/>
                <a:latin typeface="JetBrains Mono"/>
              </a:rPr>
            </a:br>
            <a:r>
              <a:rPr lang="en-US" altLang="zh-TW" sz="1800" dirty="0">
                <a:solidFill>
                  <a:srgbClr val="2AACB8"/>
                </a:solidFill>
                <a:effectLst/>
                <a:latin typeface="JetBrains Mono"/>
              </a:rPr>
              <a:t>            </a:t>
            </a:r>
            <a:r>
              <a:rPr lang="en-US" altLang="zh-TW" sz="1800" dirty="0" err="1">
                <a:solidFill>
                  <a:srgbClr val="BCBEC4"/>
                </a:solidFill>
                <a:effectLst/>
                <a:latin typeface="JetBrains Mono"/>
              </a:rPr>
              <a:t>total_pred</a:t>
            </a:r>
            <a:r>
              <a:rPr lang="en-US" altLang="zh-TW" sz="1800" dirty="0">
                <a:solidFill>
                  <a:srgbClr val="BCBEC4"/>
                </a:solidFill>
                <a:effectLst/>
                <a:latin typeface="JetBrains Mono"/>
              </a:rPr>
              <a:t>[classes[label]] += </a:t>
            </a:r>
            <a:r>
              <a:rPr lang="en-US" altLang="zh-TW" sz="1800" dirty="0">
                <a:solidFill>
                  <a:srgbClr val="2AACB8"/>
                </a:solidFill>
                <a:effectLst/>
                <a:latin typeface="JetBrains Mono"/>
              </a:rPr>
              <a:t>1</a:t>
            </a:r>
            <a:br>
              <a:rPr lang="en-US" altLang="zh-TW" sz="1800" dirty="0">
                <a:solidFill>
                  <a:srgbClr val="2AACB8"/>
                </a:solidFill>
                <a:effectLst/>
                <a:latin typeface="JetBrains Mono"/>
              </a:rPr>
            </a:br>
            <a:br>
              <a:rPr lang="en-US" altLang="zh-TW" sz="1800" dirty="0">
                <a:solidFill>
                  <a:srgbClr val="2AACB8"/>
                </a:solidFill>
                <a:effectLst/>
                <a:latin typeface="JetBrains Mono"/>
              </a:rPr>
            </a:br>
            <a:br>
              <a:rPr lang="en-US" altLang="zh-TW" sz="1800" dirty="0">
                <a:solidFill>
                  <a:srgbClr val="2AACB8"/>
                </a:solidFill>
                <a:effectLst/>
                <a:latin typeface="JetBrains Mono"/>
              </a:rPr>
            </a:br>
            <a:r>
              <a:rPr lang="en-US" altLang="zh-TW" sz="1800" dirty="0">
                <a:solidFill>
                  <a:srgbClr val="7A7E85"/>
                </a:solidFill>
                <a:effectLst/>
                <a:latin typeface="JetBrains Mono"/>
              </a:rPr>
              <a:t># print accuracy for each class</a:t>
            </a:r>
            <a:br>
              <a:rPr lang="en-US" altLang="zh-TW" sz="1800" dirty="0">
                <a:solidFill>
                  <a:srgbClr val="7A7E85"/>
                </a:solidFill>
                <a:effectLst/>
                <a:latin typeface="JetBrains Mono"/>
              </a:rPr>
            </a:br>
            <a:r>
              <a:rPr lang="en-US" altLang="zh-TW" sz="1800" dirty="0">
                <a:solidFill>
                  <a:srgbClr val="CF8E6D"/>
                </a:solidFill>
                <a:effectLst/>
                <a:latin typeface="JetBrains Mono"/>
              </a:rPr>
              <a:t>for </a:t>
            </a:r>
            <a:r>
              <a:rPr lang="en-US" altLang="zh-TW" sz="1800" dirty="0" err="1">
                <a:solidFill>
                  <a:srgbClr val="BCBEC4"/>
                </a:solidFill>
                <a:effectLst/>
                <a:latin typeface="JetBrains Mono"/>
              </a:rPr>
              <a:t>classname</a:t>
            </a:r>
            <a:r>
              <a:rPr lang="en-US" altLang="zh-TW" sz="1800" dirty="0">
                <a:solidFill>
                  <a:srgbClr val="BCBEC4"/>
                </a:solidFill>
                <a:effectLst/>
                <a:latin typeface="JetBrains Mono"/>
              </a:rPr>
              <a:t>, </a:t>
            </a:r>
            <a:r>
              <a:rPr lang="en-US" altLang="zh-TW" sz="1800" dirty="0" err="1">
                <a:solidFill>
                  <a:srgbClr val="BCBEC4"/>
                </a:solidFill>
                <a:effectLst/>
                <a:latin typeface="JetBrains Mono"/>
              </a:rPr>
              <a:t>correct_count</a:t>
            </a:r>
            <a:r>
              <a:rPr lang="en-US" altLang="zh-TW" sz="1800" dirty="0">
                <a:solidFill>
                  <a:srgbClr val="BCBEC4"/>
                </a:solidFill>
                <a:effectLst/>
                <a:latin typeface="JetBrains Mono"/>
              </a:rPr>
              <a:t> </a:t>
            </a:r>
            <a:r>
              <a:rPr lang="en-US" altLang="zh-TW" sz="1800" dirty="0">
                <a:solidFill>
                  <a:srgbClr val="CF8E6D"/>
                </a:solidFill>
                <a:effectLst/>
                <a:latin typeface="JetBrains Mono"/>
              </a:rPr>
              <a:t>in </a:t>
            </a:r>
            <a:r>
              <a:rPr lang="en-US" altLang="zh-TW" sz="1800" dirty="0" err="1">
                <a:solidFill>
                  <a:srgbClr val="BCBEC4"/>
                </a:solidFill>
                <a:effectLst/>
                <a:latin typeface="JetBrains Mono"/>
              </a:rPr>
              <a:t>correct_pred.items</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accuracy = </a:t>
            </a:r>
            <a:r>
              <a:rPr lang="en-US" altLang="zh-TW" sz="1800" dirty="0">
                <a:solidFill>
                  <a:srgbClr val="2AACB8"/>
                </a:solidFill>
                <a:effectLst/>
                <a:latin typeface="JetBrains Mono"/>
              </a:rPr>
              <a:t>100 </a:t>
            </a:r>
            <a:r>
              <a:rPr lang="en-US" altLang="zh-TW" sz="1800" dirty="0">
                <a:solidFill>
                  <a:srgbClr val="BCBEC4"/>
                </a:solidFill>
                <a:effectLst/>
                <a:latin typeface="JetBrains Mono"/>
              </a:rPr>
              <a:t>* </a:t>
            </a:r>
            <a:r>
              <a:rPr lang="en-US" altLang="zh-TW" sz="1800" dirty="0">
                <a:solidFill>
                  <a:srgbClr val="8888C6"/>
                </a:solidFill>
                <a:effectLst/>
                <a:latin typeface="JetBrains Mono"/>
              </a:rPr>
              <a:t>float</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correct_count</a:t>
            </a:r>
            <a:r>
              <a:rPr lang="en-US" altLang="zh-TW" sz="1800" dirty="0">
                <a:solidFill>
                  <a:srgbClr val="BCBEC4"/>
                </a:solidFill>
                <a:effectLst/>
                <a:latin typeface="JetBrains Mono"/>
              </a:rPr>
              <a:t>) / </a:t>
            </a:r>
            <a:r>
              <a:rPr lang="en-US" altLang="zh-TW" sz="1800" dirty="0" err="1">
                <a:solidFill>
                  <a:srgbClr val="BCBEC4"/>
                </a:solidFill>
                <a:effectLst/>
                <a:latin typeface="JetBrains Mono"/>
              </a:rPr>
              <a:t>total_pred</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classname</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8888C6"/>
                </a:solidFill>
                <a:effectLst/>
                <a:latin typeface="JetBrains Mono"/>
              </a:rPr>
              <a:t>print</a:t>
            </a:r>
            <a:r>
              <a:rPr lang="en-US" altLang="zh-TW" sz="1800" dirty="0">
                <a:solidFill>
                  <a:srgbClr val="BCBEC4"/>
                </a:solidFill>
                <a:effectLst/>
                <a:latin typeface="JetBrains Mono"/>
              </a:rPr>
              <a:t>(</a:t>
            </a:r>
            <a:r>
              <a:rPr lang="en-US" altLang="zh-TW" sz="1800" dirty="0" err="1">
                <a:solidFill>
                  <a:srgbClr val="6AAB73"/>
                </a:solidFill>
                <a:effectLst/>
                <a:latin typeface="JetBrains Mono"/>
              </a:rPr>
              <a:t>f'Accuracy</a:t>
            </a:r>
            <a:r>
              <a:rPr lang="en-US" altLang="zh-TW" sz="1800" dirty="0">
                <a:solidFill>
                  <a:srgbClr val="6AAB73"/>
                </a:solidFill>
                <a:effectLst/>
                <a:latin typeface="JetBrains Mono"/>
              </a:rPr>
              <a:t> for class: </a:t>
            </a:r>
            <a:r>
              <a:rPr lang="en-US" altLang="zh-TW" sz="1800" dirty="0">
                <a:solidFill>
                  <a:srgbClr val="CF8E6D"/>
                </a:solidFill>
                <a:effectLst/>
                <a:latin typeface="JetBrains Mono"/>
              </a:rPr>
              <a:t>{</a:t>
            </a:r>
            <a:r>
              <a:rPr lang="en-US" altLang="zh-TW" sz="1800" dirty="0">
                <a:solidFill>
                  <a:srgbClr val="BCBEC4"/>
                </a:solidFill>
                <a:effectLst/>
                <a:latin typeface="JetBrains Mono"/>
              </a:rPr>
              <a:t>classname</a:t>
            </a:r>
            <a:r>
              <a:rPr lang="en-US" altLang="zh-TW" sz="1800" dirty="0">
                <a:solidFill>
                  <a:srgbClr val="CF8E6D"/>
                </a:solidFill>
                <a:effectLst/>
                <a:latin typeface="JetBrains Mono"/>
              </a:rPr>
              <a:t>:</a:t>
            </a:r>
            <a:r>
              <a:rPr lang="en-US" altLang="zh-TW" sz="1800" dirty="0">
                <a:solidFill>
                  <a:srgbClr val="6AAB73"/>
                </a:solidFill>
                <a:effectLst/>
                <a:latin typeface="JetBrains Mono"/>
              </a:rPr>
              <a:t>5s</a:t>
            </a:r>
            <a:r>
              <a:rPr lang="en-US" altLang="zh-TW" sz="1800" dirty="0">
                <a:solidFill>
                  <a:srgbClr val="CF8E6D"/>
                </a:solidFill>
                <a:effectLst/>
                <a:latin typeface="JetBrains Mono"/>
              </a:rPr>
              <a:t>}</a:t>
            </a:r>
            <a:r>
              <a:rPr lang="en-US" altLang="zh-TW" sz="1800" dirty="0">
                <a:solidFill>
                  <a:srgbClr val="6AAB73"/>
                </a:solidFill>
                <a:effectLst/>
                <a:latin typeface="JetBrains Mono"/>
              </a:rPr>
              <a:t> is </a:t>
            </a:r>
            <a:r>
              <a:rPr lang="en-US" altLang="zh-TW" sz="1800" dirty="0">
                <a:solidFill>
                  <a:srgbClr val="CF8E6D"/>
                </a:solidFill>
                <a:effectLst/>
                <a:latin typeface="JetBrains Mono"/>
              </a:rPr>
              <a:t>{</a:t>
            </a:r>
            <a:r>
              <a:rPr lang="en-US" altLang="zh-TW" sz="1800" dirty="0">
                <a:solidFill>
                  <a:srgbClr val="BCBEC4"/>
                </a:solidFill>
                <a:effectLst/>
                <a:latin typeface="JetBrains Mono"/>
              </a:rPr>
              <a:t>accuracy</a:t>
            </a:r>
            <a:r>
              <a:rPr lang="en-US" altLang="zh-TW" sz="1800" dirty="0">
                <a:solidFill>
                  <a:srgbClr val="CF8E6D"/>
                </a:solidFill>
                <a:effectLst/>
                <a:latin typeface="JetBrains Mono"/>
              </a:rPr>
              <a:t>:</a:t>
            </a:r>
            <a:r>
              <a:rPr lang="en-US" altLang="zh-TW" sz="1800" dirty="0">
                <a:solidFill>
                  <a:srgbClr val="6AAB73"/>
                </a:solidFill>
                <a:effectLst/>
                <a:latin typeface="JetBrains Mono"/>
              </a:rPr>
              <a:t>.1f</a:t>
            </a:r>
            <a:r>
              <a:rPr lang="en-US" altLang="zh-TW" sz="1800" dirty="0">
                <a:solidFill>
                  <a:srgbClr val="CF8E6D"/>
                </a:solidFill>
                <a:effectLst/>
                <a:latin typeface="JetBrains Mono"/>
              </a:rPr>
              <a:t>}</a:t>
            </a:r>
            <a:r>
              <a:rPr lang="en-US" altLang="zh-TW" sz="1800" dirty="0">
                <a:solidFill>
                  <a:srgbClr val="6AAB73"/>
                </a:solidFill>
                <a:effectLst/>
                <a:latin typeface="JetBrains Mono"/>
              </a:rPr>
              <a:t> %'</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8888C6"/>
                </a:solidFill>
                <a:effectLst/>
                <a:latin typeface="JetBrains Mono"/>
              </a:rPr>
              <a:t>print</a:t>
            </a:r>
            <a:r>
              <a:rPr lang="en-US" altLang="zh-TW" sz="1800" dirty="0">
                <a:solidFill>
                  <a:srgbClr val="BCBEC4"/>
                </a:solidFill>
                <a:effectLst/>
                <a:latin typeface="JetBrains Mono"/>
              </a:rPr>
              <a:t>(</a:t>
            </a:r>
            <a:r>
              <a:rPr lang="en-US" altLang="zh-TW" sz="1800" dirty="0">
                <a:solidFill>
                  <a:srgbClr val="6AAB73"/>
                </a:solidFill>
                <a:effectLst/>
                <a:latin typeface="JetBrains Mono"/>
              </a:rPr>
              <a:t>'done!'</a:t>
            </a:r>
            <a:r>
              <a:rPr lang="en-US" altLang="zh-TW" sz="1800" dirty="0">
                <a:solidFill>
                  <a:srgbClr val="BCBEC4"/>
                </a:solidFill>
                <a:effectLst/>
                <a:latin typeface="JetBrains Mono"/>
              </a:rPr>
              <a:t>)</a:t>
            </a:r>
          </a:p>
        </p:txBody>
      </p:sp>
      <p:sp>
        <p:nvSpPr>
          <p:cNvPr id="2" name="標題 1">
            <a:extLst>
              <a:ext uri="{FF2B5EF4-FFF2-40B4-BE49-F238E27FC236}">
                <a16:creationId xmlns:a16="http://schemas.microsoft.com/office/drawing/2014/main" id="{2A6ECBE8-BA31-D0C2-2E07-A5BC90EDBE33}"/>
              </a:ext>
            </a:extLst>
          </p:cNvPr>
          <p:cNvSpPr txBox="1">
            <a:spLocks/>
          </p:cNvSpPr>
          <p:nvPr/>
        </p:nvSpPr>
        <p:spPr>
          <a:xfrm>
            <a:off x="0" y="0"/>
            <a:ext cx="12192000" cy="1694681"/>
          </a:xfrm>
          <a:prstGeom prst="rect">
            <a:avLst/>
          </a:prstGeom>
          <a:solidFill>
            <a:schemeClr val="accent5">
              <a:lumMod val="20000"/>
              <a:lumOff val="80000"/>
            </a:schemeClr>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TW" sz="6000" dirty="0"/>
              <a:t>Lab</a:t>
            </a:r>
            <a:r>
              <a:rPr lang="zh-TW" altLang="en-US" sz="6000" dirty="0"/>
              <a:t> </a:t>
            </a:r>
            <a:r>
              <a:rPr lang="en-US" altLang="zh-TW" sz="6000" dirty="0"/>
              <a:t>2 CIFAR10Evaluation.py</a:t>
            </a:r>
            <a:endParaRPr lang="zh-TW" altLang="en-US" sz="6000" dirty="0"/>
          </a:p>
        </p:txBody>
      </p:sp>
      <p:sp>
        <p:nvSpPr>
          <p:cNvPr id="8" name="文字方塊 7">
            <a:extLst>
              <a:ext uri="{FF2B5EF4-FFF2-40B4-BE49-F238E27FC236}">
                <a16:creationId xmlns:a16="http://schemas.microsoft.com/office/drawing/2014/main" id="{19A313EE-FAA2-44EE-0BB2-EE640B017406}"/>
              </a:ext>
            </a:extLst>
          </p:cNvPr>
          <p:cNvSpPr txBox="1"/>
          <p:nvPr/>
        </p:nvSpPr>
        <p:spPr>
          <a:xfrm>
            <a:off x="5824105" y="3023397"/>
            <a:ext cx="6120244" cy="4801314"/>
          </a:xfrm>
          <a:prstGeom prst="rect">
            <a:avLst/>
          </a:prstGeom>
          <a:solidFill>
            <a:schemeClr val="accent5">
              <a:lumMod val="20000"/>
              <a:lumOff val="80000"/>
            </a:schemeClr>
          </a:solidFill>
        </p:spPr>
        <p:txBody>
          <a:bodyPr wrap="square">
            <a:spAutoFit/>
          </a:bodyPr>
          <a:lstStyle/>
          <a:p>
            <a:r>
              <a:rPr lang="zh-TW" altLang="en-US" dirty="0"/>
              <a:t>C:\Users\user\anaconda3\envs\torch5800\python.exe E:\Pytorch\L004_MLP\CIFAR10Evaluation.py </a:t>
            </a:r>
          </a:p>
          <a:p>
            <a:endParaRPr lang="zh-TW" altLang="en-US" dirty="0"/>
          </a:p>
          <a:p>
            <a:r>
              <a:rPr lang="zh-TW" altLang="en-US" dirty="0"/>
              <a:t>Accuracy of the network on the 10000 test images: 61 %</a:t>
            </a:r>
          </a:p>
          <a:p>
            <a:r>
              <a:rPr lang="zh-TW" altLang="en-US" dirty="0"/>
              <a:t>Accuracy for class: plane is 47.0 %</a:t>
            </a:r>
          </a:p>
          <a:p>
            <a:r>
              <a:rPr lang="zh-TW" altLang="en-US" dirty="0"/>
              <a:t>Accuracy for class: car   is 75.1 %</a:t>
            </a:r>
          </a:p>
          <a:p>
            <a:r>
              <a:rPr lang="zh-TW" altLang="en-US" dirty="0"/>
              <a:t>Accuracy for class: bird  is 56.6 %</a:t>
            </a:r>
          </a:p>
          <a:p>
            <a:r>
              <a:rPr lang="zh-TW" altLang="en-US" dirty="0"/>
              <a:t>Accuracy for class: cat   is 36.9 %</a:t>
            </a:r>
          </a:p>
          <a:p>
            <a:r>
              <a:rPr lang="zh-TW" altLang="en-US" dirty="0"/>
              <a:t>Accuracy for class: deer  is 47.8 %</a:t>
            </a:r>
          </a:p>
          <a:p>
            <a:r>
              <a:rPr lang="zh-TW" altLang="en-US" dirty="0"/>
              <a:t>Accuracy for class: dog   is 55.2 %</a:t>
            </a:r>
          </a:p>
          <a:p>
            <a:r>
              <a:rPr lang="zh-TW" altLang="en-US" dirty="0"/>
              <a:t>Accuracy for class: frog  is 80.5 %</a:t>
            </a:r>
          </a:p>
          <a:p>
            <a:r>
              <a:rPr lang="zh-TW" altLang="en-US" dirty="0"/>
              <a:t>Accuracy for class: horse is 61.7 %</a:t>
            </a:r>
          </a:p>
          <a:p>
            <a:r>
              <a:rPr lang="zh-TW" altLang="en-US" dirty="0"/>
              <a:t>Accuracy for class: ship  is 78.5 %</a:t>
            </a:r>
          </a:p>
          <a:p>
            <a:r>
              <a:rPr lang="zh-TW" altLang="en-US" dirty="0"/>
              <a:t>Accuracy for class: truck is 78.9 %</a:t>
            </a:r>
          </a:p>
          <a:p>
            <a:r>
              <a:rPr lang="zh-TW" altLang="en-US" dirty="0"/>
              <a:t>done!</a:t>
            </a:r>
          </a:p>
          <a:p>
            <a:endParaRPr lang="zh-TW" altLang="en-US" dirty="0"/>
          </a:p>
          <a:p>
            <a:r>
              <a:rPr lang="zh-TW" altLang="en-US" dirty="0"/>
              <a:t>Process finished with exit code 0</a:t>
            </a:r>
          </a:p>
        </p:txBody>
      </p:sp>
    </p:spTree>
    <p:extLst>
      <p:ext uri="{BB962C8B-B14F-4D97-AF65-F5344CB8AC3E}">
        <p14:creationId xmlns:p14="http://schemas.microsoft.com/office/powerpoint/2010/main" val="22650342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D93947D3-F386-E045-3E51-F768CFF47FD8}"/>
              </a:ext>
            </a:extLst>
          </p:cNvPr>
          <p:cNvSpPr txBox="1"/>
          <p:nvPr/>
        </p:nvSpPr>
        <p:spPr>
          <a:xfrm>
            <a:off x="0" y="1694681"/>
            <a:ext cx="12192000" cy="33339129"/>
          </a:xfrm>
          <a:prstGeom prst="rect">
            <a:avLst/>
          </a:prstGeom>
          <a:solidFill>
            <a:schemeClr val="tx1"/>
          </a:solidFill>
        </p:spPr>
        <p:txBody>
          <a:bodyPr wrap="square">
            <a:spAutoFit/>
          </a:bodyPr>
          <a:lstStyle/>
          <a:p>
            <a:pPr>
              <a:buNone/>
            </a:pPr>
            <a:r>
              <a:rPr lang="en-US" altLang="zh-TW" sz="1800" dirty="0">
                <a:solidFill>
                  <a:srgbClr val="CF8E6D"/>
                </a:solidFill>
                <a:effectLst/>
                <a:latin typeface="JetBrains Mono"/>
              </a:rPr>
              <a:t>import </a:t>
            </a:r>
            <a:r>
              <a:rPr lang="en-US" altLang="zh-TW" sz="1800" dirty="0">
                <a:solidFill>
                  <a:srgbClr val="BCBEC4"/>
                </a:solidFill>
                <a:effectLst/>
                <a:latin typeface="JetBrains Mono"/>
              </a:rPr>
              <a:t>torch</a:t>
            </a:r>
            <a:br>
              <a:rPr lang="en-US" altLang="zh-TW" sz="1800" dirty="0">
                <a:solidFill>
                  <a:srgbClr val="BCBEC4"/>
                </a:solidFill>
                <a:effectLst/>
                <a:latin typeface="JetBrains Mono"/>
              </a:rPr>
            </a:br>
            <a:r>
              <a:rPr lang="en-US" altLang="zh-TW" sz="1800" dirty="0">
                <a:solidFill>
                  <a:srgbClr val="CF8E6D"/>
                </a:solidFill>
                <a:effectLst/>
                <a:latin typeface="JetBrains Mono"/>
              </a:rPr>
              <a:t>from </a:t>
            </a:r>
            <a:r>
              <a:rPr lang="en-US" altLang="zh-TW" sz="1800" dirty="0">
                <a:solidFill>
                  <a:srgbClr val="BCBEC4"/>
                </a:solidFill>
                <a:effectLst/>
                <a:latin typeface="JetBrains Mono"/>
              </a:rPr>
              <a:t>torch </a:t>
            </a:r>
            <a:r>
              <a:rPr lang="en-US" altLang="zh-TW" sz="1800" dirty="0">
                <a:solidFill>
                  <a:srgbClr val="CF8E6D"/>
                </a:solidFill>
                <a:effectLst/>
                <a:latin typeface="JetBrains Mono"/>
              </a:rPr>
              <a:t>import </a:t>
            </a:r>
            <a:r>
              <a:rPr lang="en-US" altLang="zh-TW" sz="1800" dirty="0" err="1">
                <a:solidFill>
                  <a:srgbClr val="BCBEC4"/>
                </a:solidFill>
                <a:effectLst/>
                <a:latin typeface="JetBrains Mono"/>
              </a:rPr>
              <a:t>nn</a:t>
            </a:r>
            <a:br>
              <a:rPr lang="en-US" altLang="zh-TW" sz="1800" dirty="0">
                <a:solidFill>
                  <a:srgbClr val="BCBEC4"/>
                </a:solidFill>
                <a:effectLst/>
                <a:latin typeface="JetBrains Mono"/>
              </a:rPr>
            </a:br>
            <a:r>
              <a:rPr lang="en-US" altLang="zh-TW" sz="1800" dirty="0">
                <a:solidFill>
                  <a:srgbClr val="CF8E6D"/>
                </a:solidFill>
                <a:effectLst/>
                <a:latin typeface="JetBrains Mono"/>
              </a:rPr>
              <a:t>from </a:t>
            </a:r>
            <a:r>
              <a:rPr lang="en-US" altLang="zh-TW" sz="1800" dirty="0" err="1">
                <a:solidFill>
                  <a:srgbClr val="BCBEC4"/>
                </a:solidFill>
                <a:effectLst/>
                <a:latin typeface="JetBrains Mono"/>
              </a:rPr>
              <a:t>torch.utils.data</a:t>
            </a:r>
            <a:r>
              <a:rPr lang="en-US" altLang="zh-TW" sz="1800" dirty="0">
                <a:solidFill>
                  <a:srgbClr val="BCBEC4"/>
                </a:solidFill>
                <a:effectLst/>
                <a:latin typeface="JetBrains Mono"/>
              </a:rPr>
              <a:t> </a:t>
            </a:r>
            <a:r>
              <a:rPr lang="en-US" altLang="zh-TW" sz="1800" dirty="0">
                <a:solidFill>
                  <a:srgbClr val="CF8E6D"/>
                </a:solidFill>
                <a:effectLst/>
                <a:latin typeface="JetBrains Mono"/>
              </a:rPr>
              <a:t>import </a:t>
            </a:r>
            <a:r>
              <a:rPr lang="en-US" altLang="zh-TW" sz="1800" dirty="0" err="1">
                <a:solidFill>
                  <a:srgbClr val="BCBEC4"/>
                </a:solidFill>
                <a:effectLst/>
                <a:latin typeface="JetBrains Mono"/>
              </a:rPr>
              <a:t>DataLoader</a:t>
            </a:r>
            <a:br>
              <a:rPr lang="en-US" altLang="zh-TW" sz="1800" dirty="0">
                <a:solidFill>
                  <a:srgbClr val="BCBEC4"/>
                </a:solidFill>
                <a:effectLst/>
                <a:latin typeface="JetBrains Mono"/>
              </a:rPr>
            </a:br>
            <a:r>
              <a:rPr lang="en-US" altLang="zh-TW" sz="1800" dirty="0">
                <a:solidFill>
                  <a:srgbClr val="CF8E6D"/>
                </a:solidFill>
                <a:effectLst/>
                <a:latin typeface="JetBrains Mono"/>
              </a:rPr>
              <a:t>from </a:t>
            </a:r>
            <a:r>
              <a:rPr lang="en-US" altLang="zh-TW" sz="1800" dirty="0" err="1">
                <a:solidFill>
                  <a:srgbClr val="BCBEC4"/>
                </a:solidFill>
                <a:effectLst/>
                <a:latin typeface="JetBrains Mono"/>
              </a:rPr>
              <a:t>torchvision</a:t>
            </a:r>
            <a:r>
              <a:rPr lang="en-US" altLang="zh-TW" sz="1800" dirty="0">
                <a:solidFill>
                  <a:srgbClr val="BCBEC4"/>
                </a:solidFill>
                <a:effectLst/>
                <a:latin typeface="JetBrains Mono"/>
              </a:rPr>
              <a:t> </a:t>
            </a:r>
            <a:r>
              <a:rPr lang="en-US" altLang="zh-TW" sz="1800" dirty="0">
                <a:solidFill>
                  <a:srgbClr val="CF8E6D"/>
                </a:solidFill>
                <a:effectLst/>
                <a:latin typeface="JetBrains Mono"/>
              </a:rPr>
              <a:t>import </a:t>
            </a:r>
            <a:r>
              <a:rPr lang="en-US" altLang="zh-TW" sz="1800" dirty="0">
                <a:solidFill>
                  <a:srgbClr val="BCBEC4"/>
                </a:solidFill>
                <a:effectLst/>
                <a:latin typeface="JetBrains Mono"/>
              </a:rPr>
              <a:t>datasets</a:t>
            </a:r>
            <a:br>
              <a:rPr lang="en-US" altLang="zh-TW" sz="1800" dirty="0">
                <a:solidFill>
                  <a:srgbClr val="BCBEC4"/>
                </a:solidFill>
                <a:effectLst/>
                <a:latin typeface="JetBrains Mono"/>
              </a:rPr>
            </a:br>
            <a:r>
              <a:rPr lang="en-US" altLang="zh-TW" sz="1800" dirty="0">
                <a:solidFill>
                  <a:srgbClr val="CF8E6D"/>
                </a:solidFill>
                <a:effectLst/>
                <a:latin typeface="JetBrains Mono"/>
              </a:rPr>
              <a:t>import </a:t>
            </a:r>
            <a:r>
              <a:rPr lang="en-US" altLang="zh-TW" sz="1800" dirty="0" err="1">
                <a:solidFill>
                  <a:srgbClr val="BCBEC4"/>
                </a:solidFill>
                <a:effectLst/>
                <a:latin typeface="JetBrains Mono"/>
              </a:rPr>
              <a:t>torchvision.transforms</a:t>
            </a:r>
            <a:r>
              <a:rPr lang="en-US" altLang="zh-TW" sz="1800" dirty="0">
                <a:solidFill>
                  <a:srgbClr val="BCBEC4"/>
                </a:solidFill>
                <a:effectLst/>
                <a:latin typeface="JetBrains Mono"/>
              </a:rPr>
              <a:t> </a:t>
            </a:r>
            <a:r>
              <a:rPr lang="en-US" altLang="zh-TW" sz="1800" dirty="0">
                <a:solidFill>
                  <a:srgbClr val="CF8E6D"/>
                </a:solidFill>
                <a:effectLst/>
                <a:latin typeface="JetBrains Mono"/>
              </a:rPr>
              <a:t>as </a:t>
            </a:r>
            <a:r>
              <a:rPr lang="en-US" altLang="zh-TW" sz="1800" dirty="0">
                <a:solidFill>
                  <a:srgbClr val="BCBEC4"/>
                </a:solidFill>
                <a:effectLst/>
                <a:latin typeface="JetBrains Mono"/>
              </a:rPr>
              <a:t>transforms</a:t>
            </a:r>
            <a:br>
              <a:rPr lang="en-US" altLang="zh-TW" sz="1800" dirty="0">
                <a:solidFill>
                  <a:srgbClr val="BCBEC4"/>
                </a:solidFill>
                <a:effectLst/>
                <a:latin typeface="JetBrains Mono"/>
              </a:rPr>
            </a:br>
            <a:r>
              <a:rPr lang="en-US" altLang="zh-TW" sz="1800" dirty="0">
                <a:solidFill>
                  <a:srgbClr val="CF8E6D"/>
                </a:solidFill>
                <a:effectLst/>
                <a:latin typeface="JetBrains Mono"/>
              </a:rPr>
              <a:t>import </a:t>
            </a:r>
            <a:r>
              <a:rPr lang="en-US" altLang="zh-TW" sz="1800" dirty="0" err="1">
                <a:solidFill>
                  <a:srgbClr val="BCBEC4"/>
                </a:solidFill>
                <a:effectLst/>
                <a:latin typeface="JetBrains Mono"/>
              </a:rPr>
              <a:t>matplotlib.pyplot</a:t>
            </a:r>
            <a:r>
              <a:rPr lang="en-US" altLang="zh-TW" sz="1800" dirty="0">
                <a:solidFill>
                  <a:srgbClr val="BCBEC4"/>
                </a:solidFill>
                <a:effectLst/>
                <a:latin typeface="JetBrains Mono"/>
              </a:rPr>
              <a:t> </a:t>
            </a:r>
            <a:r>
              <a:rPr lang="en-US" altLang="zh-TW" sz="1800" dirty="0">
                <a:solidFill>
                  <a:srgbClr val="CF8E6D"/>
                </a:solidFill>
                <a:effectLst/>
                <a:latin typeface="JetBrains Mono"/>
              </a:rPr>
              <a:t>as </a:t>
            </a:r>
            <a:r>
              <a:rPr lang="en-US" altLang="zh-TW" sz="1800" dirty="0" err="1">
                <a:solidFill>
                  <a:srgbClr val="BCBEC4"/>
                </a:solidFill>
                <a:effectLst/>
                <a:latin typeface="JetBrains Mono"/>
              </a:rPr>
              <a:t>plt</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BCBEC4"/>
                </a:solidFill>
                <a:effectLst/>
                <a:latin typeface="JetBrains Mono"/>
              </a:rPr>
              <a:t>transforms = </a:t>
            </a:r>
            <a:r>
              <a:rPr lang="en-US" altLang="zh-TW" sz="1800" dirty="0" err="1">
                <a:solidFill>
                  <a:srgbClr val="BCBEC4"/>
                </a:solidFill>
                <a:effectLst/>
                <a:latin typeface="JetBrains Mono"/>
              </a:rPr>
              <a:t>transforms.Compose</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transforms.Grayscale</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BCBEC4"/>
                </a:solidFill>
                <a:effectLst/>
                <a:latin typeface="JetBrains Mono"/>
              </a:rPr>
              <a:t>transforms.Resize</a:t>
            </a:r>
            <a:r>
              <a:rPr lang="en-US" altLang="zh-TW" sz="1800" dirty="0">
                <a:solidFill>
                  <a:srgbClr val="BCBEC4"/>
                </a:solidFill>
                <a:effectLst/>
                <a:latin typeface="JetBrains Mono"/>
              </a:rPr>
              <a:t>((</a:t>
            </a:r>
            <a:r>
              <a:rPr lang="en-US" altLang="zh-TW" sz="1800" dirty="0">
                <a:solidFill>
                  <a:srgbClr val="2AACB8"/>
                </a:solidFill>
                <a:effectLst/>
                <a:latin typeface="JetBrains Mono"/>
              </a:rPr>
              <a:t>28</a:t>
            </a:r>
            <a:r>
              <a:rPr lang="en-US" altLang="zh-TW" sz="1800" dirty="0">
                <a:solidFill>
                  <a:srgbClr val="BCBEC4"/>
                </a:solidFill>
                <a:effectLst/>
                <a:latin typeface="JetBrains Mono"/>
              </a:rPr>
              <a:t>, </a:t>
            </a:r>
            <a:r>
              <a:rPr lang="en-US" altLang="zh-TW" sz="1800" dirty="0">
                <a:solidFill>
                  <a:srgbClr val="2AACB8"/>
                </a:solidFill>
                <a:effectLst/>
                <a:latin typeface="JetBrains Mono"/>
              </a:rPr>
              <a:t>28</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BCBEC4"/>
                </a:solidFill>
                <a:effectLst/>
                <a:latin typeface="JetBrains Mono"/>
              </a:rPr>
              <a:t>transforms.ToTensor</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BCBEC4"/>
                </a:solidFill>
                <a:effectLst/>
                <a:latin typeface="JetBrains Mono"/>
              </a:rPr>
              <a:t>transforms.Normalize</a:t>
            </a:r>
            <a:r>
              <a:rPr lang="en-US" altLang="zh-TW" sz="1800" dirty="0">
                <a:solidFill>
                  <a:srgbClr val="BCBEC4"/>
                </a:solidFill>
                <a:effectLst/>
                <a:latin typeface="JetBrains Mono"/>
              </a:rPr>
              <a:t>(</a:t>
            </a:r>
            <a:r>
              <a:rPr lang="en-US" altLang="zh-TW" sz="1800" dirty="0">
                <a:solidFill>
                  <a:srgbClr val="AA4926"/>
                </a:solidFill>
                <a:effectLst/>
                <a:latin typeface="JetBrains Mono"/>
              </a:rPr>
              <a:t>mean</a:t>
            </a:r>
            <a:r>
              <a:rPr lang="en-US" altLang="zh-TW" sz="1800" dirty="0">
                <a:solidFill>
                  <a:srgbClr val="BCBEC4"/>
                </a:solidFill>
                <a:effectLst/>
                <a:latin typeface="JetBrains Mono"/>
              </a:rPr>
              <a:t>=(</a:t>
            </a:r>
            <a:r>
              <a:rPr lang="en-US" altLang="zh-TW" sz="1800" dirty="0">
                <a:solidFill>
                  <a:srgbClr val="2AACB8"/>
                </a:solidFill>
                <a:effectLst/>
                <a:latin typeface="JetBrains Mono"/>
              </a:rPr>
              <a:t>0.5</a:t>
            </a:r>
            <a:r>
              <a:rPr lang="en-US" altLang="zh-TW" sz="1800" dirty="0">
                <a:solidFill>
                  <a:srgbClr val="BCBEC4"/>
                </a:solidFill>
                <a:effectLst/>
                <a:latin typeface="JetBrains Mono"/>
              </a:rPr>
              <a:t>), </a:t>
            </a:r>
            <a:r>
              <a:rPr lang="en-US" altLang="zh-TW" sz="1800" dirty="0">
                <a:solidFill>
                  <a:srgbClr val="AA4926"/>
                </a:solidFill>
                <a:effectLst/>
                <a:latin typeface="JetBrains Mono"/>
              </a:rPr>
              <a:t>std</a:t>
            </a:r>
            <a:r>
              <a:rPr lang="en-US" altLang="zh-TW" sz="1800" dirty="0">
                <a:solidFill>
                  <a:srgbClr val="BCBEC4"/>
                </a:solidFill>
                <a:effectLst/>
                <a:latin typeface="JetBrains Mono"/>
              </a:rPr>
              <a:t>=(</a:t>
            </a:r>
            <a:r>
              <a:rPr lang="en-US" altLang="zh-TW" sz="1800" dirty="0">
                <a:solidFill>
                  <a:srgbClr val="2AACB8"/>
                </a:solidFill>
                <a:effectLst/>
                <a:latin typeface="JetBrains Mono"/>
              </a:rPr>
              <a:t>0.5</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7A7E85"/>
                </a:solidFill>
                <a:effectLst/>
                <a:latin typeface="JetBrains Mono"/>
              </a:rPr>
              <a:t># Load training data from Image Folder</a:t>
            </a:r>
            <a:br>
              <a:rPr lang="en-US" altLang="zh-TW" sz="1800" dirty="0">
                <a:solidFill>
                  <a:srgbClr val="7A7E85"/>
                </a:solidFill>
                <a:effectLst/>
                <a:latin typeface="JetBrains Mono"/>
              </a:rPr>
            </a:br>
            <a:r>
              <a:rPr lang="en-US" altLang="zh-TW" sz="1800" dirty="0" err="1">
                <a:solidFill>
                  <a:srgbClr val="BCBEC4"/>
                </a:solidFill>
                <a:effectLst/>
                <a:latin typeface="JetBrains Mono"/>
              </a:rPr>
              <a:t>dataAll</a:t>
            </a:r>
            <a:r>
              <a:rPr lang="en-US" altLang="zh-TW" sz="1800" dirty="0">
                <a:solidFill>
                  <a:srgbClr val="BCBEC4"/>
                </a:solidFill>
                <a:effectLst/>
                <a:latin typeface="JetBrains Mono"/>
              </a:rPr>
              <a:t> = </a:t>
            </a:r>
            <a:r>
              <a:rPr lang="en-US" altLang="zh-TW" sz="1800" dirty="0" err="1">
                <a:solidFill>
                  <a:srgbClr val="BCBEC4"/>
                </a:solidFill>
                <a:effectLst/>
                <a:latin typeface="JetBrains Mono"/>
              </a:rPr>
              <a:t>datasets.ImageFolder</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AA4926"/>
                </a:solidFill>
                <a:effectLst/>
                <a:latin typeface="JetBrains Mono"/>
              </a:rPr>
              <a:t>root</a:t>
            </a:r>
            <a:r>
              <a:rPr lang="en-US" altLang="zh-TW" sz="1800" dirty="0">
                <a:solidFill>
                  <a:srgbClr val="BCBEC4"/>
                </a:solidFill>
                <a:effectLst/>
                <a:latin typeface="JetBrains Mono"/>
              </a:rPr>
              <a:t>=</a:t>
            </a:r>
            <a:r>
              <a:rPr lang="en-US" altLang="zh-TW" sz="1800" dirty="0">
                <a:solidFill>
                  <a:srgbClr val="6AAB73"/>
                </a:solidFill>
                <a:effectLst/>
                <a:latin typeface="JetBrains Mono"/>
              </a:rPr>
              <a:t>"../data/kagglecatsanddogs_5340/</a:t>
            </a:r>
            <a:r>
              <a:rPr lang="en-US" altLang="zh-TW" sz="1800" dirty="0" err="1">
                <a:solidFill>
                  <a:srgbClr val="6AAB73"/>
                </a:solidFill>
                <a:effectLst/>
                <a:latin typeface="JetBrains Mono"/>
              </a:rPr>
              <a:t>PetImages</a:t>
            </a:r>
            <a:r>
              <a:rPr lang="en-US" altLang="zh-TW" sz="1800" dirty="0">
                <a:solidFill>
                  <a:srgbClr val="6AAB73"/>
                </a:solidFill>
                <a:effectLst/>
                <a:latin typeface="JetBrains Mono"/>
              </a:rPr>
              <a:t>"</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AA4926"/>
                </a:solidFill>
                <a:effectLst/>
                <a:latin typeface="JetBrains Mono"/>
              </a:rPr>
              <a:t>transform </a:t>
            </a:r>
            <a:r>
              <a:rPr lang="en-US" altLang="zh-TW" sz="1800" dirty="0">
                <a:solidFill>
                  <a:srgbClr val="BCBEC4"/>
                </a:solidFill>
                <a:effectLst/>
                <a:latin typeface="JetBrains Mono"/>
              </a:rPr>
              <a:t>= transforms,</a:t>
            </a:r>
            <a:br>
              <a:rPr lang="en-US" altLang="zh-TW" sz="1800" dirty="0">
                <a:solidFill>
                  <a:srgbClr val="BCBEC4"/>
                </a:solidFill>
                <a:effectLst/>
                <a:latin typeface="JetBrains Mono"/>
              </a:rPr>
            </a:b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err="1">
                <a:solidFill>
                  <a:srgbClr val="BCBEC4"/>
                </a:solidFill>
                <a:effectLst/>
                <a:latin typeface="JetBrains Mono"/>
              </a:rPr>
              <a:t>num_datapoints</a:t>
            </a:r>
            <a:r>
              <a:rPr lang="en-US" altLang="zh-TW" sz="1800" dirty="0">
                <a:solidFill>
                  <a:srgbClr val="BCBEC4"/>
                </a:solidFill>
                <a:effectLst/>
                <a:latin typeface="JetBrains Mono"/>
              </a:rPr>
              <a:t> = </a:t>
            </a:r>
            <a:r>
              <a:rPr lang="en-US" altLang="zh-TW" sz="1800" dirty="0" err="1">
                <a:solidFill>
                  <a:srgbClr val="8888C6"/>
                </a:solidFill>
                <a:effectLst/>
                <a:latin typeface="JetBrains Mono"/>
              </a:rPr>
              <a:t>len</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dataAll</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8888C6"/>
                </a:solidFill>
                <a:effectLst/>
                <a:latin typeface="JetBrains Mono"/>
              </a:rPr>
              <a:t>print</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num_datapoints</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7A7E85"/>
                </a:solidFill>
                <a:effectLst/>
                <a:latin typeface="JetBrains Mono"/>
              </a:rPr>
              <a:t># split training data into two parts</a:t>
            </a:r>
            <a:br>
              <a:rPr lang="en-US" altLang="zh-TW" sz="1800" dirty="0">
                <a:solidFill>
                  <a:srgbClr val="7A7E85"/>
                </a:solidFill>
                <a:effectLst/>
                <a:latin typeface="JetBrains Mono"/>
              </a:rPr>
            </a:br>
            <a:r>
              <a:rPr lang="en-US" altLang="zh-TW" sz="1800" dirty="0">
                <a:solidFill>
                  <a:srgbClr val="7A7E85"/>
                </a:solidFill>
                <a:effectLst/>
                <a:latin typeface="JetBrains Mono"/>
              </a:rPr>
              <a:t># </a:t>
            </a:r>
            <a:r>
              <a:rPr lang="en-US" altLang="zh-TW" sz="1800" dirty="0" err="1">
                <a:solidFill>
                  <a:srgbClr val="7A7E85"/>
                </a:solidFill>
                <a:effectLst/>
                <a:latin typeface="JetBrains Mono"/>
              </a:rPr>
              <a:t>training_set</a:t>
            </a:r>
            <a:r>
              <a:rPr lang="en-US" altLang="zh-TW" sz="1800" dirty="0">
                <a:solidFill>
                  <a:srgbClr val="7A7E85"/>
                </a:solidFill>
                <a:effectLst/>
                <a:latin typeface="JetBrains Mono"/>
              </a:rPr>
              <a:t>(70%)</a:t>
            </a:r>
            <a:br>
              <a:rPr lang="en-US" altLang="zh-TW" sz="1800" dirty="0">
                <a:solidFill>
                  <a:srgbClr val="7A7E85"/>
                </a:solidFill>
                <a:effectLst/>
                <a:latin typeface="JetBrains Mono"/>
              </a:rPr>
            </a:br>
            <a:r>
              <a:rPr lang="en-US" altLang="zh-TW" sz="1800" dirty="0">
                <a:solidFill>
                  <a:srgbClr val="7A7E85"/>
                </a:solidFill>
                <a:effectLst/>
                <a:latin typeface="JetBrains Mono"/>
              </a:rPr>
              <a:t># </a:t>
            </a:r>
            <a:r>
              <a:rPr lang="en-US" altLang="zh-TW" sz="1800" dirty="0" err="1">
                <a:solidFill>
                  <a:srgbClr val="7A7E85"/>
                </a:solidFill>
                <a:effectLst/>
                <a:latin typeface="JetBrains Mono"/>
              </a:rPr>
              <a:t>validation_set</a:t>
            </a:r>
            <a:r>
              <a:rPr lang="en-US" altLang="zh-TW" sz="1800" dirty="0">
                <a:solidFill>
                  <a:srgbClr val="7A7E85"/>
                </a:solidFill>
                <a:effectLst/>
                <a:latin typeface="JetBrains Mono"/>
              </a:rPr>
              <a:t>(30%)</a:t>
            </a:r>
            <a:br>
              <a:rPr lang="en-US" altLang="zh-TW" sz="1800" dirty="0">
                <a:solidFill>
                  <a:srgbClr val="7A7E85"/>
                </a:solidFill>
                <a:effectLst/>
                <a:latin typeface="JetBrains Mono"/>
              </a:rPr>
            </a:br>
            <a:r>
              <a:rPr lang="en-US" altLang="zh-TW" sz="1800" dirty="0" err="1">
                <a:solidFill>
                  <a:srgbClr val="BCBEC4"/>
                </a:solidFill>
                <a:effectLst/>
                <a:latin typeface="JetBrains Mono"/>
              </a:rPr>
              <a:t>train_size</a:t>
            </a:r>
            <a:r>
              <a:rPr lang="en-US" altLang="zh-TW" sz="1800" dirty="0">
                <a:solidFill>
                  <a:srgbClr val="BCBEC4"/>
                </a:solidFill>
                <a:effectLst/>
                <a:latin typeface="JetBrains Mono"/>
              </a:rPr>
              <a:t> = </a:t>
            </a:r>
            <a:r>
              <a:rPr lang="en-US" altLang="zh-TW" sz="1800" dirty="0">
                <a:solidFill>
                  <a:srgbClr val="8888C6"/>
                </a:solidFill>
                <a:effectLst/>
                <a:latin typeface="JetBrains Mono"/>
              </a:rPr>
              <a:t>int</a:t>
            </a:r>
            <a:r>
              <a:rPr lang="en-US" altLang="zh-TW" sz="1800" dirty="0">
                <a:solidFill>
                  <a:srgbClr val="BCBEC4"/>
                </a:solidFill>
                <a:effectLst/>
                <a:latin typeface="JetBrains Mono"/>
              </a:rPr>
              <a:t>(</a:t>
            </a:r>
            <a:r>
              <a:rPr lang="en-US" altLang="zh-TW" sz="1800" dirty="0">
                <a:solidFill>
                  <a:srgbClr val="2AACB8"/>
                </a:solidFill>
                <a:effectLst/>
                <a:latin typeface="JetBrains Mono"/>
              </a:rPr>
              <a:t>0.7 </a:t>
            </a:r>
            <a:r>
              <a:rPr lang="en-US" altLang="zh-TW" sz="1800" dirty="0">
                <a:solidFill>
                  <a:srgbClr val="BCBEC4"/>
                </a:solidFill>
                <a:effectLst/>
                <a:latin typeface="JetBrains Mono"/>
              </a:rPr>
              <a:t>* </a:t>
            </a:r>
            <a:r>
              <a:rPr lang="en-US" altLang="zh-TW" sz="1800" dirty="0" err="1">
                <a:solidFill>
                  <a:srgbClr val="8888C6"/>
                </a:solidFill>
                <a:effectLst/>
                <a:latin typeface="JetBrains Mono"/>
              </a:rPr>
              <a:t>len</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dataAll</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err="1">
                <a:solidFill>
                  <a:srgbClr val="BCBEC4"/>
                </a:solidFill>
                <a:effectLst/>
                <a:latin typeface="JetBrains Mono"/>
              </a:rPr>
              <a:t>test_size</a:t>
            </a:r>
            <a:r>
              <a:rPr lang="en-US" altLang="zh-TW" sz="1800" dirty="0">
                <a:solidFill>
                  <a:srgbClr val="BCBEC4"/>
                </a:solidFill>
                <a:effectLst/>
                <a:latin typeface="JetBrains Mono"/>
              </a:rPr>
              <a:t> = </a:t>
            </a:r>
            <a:r>
              <a:rPr lang="en-US" altLang="zh-TW" sz="1800" dirty="0" err="1">
                <a:solidFill>
                  <a:srgbClr val="8888C6"/>
                </a:solidFill>
                <a:effectLst/>
                <a:latin typeface="JetBrains Mono"/>
              </a:rPr>
              <a:t>len</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dataAll</a:t>
            </a:r>
            <a:r>
              <a:rPr lang="en-US" altLang="zh-TW" sz="1800" dirty="0">
                <a:solidFill>
                  <a:srgbClr val="BCBEC4"/>
                </a:solidFill>
                <a:effectLst/>
                <a:latin typeface="JetBrains Mono"/>
              </a:rPr>
              <a:t>) - </a:t>
            </a:r>
            <a:r>
              <a:rPr lang="en-US" altLang="zh-TW" sz="1800" dirty="0" err="1">
                <a:solidFill>
                  <a:srgbClr val="BCBEC4"/>
                </a:solidFill>
                <a:effectLst/>
                <a:latin typeface="JetBrains Mono"/>
              </a:rPr>
              <a:t>train_size</a:t>
            </a:r>
            <a:br>
              <a:rPr lang="en-US" altLang="zh-TW" sz="1800" dirty="0">
                <a:solidFill>
                  <a:srgbClr val="BCBEC4"/>
                </a:solidFill>
                <a:effectLst/>
                <a:latin typeface="JetBrains Mono"/>
              </a:rPr>
            </a:br>
            <a:r>
              <a:rPr lang="en-US" altLang="zh-TW" sz="1800" dirty="0" err="1">
                <a:solidFill>
                  <a:srgbClr val="BCBEC4"/>
                </a:solidFill>
                <a:effectLst/>
                <a:latin typeface="JetBrains Mono"/>
              </a:rPr>
              <a:t>train_set</a:t>
            </a:r>
            <a:r>
              <a:rPr lang="en-US" altLang="zh-TW" sz="1800" dirty="0">
                <a:solidFill>
                  <a:srgbClr val="BCBEC4"/>
                </a:solidFill>
                <a:effectLst/>
                <a:latin typeface="JetBrains Mono"/>
              </a:rPr>
              <a:t>, </a:t>
            </a:r>
            <a:r>
              <a:rPr lang="en-US" altLang="zh-TW" sz="1800" dirty="0" err="1">
                <a:solidFill>
                  <a:srgbClr val="BCBEC4"/>
                </a:solidFill>
                <a:effectLst/>
                <a:latin typeface="JetBrains Mono"/>
              </a:rPr>
              <a:t>test_set</a:t>
            </a:r>
            <a:r>
              <a:rPr lang="en-US" altLang="zh-TW" sz="1800" dirty="0">
                <a:solidFill>
                  <a:srgbClr val="BCBEC4"/>
                </a:solidFill>
                <a:effectLst/>
                <a:latin typeface="JetBrains Mono"/>
              </a:rPr>
              <a:t> = </a:t>
            </a:r>
            <a:r>
              <a:rPr lang="en-US" altLang="zh-TW" sz="1800" dirty="0" err="1">
                <a:solidFill>
                  <a:srgbClr val="BCBEC4"/>
                </a:solidFill>
                <a:effectLst/>
                <a:latin typeface="JetBrains Mono"/>
              </a:rPr>
              <a:t>torch.utils.data.random_split</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dataAll</a:t>
            </a:r>
            <a:r>
              <a:rPr lang="en-US" altLang="zh-TW" sz="1800" dirty="0">
                <a:solidFill>
                  <a:srgbClr val="BCBEC4"/>
                </a:solidFill>
                <a:effectLst/>
                <a:latin typeface="JetBrains Mono"/>
              </a:rPr>
              <a:t>, [</a:t>
            </a:r>
            <a:r>
              <a:rPr lang="en-US" altLang="zh-TW" sz="1800" dirty="0" err="1">
                <a:solidFill>
                  <a:srgbClr val="BCBEC4"/>
                </a:solidFill>
                <a:effectLst/>
                <a:latin typeface="JetBrains Mono"/>
              </a:rPr>
              <a:t>train_size</a:t>
            </a:r>
            <a:r>
              <a:rPr lang="en-US" altLang="zh-TW" sz="1800" dirty="0">
                <a:solidFill>
                  <a:srgbClr val="BCBEC4"/>
                </a:solidFill>
                <a:effectLst/>
                <a:latin typeface="JetBrains Mono"/>
              </a:rPr>
              <a:t>, </a:t>
            </a:r>
            <a:r>
              <a:rPr lang="en-US" altLang="zh-TW" sz="1800" dirty="0" err="1">
                <a:solidFill>
                  <a:srgbClr val="BCBEC4"/>
                </a:solidFill>
                <a:effectLst/>
                <a:latin typeface="JetBrains Mono"/>
              </a:rPr>
              <a:t>test_size</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7A7E85"/>
                </a:solidFill>
                <a:effectLst/>
                <a:latin typeface="JetBrains Mono"/>
              </a:rPr>
              <a:t># Create data loaders.</a:t>
            </a:r>
            <a:br>
              <a:rPr lang="en-US" altLang="zh-TW" sz="1800" dirty="0">
                <a:solidFill>
                  <a:srgbClr val="7A7E85"/>
                </a:solidFill>
                <a:effectLst/>
                <a:latin typeface="JetBrains Mono"/>
              </a:rPr>
            </a:br>
            <a:r>
              <a:rPr lang="en-US" altLang="zh-TW" sz="1800" dirty="0" err="1">
                <a:solidFill>
                  <a:srgbClr val="BCBEC4"/>
                </a:solidFill>
                <a:effectLst/>
                <a:latin typeface="JetBrains Mono"/>
              </a:rPr>
              <a:t>batch_size</a:t>
            </a:r>
            <a:r>
              <a:rPr lang="en-US" altLang="zh-TW" sz="1800" dirty="0">
                <a:solidFill>
                  <a:srgbClr val="BCBEC4"/>
                </a:solidFill>
                <a:effectLst/>
                <a:latin typeface="JetBrains Mono"/>
              </a:rPr>
              <a:t> = </a:t>
            </a:r>
            <a:r>
              <a:rPr lang="en-US" altLang="zh-TW" sz="1800" dirty="0">
                <a:solidFill>
                  <a:srgbClr val="2AACB8"/>
                </a:solidFill>
                <a:effectLst/>
                <a:latin typeface="JetBrains Mono"/>
              </a:rPr>
              <a:t>32</a:t>
            </a:r>
            <a:br>
              <a:rPr lang="en-US" altLang="zh-TW" sz="1800" dirty="0">
                <a:solidFill>
                  <a:srgbClr val="2AACB8"/>
                </a:solidFill>
                <a:effectLst/>
                <a:latin typeface="JetBrains Mono"/>
              </a:rPr>
            </a:br>
            <a:r>
              <a:rPr lang="en-US" altLang="zh-TW" sz="1800" dirty="0" err="1">
                <a:solidFill>
                  <a:srgbClr val="BCBEC4"/>
                </a:solidFill>
                <a:effectLst/>
                <a:latin typeface="JetBrains Mono"/>
              </a:rPr>
              <a:t>train_dataloader</a:t>
            </a:r>
            <a:r>
              <a:rPr lang="en-US" altLang="zh-TW" sz="1800" dirty="0">
                <a:solidFill>
                  <a:srgbClr val="BCBEC4"/>
                </a:solidFill>
                <a:effectLst/>
                <a:latin typeface="JetBrains Mono"/>
              </a:rPr>
              <a:t> = </a:t>
            </a:r>
            <a:r>
              <a:rPr lang="en-US" altLang="zh-TW" sz="1800" dirty="0" err="1">
                <a:solidFill>
                  <a:srgbClr val="BCBEC4"/>
                </a:solidFill>
                <a:effectLst/>
                <a:latin typeface="JetBrains Mono"/>
              </a:rPr>
              <a:t>DataLoader</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train_set</a:t>
            </a:r>
            <a:r>
              <a:rPr lang="en-US" altLang="zh-TW" sz="1800" dirty="0">
                <a:solidFill>
                  <a:srgbClr val="BCBEC4"/>
                </a:solidFill>
                <a:effectLst/>
                <a:latin typeface="JetBrains Mono"/>
              </a:rPr>
              <a:t>, </a:t>
            </a:r>
            <a:r>
              <a:rPr lang="en-US" altLang="zh-TW" sz="1800" dirty="0" err="1">
                <a:solidFill>
                  <a:srgbClr val="AA4926"/>
                </a:solidFill>
                <a:effectLst/>
                <a:latin typeface="JetBrains Mono"/>
              </a:rPr>
              <a:t>batch_size</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batch_size</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err="1">
                <a:solidFill>
                  <a:srgbClr val="BCBEC4"/>
                </a:solidFill>
                <a:effectLst/>
                <a:latin typeface="JetBrains Mono"/>
              </a:rPr>
              <a:t>test_dataloader</a:t>
            </a:r>
            <a:r>
              <a:rPr lang="en-US" altLang="zh-TW" sz="1800" dirty="0">
                <a:solidFill>
                  <a:srgbClr val="BCBEC4"/>
                </a:solidFill>
                <a:effectLst/>
                <a:latin typeface="JetBrains Mono"/>
              </a:rPr>
              <a:t> = </a:t>
            </a:r>
            <a:r>
              <a:rPr lang="en-US" altLang="zh-TW" sz="1800" dirty="0" err="1">
                <a:solidFill>
                  <a:srgbClr val="BCBEC4"/>
                </a:solidFill>
                <a:effectLst/>
                <a:latin typeface="JetBrains Mono"/>
              </a:rPr>
              <a:t>DataLoader</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test_set</a:t>
            </a:r>
            <a:r>
              <a:rPr lang="en-US" altLang="zh-TW" sz="1800" dirty="0">
                <a:solidFill>
                  <a:srgbClr val="BCBEC4"/>
                </a:solidFill>
                <a:effectLst/>
                <a:latin typeface="JetBrains Mono"/>
              </a:rPr>
              <a:t>, </a:t>
            </a:r>
            <a:r>
              <a:rPr lang="en-US" altLang="zh-TW" sz="1800" dirty="0" err="1">
                <a:solidFill>
                  <a:srgbClr val="AA4926"/>
                </a:solidFill>
                <a:effectLst/>
                <a:latin typeface="JetBrains Mono"/>
              </a:rPr>
              <a:t>batch_size</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batch_size</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CF8E6D"/>
                </a:solidFill>
                <a:effectLst/>
                <a:latin typeface="JetBrains Mono"/>
              </a:rPr>
              <a:t>for </a:t>
            </a:r>
            <a:r>
              <a:rPr lang="en-US" altLang="zh-TW" sz="1800" dirty="0">
                <a:solidFill>
                  <a:srgbClr val="BCBEC4"/>
                </a:solidFill>
                <a:effectLst/>
                <a:latin typeface="JetBrains Mono"/>
              </a:rPr>
              <a:t>X, y </a:t>
            </a:r>
            <a:r>
              <a:rPr lang="en-US" altLang="zh-TW" sz="1800" dirty="0">
                <a:solidFill>
                  <a:srgbClr val="CF8E6D"/>
                </a:solidFill>
                <a:effectLst/>
                <a:latin typeface="JetBrains Mono"/>
              </a:rPr>
              <a:t>in </a:t>
            </a:r>
            <a:r>
              <a:rPr lang="en-US" altLang="zh-TW" sz="1800" dirty="0" err="1">
                <a:solidFill>
                  <a:srgbClr val="BCBEC4"/>
                </a:solidFill>
                <a:effectLst/>
                <a:latin typeface="JetBrains Mono"/>
              </a:rPr>
              <a:t>train_dataloader</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8888C6"/>
                </a:solidFill>
                <a:effectLst/>
                <a:latin typeface="JetBrains Mono"/>
              </a:rPr>
              <a:t>print</a:t>
            </a:r>
            <a:r>
              <a:rPr lang="en-US" altLang="zh-TW" sz="1800" dirty="0">
                <a:solidFill>
                  <a:srgbClr val="BCBEC4"/>
                </a:solidFill>
                <a:effectLst/>
                <a:latin typeface="JetBrains Mono"/>
              </a:rPr>
              <a:t>(</a:t>
            </a:r>
            <a:r>
              <a:rPr lang="en-US" altLang="zh-TW" sz="1800" dirty="0" err="1">
                <a:solidFill>
                  <a:srgbClr val="6AAB73"/>
                </a:solidFill>
                <a:effectLst/>
                <a:latin typeface="JetBrains Mono"/>
              </a:rPr>
              <a:t>f"Shape</a:t>
            </a:r>
            <a:r>
              <a:rPr lang="en-US" altLang="zh-TW" sz="1800" dirty="0">
                <a:solidFill>
                  <a:srgbClr val="6AAB73"/>
                </a:solidFill>
                <a:effectLst/>
                <a:latin typeface="JetBrains Mono"/>
              </a:rPr>
              <a:t> of X [N, C, H, W]: </a:t>
            </a:r>
            <a:r>
              <a:rPr lang="en-US" altLang="zh-TW" sz="1800" dirty="0">
                <a:solidFill>
                  <a:srgbClr val="CF8E6D"/>
                </a:solidFill>
                <a:effectLst/>
                <a:latin typeface="JetBrains Mono"/>
              </a:rPr>
              <a:t>{</a:t>
            </a:r>
            <a:r>
              <a:rPr lang="en-US" altLang="zh-TW" sz="1800" dirty="0" err="1">
                <a:solidFill>
                  <a:srgbClr val="BCBEC4"/>
                </a:solidFill>
                <a:effectLst/>
                <a:latin typeface="JetBrains Mono"/>
              </a:rPr>
              <a:t>X.shape</a:t>
            </a:r>
            <a:r>
              <a:rPr lang="en-US" altLang="zh-TW" sz="1800" dirty="0">
                <a:solidFill>
                  <a:srgbClr val="CF8E6D"/>
                </a:solidFill>
                <a:effectLst/>
                <a:latin typeface="JetBrains Mono"/>
              </a:rPr>
              <a:t>}</a:t>
            </a:r>
            <a:r>
              <a:rPr lang="en-US" altLang="zh-TW" sz="1800" dirty="0">
                <a:solidFill>
                  <a:srgbClr val="6AAB73"/>
                </a:solidFill>
                <a:effectLst/>
                <a:latin typeface="JetBrains Mono"/>
              </a:rPr>
              <a:t>"</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8888C6"/>
                </a:solidFill>
                <a:effectLst/>
                <a:latin typeface="JetBrains Mono"/>
              </a:rPr>
              <a:t>print</a:t>
            </a:r>
            <a:r>
              <a:rPr lang="en-US" altLang="zh-TW" sz="1800" dirty="0">
                <a:solidFill>
                  <a:srgbClr val="BCBEC4"/>
                </a:solidFill>
                <a:effectLst/>
                <a:latin typeface="JetBrains Mono"/>
              </a:rPr>
              <a:t>(</a:t>
            </a:r>
            <a:r>
              <a:rPr lang="en-US" altLang="zh-TW" sz="1800" dirty="0" err="1">
                <a:solidFill>
                  <a:srgbClr val="6AAB73"/>
                </a:solidFill>
                <a:effectLst/>
                <a:latin typeface="JetBrains Mono"/>
              </a:rPr>
              <a:t>f"Shape</a:t>
            </a:r>
            <a:r>
              <a:rPr lang="en-US" altLang="zh-TW" sz="1800" dirty="0">
                <a:solidFill>
                  <a:srgbClr val="6AAB73"/>
                </a:solidFill>
                <a:effectLst/>
                <a:latin typeface="JetBrains Mono"/>
              </a:rPr>
              <a:t> of y: </a:t>
            </a:r>
            <a:r>
              <a:rPr lang="en-US" altLang="zh-TW" sz="1800" dirty="0">
                <a:solidFill>
                  <a:srgbClr val="CF8E6D"/>
                </a:solidFill>
                <a:effectLst/>
                <a:latin typeface="JetBrains Mono"/>
              </a:rPr>
              <a:t>{</a:t>
            </a:r>
            <a:r>
              <a:rPr lang="en-US" altLang="zh-TW" sz="1800" dirty="0" err="1">
                <a:solidFill>
                  <a:srgbClr val="BCBEC4"/>
                </a:solidFill>
                <a:effectLst/>
                <a:latin typeface="JetBrains Mono"/>
              </a:rPr>
              <a:t>y.shape</a:t>
            </a:r>
            <a:r>
              <a:rPr lang="en-US" altLang="zh-TW" sz="1800" dirty="0">
                <a:solidFill>
                  <a:srgbClr val="CF8E6D"/>
                </a:solidFill>
                <a:effectLst/>
                <a:latin typeface="JetBrains Mono"/>
              </a:rPr>
              <a:t>} {</a:t>
            </a:r>
            <a:r>
              <a:rPr lang="en-US" altLang="zh-TW" sz="1800" dirty="0" err="1">
                <a:solidFill>
                  <a:srgbClr val="BCBEC4"/>
                </a:solidFill>
                <a:effectLst/>
                <a:latin typeface="JetBrains Mono"/>
              </a:rPr>
              <a:t>y.dtype</a:t>
            </a:r>
            <a:r>
              <a:rPr lang="en-US" altLang="zh-TW" sz="1800" dirty="0">
                <a:solidFill>
                  <a:srgbClr val="CF8E6D"/>
                </a:solidFill>
                <a:effectLst/>
                <a:latin typeface="JetBrains Mono"/>
              </a:rPr>
              <a:t>}\n</a:t>
            </a:r>
            <a:r>
              <a:rPr lang="en-US" altLang="zh-TW" sz="1800" dirty="0">
                <a:solidFill>
                  <a:srgbClr val="6AAB73"/>
                </a:solidFill>
                <a:effectLst/>
                <a:latin typeface="JetBrains Mono"/>
              </a:rPr>
              <a:t>"</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CF8E6D"/>
                </a:solidFill>
                <a:effectLst/>
                <a:latin typeface="JetBrains Mono"/>
              </a:rPr>
              <a:t>break</a:t>
            </a:r>
            <a:br>
              <a:rPr lang="en-US" altLang="zh-TW" sz="1800" dirty="0">
                <a:solidFill>
                  <a:srgbClr val="CF8E6D"/>
                </a:solidFill>
                <a:effectLst/>
                <a:latin typeface="JetBrains Mono"/>
              </a:rPr>
            </a:br>
            <a:br>
              <a:rPr lang="en-US" altLang="zh-TW" sz="1800" dirty="0">
                <a:solidFill>
                  <a:srgbClr val="CF8E6D"/>
                </a:solidFill>
                <a:effectLst/>
                <a:latin typeface="JetBrains Mono"/>
              </a:rPr>
            </a:br>
            <a:r>
              <a:rPr lang="en-US" altLang="zh-TW" sz="1800" dirty="0">
                <a:solidFill>
                  <a:srgbClr val="7A7E85"/>
                </a:solidFill>
                <a:effectLst/>
                <a:latin typeface="JetBrains Mono"/>
              </a:rPr>
              <a:t># Get </a:t>
            </a:r>
            <a:r>
              <a:rPr lang="en-US" altLang="zh-TW" sz="1800" dirty="0" err="1">
                <a:solidFill>
                  <a:srgbClr val="7A7E85"/>
                </a:solidFill>
                <a:effectLst/>
                <a:latin typeface="JetBrains Mono"/>
              </a:rPr>
              <a:t>cpu</a:t>
            </a:r>
            <a:r>
              <a:rPr lang="en-US" altLang="zh-TW" sz="1800" dirty="0">
                <a:solidFill>
                  <a:srgbClr val="7A7E85"/>
                </a:solidFill>
                <a:effectLst/>
                <a:latin typeface="JetBrains Mono"/>
              </a:rPr>
              <a:t> or </a:t>
            </a:r>
            <a:r>
              <a:rPr lang="en-US" altLang="zh-TW" sz="1800" dirty="0" err="1">
                <a:solidFill>
                  <a:srgbClr val="7A7E85"/>
                </a:solidFill>
                <a:effectLst/>
                <a:latin typeface="JetBrains Mono"/>
              </a:rPr>
              <a:t>gpu</a:t>
            </a:r>
            <a:r>
              <a:rPr lang="en-US" altLang="zh-TW" sz="1800" dirty="0">
                <a:solidFill>
                  <a:srgbClr val="7A7E85"/>
                </a:solidFill>
                <a:effectLst/>
                <a:latin typeface="JetBrains Mono"/>
              </a:rPr>
              <a:t> device for training.</a:t>
            </a:r>
            <a:br>
              <a:rPr lang="en-US" altLang="zh-TW" sz="1800" dirty="0">
                <a:solidFill>
                  <a:srgbClr val="7A7E85"/>
                </a:solidFill>
                <a:effectLst/>
                <a:latin typeface="JetBrains Mono"/>
              </a:rPr>
            </a:br>
            <a:r>
              <a:rPr lang="en-US" altLang="zh-TW" sz="1800" dirty="0">
                <a:solidFill>
                  <a:srgbClr val="BCBEC4"/>
                </a:solidFill>
                <a:effectLst/>
                <a:latin typeface="JetBrains Mono"/>
              </a:rPr>
              <a:t>device = </a:t>
            </a:r>
            <a:r>
              <a:rPr lang="en-US" altLang="zh-TW" sz="1800" dirty="0">
                <a:solidFill>
                  <a:srgbClr val="6AAB73"/>
                </a:solidFill>
                <a:effectLst/>
                <a:latin typeface="JetBrains Mono"/>
              </a:rPr>
              <a:t>"</a:t>
            </a:r>
            <a:r>
              <a:rPr lang="en-US" altLang="zh-TW" sz="1800" dirty="0" err="1">
                <a:solidFill>
                  <a:srgbClr val="6AAB73"/>
                </a:solidFill>
                <a:effectLst/>
                <a:latin typeface="JetBrains Mono"/>
              </a:rPr>
              <a:t>cuda</a:t>
            </a:r>
            <a:r>
              <a:rPr lang="en-US" altLang="zh-TW" sz="1800" dirty="0">
                <a:solidFill>
                  <a:srgbClr val="6AAB73"/>
                </a:solidFill>
                <a:effectLst/>
                <a:latin typeface="JetBrains Mono"/>
              </a:rPr>
              <a:t>" </a:t>
            </a:r>
            <a:r>
              <a:rPr lang="en-US" altLang="zh-TW" sz="1800" dirty="0">
                <a:solidFill>
                  <a:srgbClr val="CF8E6D"/>
                </a:solidFill>
                <a:effectLst/>
                <a:latin typeface="JetBrains Mono"/>
              </a:rPr>
              <a:t>if </a:t>
            </a:r>
            <a:r>
              <a:rPr lang="en-US" altLang="zh-TW" sz="1800" dirty="0" err="1">
                <a:solidFill>
                  <a:srgbClr val="BCBEC4"/>
                </a:solidFill>
                <a:effectLst/>
                <a:latin typeface="JetBrains Mono"/>
              </a:rPr>
              <a:t>torch.cuda.is_available</a:t>
            </a:r>
            <a:r>
              <a:rPr lang="en-US" altLang="zh-TW" sz="1800" dirty="0">
                <a:solidFill>
                  <a:srgbClr val="BCBEC4"/>
                </a:solidFill>
                <a:effectLst/>
                <a:latin typeface="JetBrains Mono"/>
              </a:rPr>
              <a:t>() </a:t>
            </a:r>
            <a:r>
              <a:rPr lang="en-US" altLang="zh-TW" sz="1800" dirty="0">
                <a:solidFill>
                  <a:srgbClr val="CF8E6D"/>
                </a:solidFill>
                <a:effectLst/>
                <a:latin typeface="JetBrains Mono"/>
              </a:rPr>
              <a:t>else </a:t>
            </a:r>
            <a:r>
              <a:rPr lang="en-US" altLang="zh-TW" sz="1800" dirty="0">
                <a:solidFill>
                  <a:srgbClr val="6AAB73"/>
                </a:solidFill>
                <a:effectLst/>
                <a:latin typeface="JetBrains Mono"/>
              </a:rPr>
              <a:t>"</a:t>
            </a:r>
            <a:r>
              <a:rPr lang="en-US" altLang="zh-TW" sz="1800" dirty="0" err="1">
                <a:solidFill>
                  <a:srgbClr val="6AAB73"/>
                </a:solidFill>
                <a:effectLst/>
                <a:latin typeface="JetBrains Mono"/>
              </a:rPr>
              <a:t>cpu</a:t>
            </a:r>
            <a:r>
              <a:rPr lang="en-US" altLang="zh-TW" sz="1800" dirty="0">
                <a:solidFill>
                  <a:srgbClr val="6AAB73"/>
                </a:solidFill>
                <a:effectLst/>
                <a:latin typeface="JetBrains Mono"/>
              </a:rPr>
              <a:t>"</a:t>
            </a:r>
            <a:br>
              <a:rPr lang="en-US" altLang="zh-TW" sz="1800" dirty="0">
                <a:solidFill>
                  <a:srgbClr val="6AAB73"/>
                </a:solidFill>
                <a:effectLst/>
                <a:latin typeface="JetBrains Mono"/>
              </a:rPr>
            </a:br>
            <a:r>
              <a:rPr lang="en-US" altLang="zh-TW" sz="1800" dirty="0">
                <a:solidFill>
                  <a:srgbClr val="8888C6"/>
                </a:solidFill>
                <a:effectLst/>
                <a:latin typeface="JetBrains Mono"/>
              </a:rPr>
              <a:t>print</a:t>
            </a:r>
            <a:r>
              <a:rPr lang="en-US" altLang="zh-TW" sz="1800" dirty="0">
                <a:solidFill>
                  <a:srgbClr val="BCBEC4"/>
                </a:solidFill>
                <a:effectLst/>
                <a:latin typeface="JetBrains Mono"/>
              </a:rPr>
              <a:t>(</a:t>
            </a:r>
            <a:r>
              <a:rPr lang="en-US" altLang="zh-TW" sz="1800" dirty="0" err="1">
                <a:solidFill>
                  <a:srgbClr val="6AAB73"/>
                </a:solidFill>
                <a:effectLst/>
                <a:latin typeface="JetBrains Mono"/>
              </a:rPr>
              <a:t>f"Using</a:t>
            </a:r>
            <a:r>
              <a:rPr lang="en-US" altLang="zh-TW" sz="1800" dirty="0">
                <a:solidFill>
                  <a:srgbClr val="6AAB73"/>
                </a:solidFill>
                <a:effectLst/>
                <a:latin typeface="JetBrains Mono"/>
              </a:rPr>
              <a:t> </a:t>
            </a:r>
            <a:r>
              <a:rPr lang="en-US" altLang="zh-TW" sz="1800" dirty="0">
                <a:solidFill>
                  <a:srgbClr val="CF8E6D"/>
                </a:solidFill>
                <a:effectLst/>
                <a:latin typeface="JetBrains Mono"/>
              </a:rPr>
              <a:t>{</a:t>
            </a:r>
            <a:r>
              <a:rPr lang="en-US" altLang="zh-TW" sz="1800" dirty="0">
                <a:solidFill>
                  <a:srgbClr val="BCBEC4"/>
                </a:solidFill>
                <a:effectLst/>
                <a:latin typeface="JetBrains Mono"/>
              </a:rPr>
              <a:t>device</a:t>
            </a:r>
            <a:r>
              <a:rPr lang="en-US" altLang="zh-TW" sz="1800" dirty="0">
                <a:solidFill>
                  <a:srgbClr val="CF8E6D"/>
                </a:solidFill>
                <a:effectLst/>
                <a:latin typeface="JetBrains Mono"/>
              </a:rPr>
              <a:t>}</a:t>
            </a:r>
            <a:r>
              <a:rPr lang="en-US" altLang="zh-TW" sz="1800" dirty="0">
                <a:solidFill>
                  <a:srgbClr val="6AAB73"/>
                </a:solidFill>
                <a:effectLst/>
                <a:latin typeface="JetBrains Mono"/>
              </a:rPr>
              <a:t> device"</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7A7E85"/>
                </a:solidFill>
                <a:effectLst/>
                <a:latin typeface="JetBrains Mono"/>
              </a:rPr>
              <a:t># Define model</a:t>
            </a:r>
            <a:br>
              <a:rPr lang="en-US" altLang="zh-TW" sz="1800" dirty="0">
                <a:solidFill>
                  <a:srgbClr val="7A7E85"/>
                </a:solidFill>
                <a:effectLst/>
                <a:latin typeface="JetBrains Mono"/>
              </a:rPr>
            </a:br>
            <a:r>
              <a:rPr lang="en-US" altLang="zh-TW" sz="1800" dirty="0">
                <a:solidFill>
                  <a:srgbClr val="CF8E6D"/>
                </a:solidFill>
                <a:effectLst/>
                <a:latin typeface="JetBrains Mono"/>
              </a:rPr>
              <a:t>class </a:t>
            </a:r>
            <a:r>
              <a:rPr lang="en-US" altLang="zh-TW" sz="1800" dirty="0" err="1">
                <a:solidFill>
                  <a:srgbClr val="BCBEC4"/>
                </a:solidFill>
                <a:effectLst/>
                <a:latin typeface="JetBrains Mono"/>
              </a:rPr>
              <a:t>NeuralNetwork</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nn.Module</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CF8E6D"/>
                </a:solidFill>
                <a:effectLst/>
                <a:latin typeface="JetBrains Mono"/>
              </a:rPr>
              <a:t>def </a:t>
            </a:r>
            <a:r>
              <a:rPr lang="en-US" altLang="zh-TW" sz="1800" dirty="0">
                <a:solidFill>
                  <a:srgbClr val="B200B2"/>
                </a:solidFill>
                <a:effectLst/>
                <a:latin typeface="JetBrains Mono"/>
              </a:rPr>
              <a:t>__</a:t>
            </a:r>
            <a:r>
              <a:rPr lang="en-US" altLang="zh-TW" sz="1800" dirty="0" err="1">
                <a:solidFill>
                  <a:srgbClr val="B200B2"/>
                </a:solidFill>
                <a:effectLst/>
                <a:latin typeface="JetBrains Mono"/>
              </a:rPr>
              <a:t>init</a:t>
            </a:r>
            <a:r>
              <a:rPr lang="en-US" altLang="zh-TW" sz="1800" dirty="0">
                <a:solidFill>
                  <a:srgbClr val="B200B2"/>
                </a:solidFill>
                <a:effectLst/>
                <a:latin typeface="JetBrains Mono"/>
              </a:rPr>
              <a:t>__</a:t>
            </a:r>
            <a:r>
              <a:rPr lang="en-US" altLang="zh-TW" sz="1800" dirty="0">
                <a:solidFill>
                  <a:srgbClr val="BCBEC4"/>
                </a:solidFill>
                <a:effectLst/>
                <a:latin typeface="JetBrains Mono"/>
              </a:rPr>
              <a:t>(</a:t>
            </a:r>
            <a:r>
              <a:rPr lang="en-US" altLang="zh-TW" sz="1800" dirty="0">
                <a:solidFill>
                  <a:srgbClr val="94558D"/>
                </a:solidFill>
                <a:effectLst/>
                <a:latin typeface="JetBrains Mono"/>
              </a:rPr>
              <a:t>self</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8888C6"/>
                </a:solidFill>
                <a:effectLst/>
                <a:latin typeface="JetBrains Mono"/>
              </a:rPr>
              <a:t>super</a:t>
            </a:r>
            <a:r>
              <a:rPr lang="en-US" altLang="zh-TW" sz="1800" dirty="0">
                <a:solidFill>
                  <a:srgbClr val="BCBEC4"/>
                </a:solidFill>
                <a:effectLst/>
                <a:latin typeface="JetBrains Mono"/>
              </a:rPr>
              <a:t>().</a:t>
            </a:r>
            <a:r>
              <a:rPr lang="en-US" altLang="zh-TW" sz="1800" dirty="0">
                <a:solidFill>
                  <a:srgbClr val="B200B2"/>
                </a:solidFill>
                <a:effectLst/>
                <a:latin typeface="JetBrains Mono"/>
              </a:rPr>
              <a:t>__</a:t>
            </a:r>
            <a:r>
              <a:rPr lang="en-US" altLang="zh-TW" sz="1800" dirty="0" err="1">
                <a:solidFill>
                  <a:srgbClr val="B200B2"/>
                </a:solidFill>
                <a:effectLst/>
                <a:latin typeface="JetBrains Mono"/>
              </a:rPr>
              <a:t>init</a:t>
            </a:r>
            <a:r>
              <a:rPr lang="en-US" altLang="zh-TW" sz="1800" dirty="0">
                <a:solidFill>
                  <a:srgbClr val="B200B2"/>
                </a:solidFill>
                <a:effectLst/>
                <a:latin typeface="JetBrains Mono"/>
              </a:rPr>
              <a:t>__</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94558D"/>
                </a:solidFill>
                <a:effectLst/>
                <a:latin typeface="JetBrains Mono"/>
              </a:rPr>
              <a:t>self</a:t>
            </a:r>
            <a:r>
              <a:rPr lang="en-US" altLang="zh-TW" sz="1800" dirty="0" err="1">
                <a:solidFill>
                  <a:srgbClr val="BCBEC4"/>
                </a:solidFill>
                <a:effectLst/>
                <a:latin typeface="JetBrains Mono"/>
              </a:rPr>
              <a:t>.flatten</a:t>
            </a:r>
            <a:r>
              <a:rPr lang="en-US" altLang="zh-TW" sz="1800" dirty="0">
                <a:solidFill>
                  <a:srgbClr val="BCBEC4"/>
                </a:solidFill>
                <a:effectLst/>
                <a:latin typeface="JetBrains Mono"/>
              </a:rPr>
              <a:t> = </a:t>
            </a:r>
            <a:r>
              <a:rPr lang="en-US" altLang="zh-TW" sz="1800" dirty="0" err="1">
                <a:solidFill>
                  <a:srgbClr val="BCBEC4"/>
                </a:solidFill>
                <a:effectLst/>
                <a:latin typeface="JetBrains Mono"/>
              </a:rPr>
              <a:t>nn.Flatten</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94558D"/>
                </a:solidFill>
                <a:effectLst/>
                <a:latin typeface="JetBrains Mono"/>
              </a:rPr>
              <a:t>self</a:t>
            </a:r>
            <a:r>
              <a:rPr lang="en-US" altLang="zh-TW" sz="1800" dirty="0" err="1">
                <a:solidFill>
                  <a:srgbClr val="BCBEC4"/>
                </a:solidFill>
                <a:effectLst/>
                <a:latin typeface="JetBrains Mono"/>
              </a:rPr>
              <a:t>.linear_relu_stack</a:t>
            </a:r>
            <a:r>
              <a:rPr lang="en-US" altLang="zh-TW" sz="1800" dirty="0">
                <a:solidFill>
                  <a:srgbClr val="BCBEC4"/>
                </a:solidFill>
                <a:effectLst/>
                <a:latin typeface="JetBrains Mono"/>
              </a:rPr>
              <a:t> = </a:t>
            </a:r>
            <a:r>
              <a:rPr lang="en-US" altLang="zh-TW" sz="1800" dirty="0" err="1">
                <a:solidFill>
                  <a:srgbClr val="BCBEC4"/>
                </a:solidFill>
                <a:effectLst/>
                <a:latin typeface="JetBrains Mono"/>
              </a:rPr>
              <a:t>nn.Sequential</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BCBEC4"/>
                </a:solidFill>
                <a:effectLst/>
                <a:latin typeface="JetBrains Mono"/>
              </a:rPr>
              <a:t>nn.Linear</a:t>
            </a:r>
            <a:r>
              <a:rPr lang="en-US" altLang="zh-TW" sz="1800" dirty="0">
                <a:solidFill>
                  <a:srgbClr val="BCBEC4"/>
                </a:solidFill>
                <a:effectLst/>
                <a:latin typeface="JetBrains Mono"/>
              </a:rPr>
              <a:t>(</a:t>
            </a:r>
            <a:r>
              <a:rPr lang="en-US" altLang="zh-TW" sz="1800" dirty="0">
                <a:solidFill>
                  <a:srgbClr val="2AACB8"/>
                </a:solidFill>
                <a:effectLst/>
                <a:latin typeface="JetBrains Mono"/>
              </a:rPr>
              <a:t>28</a:t>
            </a:r>
            <a:r>
              <a:rPr lang="en-US" altLang="zh-TW" sz="1800" dirty="0">
                <a:solidFill>
                  <a:srgbClr val="BCBEC4"/>
                </a:solidFill>
                <a:effectLst/>
                <a:latin typeface="JetBrains Mono"/>
              </a:rPr>
              <a:t>*</a:t>
            </a:r>
            <a:r>
              <a:rPr lang="en-US" altLang="zh-TW" sz="1800" dirty="0">
                <a:solidFill>
                  <a:srgbClr val="2AACB8"/>
                </a:solidFill>
                <a:effectLst/>
                <a:latin typeface="JetBrains Mono"/>
              </a:rPr>
              <a:t>28</a:t>
            </a:r>
            <a:r>
              <a:rPr lang="en-US" altLang="zh-TW" sz="1800" dirty="0">
                <a:solidFill>
                  <a:srgbClr val="BCBEC4"/>
                </a:solidFill>
                <a:effectLst/>
                <a:latin typeface="JetBrains Mono"/>
              </a:rPr>
              <a:t>, </a:t>
            </a:r>
            <a:r>
              <a:rPr lang="en-US" altLang="zh-TW" sz="1800" dirty="0">
                <a:solidFill>
                  <a:srgbClr val="2AACB8"/>
                </a:solidFill>
                <a:effectLst/>
                <a:latin typeface="JetBrains Mono"/>
              </a:rPr>
              <a:t>512</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BCBEC4"/>
                </a:solidFill>
                <a:effectLst/>
                <a:latin typeface="JetBrains Mono"/>
              </a:rPr>
              <a:t>nn.ReLU</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BCBEC4"/>
                </a:solidFill>
                <a:effectLst/>
                <a:latin typeface="JetBrains Mono"/>
              </a:rPr>
              <a:t>nn.Linear</a:t>
            </a:r>
            <a:r>
              <a:rPr lang="en-US" altLang="zh-TW" sz="1800" dirty="0">
                <a:solidFill>
                  <a:srgbClr val="BCBEC4"/>
                </a:solidFill>
                <a:effectLst/>
                <a:latin typeface="JetBrains Mono"/>
              </a:rPr>
              <a:t>(</a:t>
            </a:r>
            <a:r>
              <a:rPr lang="en-US" altLang="zh-TW" sz="1800" dirty="0">
                <a:solidFill>
                  <a:srgbClr val="2AACB8"/>
                </a:solidFill>
                <a:effectLst/>
                <a:latin typeface="JetBrains Mono"/>
              </a:rPr>
              <a:t>512</a:t>
            </a:r>
            <a:r>
              <a:rPr lang="en-US" altLang="zh-TW" sz="1800" dirty="0">
                <a:solidFill>
                  <a:srgbClr val="BCBEC4"/>
                </a:solidFill>
                <a:effectLst/>
                <a:latin typeface="JetBrains Mono"/>
              </a:rPr>
              <a:t>, </a:t>
            </a:r>
            <a:r>
              <a:rPr lang="en-US" altLang="zh-TW" sz="1800" dirty="0">
                <a:solidFill>
                  <a:srgbClr val="2AACB8"/>
                </a:solidFill>
                <a:effectLst/>
                <a:latin typeface="JetBrains Mono"/>
              </a:rPr>
              <a:t>512</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BCBEC4"/>
                </a:solidFill>
                <a:effectLst/>
                <a:latin typeface="JetBrains Mono"/>
              </a:rPr>
              <a:t>nn.ReLU</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BCBEC4"/>
                </a:solidFill>
                <a:effectLst/>
                <a:latin typeface="JetBrains Mono"/>
              </a:rPr>
              <a:t>nn.Linear</a:t>
            </a:r>
            <a:r>
              <a:rPr lang="en-US" altLang="zh-TW" sz="1800" dirty="0">
                <a:solidFill>
                  <a:srgbClr val="BCBEC4"/>
                </a:solidFill>
                <a:effectLst/>
                <a:latin typeface="JetBrains Mono"/>
              </a:rPr>
              <a:t>(</a:t>
            </a:r>
            <a:r>
              <a:rPr lang="en-US" altLang="zh-TW" sz="1800" dirty="0">
                <a:solidFill>
                  <a:srgbClr val="2AACB8"/>
                </a:solidFill>
                <a:effectLst/>
                <a:latin typeface="JetBrains Mono"/>
              </a:rPr>
              <a:t>512</a:t>
            </a:r>
            <a:r>
              <a:rPr lang="en-US" altLang="zh-TW" sz="1800" dirty="0">
                <a:solidFill>
                  <a:srgbClr val="BCBEC4"/>
                </a:solidFill>
                <a:effectLst/>
                <a:latin typeface="JetBrains Mono"/>
              </a:rPr>
              <a:t>, </a:t>
            </a:r>
            <a:r>
              <a:rPr lang="en-US" altLang="zh-TW" sz="1800" dirty="0">
                <a:solidFill>
                  <a:srgbClr val="2AACB8"/>
                </a:solidFill>
                <a:effectLst/>
                <a:latin typeface="JetBrains Mono"/>
              </a:rPr>
              <a:t>2</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CF8E6D"/>
                </a:solidFill>
                <a:effectLst/>
                <a:latin typeface="JetBrains Mono"/>
              </a:rPr>
              <a:t>def </a:t>
            </a:r>
            <a:r>
              <a:rPr lang="en-US" altLang="zh-TW" sz="1800" dirty="0">
                <a:solidFill>
                  <a:srgbClr val="56A8F5"/>
                </a:solidFill>
                <a:effectLst/>
                <a:latin typeface="JetBrains Mono"/>
              </a:rPr>
              <a:t>forward</a:t>
            </a:r>
            <a:r>
              <a:rPr lang="en-US" altLang="zh-TW" sz="1800" dirty="0">
                <a:solidFill>
                  <a:srgbClr val="BCBEC4"/>
                </a:solidFill>
                <a:effectLst/>
                <a:latin typeface="JetBrains Mono"/>
              </a:rPr>
              <a:t>(</a:t>
            </a:r>
            <a:r>
              <a:rPr lang="en-US" altLang="zh-TW" sz="1800" dirty="0">
                <a:solidFill>
                  <a:srgbClr val="94558D"/>
                </a:solidFill>
                <a:effectLst/>
                <a:latin typeface="JetBrains Mono"/>
              </a:rPr>
              <a:t>self</a:t>
            </a:r>
            <a:r>
              <a:rPr lang="en-US" altLang="zh-TW" sz="1800" dirty="0">
                <a:solidFill>
                  <a:srgbClr val="BCBEC4"/>
                </a:solidFill>
                <a:effectLst/>
                <a:latin typeface="JetBrains Mono"/>
              </a:rPr>
              <a:t>, x):</a:t>
            </a:r>
            <a:br>
              <a:rPr lang="en-US" altLang="zh-TW" sz="1800" dirty="0">
                <a:solidFill>
                  <a:srgbClr val="BCBEC4"/>
                </a:solidFill>
                <a:effectLst/>
                <a:latin typeface="JetBrains Mono"/>
              </a:rPr>
            </a:br>
            <a:r>
              <a:rPr lang="en-US" altLang="zh-TW" sz="1800" dirty="0">
                <a:solidFill>
                  <a:srgbClr val="BCBEC4"/>
                </a:solidFill>
                <a:effectLst/>
                <a:latin typeface="JetBrains Mono"/>
              </a:rPr>
              <a:t>        x = </a:t>
            </a:r>
            <a:r>
              <a:rPr lang="en-US" altLang="zh-TW" sz="1800" dirty="0" err="1">
                <a:solidFill>
                  <a:srgbClr val="94558D"/>
                </a:solidFill>
                <a:effectLst/>
                <a:latin typeface="JetBrains Mono"/>
              </a:rPr>
              <a:t>self</a:t>
            </a:r>
            <a:r>
              <a:rPr lang="en-US" altLang="zh-TW" sz="1800" dirty="0" err="1">
                <a:solidFill>
                  <a:srgbClr val="BCBEC4"/>
                </a:solidFill>
                <a:effectLst/>
                <a:latin typeface="JetBrains Mono"/>
              </a:rPr>
              <a:t>.flatten</a:t>
            </a:r>
            <a:r>
              <a:rPr lang="en-US" altLang="zh-TW" sz="1800" dirty="0">
                <a:solidFill>
                  <a:srgbClr val="BCBEC4"/>
                </a:solidFill>
                <a:effectLst/>
                <a:latin typeface="JetBrains Mono"/>
              </a:rPr>
              <a:t>(x)</a:t>
            </a:r>
            <a:br>
              <a:rPr lang="en-US" altLang="zh-TW" sz="1800" dirty="0">
                <a:solidFill>
                  <a:srgbClr val="BCBEC4"/>
                </a:solidFill>
                <a:effectLst/>
                <a:latin typeface="JetBrains Mono"/>
              </a:rPr>
            </a:br>
            <a:r>
              <a:rPr lang="en-US" altLang="zh-TW" sz="1800" dirty="0">
                <a:solidFill>
                  <a:srgbClr val="BCBEC4"/>
                </a:solidFill>
                <a:effectLst/>
                <a:latin typeface="JetBrains Mono"/>
              </a:rPr>
              <a:t>        logits = </a:t>
            </a:r>
            <a:r>
              <a:rPr lang="en-US" altLang="zh-TW" sz="1800" dirty="0" err="1">
                <a:solidFill>
                  <a:srgbClr val="94558D"/>
                </a:solidFill>
                <a:effectLst/>
                <a:latin typeface="JetBrains Mono"/>
              </a:rPr>
              <a:t>self</a:t>
            </a:r>
            <a:r>
              <a:rPr lang="en-US" altLang="zh-TW" sz="1800" dirty="0" err="1">
                <a:solidFill>
                  <a:srgbClr val="BCBEC4"/>
                </a:solidFill>
                <a:effectLst/>
                <a:latin typeface="JetBrains Mono"/>
              </a:rPr>
              <a:t>.linear_relu_stack</a:t>
            </a:r>
            <a:r>
              <a:rPr lang="en-US" altLang="zh-TW" sz="1800" dirty="0">
                <a:solidFill>
                  <a:srgbClr val="BCBEC4"/>
                </a:solidFill>
                <a:effectLst/>
                <a:latin typeface="JetBrains Mono"/>
              </a:rPr>
              <a:t>(x)</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CF8E6D"/>
                </a:solidFill>
                <a:effectLst/>
                <a:latin typeface="JetBrains Mono"/>
              </a:rPr>
              <a:t>return </a:t>
            </a:r>
            <a:r>
              <a:rPr lang="en-US" altLang="zh-TW" sz="1800" dirty="0">
                <a:solidFill>
                  <a:srgbClr val="BCBEC4"/>
                </a:solidFill>
                <a:effectLst/>
                <a:latin typeface="JetBrains Mono"/>
              </a:rPr>
              <a:t>logits</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BCBEC4"/>
                </a:solidFill>
                <a:effectLst/>
                <a:latin typeface="JetBrains Mono"/>
              </a:rPr>
              <a:t>model = </a:t>
            </a:r>
            <a:r>
              <a:rPr lang="en-US" altLang="zh-TW" sz="1800" dirty="0" err="1">
                <a:solidFill>
                  <a:srgbClr val="BCBEC4"/>
                </a:solidFill>
                <a:effectLst/>
                <a:latin typeface="JetBrains Mono"/>
              </a:rPr>
              <a:t>NeuralNetwork</a:t>
            </a:r>
            <a:r>
              <a:rPr lang="en-US" altLang="zh-TW" sz="1800" dirty="0">
                <a:solidFill>
                  <a:srgbClr val="BCBEC4"/>
                </a:solidFill>
                <a:effectLst/>
                <a:latin typeface="JetBrains Mono"/>
              </a:rPr>
              <a:t>().to(device)</a:t>
            </a:r>
            <a:br>
              <a:rPr lang="en-US" altLang="zh-TW" sz="1800" dirty="0">
                <a:solidFill>
                  <a:srgbClr val="BCBEC4"/>
                </a:solidFill>
                <a:effectLst/>
                <a:latin typeface="JetBrains Mono"/>
              </a:rPr>
            </a:br>
            <a:r>
              <a:rPr lang="en-US" altLang="zh-TW" sz="1800" dirty="0">
                <a:solidFill>
                  <a:srgbClr val="8888C6"/>
                </a:solidFill>
                <a:effectLst/>
                <a:latin typeface="JetBrains Mono"/>
              </a:rPr>
              <a:t>print</a:t>
            </a:r>
            <a:r>
              <a:rPr lang="en-US" altLang="zh-TW" sz="1800" dirty="0">
                <a:solidFill>
                  <a:srgbClr val="BCBEC4"/>
                </a:solidFill>
                <a:effectLst/>
                <a:latin typeface="JetBrains Mono"/>
              </a:rPr>
              <a:t>(model)</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err="1">
                <a:solidFill>
                  <a:srgbClr val="BCBEC4"/>
                </a:solidFill>
                <a:effectLst/>
                <a:latin typeface="JetBrains Mono"/>
              </a:rPr>
              <a:t>loss_fn</a:t>
            </a:r>
            <a:r>
              <a:rPr lang="en-US" altLang="zh-TW" sz="1800" dirty="0">
                <a:solidFill>
                  <a:srgbClr val="BCBEC4"/>
                </a:solidFill>
                <a:effectLst/>
                <a:latin typeface="JetBrains Mono"/>
              </a:rPr>
              <a:t> = </a:t>
            </a:r>
            <a:r>
              <a:rPr lang="en-US" altLang="zh-TW" sz="1800" dirty="0" err="1">
                <a:solidFill>
                  <a:srgbClr val="BCBEC4"/>
                </a:solidFill>
                <a:effectLst/>
                <a:latin typeface="JetBrains Mono"/>
              </a:rPr>
              <a:t>nn.CrossEntropyLoss</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optimizer = </a:t>
            </a:r>
            <a:r>
              <a:rPr lang="en-US" altLang="zh-TW" sz="1800" dirty="0" err="1">
                <a:solidFill>
                  <a:srgbClr val="BCBEC4"/>
                </a:solidFill>
                <a:effectLst/>
                <a:latin typeface="JetBrains Mono"/>
              </a:rPr>
              <a:t>torch.optim.SGD</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model.parameters</a:t>
            </a:r>
            <a:r>
              <a:rPr lang="en-US" altLang="zh-TW" sz="1800" dirty="0">
                <a:solidFill>
                  <a:srgbClr val="BCBEC4"/>
                </a:solidFill>
                <a:effectLst/>
                <a:latin typeface="JetBrains Mono"/>
              </a:rPr>
              <a:t>(), </a:t>
            </a:r>
            <a:r>
              <a:rPr lang="en-US" altLang="zh-TW" sz="1800" dirty="0" err="1">
                <a:solidFill>
                  <a:srgbClr val="AA4926"/>
                </a:solidFill>
                <a:effectLst/>
                <a:latin typeface="JetBrains Mono"/>
              </a:rPr>
              <a:t>lr</a:t>
            </a:r>
            <a:r>
              <a:rPr lang="en-US" altLang="zh-TW" sz="1800" dirty="0">
                <a:solidFill>
                  <a:srgbClr val="BCBEC4"/>
                </a:solidFill>
                <a:effectLst/>
                <a:latin typeface="JetBrains Mono"/>
              </a:rPr>
              <a:t>=</a:t>
            </a:r>
            <a:r>
              <a:rPr lang="en-US" altLang="zh-TW" sz="1800" dirty="0">
                <a:solidFill>
                  <a:srgbClr val="2AACB8"/>
                </a:solidFill>
                <a:effectLst/>
                <a:latin typeface="JetBrains Mono"/>
              </a:rPr>
              <a:t>1e-3</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err="1">
                <a:solidFill>
                  <a:srgbClr val="BCBEC4"/>
                </a:solidFill>
                <a:effectLst/>
                <a:latin typeface="JetBrains Mono"/>
              </a:rPr>
              <a:t>learnloss</a:t>
            </a:r>
            <a:r>
              <a:rPr lang="en-US" altLang="zh-TW" sz="1800" dirty="0">
                <a:solidFill>
                  <a:srgbClr val="BCBEC4"/>
                </a:solidFill>
                <a:effectLst/>
                <a:latin typeface="JetBrains Mono"/>
              </a:rPr>
              <a:t> = []</a:t>
            </a:r>
            <a:br>
              <a:rPr lang="en-US" altLang="zh-TW" sz="1800" dirty="0">
                <a:solidFill>
                  <a:srgbClr val="BCBEC4"/>
                </a:solidFill>
                <a:effectLst/>
                <a:latin typeface="JetBrains Mono"/>
              </a:rPr>
            </a:br>
            <a:r>
              <a:rPr lang="en-US" altLang="zh-TW" sz="1800" dirty="0">
                <a:solidFill>
                  <a:srgbClr val="CF8E6D"/>
                </a:solidFill>
                <a:effectLst/>
                <a:latin typeface="JetBrains Mono"/>
              </a:rPr>
              <a:t>def </a:t>
            </a:r>
            <a:r>
              <a:rPr lang="en-US" altLang="zh-TW" sz="1800" dirty="0">
                <a:solidFill>
                  <a:srgbClr val="56A8F5"/>
                </a:solidFill>
                <a:effectLst/>
                <a:latin typeface="JetBrains Mono"/>
              </a:rPr>
              <a:t>train</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dataloader</a:t>
            </a:r>
            <a:r>
              <a:rPr lang="en-US" altLang="zh-TW" sz="1800" dirty="0">
                <a:solidFill>
                  <a:srgbClr val="BCBEC4"/>
                </a:solidFill>
                <a:effectLst/>
                <a:latin typeface="JetBrains Mono"/>
              </a:rPr>
              <a:t>, model, </a:t>
            </a:r>
            <a:r>
              <a:rPr lang="en-US" altLang="zh-TW" sz="1800" dirty="0" err="1">
                <a:solidFill>
                  <a:srgbClr val="BCBEC4"/>
                </a:solidFill>
                <a:effectLst/>
                <a:latin typeface="JetBrains Mono"/>
              </a:rPr>
              <a:t>loss_fn</a:t>
            </a:r>
            <a:r>
              <a:rPr lang="en-US" altLang="zh-TW" sz="1800" dirty="0">
                <a:solidFill>
                  <a:srgbClr val="BCBEC4"/>
                </a:solidFill>
                <a:effectLst/>
                <a:latin typeface="JetBrains Mono"/>
              </a:rPr>
              <a:t>, optimizer):</a:t>
            </a:r>
            <a:br>
              <a:rPr lang="en-US" altLang="zh-TW" sz="1800" dirty="0">
                <a:solidFill>
                  <a:srgbClr val="BCBEC4"/>
                </a:solidFill>
                <a:effectLst/>
                <a:latin typeface="JetBrains Mono"/>
              </a:rPr>
            </a:br>
            <a:r>
              <a:rPr lang="en-US" altLang="zh-TW" sz="1800" dirty="0">
                <a:solidFill>
                  <a:srgbClr val="BCBEC4"/>
                </a:solidFill>
                <a:effectLst/>
                <a:latin typeface="JetBrains Mono"/>
              </a:rPr>
              <a:t>    size = </a:t>
            </a:r>
            <a:r>
              <a:rPr lang="en-US" altLang="zh-TW" sz="1800" dirty="0" err="1">
                <a:solidFill>
                  <a:srgbClr val="8888C6"/>
                </a:solidFill>
                <a:effectLst/>
                <a:latin typeface="JetBrains Mono"/>
              </a:rPr>
              <a:t>len</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dataloader</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BCBEC4"/>
                </a:solidFill>
                <a:effectLst/>
                <a:latin typeface="JetBrains Mono"/>
              </a:rPr>
              <a:t>model.train</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BCBEC4"/>
                </a:solidFill>
                <a:effectLst/>
                <a:latin typeface="JetBrains Mono"/>
              </a:rPr>
              <a:t>training_loss</a:t>
            </a:r>
            <a:r>
              <a:rPr lang="en-US" altLang="zh-TW" sz="1800" dirty="0">
                <a:solidFill>
                  <a:srgbClr val="BCBEC4"/>
                </a:solidFill>
                <a:effectLst/>
                <a:latin typeface="JetBrains Mono"/>
              </a:rPr>
              <a:t> = </a:t>
            </a:r>
            <a:r>
              <a:rPr lang="en-US" altLang="zh-TW" sz="1800" dirty="0">
                <a:solidFill>
                  <a:srgbClr val="2AACB8"/>
                </a:solidFill>
                <a:effectLst/>
                <a:latin typeface="JetBrains Mono"/>
              </a:rPr>
              <a:t>0.0</a:t>
            </a:r>
            <a:br>
              <a:rPr lang="en-US" altLang="zh-TW" sz="1800" dirty="0">
                <a:solidFill>
                  <a:srgbClr val="2AACB8"/>
                </a:solidFill>
                <a:effectLst/>
                <a:latin typeface="JetBrains Mono"/>
              </a:rPr>
            </a:br>
            <a:r>
              <a:rPr lang="en-US" altLang="zh-TW" sz="1800" dirty="0">
                <a:solidFill>
                  <a:srgbClr val="2AACB8"/>
                </a:solidFill>
                <a:effectLst/>
                <a:latin typeface="JetBrains Mono"/>
              </a:rPr>
              <a:t>    </a:t>
            </a:r>
            <a:r>
              <a:rPr lang="en-US" altLang="zh-TW" sz="1800" dirty="0">
                <a:solidFill>
                  <a:srgbClr val="CF8E6D"/>
                </a:solidFill>
                <a:effectLst/>
                <a:latin typeface="JetBrains Mono"/>
              </a:rPr>
              <a:t>for </a:t>
            </a:r>
            <a:r>
              <a:rPr lang="en-US" altLang="zh-TW" sz="1800" dirty="0">
                <a:solidFill>
                  <a:srgbClr val="BCBEC4"/>
                </a:solidFill>
                <a:effectLst/>
                <a:latin typeface="JetBrains Mono"/>
              </a:rPr>
              <a:t>batch, (X, y) </a:t>
            </a:r>
            <a:r>
              <a:rPr lang="en-US" altLang="zh-TW" sz="1800" dirty="0">
                <a:solidFill>
                  <a:srgbClr val="CF8E6D"/>
                </a:solidFill>
                <a:effectLst/>
                <a:latin typeface="JetBrains Mono"/>
              </a:rPr>
              <a:t>in </a:t>
            </a:r>
            <a:r>
              <a:rPr lang="en-US" altLang="zh-TW" sz="1800" dirty="0">
                <a:solidFill>
                  <a:srgbClr val="8888C6"/>
                </a:solidFill>
                <a:effectLst/>
                <a:latin typeface="JetBrains Mono"/>
              </a:rPr>
              <a:t>enumerate</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dataloader</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X, y = X.to(device), y.to(device)</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7A7E85"/>
                </a:solidFill>
                <a:effectLst/>
                <a:latin typeface="JetBrains Mono"/>
              </a:rPr>
              <a:t># Compute prediction error</a:t>
            </a:r>
            <a:br>
              <a:rPr lang="en-US" altLang="zh-TW" sz="1800" dirty="0">
                <a:solidFill>
                  <a:srgbClr val="7A7E85"/>
                </a:solidFill>
                <a:effectLst/>
                <a:latin typeface="JetBrains Mono"/>
              </a:rPr>
            </a:br>
            <a:r>
              <a:rPr lang="en-US" altLang="zh-TW" sz="1800" dirty="0">
                <a:solidFill>
                  <a:srgbClr val="7A7E85"/>
                </a:solidFill>
                <a:effectLst/>
                <a:latin typeface="JetBrains Mono"/>
              </a:rPr>
              <a:t>        </a:t>
            </a:r>
            <a:r>
              <a:rPr lang="en-US" altLang="zh-TW" sz="1800" dirty="0">
                <a:solidFill>
                  <a:srgbClr val="BCBEC4"/>
                </a:solidFill>
                <a:effectLst/>
                <a:latin typeface="JetBrains Mono"/>
              </a:rPr>
              <a:t>pred = model(X)</a:t>
            </a:r>
            <a:br>
              <a:rPr lang="en-US" altLang="zh-TW" sz="1800" dirty="0">
                <a:solidFill>
                  <a:srgbClr val="BCBEC4"/>
                </a:solidFill>
                <a:effectLst/>
                <a:latin typeface="JetBrains Mono"/>
              </a:rPr>
            </a:br>
            <a:r>
              <a:rPr lang="en-US" altLang="zh-TW" sz="1800" dirty="0">
                <a:solidFill>
                  <a:srgbClr val="BCBEC4"/>
                </a:solidFill>
                <a:effectLst/>
                <a:latin typeface="JetBrains Mono"/>
              </a:rPr>
              <a:t>        loss = </a:t>
            </a:r>
            <a:r>
              <a:rPr lang="en-US" altLang="zh-TW" sz="1800" dirty="0" err="1">
                <a:solidFill>
                  <a:srgbClr val="BCBEC4"/>
                </a:solidFill>
                <a:effectLst/>
                <a:latin typeface="JetBrains Mono"/>
              </a:rPr>
              <a:t>loss_fn</a:t>
            </a:r>
            <a:r>
              <a:rPr lang="en-US" altLang="zh-TW" sz="1800" dirty="0">
                <a:solidFill>
                  <a:srgbClr val="BCBEC4"/>
                </a:solidFill>
                <a:effectLst/>
                <a:latin typeface="JetBrains Mono"/>
              </a:rPr>
              <a:t>(pred, y)</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7A7E85"/>
                </a:solidFill>
                <a:effectLst/>
                <a:latin typeface="JetBrains Mono"/>
              </a:rPr>
              <a:t># Backpropagation</a:t>
            </a:r>
            <a:br>
              <a:rPr lang="en-US" altLang="zh-TW" sz="1800" dirty="0">
                <a:solidFill>
                  <a:srgbClr val="7A7E85"/>
                </a:solidFill>
                <a:effectLst/>
                <a:latin typeface="JetBrains Mono"/>
              </a:rPr>
            </a:br>
            <a:r>
              <a:rPr lang="en-US" altLang="zh-TW" sz="1800" dirty="0">
                <a:solidFill>
                  <a:srgbClr val="7A7E85"/>
                </a:solidFill>
                <a:effectLst/>
                <a:latin typeface="JetBrains Mono"/>
              </a:rPr>
              <a:t>        </a:t>
            </a:r>
            <a:r>
              <a:rPr lang="en-US" altLang="zh-TW" sz="1800" dirty="0" err="1">
                <a:solidFill>
                  <a:srgbClr val="BCBEC4"/>
                </a:solidFill>
                <a:effectLst/>
                <a:latin typeface="JetBrains Mono"/>
              </a:rPr>
              <a:t>loss.backward</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BCBEC4"/>
                </a:solidFill>
                <a:effectLst/>
                <a:latin typeface="JetBrains Mono"/>
              </a:rPr>
              <a:t>optimizer.step</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BCBEC4"/>
                </a:solidFill>
                <a:effectLst/>
                <a:latin typeface="JetBrains Mono"/>
              </a:rPr>
              <a:t>optimizer.zero_grad</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BCBEC4"/>
                </a:solidFill>
                <a:effectLst/>
                <a:latin typeface="JetBrains Mono"/>
              </a:rPr>
              <a:t>training_loss</a:t>
            </a:r>
            <a:r>
              <a:rPr lang="en-US" altLang="zh-TW" sz="1800" dirty="0">
                <a:solidFill>
                  <a:srgbClr val="BCBEC4"/>
                </a:solidFill>
                <a:effectLst/>
                <a:latin typeface="JetBrains Mono"/>
              </a:rPr>
              <a:t> += </a:t>
            </a:r>
            <a:r>
              <a:rPr lang="en-US" altLang="zh-TW" sz="1800" dirty="0" err="1">
                <a:solidFill>
                  <a:srgbClr val="BCBEC4"/>
                </a:solidFill>
                <a:effectLst/>
                <a:latin typeface="JetBrains Mono"/>
              </a:rPr>
              <a:t>loss.item</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BCBEC4"/>
                </a:solidFill>
                <a:effectLst/>
                <a:latin typeface="JetBrains Mono"/>
              </a:rPr>
              <a:t>training_loss</a:t>
            </a:r>
            <a:r>
              <a:rPr lang="en-US" altLang="zh-TW" sz="1800" dirty="0">
                <a:solidFill>
                  <a:srgbClr val="BCBEC4"/>
                </a:solidFill>
                <a:effectLst/>
                <a:latin typeface="JetBrains Mono"/>
              </a:rPr>
              <a:t> /= size</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BCBEC4"/>
                </a:solidFill>
                <a:effectLst/>
                <a:latin typeface="JetBrains Mono"/>
              </a:rPr>
              <a:t>learnloss.append</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training_loss</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CF8E6D"/>
                </a:solidFill>
                <a:effectLst/>
                <a:latin typeface="JetBrains Mono"/>
              </a:rPr>
              <a:t>def </a:t>
            </a:r>
            <a:r>
              <a:rPr lang="en-US" altLang="zh-TW" sz="1800" dirty="0">
                <a:solidFill>
                  <a:srgbClr val="56A8F5"/>
                </a:solidFill>
                <a:effectLst/>
                <a:latin typeface="JetBrains Mono"/>
              </a:rPr>
              <a:t>test</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dataloader</a:t>
            </a:r>
            <a:r>
              <a:rPr lang="en-US" altLang="zh-TW" sz="1800" dirty="0">
                <a:solidFill>
                  <a:srgbClr val="BCBEC4"/>
                </a:solidFill>
                <a:effectLst/>
                <a:latin typeface="JetBrains Mono"/>
              </a:rPr>
              <a:t>, model, </a:t>
            </a:r>
            <a:r>
              <a:rPr lang="en-US" altLang="zh-TW" sz="1800" dirty="0" err="1">
                <a:solidFill>
                  <a:srgbClr val="BCBEC4"/>
                </a:solidFill>
                <a:effectLst/>
                <a:latin typeface="JetBrains Mono"/>
              </a:rPr>
              <a:t>loss_fn</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size = </a:t>
            </a:r>
            <a:r>
              <a:rPr lang="en-US" altLang="zh-TW" sz="1800" dirty="0" err="1">
                <a:solidFill>
                  <a:srgbClr val="8888C6"/>
                </a:solidFill>
                <a:effectLst/>
                <a:latin typeface="JetBrains Mono"/>
              </a:rPr>
              <a:t>len</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dataloader.dataset</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BCBEC4"/>
                </a:solidFill>
                <a:effectLst/>
                <a:latin typeface="JetBrains Mono"/>
              </a:rPr>
              <a:t>num_batches</a:t>
            </a:r>
            <a:r>
              <a:rPr lang="en-US" altLang="zh-TW" sz="1800" dirty="0">
                <a:solidFill>
                  <a:srgbClr val="BCBEC4"/>
                </a:solidFill>
                <a:effectLst/>
                <a:latin typeface="JetBrains Mono"/>
              </a:rPr>
              <a:t> = </a:t>
            </a:r>
            <a:r>
              <a:rPr lang="en-US" altLang="zh-TW" sz="1800" dirty="0" err="1">
                <a:solidFill>
                  <a:srgbClr val="8888C6"/>
                </a:solidFill>
                <a:effectLst/>
                <a:latin typeface="JetBrains Mono"/>
              </a:rPr>
              <a:t>len</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dataloader</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BCBEC4"/>
                </a:solidFill>
                <a:effectLst/>
                <a:latin typeface="JetBrains Mono"/>
              </a:rPr>
              <a:t>model.eval</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BCBEC4"/>
                </a:solidFill>
                <a:effectLst/>
                <a:latin typeface="JetBrains Mono"/>
              </a:rPr>
              <a:t>test_loss</a:t>
            </a:r>
            <a:r>
              <a:rPr lang="en-US" altLang="zh-TW" sz="1800" dirty="0">
                <a:solidFill>
                  <a:srgbClr val="BCBEC4"/>
                </a:solidFill>
                <a:effectLst/>
                <a:latin typeface="JetBrains Mono"/>
              </a:rPr>
              <a:t>, correct = </a:t>
            </a:r>
            <a:r>
              <a:rPr lang="en-US" altLang="zh-TW" sz="1800" dirty="0">
                <a:solidFill>
                  <a:srgbClr val="2AACB8"/>
                </a:solidFill>
                <a:effectLst/>
                <a:latin typeface="JetBrains Mono"/>
              </a:rPr>
              <a:t>0</a:t>
            </a:r>
            <a:r>
              <a:rPr lang="en-US" altLang="zh-TW" sz="1800" dirty="0">
                <a:solidFill>
                  <a:srgbClr val="BCBEC4"/>
                </a:solidFill>
                <a:effectLst/>
                <a:latin typeface="JetBrains Mono"/>
              </a:rPr>
              <a:t>, </a:t>
            </a:r>
            <a:r>
              <a:rPr lang="en-US" altLang="zh-TW" sz="1800" dirty="0">
                <a:solidFill>
                  <a:srgbClr val="2AACB8"/>
                </a:solidFill>
                <a:effectLst/>
                <a:latin typeface="JetBrains Mono"/>
              </a:rPr>
              <a:t>0</a:t>
            </a:r>
            <a:br>
              <a:rPr lang="en-US" altLang="zh-TW" sz="1800" dirty="0">
                <a:solidFill>
                  <a:srgbClr val="2AACB8"/>
                </a:solidFill>
                <a:effectLst/>
                <a:latin typeface="JetBrains Mono"/>
              </a:rPr>
            </a:br>
            <a:r>
              <a:rPr lang="en-US" altLang="zh-TW" sz="1800" dirty="0">
                <a:solidFill>
                  <a:srgbClr val="2AACB8"/>
                </a:solidFill>
                <a:effectLst/>
                <a:latin typeface="JetBrains Mono"/>
              </a:rPr>
              <a:t>    </a:t>
            </a:r>
            <a:r>
              <a:rPr lang="en-US" altLang="zh-TW" sz="1800" dirty="0">
                <a:solidFill>
                  <a:srgbClr val="CF8E6D"/>
                </a:solidFill>
                <a:effectLst/>
                <a:latin typeface="JetBrains Mono"/>
              </a:rPr>
              <a:t>with </a:t>
            </a:r>
            <a:r>
              <a:rPr lang="en-US" altLang="zh-TW" sz="1800" dirty="0" err="1">
                <a:solidFill>
                  <a:srgbClr val="BCBEC4"/>
                </a:solidFill>
                <a:effectLst/>
                <a:latin typeface="JetBrains Mono"/>
              </a:rPr>
              <a:t>torch.no_grad</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CF8E6D"/>
                </a:solidFill>
                <a:effectLst/>
                <a:latin typeface="JetBrains Mono"/>
              </a:rPr>
              <a:t>for </a:t>
            </a:r>
            <a:r>
              <a:rPr lang="en-US" altLang="zh-TW" sz="1800" dirty="0">
                <a:solidFill>
                  <a:srgbClr val="BCBEC4"/>
                </a:solidFill>
                <a:effectLst/>
                <a:latin typeface="JetBrains Mono"/>
              </a:rPr>
              <a:t>X, y </a:t>
            </a:r>
            <a:r>
              <a:rPr lang="en-US" altLang="zh-TW" sz="1800" dirty="0">
                <a:solidFill>
                  <a:srgbClr val="CF8E6D"/>
                </a:solidFill>
                <a:effectLst/>
                <a:latin typeface="JetBrains Mono"/>
              </a:rPr>
              <a:t>in </a:t>
            </a:r>
            <a:r>
              <a:rPr lang="en-US" altLang="zh-TW" sz="1800" dirty="0" err="1">
                <a:solidFill>
                  <a:srgbClr val="BCBEC4"/>
                </a:solidFill>
                <a:effectLst/>
                <a:latin typeface="JetBrains Mono"/>
              </a:rPr>
              <a:t>dataloader</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X, y = X.to(device), y.to(device)</a:t>
            </a:r>
            <a:br>
              <a:rPr lang="en-US" altLang="zh-TW" sz="1800" dirty="0">
                <a:solidFill>
                  <a:srgbClr val="BCBEC4"/>
                </a:solidFill>
                <a:effectLst/>
                <a:latin typeface="JetBrains Mono"/>
              </a:rPr>
            </a:br>
            <a:r>
              <a:rPr lang="en-US" altLang="zh-TW" sz="1800" dirty="0">
                <a:solidFill>
                  <a:srgbClr val="BCBEC4"/>
                </a:solidFill>
                <a:effectLst/>
                <a:latin typeface="JetBrains Mono"/>
              </a:rPr>
              <a:t>            pred = model(X)</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BCBEC4"/>
                </a:solidFill>
                <a:effectLst/>
                <a:latin typeface="JetBrains Mono"/>
              </a:rPr>
              <a:t>test_loss</a:t>
            </a:r>
            <a:r>
              <a:rPr lang="en-US" altLang="zh-TW" sz="1800" dirty="0">
                <a:solidFill>
                  <a:srgbClr val="BCBEC4"/>
                </a:solidFill>
                <a:effectLst/>
                <a:latin typeface="JetBrains Mono"/>
              </a:rPr>
              <a:t> += </a:t>
            </a:r>
            <a:r>
              <a:rPr lang="en-US" altLang="zh-TW" sz="1800" dirty="0" err="1">
                <a:solidFill>
                  <a:srgbClr val="BCBEC4"/>
                </a:solidFill>
                <a:effectLst/>
                <a:latin typeface="JetBrains Mono"/>
              </a:rPr>
              <a:t>loss_fn</a:t>
            </a:r>
            <a:r>
              <a:rPr lang="en-US" altLang="zh-TW" sz="1800" dirty="0">
                <a:solidFill>
                  <a:srgbClr val="BCBEC4"/>
                </a:solidFill>
                <a:effectLst/>
                <a:latin typeface="JetBrains Mono"/>
              </a:rPr>
              <a:t>(pred, y).item()</a:t>
            </a:r>
            <a:br>
              <a:rPr lang="en-US" altLang="zh-TW" sz="1800" dirty="0">
                <a:solidFill>
                  <a:srgbClr val="BCBEC4"/>
                </a:solidFill>
                <a:effectLst/>
                <a:latin typeface="JetBrains Mono"/>
              </a:rPr>
            </a:br>
            <a:r>
              <a:rPr lang="en-US" altLang="zh-TW" sz="1800" dirty="0">
                <a:solidFill>
                  <a:srgbClr val="BCBEC4"/>
                </a:solidFill>
                <a:effectLst/>
                <a:latin typeface="JetBrains Mono"/>
              </a:rPr>
              <a:t>            correct += (</a:t>
            </a:r>
            <a:r>
              <a:rPr lang="en-US" altLang="zh-TW" sz="1800" dirty="0" err="1">
                <a:solidFill>
                  <a:srgbClr val="BCBEC4"/>
                </a:solidFill>
                <a:effectLst/>
                <a:latin typeface="JetBrains Mono"/>
              </a:rPr>
              <a:t>pred.argmax</a:t>
            </a:r>
            <a:r>
              <a:rPr lang="en-US" altLang="zh-TW" sz="1800" dirty="0">
                <a:solidFill>
                  <a:srgbClr val="BCBEC4"/>
                </a:solidFill>
                <a:effectLst/>
                <a:latin typeface="JetBrains Mono"/>
              </a:rPr>
              <a:t>(</a:t>
            </a:r>
            <a:r>
              <a:rPr lang="en-US" altLang="zh-TW" sz="1800" dirty="0">
                <a:solidFill>
                  <a:srgbClr val="2AACB8"/>
                </a:solidFill>
                <a:effectLst/>
                <a:latin typeface="JetBrains Mono"/>
              </a:rPr>
              <a:t>1</a:t>
            </a:r>
            <a:r>
              <a:rPr lang="en-US" altLang="zh-TW" sz="1800" dirty="0">
                <a:solidFill>
                  <a:srgbClr val="BCBEC4"/>
                </a:solidFill>
                <a:effectLst/>
                <a:latin typeface="JetBrains Mono"/>
              </a:rPr>
              <a:t>) == y).type(</a:t>
            </a:r>
            <a:r>
              <a:rPr lang="en-US" altLang="zh-TW" sz="1800" dirty="0" err="1">
                <a:solidFill>
                  <a:srgbClr val="BCBEC4"/>
                </a:solidFill>
                <a:effectLst/>
                <a:latin typeface="JetBrains Mono"/>
              </a:rPr>
              <a:t>torch.float</a:t>
            </a:r>
            <a:r>
              <a:rPr lang="en-US" altLang="zh-TW" sz="1800" dirty="0">
                <a:solidFill>
                  <a:srgbClr val="BCBEC4"/>
                </a:solidFill>
                <a:effectLst/>
                <a:latin typeface="JetBrains Mono"/>
              </a:rPr>
              <a:t>).sum().item()</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err="1">
                <a:solidFill>
                  <a:srgbClr val="BCBEC4"/>
                </a:solidFill>
                <a:effectLst/>
                <a:latin typeface="JetBrains Mono"/>
              </a:rPr>
              <a:t>test_loss</a:t>
            </a:r>
            <a:r>
              <a:rPr lang="en-US" altLang="zh-TW" sz="1800" dirty="0">
                <a:solidFill>
                  <a:srgbClr val="BCBEC4"/>
                </a:solidFill>
                <a:effectLst/>
                <a:latin typeface="JetBrains Mono"/>
              </a:rPr>
              <a:t> /= </a:t>
            </a:r>
            <a:r>
              <a:rPr lang="en-US" altLang="zh-TW" sz="1800" dirty="0" err="1">
                <a:solidFill>
                  <a:srgbClr val="BCBEC4"/>
                </a:solidFill>
                <a:effectLst/>
                <a:latin typeface="JetBrains Mono"/>
              </a:rPr>
              <a:t>num_batches</a:t>
            </a:r>
            <a:br>
              <a:rPr lang="en-US" altLang="zh-TW" sz="1800" dirty="0">
                <a:solidFill>
                  <a:srgbClr val="BCBEC4"/>
                </a:solidFill>
                <a:effectLst/>
                <a:latin typeface="JetBrains Mono"/>
              </a:rPr>
            </a:br>
            <a:r>
              <a:rPr lang="en-US" altLang="zh-TW" sz="1800" dirty="0">
                <a:solidFill>
                  <a:srgbClr val="BCBEC4"/>
                </a:solidFill>
                <a:effectLst/>
                <a:latin typeface="JetBrains Mono"/>
              </a:rPr>
              <a:t>    correct /= size</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8888C6"/>
                </a:solidFill>
                <a:effectLst/>
                <a:latin typeface="JetBrains Mono"/>
              </a:rPr>
              <a:t>print</a:t>
            </a:r>
            <a:r>
              <a:rPr lang="en-US" altLang="zh-TW" sz="1800" dirty="0">
                <a:solidFill>
                  <a:srgbClr val="BCBEC4"/>
                </a:solidFill>
                <a:effectLst/>
                <a:latin typeface="JetBrains Mono"/>
              </a:rPr>
              <a:t>(</a:t>
            </a:r>
            <a:r>
              <a:rPr lang="en-US" altLang="zh-TW" sz="1800" dirty="0" err="1">
                <a:solidFill>
                  <a:srgbClr val="6AAB73"/>
                </a:solidFill>
                <a:effectLst/>
                <a:latin typeface="JetBrains Mono"/>
              </a:rPr>
              <a:t>f"Test</a:t>
            </a:r>
            <a:r>
              <a:rPr lang="en-US" altLang="zh-TW" sz="1800" dirty="0">
                <a:solidFill>
                  <a:srgbClr val="6AAB73"/>
                </a:solidFill>
                <a:effectLst/>
                <a:latin typeface="JetBrains Mono"/>
              </a:rPr>
              <a:t> Error: </a:t>
            </a:r>
            <a:r>
              <a:rPr lang="en-US" altLang="zh-TW" sz="1800" dirty="0">
                <a:solidFill>
                  <a:srgbClr val="CF8E6D"/>
                </a:solidFill>
                <a:effectLst/>
                <a:latin typeface="JetBrains Mono"/>
              </a:rPr>
              <a:t>\n</a:t>
            </a:r>
            <a:r>
              <a:rPr lang="en-US" altLang="zh-TW" sz="1800" dirty="0">
                <a:solidFill>
                  <a:srgbClr val="6AAB73"/>
                </a:solidFill>
                <a:effectLst/>
                <a:latin typeface="JetBrains Mono"/>
              </a:rPr>
              <a:t> Accuracy: </a:t>
            </a:r>
            <a:r>
              <a:rPr lang="en-US" altLang="zh-TW" sz="1800" dirty="0">
                <a:solidFill>
                  <a:srgbClr val="CF8E6D"/>
                </a:solidFill>
                <a:effectLst/>
                <a:latin typeface="JetBrains Mono"/>
              </a:rPr>
              <a:t>{</a:t>
            </a:r>
            <a:r>
              <a:rPr lang="en-US" altLang="zh-TW" sz="1800" dirty="0">
                <a:solidFill>
                  <a:srgbClr val="BCBEC4"/>
                </a:solidFill>
                <a:effectLst/>
                <a:latin typeface="JetBrains Mono"/>
              </a:rPr>
              <a:t>(</a:t>
            </a:r>
            <a:r>
              <a:rPr lang="en-US" altLang="zh-TW" sz="1800" dirty="0">
                <a:solidFill>
                  <a:srgbClr val="2AACB8"/>
                </a:solidFill>
                <a:effectLst/>
                <a:latin typeface="JetBrains Mono"/>
              </a:rPr>
              <a:t>100</a:t>
            </a:r>
            <a:r>
              <a:rPr lang="en-US" altLang="zh-TW" sz="1800" dirty="0">
                <a:solidFill>
                  <a:srgbClr val="BCBEC4"/>
                </a:solidFill>
                <a:effectLst/>
                <a:latin typeface="JetBrains Mono"/>
              </a:rPr>
              <a:t>*correct)</a:t>
            </a:r>
            <a:r>
              <a:rPr lang="en-US" altLang="zh-TW" sz="1800" dirty="0">
                <a:solidFill>
                  <a:srgbClr val="CF8E6D"/>
                </a:solidFill>
                <a:effectLst/>
                <a:latin typeface="JetBrains Mono"/>
              </a:rPr>
              <a:t>:</a:t>
            </a:r>
            <a:r>
              <a:rPr lang="en-US" altLang="zh-TW" sz="1800" dirty="0">
                <a:solidFill>
                  <a:srgbClr val="6AAB73"/>
                </a:solidFill>
                <a:effectLst/>
                <a:latin typeface="JetBrains Mono"/>
              </a:rPr>
              <a:t>&gt;0.1f</a:t>
            </a:r>
            <a:r>
              <a:rPr lang="en-US" altLang="zh-TW" sz="1800" dirty="0">
                <a:solidFill>
                  <a:srgbClr val="CF8E6D"/>
                </a:solidFill>
                <a:effectLst/>
                <a:latin typeface="JetBrains Mono"/>
              </a:rPr>
              <a:t>}</a:t>
            </a:r>
            <a:r>
              <a:rPr lang="en-US" altLang="zh-TW" sz="1800" dirty="0">
                <a:solidFill>
                  <a:srgbClr val="6AAB73"/>
                </a:solidFill>
                <a:effectLst/>
                <a:latin typeface="JetBrains Mono"/>
              </a:rPr>
              <a:t>%, Avg loss: </a:t>
            </a:r>
            <a:r>
              <a:rPr lang="en-US" altLang="zh-TW" sz="1800" dirty="0">
                <a:solidFill>
                  <a:srgbClr val="CF8E6D"/>
                </a:solidFill>
                <a:effectLst/>
                <a:latin typeface="JetBrains Mono"/>
              </a:rPr>
              <a:t>{</a:t>
            </a:r>
            <a:r>
              <a:rPr lang="en-US" altLang="zh-TW" sz="1800" dirty="0" err="1">
                <a:solidFill>
                  <a:srgbClr val="BCBEC4"/>
                </a:solidFill>
                <a:effectLst/>
                <a:latin typeface="JetBrains Mono"/>
              </a:rPr>
              <a:t>test_loss</a:t>
            </a:r>
            <a:r>
              <a:rPr lang="en-US" altLang="zh-TW" sz="1800" dirty="0">
                <a:solidFill>
                  <a:srgbClr val="CF8E6D"/>
                </a:solidFill>
                <a:effectLst/>
                <a:latin typeface="JetBrains Mono"/>
              </a:rPr>
              <a:t>:</a:t>
            </a:r>
            <a:r>
              <a:rPr lang="en-US" altLang="zh-TW" sz="1800" dirty="0">
                <a:solidFill>
                  <a:srgbClr val="6AAB73"/>
                </a:solidFill>
                <a:effectLst/>
                <a:latin typeface="JetBrains Mono"/>
              </a:rPr>
              <a:t>&gt;8f</a:t>
            </a:r>
            <a:r>
              <a:rPr lang="en-US" altLang="zh-TW" sz="1800" dirty="0">
                <a:solidFill>
                  <a:srgbClr val="CF8E6D"/>
                </a:solidFill>
                <a:effectLst/>
                <a:latin typeface="JetBrains Mono"/>
              </a:rPr>
              <a:t>} \n</a:t>
            </a:r>
            <a:r>
              <a:rPr lang="en-US" altLang="zh-TW" sz="1800" dirty="0">
                <a:solidFill>
                  <a:srgbClr val="6AAB73"/>
                </a:solidFill>
                <a:effectLst/>
                <a:latin typeface="JetBrains Mono"/>
              </a:rPr>
              <a:t>"</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BCBEC4"/>
                </a:solidFill>
                <a:effectLst/>
                <a:latin typeface="JetBrains Mono"/>
              </a:rPr>
              <a:t>epochs = </a:t>
            </a:r>
            <a:r>
              <a:rPr lang="en-US" altLang="zh-TW" dirty="0">
                <a:solidFill>
                  <a:srgbClr val="2AACB8"/>
                </a:solidFill>
                <a:latin typeface="JetBrains Mono"/>
              </a:rPr>
              <a:t>10</a:t>
            </a:r>
            <a:r>
              <a:rPr lang="en-US" altLang="zh-TW" sz="1800" dirty="0">
                <a:solidFill>
                  <a:srgbClr val="2AACB8"/>
                </a:solidFill>
                <a:effectLst/>
                <a:latin typeface="JetBrains Mono"/>
              </a:rPr>
              <a:t>0</a:t>
            </a:r>
            <a:br>
              <a:rPr lang="en-US" altLang="zh-TW" sz="1800" dirty="0">
                <a:solidFill>
                  <a:srgbClr val="2AACB8"/>
                </a:solidFill>
                <a:effectLst/>
                <a:latin typeface="JetBrains Mono"/>
              </a:rPr>
            </a:br>
            <a:r>
              <a:rPr lang="en-US" altLang="zh-TW" sz="1800" dirty="0">
                <a:solidFill>
                  <a:srgbClr val="CF8E6D"/>
                </a:solidFill>
                <a:effectLst/>
                <a:latin typeface="JetBrains Mono"/>
              </a:rPr>
              <a:t>for </a:t>
            </a:r>
            <a:r>
              <a:rPr lang="en-US" altLang="zh-TW" sz="1800" dirty="0">
                <a:solidFill>
                  <a:srgbClr val="BCBEC4"/>
                </a:solidFill>
                <a:effectLst/>
                <a:latin typeface="JetBrains Mono"/>
              </a:rPr>
              <a:t>t </a:t>
            </a:r>
            <a:r>
              <a:rPr lang="en-US" altLang="zh-TW" sz="1800" dirty="0">
                <a:solidFill>
                  <a:srgbClr val="CF8E6D"/>
                </a:solidFill>
                <a:effectLst/>
                <a:latin typeface="JetBrains Mono"/>
              </a:rPr>
              <a:t>in </a:t>
            </a:r>
            <a:r>
              <a:rPr lang="en-US" altLang="zh-TW" sz="1800" dirty="0">
                <a:solidFill>
                  <a:srgbClr val="8888C6"/>
                </a:solidFill>
                <a:effectLst/>
                <a:latin typeface="JetBrains Mono"/>
              </a:rPr>
              <a:t>range</a:t>
            </a:r>
            <a:r>
              <a:rPr lang="en-US" altLang="zh-TW" sz="1800" dirty="0">
                <a:solidFill>
                  <a:srgbClr val="BCBEC4"/>
                </a:solidFill>
                <a:effectLst/>
                <a:latin typeface="JetBrains Mono"/>
              </a:rPr>
              <a:t>(epochs):</a:t>
            </a:r>
            <a:br>
              <a:rPr lang="en-US" altLang="zh-TW" sz="1800" dirty="0">
                <a:solidFill>
                  <a:srgbClr val="BCBEC4"/>
                </a:solidFill>
                <a:effectLst/>
                <a:latin typeface="JetBrains Mono"/>
              </a:rPr>
            </a:br>
            <a:r>
              <a:rPr lang="en-US" altLang="zh-TW" sz="1800" dirty="0">
                <a:solidFill>
                  <a:srgbClr val="BCBEC4"/>
                </a:solidFill>
                <a:effectLst/>
                <a:latin typeface="JetBrains Mono"/>
              </a:rPr>
              <a:t>    </a:t>
            </a:r>
            <a:r>
              <a:rPr lang="en-US" altLang="zh-TW" sz="1800" dirty="0">
                <a:solidFill>
                  <a:srgbClr val="8888C6"/>
                </a:solidFill>
                <a:effectLst/>
                <a:latin typeface="JetBrains Mono"/>
              </a:rPr>
              <a:t>print</a:t>
            </a:r>
            <a:r>
              <a:rPr lang="en-US" altLang="zh-TW" sz="1800" dirty="0">
                <a:solidFill>
                  <a:srgbClr val="BCBEC4"/>
                </a:solidFill>
                <a:effectLst/>
                <a:latin typeface="JetBrains Mono"/>
              </a:rPr>
              <a:t>(</a:t>
            </a:r>
            <a:r>
              <a:rPr lang="en-US" altLang="zh-TW" sz="1800" dirty="0" err="1">
                <a:solidFill>
                  <a:srgbClr val="6AAB73"/>
                </a:solidFill>
                <a:effectLst/>
                <a:latin typeface="JetBrains Mono"/>
              </a:rPr>
              <a:t>f"Epoch</a:t>
            </a:r>
            <a:r>
              <a:rPr lang="en-US" altLang="zh-TW" sz="1800" dirty="0">
                <a:solidFill>
                  <a:srgbClr val="6AAB73"/>
                </a:solidFill>
                <a:effectLst/>
                <a:latin typeface="JetBrains Mono"/>
              </a:rPr>
              <a:t> </a:t>
            </a:r>
            <a:r>
              <a:rPr lang="en-US" altLang="zh-TW" sz="1800" dirty="0">
                <a:solidFill>
                  <a:srgbClr val="CF8E6D"/>
                </a:solidFill>
                <a:effectLst/>
                <a:latin typeface="JetBrains Mono"/>
              </a:rPr>
              <a:t>{</a:t>
            </a:r>
            <a:r>
              <a:rPr lang="en-US" altLang="zh-TW" sz="1800" dirty="0">
                <a:solidFill>
                  <a:srgbClr val="BCBEC4"/>
                </a:solidFill>
                <a:effectLst/>
                <a:latin typeface="JetBrains Mono"/>
              </a:rPr>
              <a:t>t+</a:t>
            </a:r>
            <a:r>
              <a:rPr lang="en-US" altLang="zh-TW" sz="1800" dirty="0">
                <a:solidFill>
                  <a:srgbClr val="2AACB8"/>
                </a:solidFill>
                <a:effectLst/>
                <a:latin typeface="JetBrains Mono"/>
              </a:rPr>
              <a:t>1</a:t>
            </a:r>
            <a:r>
              <a:rPr lang="en-US" altLang="zh-TW" sz="1800" dirty="0">
                <a:solidFill>
                  <a:srgbClr val="CF8E6D"/>
                </a:solidFill>
                <a:effectLst/>
                <a:latin typeface="JetBrains Mono"/>
              </a:rPr>
              <a:t>}\n</a:t>
            </a:r>
            <a:r>
              <a:rPr lang="en-US" altLang="zh-TW" sz="1800" dirty="0">
                <a:solidFill>
                  <a:srgbClr val="6AAB73"/>
                </a:solidFill>
                <a:effectLst/>
                <a:latin typeface="JetBrains Mono"/>
              </a:rPr>
              <a:t>-------------------------------"</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a:solidFill>
                  <a:srgbClr val="BCBEC4"/>
                </a:solidFill>
                <a:effectLst/>
                <a:latin typeface="JetBrains Mono"/>
              </a:rPr>
              <a:t>    train(</a:t>
            </a:r>
            <a:r>
              <a:rPr lang="en-US" altLang="zh-TW" sz="1800" dirty="0" err="1">
                <a:solidFill>
                  <a:srgbClr val="BCBEC4"/>
                </a:solidFill>
                <a:effectLst/>
                <a:latin typeface="JetBrains Mono"/>
              </a:rPr>
              <a:t>train_dataloader</a:t>
            </a:r>
            <a:r>
              <a:rPr lang="en-US" altLang="zh-TW" sz="1800" dirty="0">
                <a:solidFill>
                  <a:srgbClr val="BCBEC4"/>
                </a:solidFill>
                <a:effectLst/>
                <a:latin typeface="JetBrains Mono"/>
              </a:rPr>
              <a:t>, model, </a:t>
            </a:r>
            <a:r>
              <a:rPr lang="en-US" altLang="zh-TW" sz="1800" dirty="0" err="1">
                <a:solidFill>
                  <a:srgbClr val="BCBEC4"/>
                </a:solidFill>
                <a:effectLst/>
                <a:latin typeface="JetBrains Mono"/>
              </a:rPr>
              <a:t>loss_fn</a:t>
            </a:r>
            <a:r>
              <a:rPr lang="en-US" altLang="zh-TW" sz="1800" dirty="0">
                <a:solidFill>
                  <a:srgbClr val="BCBEC4"/>
                </a:solidFill>
                <a:effectLst/>
                <a:latin typeface="JetBrains Mono"/>
              </a:rPr>
              <a:t>, optimizer)</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err="1">
                <a:solidFill>
                  <a:srgbClr val="BCBEC4"/>
                </a:solidFill>
                <a:effectLst/>
                <a:latin typeface="JetBrains Mono"/>
              </a:rPr>
              <a:t>plt.plot</a:t>
            </a:r>
            <a:r>
              <a:rPr lang="en-US" altLang="zh-TW" sz="1800" dirty="0">
                <a:solidFill>
                  <a:srgbClr val="BCBEC4"/>
                </a:solidFill>
                <a:effectLst/>
                <a:latin typeface="JetBrains Mono"/>
              </a:rPr>
              <a:t>(</a:t>
            </a:r>
            <a:r>
              <a:rPr lang="en-US" altLang="zh-TW" sz="1800" dirty="0" err="1">
                <a:solidFill>
                  <a:srgbClr val="BCBEC4"/>
                </a:solidFill>
                <a:effectLst/>
                <a:latin typeface="JetBrains Mono"/>
              </a:rPr>
              <a:t>learnloss</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r>
              <a:rPr lang="en-US" altLang="zh-TW" sz="1800" dirty="0" err="1">
                <a:solidFill>
                  <a:srgbClr val="BCBEC4"/>
                </a:solidFill>
                <a:effectLst/>
                <a:latin typeface="JetBrains Mono"/>
              </a:rPr>
              <a:t>plt.show</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BCBEC4"/>
                </a:solidFill>
                <a:effectLst/>
                <a:latin typeface="JetBrains Mono"/>
              </a:rPr>
              <a:t>test(</a:t>
            </a:r>
            <a:r>
              <a:rPr lang="en-US" altLang="zh-TW" sz="1800" dirty="0" err="1">
                <a:solidFill>
                  <a:srgbClr val="BCBEC4"/>
                </a:solidFill>
                <a:effectLst/>
                <a:latin typeface="JetBrains Mono"/>
              </a:rPr>
              <a:t>test_dataloader</a:t>
            </a:r>
            <a:r>
              <a:rPr lang="en-US" altLang="zh-TW" sz="1800" dirty="0">
                <a:solidFill>
                  <a:srgbClr val="BCBEC4"/>
                </a:solidFill>
                <a:effectLst/>
                <a:latin typeface="JetBrains Mono"/>
              </a:rPr>
              <a:t>, model, </a:t>
            </a:r>
            <a:r>
              <a:rPr lang="en-US" altLang="zh-TW" sz="1800" dirty="0" err="1">
                <a:solidFill>
                  <a:srgbClr val="BCBEC4"/>
                </a:solidFill>
                <a:effectLst/>
                <a:latin typeface="JetBrains Mono"/>
              </a:rPr>
              <a:t>loss_fn</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br>
              <a:rPr lang="en-US" altLang="zh-TW" sz="1800" dirty="0">
                <a:solidFill>
                  <a:srgbClr val="BCBEC4"/>
                </a:solidFill>
                <a:effectLst/>
                <a:latin typeface="JetBrains Mono"/>
              </a:rPr>
            </a:br>
            <a:r>
              <a:rPr lang="en-US" altLang="zh-TW" sz="1800" dirty="0">
                <a:solidFill>
                  <a:srgbClr val="8888C6"/>
                </a:solidFill>
                <a:effectLst/>
                <a:latin typeface="JetBrains Mono"/>
              </a:rPr>
              <a:t>print</a:t>
            </a:r>
            <a:r>
              <a:rPr lang="en-US" altLang="zh-TW" sz="1800" dirty="0">
                <a:solidFill>
                  <a:srgbClr val="BCBEC4"/>
                </a:solidFill>
                <a:effectLst/>
                <a:latin typeface="JetBrains Mono"/>
              </a:rPr>
              <a:t>(</a:t>
            </a:r>
            <a:r>
              <a:rPr lang="en-US" altLang="zh-TW" sz="1800" dirty="0">
                <a:solidFill>
                  <a:srgbClr val="6AAB73"/>
                </a:solidFill>
                <a:effectLst/>
                <a:latin typeface="JetBrains Mono"/>
              </a:rPr>
              <a:t>"Done!"</a:t>
            </a:r>
            <a:r>
              <a:rPr lang="en-US" altLang="zh-TW" sz="1800" dirty="0">
                <a:solidFill>
                  <a:srgbClr val="BCBEC4"/>
                </a:solidFill>
                <a:effectLst/>
                <a:latin typeface="JetBrains Mono"/>
              </a:rPr>
              <a:t>)</a:t>
            </a:r>
            <a:br>
              <a:rPr lang="en-US" altLang="zh-TW" sz="1800" dirty="0">
                <a:solidFill>
                  <a:srgbClr val="BCBEC4"/>
                </a:solidFill>
                <a:effectLst/>
                <a:latin typeface="JetBrains Mono"/>
              </a:rPr>
            </a:br>
            <a:endParaRPr lang="en-US" altLang="zh-TW" sz="1800" dirty="0">
              <a:solidFill>
                <a:srgbClr val="BCBEC4"/>
              </a:solidFill>
              <a:effectLst/>
              <a:latin typeface="JetBrains Mono"/>
            </a:endParaRPr>
          </a:p>
        </p:txBody>
      </p:sp>
      <p:sp>
        <p:nvSpPr>
          <p:cNvPr id="2" name="標題 1">
            <a:extLst>
              <a:ext uri="{FF2B5EF4-FFF2-40B4-BE49-F238E27FC236}">
                <a16:creationId xmlns:a16="http://schemas.microsoft.com/office/drawing/2014/main" id="{30264942-FDED-55AE-5249-1499CAD42993}"/>
              </a:ext>
            </a:extLst>
          </p:cNvPr>
          <p:cNvSpPr txBox="1">
            <a:spLocks/>
          </p:cNvSpPr>
          <p:nvPr/>
        </p:nvSpPr>
        <p:spPr>
          <a:xfrm>
            <a:off x="0" y="0"/>
            <a:ext cx="12192000" cy="1694681"/>
          </a:xfrm>
          <a:prstGeom prst="rect">
            <a:avLst/>
          </a:prstGeom>
          <a:solidFill>
            <a:schemeClr val="accent5">
              <a:lumMod val="20000"/>
              <a:lumOff val="80000"/>
            </a:schemeClr>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TW" sz="6000" dirty="0"/>
              <a:t>Lab</a:t>
            </a:r>
            <a:r>
              <a:rPr lang="zh-TW" altLang="en-US" sz="6000" dirty="0"/>
              <a:t> </a:t>
            </a:r>
            <a:r>
              <a:rPr lang="en-US" altLang="zh-TW" sz="6000" dirty="0"/>
              <a:t>3 CatDogMLP.py</a:t>
            </a:r>
            <a:endParaRPr lang="zh-TW" altLang="en-US" sz="6000" dirty="0"/>
          </a:p>
        </p:txBody>
      </p:sp>
      <p:pic>
        <p:nvPicPr>
          <p:cNvPr id="7" name="圖片 6">
            <a:extLst>
              <a:ext uri="{FF2B5EF4-FFF2-40B4-BE49-F238E27FC236}">
                <a16:creationId xmlns:a16="http://schemas.microsoft.com/office/drawing/2014/main" id="{1B66F5D1-7183-97C8-5764-7F36E4FDF6B4}"/>
              </a:ext>
            </a:extLst>
          </p:cNvPr>
          <p:cNvPicPr>
            <a:picLocks noChangeAspect="1"/>
          </p:cNvPicPr>
          <p:nvPr/>
        </p:nvPicPr>
        <p:blipFill>
          <a:blip r:embed="rId2"/>
          <a:stretch>
            <a:fillRect/>
          </a:stretch>
        </p:blipFill>
        <p:spPr>
          <a:xfrm>
            <a:off x="7285705" y="2964873"/>
            <a:ext cx="4324403" cy="3682752"/>
          </a:xfrm>
          <a:prstGeom prst="rect">
            <a:avLst/>
          </a:prstGeom>
        </p:spPr>
      </p:pic>
    </p:spTree>
    <p:extLst>
      <p:ext uri="{BB962C8B-B14F-4D97-AF65-F5344CB8AC3E}">
        <p14:creationId xmlns:p14="http://schemas.microsoft.com/office/powerpoint/2010/main" val="1400719904"/>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光面">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12700" cap="flat" cmpd="sng" algn="ctr">
          <a:solidFill>
            <a:schemeClr val="phClr">
              <a:tint val="95000"/>
              <a:shade val="95000"/>
              <a:satMod val="120000"/>
            </a:schemeClr>
          </a:solidFill>
          <a:prstDash val="solid"/>
        </a:ln>
        <a:ln w="55000" cap="flat" cmpd="thickThin" algn="ctr">
          <a:solidFill>
            <a:schemeClr val="phClr">
              <a:tint val="90000"/>
              <a:satMod val="130000"/>
            </a:schemeClr>
          </a:solidFill>
          <a:prstDash val="solid"/>
        </a:ln>
        <a:ln w="50800" cap="flat" cmpd="sng"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文件" ma:contentTypeID="0x0101008BB827752039164B86FD741153416EDF" ma:contentTypeVersion="11" ma:contentTypeDescription="建立新的文件。" ma:contentTypeScope="" ma:versionID="9e9c4e2852dc8557700f45ce1cc7f08e">
  <xsd:schema xmlns:xsd="http://www.w3.org/2001/XMLSchema" xmlns:xs="http://www.w3.org/2001/XMLSchema" xmlns:p="http://schemas.microsoft.com/office/2006/metadata/properties" xmlns:ns3="ee075635-a6d6-4f2b-a771-7195be426a45" xmlns:ns4="ea232b2d-0344-4432-9afd-89e11bf2ed72" targetNamespace="http://schemas.microsoft.com/office/2006/metadata/properties" ma:root="true" ma:fieldsID="0cd417f2f61872233189eeebdf96512e" ns3:_="" ns4:_="">
    <xsd:import namespace="ee075635-a6d6-4f2b-a771-7195be426a45"/>
    <xsd:import namespace="ea232b2d-0344-4432-9afd-89e11bf2ed72"/>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AutoTags" minOccurs="0"/>
                <xsd:element ref="ns3:MediaServiceGenerationTime" minOccurs="0"/>
                <xsd:element ref="ns3:MediaServiceEventHashCode"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075635-a6d6-4f2b-a771-7195be426a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a232b2d-0344-4432-9afd-89e11bf2ed72" elementFormDefault="qualified">
    <xsd:import namespace="http://schemas.microsoft.com/office/2006/documentManagement/types"/>
    <xsd:import namespace="http://schemas.microsoft.com/office/infopath/2007/PartnerControls"/>
    <xsd:element name="SharedWithUsers" ma:index="12" nillable="true" ma:displayName="共用對象:"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共用詳細資料" ma:internalName="SharedWithDetails" ma:readOnly="true">
      <xsd:simpleType>
        <xsd:restriction base="dms:Note">
          <xsd:maxLength value="255"/>
        </xsd:restriction>
      </xsd:simpleType>
    </xsd:element>
    <xsd:element name="SharingHintHash" ma:index="14" nillable="true" ma:displayName="共用提示雜湊"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內容類型"/>
        <xsd:element ref="dc:title" minOccurs="0" maxOccurs="1" ma:index="4" ma:displayName="標題"/>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C753425-AAAB-4B55-A8D8-8EA83F497B54}">
  <ds:schemaRefs>
    <ds:schemaRef ds:uri="http://purl.org/dc/terms/"/>
    <ds:schemaRef ds:uri="http://purl.org/dc/dcmitype/"/>
    <ds:schemaRef ds:uri="http://schemas.microsoft.com/office/infopath/2007/PartnerControls"/>
    <ds:schemaRef ds:uri="http://purl.org/dc/elements/1.1/"/>
    <ds:schemaRef ds:uri="http://www.w3.org/XML/1998/namespace"/>
    <ds:schemaRef ds:uri="ea232b2d-0344-4432-9afd-89e11bf2ed72"/>
    <ds:schemaRef ds:uri="http://schemas.openxmlformats.org/package/2006/metadata/core-properties"/>
    <ds:schemaRef ds:uri="http://schemas.microsoft.com/office/2006/documentManagement/types"/>
    <ds:schemaRef ds:uri="ee075635-a6d6-4f2b-a771-7195be426a45"/>
    <ds:schemaRef ds:uri="http://schemas.microsoft.com/office/2006/metadata/properties"/>
  </ds:schemaRefs>
</ds:datastoreItem>
</file>

<file path=customXml/itemProps2.xml><?xml version="1.0" encoding="utf-8"?>
<ds:datastoreItem xmlns:ds="http://schemas.openxmlformats.org/officeDocument/2006/customXml" ds:itemID="{CFB5121D-4FCC-4A56-A221-FA328E161895}">
  <ds:schemaRefs>
    <ds:schemaRef ds:uri="http://schemas.microsoft.com/sharepoint/v3/contenttype/forms"/>
  </ds:schemaRefs>
</ds:datastoreItem>
</file>

<file path=customXml/itemProps3.xml><?xml version="1.0" encoding="utf-8"?>
<ds:datastoreItem xmlns:ds="http://schemas.openxmlformats.org/officeDocument/2006/customXml" ds:itemID="{409E545B-07C0-4998-A14E-D12D19B7414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e075635-a6d6-4f2b-a771-7195be426a45"/>
    <ds:schemaRef ds:uri="ea232b2d-0344-4432-9afd-89e11bf2ed7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3775</TotalTime>
  <Words>6926</Words>
  <Application>Microsoft Office PowerPoint</Application>
  <PresentationFormat>寬螢幕</PresentationFormat>
  <Paragraphs>242</Paragraphs>
  <Slides>25</Slides>
  <Notes>0</Notes>
  <HiddenSlides>0</HiddenSlides>
  <MMClips>0</MMClips>
  <ScaleCrop>false</ScaleCrop>
  <HeadingPairs>
    <vt:vector size="6" baseType="variant">
      <vt:variant>
        <vt:lpstr>使用字型</vt:lpstr>
      </vt:variant>
      <vt:variant>
        <vt:i4>10</vt:i4>
      </vt:variant>
      <vt:variant>
        <vt:lpstr>佈景主題</vt:lpstr>
      </vt:variant>
      <vt:variant>
        <vt:i4>1</vt:i4>
      </vt:variant>
      <vt:variant>
        <vt:lpstr>投影片標題</vt:lpstr>
      </vt:variant>
      <vt:variant>
        <vt:i4>25</vt:i4>
      </vt:variant>
    </vt:vector>
  </HeadingPairs>
  <TitlesOfParts>
    <vt:vector size="36" baseType="lpstr">
      <vt:lpstr>JetBrains Mono</vt:lpstr>
      <vt:lpstr>Studio-Feixen-Sans</vt:lpstr>
      <vt:lpstr>微軟正黑體</vt:lpstr>
      <vt:lpstr>Arial</vt:lpstr>
      <vt:lpstr>Calibri</vt:lpstr>
      <vt:lpstr>Calibri Light</vt:lpstr>
      <vt:lpstr>Cambria Math</vt:lpstr>
      <vt:lpstr>Courier New</vt:lpstr>
      <vt:lpstr>Symbol</vt:lpstr>
      <vt:lpstr>Times New Roman</vt:lpstr>
      <vt:lpstr>Office 佈景主題</vt:lpstr>
      <vt:lpstr>Multilayer Perceptron 多層感知機</vt:lpstr>
      <vt:lpstr>PowerPoint 簡報</vt:lpstr>
      <vt:lpstr>PowerPoint 簡報</vt:lpstr>
      <vt:lpstr>PowerPoint 簡報</vt:lpstr>
      <vt:lpstr>Input layer</vt:lpstr>
      <vt:lpstr>Hidden layers</vt:lpstr>
      <vt:lpstr>Output layer</vt:lpstr>
      <vt:lpstr>Training</vt:lpstr>
      <vt:lpstr>Stochastic Gradient Descent (SGD)</vt:lpstr>
      <vt:lpstr>For each iteration (or epoch) of training:</vt:lpstr>
      <vt:lpstr>Stochastic Gradient Descent (SGD)</vt:lpstr>
      <vt:lpstr>PowerPoint 簡報</vt:lpstr>
      <vt:lpstr>Backpropagation</vt:lpstr>
      <vt:lpstr>PowerPoint 簡報</vt:lpstr>
      <vt:lpstr>Lab 1 mnistMLP.py</vt:lpstr>
      <vt:lpstr>MLP MNIST Classification </vt:lpstr>
      <vt:lpstr>Learning path 學習路徑</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王任瓚</dc:creator>
  <cp:lastModifiedBy>王任瓚 wang</cp:lastModifiedBy>
  <cp:revision>166</cp:revision>
  <dcterms:created xsi:type="dcterms:W3CDTF">2022-09-21T06:24:39Z</dcterms:created>
  <dcterms:modified xsi:type="dcterms:W3CDTF">2025-11-03T00:26:39Z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0x0101008BB827752039164B86FD741153416EDF</vt:lpwstr>
  </property>
</Properties>
</file>