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2" r:id="rId5"/>
    <p:sldId id="295" r:id="rId6"/>
    <p:sldId id="298" r:id="rId7"/>
    <p:sldId id="304" r:id="rId8"/>
    <p:sldId id="308" r:id="rId9"/>
    <p:sldId id="299" r:id="rId10"/>
    <p:sldId id="300" r:id="rId11"/>
    <p:sldId id="301" r:id="rId12"/>
    <p:sldId id="309" r:id="rId13"/>
    <p:sldId id="305" r:id="rId14"/>
    <p:sldId id="302" r:id="rId15"/>
    <p:sldId id="303" r:id="rId16"/>
    <p:sldId id="311" r:id="rId17"/>
    <p:sldId id="306" r:id="rId18"/>
    <p:sldId id="312" r:id="rId19"/>
    <p:sldId id="313" r:id="rId20"/>
    <p:sldId id="315" r:id="rId21"/>
    <p:sldId id="310" r:id="rId22"/>
    <p:sldId id="307" r:id="rId23"/>
    <p:sldId id="318" r:id="rId24"/>
    <p:sldId id="319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F323A-CA34-4261-86E2-38C47085E263}" v="12" dt="2023-07-05T23:42:47.734"/>
    <p1510:client id="{BA40536F-ED80-40B7-B7FF-99F5D5994B3E}" v="59" dt="2023-07-05T23:45:52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4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王任瓚" userId="144ed3ff-1657-4c82-a739-4b306bf2e82b" providerId="ADAL" clId="{6B7BB87B-79EB-4027-8B3B-2AF1D36C3768}"/>
    <pc:docChg chg="custSel addSld delSld modSld">
      <pc:chgData name="王任瓚" userId="144ed3ff-1657-4c82-a739-4b306bf2e82b" providerId="ADAL" clId="{6B7BB87B-79EB-4027-8B3B-2AF1D36C3768}" dt="2023-07-05T23:59:22.438" v="401" actId="20577"/>
      <pc:docMkLst>
        <pc:docMk/>
      </pc:docMkLst>
      <pc:sldChg chg="del">
        <pc:chgData name="王任瓚" userId="144ed3ff-1657-4c82-a739-4b306bf2e82b" providerId="ADAL" clId="{6B7BB87B-79EB-4027-8B3B-2AF1D36C3768}" dt="2023-07-05T23:54:55.822" v="214" actId="47"/>
        <pc:sldMkLst>
          <pc:docMk/>
          <pc:sldMk cId="2573105715" sldId="290"/>
        </pc:sldMkLst>
      </pc:sldChg>
      <pc:sldChg chg="modSp new mod">
        <pc:chgData name="王任瓚" userId="144ed3ff-1657-4c82-a739-4b306bf2e82b" providerId="ADAL" clId="{6B7BB87B-79EB-4027-8B3B-2AF1D36C3768}" dt="2023-07-05T23:59:22.438" v="401" actId="20577"/>
        <pc:sldMkLst>
          <pc:docMk/>
          <pc:sldMk cId="2235111242" sldId="291"/>
        </pc:sldMkLst>
        <pc:spChg chg="mod">
          <ac:chgData name="王任瓚" userId="144ed3ff-1657-4c82-a739-4b306bf2e82b" providerId="ADAL" clId="{6B7BB87B-79EB-4027-8B3B-2AF1D36C3768}" dt="2023-07-05T23:59:22.438" v="401" actId="20577"/>
          <ac:spMkLst>
            <pc:docMk/>
            <pc:sldMk cId="2235111242" sldId="291"/>
            <ac:spMk id="2" creationId="{549DE864-1DBA-4885-A39A-F33477613F77}"/>
          </ac:spMkLst>
        </pc:spChg>
        <pc:spChg chg="mod">
          <ac:chgData name="王任瓚" userId="144ed3ff-1657-4c82-a739-4b306bf2e82b" providerId="ADAL" clId="{6B7BB87B-79EB-4027-8B3B-2AF1D36C3768}" dt="2023-07-05T23:58:58.522" v="392" actId="20577"/>
          <ac:spMkLst>
            <pc:docMk/>
            <pc:sldMk cId="2235111242" sldId="291"/>
            <ac:spMk id="3" creationId="{AB84186D-E5D3-BDE6-72C6-DACDB790C4E4}"/>
          </ac:spMkLst>
        </pc:spChg>
      </pc:sldChg>
      <pc:sldChg chg="modSp new mod">
        <pc:chgData name="王任瓚" userId="144ed3ff-1657-4c82-a739-4b306bf2e82b" providerId="ADAL" clId="{6B7BB87B-79EB-4027-8B3B-2AF1D36C3768}" dt="2023-07-05T23:56:50.840" v="276" actId="20577"/>
        <pc:sldMkLst>
          <pc:docMk/>
          <pc:sldMk cId="2389765560" sldId="292"/>
        </pc:sldMkLst>
        <pc:spChg chg="mod">
          <ac:chgData name="王任瓚" userId="144ed3ff-1657-4c82-a739-4b306bf2e82b" providerId="ADAL" clId="{6B7BB87B-79EB-4027-8B3B-2AF1D36C3768}" dt="2023-07-05T23:54:31.680" v="189" actId="27636"/>
          <ac:spMkLst>
            <pc:docMk/>
            <pc:sldMk cId="2389765560" sldId="292"/>
            <ac:spMk id="2" creationId="{F018998D-1136-8CAA-50C1-E785B8FCAA35}"/>
          </ac:spMkLst>
        </pc:spChg>
        <pc:spChg chg="mod">
          <ac:chgData name="王任瓚" userId="144ed3ff-1657-4c82-a739-4b306bf2e82b" providerId="ADAL" clId="{6B7BB87B-79EB-4027-8B3B-2AF1D36C3768}" dt="2023-07-05T23:56:50.840" v="276" actId="20577"/>
          <ac:spMkLst>
            <pc:docMk/>
            <pc:sldMk cId="2389765560" sldId="292"/>
            <ac:spMk id="3" creationId="{E7C80F82-B937-FF73-3FC2-D80C67201987}"/>
          </ac:spMkLst>
        </pc:spChg>
      </pc:sldChg>
      <pc:sldChg chg="add">
        <pc:chgData name="王任瓚" userId="144ed3ff-1657-4c82-a739-4b306bf2e82b" providerId="ADAL" clId="{6B7BB87B-79EB-4027-8B3B-2AF1D36C3768}" dt="2023-07-05T23:57:43.334" v="277" actId="2890"/>
        <pc:sldMkLst>
          <pc:docMk/>
          <pc:sldMk cId="1249831945" sldId="293"/>
        </pc:sldMkLst>
      </pc:sldChg>
    </pc:docChg>
  </pc:docChgLst>
  <pc:docChgLst>
    <pc:chgData name="王任瓚" userId="144ed3ff-1657-4c82-a739-4b306bf2e82b" providerId="ADAL" clId="{BA40536F-ED80-40B7-B7FF-99F5D5994B3E}"/>
    <pc:docChg chg="delSld modSld">
      <pc:chgData name="王任瓚" userId="144ed3ff-1657-4c82-a739-4b306bf2e82b" providerId="ADAL" clId="{BA40536F-ED80-40B7-B7FF-99F5D5994B3E}" dt="2023-07-05T23:46:08.985" v="59" actId="47"/>
      <pc:docMkLst>
        <pc:docMk/>
      </pc:docMkLst>
      <pc:sldChg chg="del">
        <pc:chgData name="王任瓚" userId="144ed3ff-1657-4c82-a739-4b306bf2e82b" providerId="ADAL" clId="{BA40536F-ED80-40B7-B7FF-99F5D5994B3E}" dt="2023-07-05T23:46:08.985" v="59" actId="47"/>
        <pc:sldMkLst>
          <pc:docMk/>
          <pc:sldMk cId="2277810992" sldId="285"/>
        </pc:sldMkLst>
      </pc:sldChg>
      <pc:sldChg chg="modSp">
        <pc:chgData name="王任瓚" userId="144ed3ff-1657-4c82-a739-4b306bf2e82b" providerId="ADAL" clId="{BA40536F-ED80-40B7-B7FF-99F5D5994B3E}" dt="2023-07-05T23:45:52.147" v="58" actId="113"/>
        <pc:sldMkLst>
          <pc:docMk/>
          <pc:sldMk cId="2573105715" sldId="290"/>
        </pc:sldMkLst>
        <pc:spChg chg="mod">
          <ac:chgData name="王任瓚" userId="144ed3ff-1657-4c82-a739-4b306bf2e82b" providerId="ADAL" clId="{BA40536F-ED80-40B7-B7FF-99F5D5994B3E}" dt="2023-07-05T23:45:52.147" v="58" actId="113"/>
          <ac:spMkLst>
            <pc:docMk/>
            <pc:sldMk cId="2573105715" sldId="290"/>
            <ac:spMk id="2" creationId="{421F3457-C4A2-D93E-0180-C7BF26BCBF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DC58A4-81EB-4E19-9C56-29A198080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767D06A-67BA-4983-8173-3CDEA044C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F72EF1-BBF0-49FA-843E-E1C57133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E387C2-9237-4077-8912-46D3FA90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DDC342-49C4-4840-9302-7F3C819D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5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BAFC87-6009-467A-BBBF-AA90D620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32B175-37F2-4849-9601-9D7975B2E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0AE147-66CB-4FDD-AAAA-310B5BD7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FC8B2B-DF6D-4FED-B530-052D413E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A6675-3664-4381-A56F-D7469C45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690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FDC381-7B7C-4A50-BB8E-EC4435EE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E0F9CD-AA40-42B1-A403-4CE5B195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832B99-F07E-484E-BA33-04AA663C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0F5057-29FE-4002-8BEB-B23BF2BC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EE934-8D54-45BE-9C37-E393D7DB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32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13C6F-E668-4554-BB12-3EEA1C89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21E178-6007-4BD3-9E99-BB3027F3B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611F8F4-D77E-4EC1-97AF-E7402DD63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3BD469-3C50-471D-BF0B-CB9DAAC8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25FD5D-884D-4266-B74B-FEC95708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20E63A-A9BB-408C-8CFF-72D6DECA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88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5EF29-B9D6-472E-B9A6-5271E68B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7EC9EB-8942-463F-BDF0-8DA3CDFF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C5B1D1-61DC-4DF6-BEC6-B82F40162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F4D7CE-9D8B-4931-84D0-728759672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BEDFF0D-C456-4741-9B05-44C0BFEC9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E754A65-6526-460D-B689-4D31BA68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4A45434-60AC-461C-A42F-3FC6BCB2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C47B367-B914-440E-B248-9E937320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22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FD274C-AB84-4AA2-88AB-1E83700F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539EEB-5954-4F37-AF34-B07DAF65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F4CE6FD-E134-4E38-A86A-23D896FC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58E2E3-67DC-4F5F-95CC-E319C181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26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93AE29-544E-4A4C-8E7B-719570E7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371B14-20A3-4776-AF96-67FA251D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D02C73-AAEE-4FA4-B016-5330663A1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88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C9DE2-5042-4EF0-9B64-C02B0D59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9D112A-8809-42E3-B051-A8311F7CC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C79B63-0414-4D0A-9B37-2B417F6C0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7D3DDE-2DB5-4DB8-ACC4-F0071A70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F74229-0F23-4956-B7A9-D1D9AB1B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286500-089D-4587-BA38-7AF287F4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41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309C1-803E-486D-A06C-B52CA232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C41D49E-4396-4540-8404-7A42AF779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6D5FF0-0696-4A3D-8B21-75EBDD608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AB1B93-E672-44E9-BA5F-65FF6DB6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945FD7-AA99-4C95-A2FF-C6BB1572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91139C-D029-44C2-9E50-CA219D7D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63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DCBAB-B887-4A27-AB3A-F052EDF6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A1AF8F-1B1D-4867-8A8C-6560A7577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EFBCD3-23C5-4DFA-B78E-FE8C275C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AA67FB-FC9D-4EE4-B996-4A1F4EC4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6363C-D752-419D-9F00-AFDDF9EE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36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821D3CC-55F3-4697-802E-99EBCFDA5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90A6F9-297D-4456-BF35-4CF10721F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2F6BC1-CA7D-43A1-8252-00E3D27D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0D74CD-0BAD-4932-9EB8-EF61470C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7A8151-40E2-49E9-9B0D-553ADD3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77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56FBFEE-D4F9-4A0C-96CF-FF8234778818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FC8CE9-56DF-420D-8EEE-5417DF46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E55E24-4E18-4E29-8AFA-A9FA74C4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EB74F0-5C0C-4540-8D37-3AE97C986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D8551-A4BE-4B6A-A4FC-2E76B947BA6A}" type="datetimeFigureOut">
              <a:rPr lang="zh-TW" altLang="en-US" smtClean="0"/>
              <a:t>2025/10/31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708A54-7F7E-413D-B258-772ECF4BD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FD05AD-542F-4D8A-8CC6-3D802CCAD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60DCA81-2F90-4F7E-B082-0049E0D3089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6575171"/>
            <a:ext cx="685801" cy="1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ensors.html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.html#tensors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blitz/tensor_tutorial.html#bridge-to-np-labe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Derivative.html" TargetMode="External"/><Relationship Id="rId2" Type="http://schemas.openxmlformats.org/officeDocument/2006/relationships/hyperlink" Target="https://mathworld.wolfram.com/topics/DifferentialCalculus.html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8998D-1136-8CAA-50C1-E785B8FC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30307"/>
            <a:ext cx="10515600" cy="1470211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>
                <a:hlinkClick r:id="rId2"/>
              </a:rPr>
              <a:t>Tensor</a:t>
            </a:r>
            <a:endParaRPr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C80F82-B937-FF73-3FC2-D80C67201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976" y="3496237"/>
            <a:ext cx="10515600" cy="209773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Tensor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Derivatives and Differentiations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Automatic Differentiation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en-US" altLang="zh-TW" dirty="0" err="1">
                <a:solidFill>
                  <a:schemeClr val="tx1"/>
                </a:solidFill>
              </a:rPr>
              <a:t>autograd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8A44A1-A1C2-CA41-5C21-CE4F8D068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088777"/>
            <a:ext cx="106930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Tensors are multi-dimensional arrays with a uniform type (called a 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dtype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). 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6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86801" y="1251797"/>
            <a:ext cx="6708266" cy="48013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import torch</a:t>
            </a:r>
          </a:p>
          <a:p>
            <a:endParaRPr lang="en-US" altLang="zh-TW" dirty="0"/>
          </a:p>
          <a:p>
            <a:r>
              <a:rPr lang="en-US" altLang="zh-TW" dirty="0"/>
              <a:t># 1D tensor with 12 elements 0,1,...,11</a:t>
            </a:r>
          </a:p>
          <a:p>
            <a:r>
              <a:rPr lang="en-US" altLang="zh-TW" dirty="0"/>
              <a:t>x1 = </a:t>
            </a:r>
            <a:r>
              <a:rPr lang="en-US" altLang="zh-TW" dirty="0" err="1"/>
              <a:t>torch.arange</a:t>
            </a:r>
            <a:r>
              <a:rPr lang="en-US" altLang="zh-TW" dirty="0"/>
              <a:t>(12)</a:t>
            </a:r>
          </a:p>
          <a:p>
            <a:r>
              <a:rPr lang="en-US" altLang="zh-TW" dirty="0"/>
              <a:t>print('x1=', x1)</a:t>
            </a:r>
          </a:p>
          <a:p>
            <a:r>
              <a:rPr lang="en-US" altLang="zh-TW" dirty="0"/>
              <a:t># 1D tensor with 12 zeros</a:t>
            </a:r>
          </a:p>
          <a:p>
            <a:r>
              <a:rPr lang="en-US" altLang="zh-TW" dirty="0"/>
              <a:t>x2 = </a:t>
            </a:r>
            <a:r>
              <a:rPr lang="en-US" altLang="zh-TW" dirty="0" err="1"/>
              <a:t>torch.zeros</a:t>
            </a:r>
            <a:r>
              <a:rPr lang="en-US" altLang="zh-TW" dirty="0"/>
              <a:t>(12)</a:t>
            </a:r>
          </a:p>
          <a:p>
            <a:r>
              <a:rPr lang="en-US" altLang="zh-TW" dirty="0"/>
              <a:t>print('x2=', x2)</a:t>
            </a:r>
          </a:p>
          <a:p>
            <a:r>
              <a:rPr lang="en-US" altLang="zh-TW" dirty="0"/>
              <a:t># 2D tensor with 3x4 ones</a:t>
            </a:r>
          </a:p>
          <a:p>
            <a:r>
              <a:rPr lang="en-US" altLang="zh-TW" dirty="0"/>
              <a:t>x3 = </a:t>
            </a:r>
            <a:r>
              <a:rPr lang="en-US" altLang="zh-TW" dirty="0" err="1"/>
              <a:t>torch.ones</a:t>
            </a:r>
            <a:r>
              <a:rPr lang="en-US" altLang="zh-TW" dirty="0"/>
              <a:t>(3,4)</a:t>
            </a:r>
          </a:p>
          <a:p>
            <a:r>
              <a:rPr lang="en-US" altLang="zh-TW" dirty="0"/>
              <a:t>print('x3=', x3)</a:t>
            </a:r>
          </a:p>
          <a:p>
            <a:r>
              <a:rPr lang="en-US" altLang="zh-TW" dirty="0"/>
              <a:t># 2D tensor with 3x4 uniform distributed random numbers [0.0, 1.0)</a:t>
            </a:r>
          </a:p>
          <a:p>
            <a:r>
              <a:rPr lang="en-US" altLang="zh-TW" dirty="0"/>
              <a:t>x4 = </a:t>
            </a:r>
            <a:r>
              <a:rPr lang="en-US" altLang="zh-TW" dirty="0" err="1"/>
              <a:t>torch.rand</a:t>
            </a:r>
            <a:r>
              <a:rPr lang="en-US" altLang="zh-TW" dirty="0"/>
              <a:t>(3,4)</a:t>
            </a:r>
          </a:p>
          <a:p>
            <a:r>
              <a:rPr lang="en-US" altLang="zh-TW" dirty="0"/>
              <a:t>print('x4=', x4)</a:t>
            </a:r>
          </a:p>
          <a:p>
            <a:r>
              <a:rPr lang="en-US" altLang="zh-TW" dirty="0"/>
              <a:t># 3D tensor with 2x3x4 gaussian random numbers N(0.0, 1.0)</a:t>
            </a:r>
          </a:p>
          <a:p>
            <a:r>
              <a:rPr lang="en-US" altLang="zh-TW" dirty="0"/>
              <a:t>x5 = </a:t>
            </a:r>
            <a:r>
              <a:rPr lang="en-US" altLang="zh-TW" dirty="0" err="1"/>
              <a:t>torch.randn</a:t>
            </a:r>
            <a:r>
              <a:rPr lang="en-US" altLang="zh-TW" dirty="0"/>
              <a:t>(2,3,4)</a:t>
            </a:r>
          </a:p>
          <a:p>
            <a:r>
              <a:rPr lang="en-US" altLang="zh-TW" dirty="0"/>
              <a:t>print('x5=', x5)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7C22DAE-78FA-0F4C-5816-E617C5939F34}"/>
              </a:ext>
            </a:extLst>
          </p:cNvPr>
          <p:cNvSpPr txBox="1">
            <a:spLocks/>
          </p:cNvSpPr>
          <p:nvPr/>
        </p:nvSpPr>
        <p:spPr>
          <a:xfrm>
            <a:off x="233083" y="380847"/>
            <a:ext cx="10515600" cy="7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hlinkClick r:id="rId2"/>
              </a:rPr>
              <a:t>tensors</a:t>
            </a:r>
            <a:r>
              <a:rPr lang="zh-TW" altLang="en-US" dirty="0"/>
              <a:t>                                           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D797CB7-3DCD-71AF-D424-F8C3E01EE462}"/>
              </a:ext>
            </a:extLst>
          </p:cNvPr>
          <p:cNvSpPr txBox="1"/>
          <p:nvPr/>
        </p:nvSpPr>
        <p:spPr>
          <a:xfrm>
            <a:off x="2184256" y="636127"/>
            <a:ext cx="4711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一定要點連結進去看看有哪些成員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函數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zh-TW" altLang="en-US" dirty="0">
                <a:solidFill>
                  <a:srgbClr val="FF0000"/>
                </a:solidFill>
              </a:rPr>
              <a:t>可用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8461C1A-A3B4-4DFE-B5B9-4A5F967D3B88}"/>
              </a:ext>
            </a:extLst>
          </p:cNvPr>
          <p:cNvGrpSpPr/>
          <p:nvPr/>
        </p:nvGrpSpPr>
        <p:grpSpPr>
          <a:xfrm>
            <a:off x="7095067" y="1251797"/>
            <a:ext cx="4995333" cy="4629597"/>
            <a:chOff x="6671731" y="1251797"/>
            <a:chExt cx="5133467" cy="4629597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674AABC-3B74-3EE5-B713-3BBF32CD29FE}"/>
                </a:ext>
              </a:extLst>
            </p:cNvPr>
            <p:cNvSpPr txBox="1"/>
            <p:nvPr/>
          </p:nvSpPr>
          <p:spPr>
            <a:xfrm>
              <a:off x="6671731" y="1634077"/>
              <a:ext cx="5133467" cy="42473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x1= tensor([ 0,  1,  2,  3,  4,  5,  6,  7,  8,  9, 10, 11])</a:t>
              </a:r>
            </a:p>
            <a:p>
              <a:r>
                <a:rPr lang="en-US" altLang="zh-TW" dirty="0"/>
                <a:t>x2= tensor([0., 0., 0., 0., 0., 0., 0., 0., 0., 0., 0., 0.])</a:t>
              </a:r>
            </a:p>
            <a:p>
              <a:r>
                <a:rPr lang="en-US" altLang="zh-TW" dirty="0"/>
                <a:t>x3= tensor([[1., 1., 1., 1.],</a:t>
              </a:r>
            </a:p>
            <a:p>
              <a:r>
                <a:rPr lang="en-US" altLang="zh-TW" dirty="0"/>
                <a:t>        [1., 1., 1., 1.],</a:t>
              </a:r>
            </a:p>
            <a:p>
              <a:r>
                <a:rPr lang="en-US" altLang="zh-TW" dirty="0"/>
                <a:t>        [1., 1., 1., 1.]])</a:t>
              </a:r>
            </a:p>
            <a:p>
              <a:r>
                <a:rPr lang="en-US" altLang="zh-TW" dirty="0"/>
                <a:t>x4= tensor([[0.7170, 0.8960, 0.5999, 0.8091],</a:t>
              </a:r>
            </a:p>
            <a:p>
              <a:r>
                <a:rPr lang="en-US" altLang="zh-TW" dirty="0"/>
                <a:t>        [0.5978, 0.1123, 0.3905, 0.5787],</a:t>
              </a:r>
            </a:p>
            <a:p>
              <a:r>
                <a:rPr lang="en-US" altLang="zh-TW" dirty="0"/>
                <a:t>        [0.9234, 0.0018, 0.2648, 0.0589]])</a:t>
              </a:r>
            </a:p>
            <a:p>
              <a:r>
                <a:rPr lang="en-US" altLang="zh-TW" dirty="0"/>
                <a:t>x5= tensor([[[ 1.0755, -0.5718, -0.9290, -1.0510],</a:t>
              </a:r>
            </a:p>
            <a:p>
              <a:r>
                <a:rPr lang="en-US" altLang="zh-TW" dirty="0"/>
                <a:t>         [ 0.3687, -0.4776,  0.1938, -0.1711],</a:t>
              </a:r>
            </a:p>
            <a:p>
              <a:r>
                <a:rPr lang="en-US" altLang="zh-TW" dirty="0"/>
                <a:t>         [-0.6121,  0.2238,  0.8470, -0.0579]],</a:t>
              </a:r>
            </a:p>
            <a:p>
              <a:endParaRPr lang="en-US" altLang="zh-TW" dirty="0"/>
            </a:p>
            <a:p>
              <a:r>
                <a:rPr lang="en-US" altLang="zh-TW" dirty="0"/>
                <a:t>        [[ 0.5387,  1.6980,  0.4685, -0.3060],</a:t>
              </a:r>
            </a:p>
            <a:p>
              <a:r>
                <a:rPr lang="en-US" altLang="zh-TW" dirty="0"/>
                <a:t>         [-0.3098,  0.0134, -1.2686, -1.1647],</a:t>
              </a:r>
            </a:p>
            <a:p>
              <a:r>
                <a:rPr lang="en-US" altLang="zh-TW" dirty="0"/>
                <a:t>         [-0.5765,  0.1895,  1.3750,  1.0195]]])</a:t>
              </a:r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01DA83D-D939-4D81-B418-640271925B70}"/>
                </a:ext>
              </a:extLst>
            </p:cNvPr>
            <p:cNvSpPr txBox="1"/>
            <p:nvPr/>
          </p:nvSpPr>
          <p:spPr>
            <a:xfrm>
              <a:off x="6671731" y="1251797"/>
              <a:ext cx="5133467" cy="3693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Output </a:t>
              </a:r>
              <a:r>
                <a:rPr lang="zh-TW" altLang="en-US" dirty="0"/>
                <a:t>輸出</a:t>
              </a:r>
              <a:endParaRPr lang="en-US" altLang="zh-TW" dirty="0"/>
            </a:p>
          </p:txBody>
        </p:sp>
      </p:grpSp>
    </p:spTree>
    <p:extLst>
      <p:ext uri="{BB962C8B-B14F-4D97-AF65-F5344CB8AC3E}">
        <p14:creationId xmlns:p14="http://schemas.microsoft.com/office/powerpoint/2010/main" val="249703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43088"/>
            <a:ext cx="5760000" cy="59093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import torch</a:t>
            </a:r>
          </a:p>
          <a:p>
            <a:endParaRPr lang="en-US" altLang="zh-TW" dirty="0"/>
          </a:p>
          <a:p>
            <a:r>
              <a:rPr lang="en-US" altLang="zh-TW" dirty="0"/>
              <a:t>x = </a:t>
            </a:r>
            <a:r>
              <a:rPr lang="en-US" altLang="zh-TW" dirty="0" err="1"/>
              <a:t>torch.tensor</a:t>
            </a:r>
            <a:r>
              <a:rPr lang="en-US" altLang="zh-TW" dirty="0"/>
              <a:t>([1,2,3,4,5,6])</a:t>
            </a:r>
          </a:p>
          <a:p>
            <a:r>
              <a:rPr lang="en-US" altLang="zh-TW" dirty="0"/>
              <a:t>print('x=', x)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x.shape</a:t>
            </a:r>
            <a:r>
              <a:rPr lang="en-US" altLang="zh-TW" dirty="0"/>
              <a:t>=', </a:t>
            </a:r>
            <a:r>
              <a:rPr lang="en-US" altLang="zh-TW" dirty="0" err="1"/>
              <a:t>x.shape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x.size</a:t>
            </a:r>
            <a:r>
              <a:rPr lang="en-US" altLang="zh-TW" dirty="0"/>
              <a:t>()=', </a:t>
            </a:r>
            <a:r>
              <a:rPr lang="en-US" altLang="zh-TW" dirty="0" err="1"/>
              <a:t>x.size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x.numel</a:t>
            </a:r>
            <a:r>
              <a:rPr lang="en-US" altLang="zh-TW" dirty="0"/>
              <a:t>()=', </a:t>
            </a:r>
            <a:r>
              <a:rPr lang="en-US" altLang="zh-TW" dirty="0" err="1"/>
              <a:t>x.numel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x.type</a:t>
            </a:r>
            <a:r>
              <a:rPr lang="en-US" altLang="zh-TW" dirty="0"/>
              <a:t>()=', </a:t>
            </a:r>
            <a:r>
              <a:rPr lang="en-US" altLang="zh-TW" dirty="0" err="1"/>
              <a:t>x.type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print('type(x)=', type(x))</a:t>
            </a:r>
          </a:p>
          <a:p>
            <a:r>
              <a:rPr lang="en-US" altLang="zh-TW" dirty="0"/>
              <a:t>x2 = </a:t>
            </a:r>
            <a:r>
              <a:rPr lang="en-US" altLang="zh-TW" dirty="0" err="1"/>
              <a:t>x.reshape</a:t>
            </a:r>
            <a:r>
              <a:rPr lang="en-US" altLang="zh-TW" dirty="0"/>
              <a:t>(2, 3)</a:t>
            </a:r>
          </a:p>
          <a:p>
            <a:r>
              <a:rPr lang="en-US" altLang="zh-TW" dirty="0"/>
              <a:t>print('x2=', x2)</a:t>
            </a:r>
          </a:p>
          <a:p>
            <a:r>
              <a:rPr lang="en-US" altLang="zh-TW" dirty="0"/>
              <a:t>print('\n')</a:t>
            </a:r>
          </a:p>
          <a:p>
            <a:endParaRPr lang="en-US" altLang="zh-TW" dirty="0"/>
          </a:p>
          <a:p>
            <a:r>
              <a:rPr lang="en-US" altLang="zh-TW" dirty="0"/>
              <a:t>y = </a:t>
            </a:r>
            <a:r>
              <a:rPr lang="en-US" altLang="zh-TW" dirty="0" err="1"/>
              <a:t>torch.tensor</a:t>
            </a:r>
            <a:r>
              <a:rPr lang="en-US" altLang="zh-TW" dirty="0"/>
              <a:t>([</a:t>
            </a:r>
            <a:r>
              <a:rPr lang="zh-TW" altLang="en-US" dirty="0"/>
              <a:t> </a:t>
            </a:r>
            <a:r>
              <a:rPr lang="en-US" altLang="zh-TW" dirty="0"/>
              <a:t>[1.0, 2.0, 3.0],[4.0, 5.0, 6.0]</a:t>
            </a:r>
            <a:r>
              <a:rPr lang="zh-TW" altLang="en-US" dirty="0"/>
              <a:t> </a:t>
            </a:r>
            <a:r>
              <a:rPr lang="en-US" altLang="zh-TW" dirty="0"/>
              <a:t>])</a:t>
            </a:r>
          </a:p>
          <a:p>
            <a:r>
              <a:rPr lang="en-US" altLang="zh-TW" dirty="0"/>
              <a:t>print('y=', y)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y.shape</a:t>
            </a:r>
            <a:r>
              <a:rPr lang="en-US" altLang="zh-TW" dirty="0"/>
              <a:t>=', </a:t>
            </a:r>
            <a:r>
              <a:rPr lang="en-US" altLang="zh-TW" dirty="0" err="1"/>
              <a:t>y.shape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y.size</a:t>
            </a:r>
            <a:r>
              <a:rPr lang="en-US" altLang="zh-TW" dirty="0"/>
              <a:t>()=', </a:t>
            </a:r>
            <a:r>
              <a:rPr lang="en-US" altLang="zh-TW" dirty="0" err="1"/>
              <a:t>y.size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y.numel</a:t>
            </a:r>
            <a:r>
              <a:rPr lang="en-US" altLang="zh-TW" dirty="0"/>
              <a:t>()=', </a:t>
            </a:r>
            <a:r>
              <a:rPr lang="en-US" altLang="zh-TW" dirty="0" err="1"/>
              <a:t>y.numel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print('</a:t>
            </a:r>
            <a:r>
              <a:rPr lang="en-US" altLang="zh-TW" dirty="0" err="1"/>
              <a:t>y.type</a:t>
            </a:r>
            <a:r>
              <a:rPr lang="en-US" altLang="zh-TW" dirty="0"/>
              <a:t>()=', </a:t>
            </a:r>
            <a:r>
              <a:rPr lang="en-US" altLang="zh-TW" dirty="0" err="1"/>
              <a:t>y.type</a:t>
            </a:r>
            <a:r>
              <a:rPr lang="en-US" altLang="zh-TW" dirty="0"/>
              <a:t>())</a:t>
            </a:r>
          </a:p>
          <a:p>
            <a:r>
              <a:rPr lang="en-US" altLang="zh-TW" dirty="0"/>
              <a:t>print('type(x)=', type(y))</a:t>
            </a:r>
          </a:p>
          <a:p>
            <a:r>
              <a:rPr lang="en-US" altLang="zh-TW" dirty="0"/>
              <a:t>print('\n')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1B4B97E-FF12-4A68-D5E9-37C95E350B48}"/>
              </a:ext>
            </a:extLst>
          </p:cNvPr>
          <p:cNvSpPr txBox="1"/>
          <p:nvPr/>
        </p:nvSpPr>
        <p:spPr>
          <a:xfrm>
            <a:off x="376075" y="1439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property and member</a:t>
            </a:r>
            <a:endParaRPr lang="zh-TW" altLang="en-US" sz="3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79067" y="943088"/>
            <a:ext cx="5633533" cy="4801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x= tensor([1, 2, 3, 4, 5, 6])</a:t>
            </a:r>
          </a:p>
          <a:p>
            <a:r>
              <a:rPr lang="en-US" altLang="zh-TW" dirty="0" err="1"/>
              <a:t>x.shape</a:t>
            </a:r>
            <a:r>
              <a:rPr lang="en-US" altLang="zh-TW" dirty="0"/>
              <a:t>= </a:t>
            </a:r>
            <a:r>
              <a:rPr lang="en-US" altLang="zh-TW" dirty="0" err="1"/>
              <a:t>torch.Size</a:t>
            </a:r>
            <a:r>
              <a:rPr lang="en-US" altLang="zh-TW" dirty="0"/>
              <a:t>([6])</a:t>
            </a:r>
          </a:p>
          <a:p>
            <a:r>
              <a:rPr lang="en-US" altLang="zh-TW" dirty="0" err="1"/>
              <a:t>x.size</a:t>
            </a:r>
            <a:r>
              <a:rPr lang="en-US" altLang="zh-TW" dirty="0"/>
              <a:t>()= </a:t>
            </a:r>
            <a:r>
              <a:rPr lang="en-US" altLang="zh-TW" dirty="0" err="1"/>
              <a:t>torch.Size</a:t>
            </a:r>
            <a:r>
              <a:rPr lang="en-US" altLang="zh-TW" dirty="0"/>
              <a:t>([6])</a:t>
            </a:r>
          </a:p>
          <a:p>
            <a:r>
              <a:rPr lang="en-US" altLang="zh-TW" dirty="0" err="1"/>
              <a:t>x.numel</a:t>
            </a:r>
            <a:r>
              <a:rPr lang="en-US" altLang="zh-TW" dirty="0"/>
              <a:t>()= 6</a:t>
            </a:r>
          </a:p>
          <a:p>
            <a:r>
              <a:rPr lang="en-US" altLang="zh-TW" dirty="0" err="1"/>
              <a:t>x.type</a:t>
            </a:r>
            <a:r>
              <a:rPr lang="en-US" altLang="zh-TW" dirty="0"/>
              <a:t>()= </a:t>
            </a:r>
            <a:r>
              <a:rPr lang="en-US" altLang="zh-TW" dirty="0" err="1"/>
              <a:t>torch.LongTensor</a:t>
            </a:r>
            <a:endParaRPr lang="en-US" altLang="zh-TW" dirty="0"/>
          </a:p>
          <a:p>
            <a:r>
              <a:rPr lang="en-US" altLang="zh-TW" dirty="0"/>
              <a:t>type(x)= &lt;class '</a:t>
            </a:r>
            <a:r>
              <a:rPr lang="en-US" altLang="zh-TW" dirty="0" err="1"/>
              <a:t>torch.Tensor</a:t>
            </a:r>
            <a:r>
              <a:rPr lang="en-US" altLang="zh-TW" dirty="0"/>
              <a:t>'&gt;</a:t>
            </a:r>
          </a:p>
          <a:p>
            <a:r>
              <a:rPr lang="en-US" altLang="zh-TW" dirty="0"/>
              <a:t>x2= tensor([[1, 2, 3],</a:t>
            </a:r>
          </a:p>
          <a:p>
            <a:r>
              <a:rPr lang="en-US" altLang="zh-TW" dirty="0"/>
              <a:t>        [4, 5, 6]])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y= tensor([[1., 2., 3.],</a:t>
            </a:r>
          </a:p>
          <a:p>
            <a:r>
              <a:rPr lang="en-US" altLang="zh-TW" dirty="0"/>
              <a:t>        [4., 5., 6.]])</a:t>
            </a:r>
          </a:p>
          <a:p>
            <a:r>
              <a:rPr lang="en-US" altLang="zh-TW" dirty="0" err="1"/>
              <a:t>y.shape</a:t>
            </a:r>
            <a:r>
              <a:rPr lang="en-US" altLang="zh-TW" dirty="0"/>
              <a:t>= </a:t>
            </a:r>
            <a:r>
              <a:rPr lang="en-US" altLang="zh-TW" dirty="0" err="1"/>
              <a:t>torch.Size</a:t>
            </a:r>
            <a:r>
              <a:rPr lang="en-US" altLang="zh-TW" dirty="0"/>
              <a:t>([2, 3])</a:t>
            </a:r>
          </a:p>
          <a:p>
            <a:r>
              <a:rPr lang="en-US" altLang="zh-TW" dirty="0" err="1"/>
              <a:t>y.size</a:t>
            </a:r>
            <a:r>
              <a:rPr lang="en-US" altLang="zh-TW" dirty="0"/>
              <a:t>()= </a:t>
            </a:r>
            <a:r>
              <a:rPr lang="en-US" altLang="zh-TW" dirty="0" err="1"/>
              <a:t>torch.Size</a:t>
            </a:r>
            <a:r>
              <a:rPr lang="en-US" altLang="zh-TW" dirty="0"/>
              <a:t>([2, 3])</a:t>
            </a:r>
          </a:p>
          <a:p>
            <a:r>
              <a:rPr lang="en-US" altLang="zh-TW" dirty="0" err="1"/>
              <a:t>y.numel</a:t>
            </a:r>
            <a:r>
              <a:rPr lang="en-US" altLang="zh-TW" dirty="0"/>
              <a:t>()= 6</a:t>
            </a:r>
          </a:p>
          <a:p>
            <a:r>
              <a:rPr lang="en-US" altLang="zh-TW" dirty="0" err="1"/>
              <a:t>y.type</a:t>
            </a:r>
            <a:r>
              <a:rPr lang="en-US" altLang="zh-TW" dirty="0"/>
              <a:t>()= </a:t>
            </a:r>
            <a:r>
              <a:rPr lang="en-US" altLang="zh-TW" dirty="0" err="1"/>
              <a:t>torch.FloatTensor</a:t>
            </a:r>
            <a:endParaRPr lang="en-US" altLang="zh-TW" dirty="0"/>
          </a:p>
          <a:p>
            <a:r>
              <a:rPr lang="en-US" altLang="zh-TW" dirty="0"/>
              <a:t>type(x)= &lt;class '</a:t>
            </a:r>
            <a:r>
              <a:rPr lang="en-US" altLang="zh-TW" dirty="0" err="1"/>
              <a:t>torch.Tensor</a:t>
            </a:r>
            <a:r>
              <a:rPr lang="en-US" altLang="zh-TW" dirty="0"/>
              <a:t>'&gt;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994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4" y="925518"/>
            <a:ext cx="6278725" cy="53553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t0 = torch.tensor(1.23)  # dim = 0</a:t>
            </a:r>
          </a:p>
          <a:p>
            <a:r>
              <a:rPr lang="fr-FR" altLang="zh-TW" dirty="0"/>
              <a:t>print('t0=', t0, t0.shape)</a:t>
            </a:r>
          </a:p>
          <a:p>
            <a:endParaRPr lang="fr-FR" altLang="zh-TW" dirty="0"/>
          </a:p>
          <a:p>
            <a:r>
              <a:rPr lang="fr-FR" altLang="zh-TW" dirty="0"/>
              <a:t>t1 = torch.tensor([1.23]) # dim = 1</a:t>
            </a:r>
          </a:p>
          <a:p>
            <a:r>
              <a:rPr lang="fr-FR" altLang="zh-TW" dirty="0"/>
              <a:t>print('t1=', t1, t1.shape)</a:t>
            </a:r>
          </a:p>
          <a:p>
            <a:r>
              <a:rPr lang="fr-FR" altLang="zh-TW" dirty="0"/>
              <a:t>t12 = torch.tensor([1.23, 2.34]) # dim = 1</a:t>
            </a:r>
          </a:p>
          <a:p>
            <a:r>
              <a:rPr lang="fr-FR" altLang="zh-TW" dirty="0"/>
              <a:t>print('t12=', t12, t12.shape)</a:t>
            </a:r>
          </a:p>
          <a:p>
            <a:endParaRPr lang="fr-FR" altLang="zh-TW" dirty="0"/>
          </a:p>
          <a:p>
            <a:r>
              <a:rPr lang="fr-FR" altLang="zh-TW" dirty="0"/>
              <a:t>t2 = torch.tensor([[1.23]]) # dim = 2</a:t>
            </a:r>
          </a:p>
          <a:p>
            <a:r>
              <a:rPr lang="fr-FR" altLang="zh-TW" dirty="0"/>
              <a:t>print('t2=', t2, t2.shape)</a:t>
            </a:r>
          </a:p>
          <a:p>
            <a:r>
              <a:rPr lang="fr-FR" altLang="zh-TW" dirty="0"/>
              <a:t>t23 = torch.tensor([[1.23, 2.34, 3.45],[4.56, 5.67, 6.78]]) # dim = 2</a:t>
            </a:r>
          </a:p>
          <a:p>
            <a:r>
              <a:rPr lang="fr-FR" altLang="zh-TW" dirty="0"/>
              <a:t>print('t23=', t23, t23.shape)</a:t>
            </a:r>
          </a:p>
          <a:p>
            <a:endParaRPr lang="fr-FR" altLang="zh-TW" dirty="0"/>
          </a:p>
          <a:p>
            <a:r>
              <a:rPr lang="fr-FR" altLang="zh-TW" dirty="0"/>
              <a:t>t3 = torch.tensor([[[1.23]]]) # dim = 3</a:t>
            </a:r>
          </a:p>
          <a:p>
            <a:r>
              <a:rPr lang="fr-FR" altLang="zh-TW" dirty="0"/>
              <a:t>print('t3=', t3, t3.shape)</a:t>
            </a:r>
          </a:p>
          <a:p>
            <a:r>
              <a:rPr lang="fr-FR" altLang="zh-TW" dirty="0"/>
              <a:t>t34 = torch.arange(12).reshape(3,4) # dim = 3</a:t>
            </a:r>
          </a:p>
          <a:p>
            <a:r>
              <a:rPr lang="fr-FR" altLang="zh-TW" dirty="0"/>
              <a:t>print('t34=', t34, t34.shape)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1477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b="0" i="0" dirty="0">
                <a:effectLst/>
                <a:latin typeface="Roboto" panose="02000000000000000000" pitchFamily="2" charset="0"/>
              </a:rPr>
              <a:t>dimensions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756401" y="3438679"/>
            <a:ext cx="5273702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t0= tensor(1.2300) </a:t>
            </a:r>
            <a:r>
              <a:rPr lang="en-US" altLang="zh-TW" dirty="0" err="1"/>
              <a:t>torch.Size</a:t>
            </a:r>
            <a:r>
              <a:rPr lang="en-US" altLang="zh-TW" dirty="0"/>
              <a:t>([])</a:t>
            </a:r>
          </a:p>
          <a:p>
            <a:r>
              <a:rPr lang="en-US" altLang="zh-TW" dirty="0"/>
              <a:t>t1= tensor([1.2300]) </a:t>
            </a:r>
            <a:r>
              <a:rPr lang="en-US" altLang="zh-TW" dirty="0" err="1"/>
              <a:t>torch.Size</a:t>
            </a:r>
            <a:r>
              <a:rPr lang="en-US" altLang="zh-TW" dirty="0"/>
              <a:t>([1])</a:t>
            </a:r>
          </a:p>
          <a:p>
            <a:r>
              <a:rPr lang="en-US" altLang="zh-TW" dirty="0"/>
              <a:t>t12= tensor([1.2300, 2.3400]) </a:t>
            </a:r>
            <a:r>
              <a:rPr lang="en-US" altLang="zh-TW" dirty="0" err="1"/>
              <a:t>torch.Size</a:t>
            </a:r>
            <a:r>
              <a:rPr lang="en-US" altLang="zh-TW" dirty="0"/>
              <a:t>([2])</a:t>
            </a:r>
          </a:p>
          <a:p>
            <a:r>
              <a:rPr lang="en-US" altLang="zh-TW" dirty="0"/>
              <a:t>t2= tensor([[1.2300]]) </a:t>
            </a:r>
            <a:r>
              <a:rPr lang="en-US" altLang="zh-TW" dirty="0" err="1"/>
              <a:t>torch.Size</a:t>
            </a:r>
            <a:r>
              <a:rPr lang="en-US" altLang="zh-TW" dirty="0"/>
              <a:t>([1, 1])</a:t>
            </a:r>
          </a:p>
          <a:p>
            <a:r>
              <a:rPr lang="en-US" altLang="zh-TW" dirty="0"/>
              <a:t>t23= tensor([[1.2300, 2.3400, 3.4500],</a:t>
            </a:r>
          </a:p>
          <a:p>
            <a:r>
              <a:rPr lang="en-US" altLang="zh-TW" dirty="0"/>
              <a:t>        [4.5600, 5.6700, 6.7800]]) </a:t>
            </a:r>
            <a:r>
              <a:rPr lang="en-US" altLang="zh-TW" dirty="0" err="1"/>
              <a:t>torch.Size</a:t>
            </a:r>
            <a:r>
              <a:rPr lang="en-US" altLang="zh-TW" dirty="0"/>
              <a:t>([2, 3])</a:t>
            </a:r>
          </a:p>
          <a:p>
            <a:r>
              <a:rPr lang="en-US" altLang="zh-TW" dirty="0"/>
              <a:t>t3= tensor([[[1.2300]]]) </a:t>
            </a:r>
            <a:r>
              <a:rPr lang="en-US" altLang="zh-TW" dirty="0" err="1"/>
              <a:t>torch.Size</a:t>
            </a:r>
            <a:r>
              <a:rPr lang="en-US" altLang="zh-TW" dirty="0"/>
              <a:t>([1, 1, 1])</a:t>
            </a:r>
          </a:p>
          <a:p>
            <a:r>
              <a:rPr lang="en-US" altLang="zh-TW" dirty="0"/>
              <a:t>t34= tensor([[ 0,  1,  2,  3],</a:t>
            </a:r>
          </a:p>
          <a:p>
            <a:r>
              <a:rPr lang="en-US" altLang="zh-TW" dirty="0"/>
              <a:t>        [ 4,  5,  6,  7],</a:t>
            </a:r>
          </a:p>
          <a:p>
            <a:r>
              <a:rPr lang="en-US" altLang="zh-TW" dirty="0"/>
              <a:t>        [ 8,  9, 10, 11]]) </a:t>
            </a:r>
            <a:r>
              <a:rPr lang="en-US" altLang="zh-TW" dirty="0" err="1"/>
              <a:t>torch.Size</a:t>
            </a:r>
            <a:r>
              <a:rPr lang="en-US" altLang="zh-TW" dirty="0"/>
              <a:t>([3, 4])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98B8F16-E59D-9A0E-F7B0-909F1F241088}"/>
              </a:ext>
            </a:extLst>
          </p:cNvPr>
          <p:cNvSpPr txBox="1"/>
          <p:nvPr/>
        </p:nvSpPr>
        <p:spPr>
          <a:xfrm>
            <a:off x="6654799" y="794096"/>
            <a:ext cx="537530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A </a:t>
            </a:r>
            <a:r>
              <a:rPr lang="en-US" altLang="zh-TW" sz="2000" b="1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scalar</a:t>
            </a:r>
            <a:r>
              <a:rPr lang="en-US" altLang="zh-TW" sz="2000" b="0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 </a:t>
            </a:r>
            <a:r>
              <a:rPr lang="en-US" altLang="zh-TW" sz="2000" dirty="0">
                <a:solidFill>
                  <a:srgbClr val="292929"/>
                </a:solidFill>
                <a:ea typeface="Source Sans Pro" panose="020B0503030403020204" pitchFamily="34" charset="0"/>
              </a:rPr>
              <a:t>is a rank-0 tensor.</a:t>
            </a:r>
            <a:r>
              <a:rPr lang="en-US" altLang="zh-TW" sz="2000" b="0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 A scalar contains a single value, and no "axes".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rgbClr val="202124"/>
                </a:solidFill>
                <a:effectLst/>
                <a:ea typeface="Source Sans Pro" panose="020B0503030403020204" pitchFamily="34" charset="0"/>
              </a:rPr>
              <a:t>A </a:t>
            </a:r>
            <a:r>
              <a:rPr lang="en-US" altLang="zh-TW" sz="2000" b="1" i="0" dirty="0">
                <a:solidFill>
                  <a:srgbClr val="202124"/>
                </a:solidFill>
                <a:effectLst/>
                <a:ea typeface="Source Sans Pro" panose="020B0503030403020204" pitchFamily="34" charset="0"/>
              </a:rPr>
              <a:t>vector</a:t>
            </a:r>
            <a:r>
              <a:rPr lang="en-US" altLang="zh-TW" sz="2000" dirty="0">
                <a:solidFill>
                  <a:srgbClr val="202124"/>
                </a:solidFill>
                <a:ea typeface="Source Sans Pro" panose="020B0503030403020204" pitchFamily="34" charset="0"/>
              </a:rPr>
              <a:t> is a</a:t>
            </a:r>
            <a:r>
              <a:rPr lang="en-US" altLang="zh-TW" sz="2000" b="0" i="0" dirty="0">
                <a:solidFill>
                  <a:srgbClr val="202124"/>
                </a:solidFill>
                <a:effectLst/>
                <a:ea typeface="Source Sans Pro" panose="020B0503030403020204" pitchFamily="34" charset="0"/>
              </a:rPr>
              <a:t> rank-1 tensor. A vector has one axis.</a:t>
            </a:r>
            <a:endParaRPr lang="en-US" altLang="zh-TW" sz="2000" dirty="0">
              <a:solidFill>
                <a:srgbClr val="292929"/>
              </a:solidFill>
              <a:ea typeface="Source Sans Pro" panose="020B0503030403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rgbClr val="202124"/>
                </a:solidFill>
                <a:effectLst/>
                <a:ea typeface="Source Sans Pro" panose="020B0503030403020204" pitchFamily="34" charset="0"/>
              </a:rPr>
              <a:t>A </a:t>
            </a:r>
            <a:r>
              <a:rPr lang="en-US" altLang="zh-TW" sz="2000" b="1" i="0" dirty="0">
                <a:solidFill>
                  <a:srgbClr val="202124"/>
                </a:solidFill>
                <a:effectLst/>
                <a:ea typeface="Source Sans Pro" panose="020B0503030403020204" pitchFamily="34" charset="0"/>
              </a:rPr>
              <a:t>matrix</a:t>
            </a:r>
            <a:r>
              <a:rPr lang="en-US" altLang="zh-TW" sz="2000" dirty="0">
                <a:solidFill>
                  <a:srgbClr val="202124"/>
                </a:solidFill>
                <a:ea typeface="Source Sans Pro" panose="020B0503030403020204" pitchFamily="34" charset="0"/>
              </a:rPr>
              <a:t> is a</a:t>
            </a:r>
            <a:r>
              <a:rPr lang="en-US" altLang="zh-TW" sz="2000" b="0" i="0" dirty="0">
                <a:solidFill>
                  <a:srgbClr val="202124"/>
                </a:solidFill>
                <a:effectLst/>
                <a:ea typeface="Source Sans Pro" panose="020B0503030403020204" pitchFamily="34" charset="0"/>
              </a:rPr>
              <a:t> rank-2 tensor. A matrix has two axes.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92929"/>
                </a:solidFill>
                <a:ea typeface="Source Sans Pro" panose="020B0503030403020204" pitchFamily="34" charset="0"/>
              </a:rPr>
              <a:t>A</a:t>
            </a:r>
            <a:r>
              <a:rPr lang="en-US" altLang="zh-TW" sz="2000" b="0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 </a:t>
            </a:r>
            <a:r>
              <a:rPr lang="en-US" altLang="zh-TW" sz="2000" b="1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tensor </a:t>
            </a:r>
            <a:r>
              <a:rPr lang="en-US" altLang="zh-TW" sz="2000" dirty="0">
                <a:solidFill>
                  <a:srgbClr val="292929"/>
                </a:solidFill>
                <a:ea typeface="Source Sans Pro" panose="020B0503030403020204" pitchFamily="34" charset="0"/>
              </a:rPr>
              <a:t>may have </a:t>
            </a:r>
            <a:r>
              <a:rPr lang="en-US" altLang="zh-TW" sz="2000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three or more </a:t>
            </a:r>
            <a:r>
              <a:rPr lang="en-US" altLang="zh-TW" sz="2000" b="0" i="0" dirty="0">
                <a:solidFill>
                  <a:srgbClr val="292929"/>
                </a:solidFill>
                <a:effectLst/>
                <a:ea typeface="Source Sans Pro" panose="020B0503030403020204" pitchFamily="34" charset="0"/>
              </a:rPr>
              <a:t>dimensions. 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5427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1843676"/>
            <a:ext cx="5760000" cy="36933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t1 = torch.arange(6).reshape(2,1,1,3)</a:t>
            </a:r>
          </a:p>
          <a:p>
            <a:r>
              <a:rPr lang="fr-FR" altLang="zh-TW" dirty="0"/>
              <a:t>print('t1=', t1, t1.size())</a:t>
            </a:r>
          </a:p>
          <a:p>
            <a:endParaRPr lang="fr-FR" altLang="zh-TW" dirty="0"/>
          </a:p>
          <a:p>
            <a:r>
              <a:rPr lang="fr-FR" altLang="zh-TW" dirty="0"/>
              <a:t>t2 = torch.squeeze(t1)</a:t>
            </a:r>
          </a:p>
          <a:p>
            <a:r>
              <a:rPr lang="fr-FR" altLang="zh-TW" dirty="0"/>
              <a:t>print('t2=', t2, t2.size())</a:t>
            </a:r>
          </a:p>
          <a:p>
            <a:endParaRPr lang="fr-FR" altLang="zh-TW" dirty="0"/>
          </a:p>
          <a:p>
            <a:r>
              <a:rPr lang="fr-FR" altLang="zh-TW" dirty="0"/>
              <a:t>t3 = torch.unsqueeze(t2, 0)</a:t>
            </a:r>
          </a:p>
          <a:p>
            <a:r>
              <a:rPr lang="fr-FR" altLang="zh-TW" dirty="0"/>
              <a:t>print('t3=', t3, t3.size())</a:t>
            </a:r>
          </a:p>
          <a:p>
            <a:endParaRPr lang="fr-FR" altLang="zh-TW" dirty="0"/>
          </a:p>
          <a:p>
            <a:r>
              <a:rPr lang="fr-FR" altLang="zh-TW" dirty="0"/>
              <a:t>t4 = torch.unsqueeze(t2, 2)</a:t>
            </a:r>
          </a:p>
          <a:p>
            <a:r>
              <a:rPr lang="fr-FR" altLang="zh-TW" dirty="0"/>
              <a:t>print('t4=', t4, t4.size())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147765"/>
            <a:ext cx="8242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 err="1">
                <a:solidFill>
                  <a:srgbClr val="273239"/>
                </a:solidFill>
                <a:effectLst/>
                <a:latin typeface="Nunito" pitchFamily="2" charset="0"/>
              </a:rPr>
              <a:t>torch.squeeze</a:t>
            </a:r>
            <a:r>
              <a:rPr lang="en-US" altLang="zh-TW" sz="3600" dirty="0">
                <a:solidFill>
                  <a:srgbClr val="273239"/>
                </a:solidFill>
                <a:effectLst/>
                <a:latin typeface="Nunito" pitchFamily="2" charset="0"/>
              </a:rPr>
              <a:t>()      </a:t>
            </a:r>
            <a:r>
              <a:rPr lang="en-US" altLang="zh-TW" sz="3600" dirty="0" err="1">
                <a:solidFill>
                  <a:srgbClr val="273239"/>
                </a:solidFill>
                <a:effectLst/>
                <a:latin typeface="Nunito" pitchFamily="2" charset="0"/>
              </a:rPr>
              <a:t>torch.unsqueeze</a:t>
            </a:r>
            <a:r>
              <a:rPr lang="en-US" altLang="zh-TW" sz="3600" dirty="0">
                <a:solidFill>
                  <a:srgbClr val="273239"/>
                </a:solidFill>
                <a:effectLst/>
                <a:latin typeface="Nunito" pitchFamily="2" charset="0"/>
              </a:rPr>
              <a:t>()</a:t>
            </a:r>
            <a:endParaRPr lang="en-US" altLang="zh-TW" sz="3600" dirty="0">
              <a:effectLst/>
              <a:latin typeface="Roboto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0B3A44D-671D-45DC-BDA4-ED645AC4EE08}"/>
              </a:ext>
            </a:extLst>
          </p:cNvPr>
          <p:cNvSpPr txBox="1"/>
          <p:nvPr/>
        </p:nvSpPr>
        <p:spPr>
          <a:xfrm>
            <a:off x="335999" y="919880"/>
            <a:ext cx="11441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273239"/>
                </a:solidFill>
                <a:effectLst/>
                <a:latin typeface="Nunito" pitchFamily="2" charset="0"/>
              </a:rPr>
              <a:t>When we squeeze a tensor, the dimensions of size 1 are removed.</a:t>
            </a:r>
          </a:p>
          <a:p>
            <a:r>
              <a:rPr lang="en-US" altLang="zh-TW" b="0" i="0" dirty="0">
                <a:solidFill>
                  <a:srgbClr val="273239"/>
                </a:solidFill>
                <a:effectLst/>
                <a:latin typeface="Nunito" pitchFamily="2" charset="0"/>
              </a:rPr>
              <a:t>When we </a:t>
            </a:r>
            <a:r>
              <a:rPr lang="en-US" altLang="zh-TW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unsqueeze</a:t>
            </a:r>
            <a:r>
              <a:rPr lang="en-US" altLang="zh-TW" b="0" i="0" dirty="0">
                <a:solidFill>
                  <a:srgbClr val="273239"/>
                </a:solidFill>
                <a:effectLst/>
                <a:latin typeface="Nunito" pitchFamily="2" charset="0"/>
              </a:rPr>
              <a:t> a tensor, a new dimension of size 1 is inserted at the specified position. 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770A7F5-FDFB-491D-A25B-C85F76E23C4F}"/>
              </a:ext>
            </a:extLst>
          </p:cNvPr>
          <p:cNvSpPr txBox="1"/>
          <p:nvPr/>
        </p:nvSpPr>
        <p:spPr>
          <a:xfrm>
            <a:off x="6542223" y="1843676"/>
            <a:ext cx="5273702" cy="4247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t1= tensor([[[[0, 1, 2]]],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        [[[3, 4, 5]]]]) </a:t>
            </a:r>
            <a:r>
              <a:rPr lang="en-US" altLang="zh-TW" dirty="0" err="1"/>
              <a:t>torch.Size</a:t>
            </a:r>
            <a:r>
              <a:rPr lang="en-US" altLang="zh-TW" dirty="0"/>
              <a:t>([2, 1, 1, 3])</a:t>
            </a:r>
          </a:p>
          <a:p>
            <a:r>
              <a:rPr lang="en-US" altLang="zh-TW" dirty="0"/>
              <a:t>t2= tensor([[0, 1, 2],</a:t>
            </a:r>
          </a:p>
          <a:p>
            <a:r>
              <a:rPr lang="en-US" altLang="zh-TW" dirty="0"/>
              <a:t>        [3, 4, 5]]) </a:t>
            </a:r>
            <a:r>
              <a:rPr lang="en-US" altLang="zh-TW" dirty="0" err="1"/>
              <a:t>torch.Size</a:t>
            </a:r>
            <a:r>
              <a:rPr lang="en-US" altLang="zh-TW" dirty="0"/>
              <a:t>([2, 3])</a:t>
            </a:r>
          </a:p>
          <a:p>
            <a:r>
              <a:rPr lang="en-US" altLang="zh-TW" dirty="0"/>
              <a:t>t3= tensor([[[0, 1, 2],</a:t>
            </a:r>
          </a:p>
          <a:p>
            <a:r>
              <a:rPr lang="en-US" altLang="zh-TW" dirty="0"/>
              <a:t>         [3, 4, 5]]]) </a:t>
            </a:r>
            <a:r>
              <a:rPr lang="en-US" altLang="zh-TW" dirty="0" err="1"/>
              <a:t>torch.Size</a:t>
            </a:r>
            <a:r>
              <a:rPr lang="en-US" altLang="zh-TW" dirty="0"/>
              <a:t>([1, 2, 3])</a:t>
            </a:r>
          </a:p>
          <a:p>
            <a:r>
              <a:rPr lang="en-US" altLang="zh-TW" dirty="0"/>
              <a:t>t4= tensor([[[0],</a:t>
            </a:r>
          </a:p>
          <a:p>
            <a:r>
              <a:rPr lang="en-US" altLang="zh-TW" dirty="0"/>
              <a:t>         [1],</a:t>
            </a:r>
          </a:p>
          <a:p>
            <a:r>
              <a:rPr lang="en-US" altLang="zh-TW" dirty="0"/>
              <a:t>         [2]],</a:t>
            </a:r>
          </a:p>
          <a:p>
            <a:endParaRPr lang="en-US" altLang="zh-TW" dirty="0"/>
          </a:p>
          <a:p>
            <a:r>
              <a:rPr lang="en-US" altLang="zh-TW" dirty="0"/>
              <a:t>        [[3],</a:t>
            </a:r>
          </a:p>
          <a:p>
            <a:r>
              <a:rPr lang="en-US" altLang="zh-TW" dirty="0"/>
              <a:t>         [4],</a:t>
            </a:r>
          </a:p>
          <a:p>
            <a:r>
              <a:rPr lang="en-US" altLang="zh-TW" dirty="0"/>
              <a:t>         [5]]]) </a:t>
            </a:r>
            <a:r>
              <a:rPr lang="en-US" altLang="zh-TW" dirty="0" err="1"/>
              <a:t>torch.Size</a:t>
            </a:r>
            <a:r>
              <a:rPr lang="en-US" altLang="zh-TW" dirty="0"/>
              <a:t>([2, 3, 1])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220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8805"/>
            <a:ext cx="5760000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x = torch.arange(20).reshape(4,5)</a:t>
            </a:r>
          </a:p>
          <a:p>
            <a:r>
              <a:rPr lang="fr-FR" altLang="zh-TW" dirty="0"/>
              <a:t>print('x=', x)</a:t>
            </a:r>
          </a:p>
          <a:p>
            <a:r>
              <a:rPr lang="fr-FR" altLang="zh-TW" dirty="0"/>
              <a:t>print('x[1]=', x[1])</a:t>
            </a:r>
          </a:p>
          <a:p>
            <a:r>
              <a:rPr lang="fr-FR" altLang="zh-TW" dirty="0"/>
              <a:t>print('x[-1]=', x[-1])</a:t>
            </a:r>
          </a:p>
          <a:p>
            <a:r>
              <a:rPr lang="fr-FR" altLang="zh-TW" dirty="0"/>
              <a:t>print('x[:, 1:3]=', x[:, 1:3])</a:t>
            </a:r>
          </a:p>
          <a:p>
            <a:r>
              <a:rPr lang="fr-FR" altLang="zh-TW" dirty="0"/>
              <a:t>print('x[:2, 3:]=', x[:2, 3:])</a:t>
            </a:r>
          </a:p>
          <a:p>
            <a:endParaRPr lang="fr-FR" altLang="zh-TW" dirty="0"/>
          </a:p>
          <a:p>
            <a:r>
              <a:rPr lang="fr-FR" altLang="zh-TW" dirty="0"/>
              <a:t>x[1, 1] = 100</a:t>
            </a:r>
          </a:p>
          <a:p>
            <a:r>
              <a:rPr lang="fr-FR" altLang="zh-TW" dirty="0"/>
              <a:t>x[:, 2:4] = 200</a:t>
            </a:r>
          </a:p>
          <a:p>
            <a:r>
              <a:rPr lang="fr-FR" altLang="zh-TW" dirty="0"/>
              <a:t>print('x=', x)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79067" y="1004007"/>
            <a:ext cx="576000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x= tensor([[ 0,  1,  2,  3,  4],</a:t>
            </a:r>
          </a:p>
          <a:p>
            <a:r>
              <a:rPr lang="en-US" altLang="zh-TW" dirty="0"/>
              <a:t>        [ 5,  6,  7,  8,  9],</a:t>
            </a:r>
          </a:p>
          <a:p>
            <a:r>
              <a:rPr lang="en-US" altLang="zh-TW" dirty="0"/>
              <a:t>        [10, 11, 12, 13, 14],</a:t>
            </a:r>
          </a:p>
          <a:p>
            <a:r>
              <a:rPr lang="en-US" altLang="zh-TW" dirty="0"/>
              <a:t>        [15, 16, 17, 18, 19]])</a:t>
            </a:r>
          </a:p>
          <a:p>
            <a:r>
              <a:rPr lang="en-US" altLang="zh-TW" dirty="0"/>
              <a:t>x[1]= tensor([5, 6, 7, 8, 9])</a:t>
            </a:r>
          </a:p>
          <a:p>
            <a:r>
              <a:rPr lang="en-US" altLang="zh-TW" dirty="0"/>
              <a:t>x[-1]= tensor([15, 16, 17, 18, 19])</a:t>
            </a:r>
          </a:p>
          <a:p>
            <a:r>
              <a:rPr lang="en-US" altLang="zh-TW" dirty="0"/>
              <a:t>x[:, 1:3]= tensor([[ 1,  2],</a:t>
            </a:r>
          </a:p>
          <a:p>
            <a:r>
              <a:rPr lang="en-US" altLang="zh-TW" dirty="0"/>
              <a:t>        [ 6,  7],</a:t>
            </a:r>
          </a:p>
          <a:p>
            <a:r>
              <a:rPr lang="en-US" altLang="zh-TW" dirty="0"/>
              <a:t>        [11, 12],</a:t>
            </a:r>
          </a:p>
          <a:p>
            <a:r>
              <a:rPr lang="en-US" altLang="zh-TW" dirty="0"/>
              <a:t>        [16, 17]])</a:t>
            </a:r>
          </a:p>
          <a:p>
            <a:r>
              <a:rPr lang="en-US" altLang="zh-TW" dirty="0"/>
              <a:t>x[:2, 3:]= tensor([[3, 4],</a:t>
            </a:r>
          </a:p>
          <a:p>
            <a:r>
              <a:rPr lang="en-US" altLang="zh-TW" dirty="0"/>
              <a:t>        [8, 9]])</a:t>
            </a:r>
          </a:p>
          <a:p>
            <a:r>
              <a:rPr lang="en-US" altLang="zh-TW" dirty="0"/>
              <a:t>x= tensor([[  0,   1, 200, 200,   4],</a:t>
            </a:r>
          </a:p>
          <a:p>
            <a:r>
              <a:rPr lang="en-US" altLang="zh-TW" dirty="0"/>
              <a:t>        [  5, 100, 200, 200,   9],</a:t>
            </a:r>
          </a:p>
          <a:p>
            <a:r>
              <a:rPr lang="en-US" altLang="zh-TW" dirty="0"/>
              <a:t>        [ 10,  11, 200, 200,  14],</a:t>
            </a:r>
          </a:p>
          <a:p>
            <a:r>
              <a:rPr lang="en-US" altLang="zh-TW" dirty="0"/>
              <a:t>        [ 15,  16, 200, 200,  19]])</a:t>
            </a:r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7C22DAE-78FA-0F4C-5816-E617C5939F34}"/>
              </a:ext>
            </a:extLst>
          </p:cNvPr>
          <p:cNvSpPr txBox="1">
            <a:spLocks/>
          </p:cNvSpPr>
          <p:nvPr/>
        </p:nvSpPr>
        <p:spPr>
          <a:xfrm>
            <a:off x="233083" y="380847"/>
            <a:ext cx="10515600" cy="7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                                           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380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indexing and slicing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1218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8805"/>
            <a:ext cx="5760000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/>
              <a:t>import torch</a:t>
            </a:r>
          </a:p>
          <a:p>
            <a:endParaRPr lang="fr-FR" altLang="zh-TW"/>
          </a:p>
          <a:p>
            <a:r>
              <a:rPr lang="fr-FR" altLang="zh-TW"/>
              <a:t>x = torch.arange(6).reshape(2,3)</a:t>
            </a:r>
          </a:p>
          <a:p>
            <a:r>
              <a:rPr lang="fr-FR" altLang="zh-TW"/>
              <a:t>print('x=', x)</a:t>
            </a:r>
          </a:p>
          <a:p>
            <a:r>
              <a:rPr lang="fr-FR" altLang="zh-TW"/>
              <a:t>y = torch.arange(2,8).reshape(2,3)</a:t>
            </a:r>
          </a:p>
          <a:p>
            <a:r>
              <a:rPr lang="fr-FR" altLang="zh-TW"/>
              <a:t>print('y=', y)</a:t>
            </a:r>
          </a:p>
          <a:p>
            <a:endParaRPr lang="fr-FR" altLang="zh-TW"/>
          </a:p>
          <a:p>
            <a:r>
              <a:rPr lang="fr-FR" altLang="zh-TW"/>
              <a:t>print('x+y=', x+y)</a:t>
            </a:r>
          </a:p>
          <a:p>
            <a:r>
              <a:rPr lang="fr-FR" altLang="zh-TW"/>
              <a:t>print('x-y=', x-y)</a:t>
            </a:r>
          </a:p>
          <a:p>
            <a:r>
              <a:rPr lang="fr-FR" altLang="zh-TW"/>
              <a:t>print('x*y=', x*y)</a:t>
            </a:r>
          </a:p>
          <a:p>
            <a:r>
              <a:rPr lang="fr-FR" altLang="zh-TW"/>
              <a:t>print('x/y=', x/y)</a:t>
            </a:r>
          </a:p>
          <a:p>
            <a:r>
              <a:rPr lang="fr-FR" altLang="zh-TW"/>
              <a:t>print('x**y=', x**y)</a:t>
            </a:r>
          </a:p>
          <a:p>
            <a:endParaRPr lang="fr-FR" altLang="zh-TW"/>
          </a:p>
          <a:p>
            <a:r>
              <a:rPr lang="fr-FR" altLang="zh-TW"/>
              <a:t>ex = torch.exp(x)</a:t>
            </a:r>
          </a:p>
          <a:p>
            <a:r>
              <a:rPr lang="fr-FR" altLang="zh-TW"/>
              <a:t>print('ex=', ex)</a:t>
            </a:r>
            <a:endParaRPr lang="fr-FR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79067" y="998804"/>
            <a:ext cx="576000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altLang="zh-TW"/>
              <a:t>x= tensor([[0, 1, 2],</a:t>
            </a:r>
          </a:p>
          <a:p>
            <a:r>
              <a:rPr lang="es-ES" altLang="zh-TW"/>
              <a:t>        [3, 4, 5]])</a:t>
            </a:r>
          </a:p>
          <a:p>
            <a:r>
              <a:rPr lang="es-ES" altLang="zh-TW"/>
              <a:t>y= tensor([[2, 3, 4],</a:t>
            </a:r>
          </a:p>
          <a:p>
            <a:r>
              <a:rPr lang="es-ES" altLang="zh-TW"/>
              <a:t>        [5, 6, 7]])</a:t>
            </a:r>
          </a:p>
          <a:p>
            <a:r>
              <a:rPr lang="es-ES" altLang="zh-TW"/>
              <a:t>x+y= tensor([[ 2,  4,  6],</a:t>
            </a:r>
          </a:p>
          <a:p>
            <a:r>
              <a:rPr lang="es-ES" altLang="zh-TW"/>
              <a:t>        [ 8, 10, 12]])</a:t>
            </a:r>
          </a:p>
          <a:p>
            <a:r>
              <a:rPr lang="es-ES" altLang="zh-TW"/>
              <a:t>x-y= tensor([[-2, -2, -2],</a:t>
            </a:r>
          </a:p>
          <a:p>
            <a:r>
              <a:rPr lang="es-ES" altLang="zh-TW"/>
              <a:t>        [-2, -2, -2]])</a:t>
            </a:r>
          </a:p>
          <a:p>
            <a:r>
              <a:rPr lang="es-ES" altLang="zh-TW"/>
              <a:t>x*y= tensor([[ 0,  3,  8],</a:t>
            </a:r>
          </a:p>
          <a:p>
            <a:r>
              <a:rPr lang="es-ES" altLang="zh-TW"/>
              <a:t>        [15, 24, 35]])</a:t>
            </a:r>
          </a:p>
          <a:p>
            <a:r>
              <a:rPr lang="es-ES" altLang="zh-TW"/>
              <a:t>x/y= tensor([[0.0000, 0.3333, 0.5000],</a:t>
            </a:r>
          </a:p>
          <a:p>
            <a:r>
              <a:rPr lang="es-ES" altLang="zh-TW"/>
              <a:t>        [0.6000, 0.6667, 0.7143]])</a:t>
            </a:r>
          </a:p>
          <a:p>
            <a:r>
              <a:rPr lang="es-ES" altLang="zh-TW"/>
              <a:t>x**y= tensor([[    0,     1,    16],</a:t>
            </a:r>
          </a:p>
          <a:p>
            <a:r>
              <a:rPr lang="es-ES" altLang="zh-TW"/>
              <a:t>        [  243,  4096, 78125]])</a:t>
            </a:r>
          </a:p>
          <a:p>
            <a:r>
              <a:rPr lang="es-ES" altLang="zh-TW"/>
              <a:t>ex= tensor([[  1.0000,   2.7183,   7.3891],</a:t>
            </a:r>
          </a:p>
          <a:p>
            <a:r>
              <a:rPr lang="es-ES" altLang="zh-TW"/>
              <a:t>        [ 20.0855,  54.5981, 148.4132]])</a:t>
            </a:r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7C22DAE-78FA-0F4C-5816-E617C5939F34}"/>
              </a:ext>
            </a:extLst>
          </p:cNvPr>
          <p:cNvSpPr txBox="1">
            <a:spLocks/>
          </p:cNvSpPr>
          <p:nvPr/>
        </p:nvSpPr>
        <p:spPr>
          <a:xfrm>
            <a:off x="233083" y="380847"/>
            <a:ext cx="10515600" cy="7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                                           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380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b="0" i="0" dirty="0">
                <a:effectLst/>
                <a:latin typeface="Roboto" panose="02000000000000000000" pitchFamily="2" charset="0"/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243712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8805"/>
            <a:ext cx="6096000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/>
              <a:t>import torch</a:t>
            </a:r>
          </a:p>
          <a:p>
            <a:endParaRPr lang="fr-FR" altLang="zh-TW"/>
          </a:p>
          <a:p>
            <a:r>
              <a:rPr lang="fr-FR" altLang="zh-TW"/>
              <a:t>x = torch.arange(12, dtype=torch.float32).reshape(3,4)</a:t>
            </a:r>
          </a:p>
          <a:p>
            <a:r>
              <a:rPr lang="fr-FR" altLang="zh-TW"/>
              <a:t>y = torch.arange(10,130,10, dtype=torch.float32).reshape(3,4)</a:t>
            </a:r>
          </a:p>
          <a:p>
            <a:r>
              <a:rPr lang="fr-FR" altLang="zh-TW"/>
              <a:t>print('x=', x, '\ny=', y)</a:t>
            </a:r>
          </a:p>
          <a:p>
            <a:endParaRPr lang="fr-FR" altLang="zh-TW"/>
          </a:p>
          <a:p>
            <a:r>
              <a:rPr lang="fr-FR" altLang="zh-TW"/>
              <a:t>z1 = torch.cat([x,y], dim=0)</a:t>
            </a:r>
          </a:p>
          <a:p>
            <a:r>
              <a:rPr lang="fr-FR" altLang="zh-TW"/>
              <a:t>print('z1=', z1)</a:t>
            </a:r>
          </a:p>
          <a:p>
            <a:r>
              <a:rPr lang="fr-FR" altLang="zh-TW"/>
              <a:t>z2 = torch.cat([x,y], dim = 1)</a:t>
            </a:r>
          </a:p>
          <a:p>
            <a:r>
              <a:rPr lang="fr-FR" altLang="zh-TW"/>
              <a:t>print('z2=', z2)</a:t>
            </a:r>
          </a:p>
          <a:p>
            <a:endParaRPr lang="fr-FR" altLang="zh-TW"/>
          </a:p>
          <a:p>
            <a:r>
              <a:rPr lang="fr-FR" altLang="zh-TW"/>
              <a:t>x2 = x.sum()</a:t>
            </a:r>
          </a:p>
          <a:p>
            <a:r>
              <a:rPr lang="fr-FR" altLang="zh-TW"/>
              <a:t>print('x2=', x2, 'x2.item()=', x2.item())</a:t>
            </a:r>
          </a:p>
          <a:p>
            <a:endParaRPr lang="fr-FR" altLang="zh-TW"/>
          </a:p>
          <a:p>
            <a:r>
              <a:rPr lang="fr-FR" altLang="zh-TW"/>
              <a:t>x3 = x.mean()</a:t>
            </a:r>
          </a:p>
          <a:p>
            <a:r>
              <a:rPr lang="fr-FR" altLang="zh-TW"/>
              <a:t>print('x3=', x3)</a:t>
            </a:r>
            <a:endParaRPr lang="fr-FR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553199" y="998804"/>
            <a:ext cx="5485867" cy="4801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/>
              <a:t>x= tensor([[ 0.,  1.,  2.,  3.],</a:t>
            </a:r>
          </a:p>
          <a:p>
            <a:r>
              <a:rPr lang="en-US" altLang="zh-TW"/>
              <a:t>        [ 4.,  5.,  6.,  7.],</a:t>
            </a:r>
          </a:p>
          <a:p>
            <a:r>
              <a:rPr lang="en-US" altLang="zh-TW"/>
              <a:t>        [ 8.,  9., 10., 11.]]) </a:t>
            </a:r>
          </a:p>
          <a:p>
            <a:r>
              <a:rPr lang="en-US" altLang="zh-TW"/>
              <a:t>y= tensor([[ 10.,  20.,  30.,  40.],</a:t>
            </a:r>
          </a:p>
          <a:p>
            <a:r>
              <a:rPr lang="en-US" altLang="zh-TW"/>
              <a:t>        [ 50.,  60.,  70.,  80.],</a:t>
            </a:r>
          </a:p>
          <a:p>
            <a:r>
              <a:rPr lang="en-US" altLang="zh-TW"/>
              <a:t>        [ 90., 100., 110., 120.]])</a:t>
            </a:r>
          </a:p>
          <a:p>
            <a:r>
              <a:rPr lang="en-US" altLang="zh-TW"/>
              <a:t>z1= tensor([[  0.,   1.,   2.,   3.],</a:t>
            </a:r>
          </a:p>
          <a:p>
            <a:r>
              <a:rPr lang="en-US" altLang="zh-TW"/>
              <a:t>        [  4.,   5.,   6.,   7.],</a:t>
            </a:r>
          </a:p>
          <a:p>
            <a:r>
              <a:rPr lang="en-US" altLang="zh-TW"/>
              <a:t>        [  8.,   9.,  10.,  11.],</a:t>
            </a:r>
          </a:p>
          <a:p>
            <a:r>
              <a:rPr lang="en-US" altLang="zh-TW"/>
              <a:t>        [ 10.,  20.,  30.,  40.],</a:t>
            </a:r>
          </a:p>
          <a:p>
            <a:r>
              <a:rPr lang="en-US" altLang="zh-TW"/>
              <a:t>        [ 50.,  60.,  70.,  80.],</a:t>
            </a:r>
          </a:p>
          <a:p>
            <a:r>
              <a:rPr lang="en-US" altLang="zh-TW"/>
              <a:t>        [ 90., 100., 110., 120.]])</a:t>
            </a:r>
          </a:p>
          <a:p>
            <a:r>
              <a:rPr lang="en-US" altLang="zh-TW"/>
              <a:t>z2= tensor([[  0.,   1.,   2.,   3.,  10.,  20.,  30.,  40.],</a:t>
            </a:r>
          </a:p>
          <a:p>
            <a:r>
              <a:rPr lang="en-US" altLang="zh-TW"/>
              <a:t>        [  4.,   5.,   6.,   7.,  50.,  60.,  70.,  80.],</a:t>
            </a:r>
          </a:p>
          <a:p>
            <a:r>
              <a:rPr lang="en-US" altLang="zh-TW"/>
              <a:t>        [  8.,   9.,  10.,  11.,  90., 100., 110., 120.]])</a:t>
            </a:r>
          </a:p>
          <a:p>
            <a:r>
              <a:rPr lang="en-US" altLang="zh-TW"/>
              <a:t>x2= tensor(66.) x2.item()= 66.0</a:t>
            </a:r>
          </a:p>
          <a:p>
            <a:r>
              <a:rPr lang="en-US" altLang="zh-TW"/>
              <a:t>x3= tensor(5.5000)</a:t>
            </a:r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7C22DAE-78FA-0F4C-5816-E617C5939F34}"/>
              </a:ext>
            </a:extLst>
          </p:cNvPr>
          <p:cNvSpPr txBox="1">
            <a:spLocks/>
          </p:cNvSpPr>
          <p:nvPr/>
        </p:nvSpPr>
        <p:spPr>
          <a:xfrm>
            <a:off x="233083" y="380847"/>
            <a:ext cx="10515600" cy="7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                                           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380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b="0" i="0" dirty="0">
                <a:effectLst/>
                <a:latin typeface="Roboto" panose="02000000000000000000" pitchFamily="2" charset="0"/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238716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8804"/>
            <a:ext cx="5760000" cy="53553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/>
              <a:t>import torch</a:t>
            </a:r>
          </a:p>
          <a:p>
            <a:endParaRPr lang="fr-FR" altLang="zh-TW"/>
          </a:p>
          <a:p>
            <a:r>
              <a:rPr lang="fr-FR" altLang="zh-TW"/>
              <a:t>t = torch.arange(6).reshape(2,3)</a:t>
            </a:r>
          </a:p>
          <a:p>
            <a:r>
              <a:rPr lang="fr-FR" altLang="zh-TW"/>
              <a:t>print('t=', t)</a:t>
            </a:r>
          </a:p>
          <a:p>
            <a:endParaRPr lang="fr-FR" altLang="zh-TW"/>
          </a:p>
          <a:p>
            <a:r>
              <a:rPr lang="fr-FR" altLang="zh-TW"/>
              <a:t>t2 = t.clone()</a:t>
            </a:r>
          </a:p>
          <a:p>
            <a:r>
              <a:rPr lang="fr-FR" altLang="zh-TW"/>
              <a:t>print('t2=', t2)</a:t>
            </a:r>
          </a:p>
          <a:p>
            <a:endParaRPr lang="fr-FR" altLang="zh-TW"/>
          </a:p>
          <a:p>
            <a:r>
              <a:rPr lang="fr-FR" altLang="zh-TW"/>
              <a:t>t3 = t.T</a:t>
            </a:r>
          </a:p>
          <a:p>
            <a:r>
              <a:rPr lang="fr-FR" altLang="zh-TW"/>
              <a:t>print('t3=', t3)</a:t>
            </a:r>
          </a:p>
          <a:p>
            <a:endParaRPr lang="fr-FR" altLang="zh-TW"/>
          </a:p>
          <a:p>
            <a:r>
              <a:rPr lang="fr-FR" altLang="zh-TW"/>
              <a:t>t4 = t.sum()</a:t>
            </a:r>
          </a:p>
          <a:p>
            <a:r>
              <a:rPr lang="fr-FR" altLang="zh-TW"/>
              <a:t>print('t4=', t4)</a:t>
            </a:r>
          </a:p>
          <a:p>
            <a:endParaRPr lang="fr-FR" altLang="zh-TW"/>
          </a:p>
          <a:p>
            <a:r>
              <a:rPr lang="fr-FR" altLang="zh-TW"/>
              <a:t>t5 = t.sum(axis=0)</a:t>
            </a:r>
          </a:p>
          <a:p>
            <a:r>
              <a:rPr lang="fr-FR" altLang="zh-TW"/>
              <a:t>print('t5=', t5)</a:t>
            </a:r>
          </a:p>
          <a:p>
            <a:endParaRPr lang="fr-FR" altLang="zh-TW"/>
          </a:p>
          <a:p>
            <a:r>
              <a:rPr lang="fr-FR" altLang="zh-TW"/>
              <a:t>t6 = t.sum(axis=1)</a:t>
            </a:r>
          </a:p>
          <a:p>
            <a:r>
              <a:rPr lang="fr-FR" altLang="zh-TW"/>
              <a:t>print('t6=', t6)</a:t>
            </a:r>
            <a:endParaRPr lang="fr-FR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355268" y="998804"/>
            <a:ext cx="5760000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/>
              <a:t>t= tensor([[0, 1, 2],</a:t>
            </a:r>
          </a:p>
          <a:p>
            <a:r>
              <a:rPr lang="en-US" altLang="zh-TW"/>
              <a:t>        [3, 4, 5]])</a:t>
            </a:r>
          </a:p>
          <a:p>
            <a:r>
              <a:rPr lang="en-US" altLang="zh-TW"/>
              <a:t>t2= tensor([[0, 1, 2],</a:t>
            </a:r>
          </a:p>
          <a:p>
            <a:r>
              <a:rPr lang="en-US" altLang="zh-TW"/>
              <a:t>        [3, 4, 5]])</a:t>
            </a:r>
          </a:p>
          <a:p>
            <a:r>
              <a:rPr lang="en-US" altLang="zh-TW"/>
              <a:t>t3= tensor([[0, 3],</a:t>
            </a:r>
          </a:p>
          <a:p>
            <a:r>
              <a:rPr lang="en-US" altLang="zh-TW"/>
              <a:t>        [1, 4],</a:t>
            </a:r>
          </a:p>
          <a:p>
            <a:r>
              <a:rPr lang="en-US" altLang="zh-TW"/>
              <a:t>        [2, 5]])</a:t>
            </a:r>
          </a:p>
          <a:p>
            <a:r>
              <a:rPr lang="en-US" altLang="zh-TW"/>
              <a:t>t4= tensor(15)</a:t>
            </a:r>
          </a:p>
          <a:p>
            <a:r>
              <a:rPr lang="en-US" altLang="zh-TW"/>
              <a:t>t5= tensor([3, 5, 7])</a:t>
            </a:r>
          </a:p>
          <a:p>
            <a:r>
              <a:rPr lang="en-US" altLang="zh-TW"/>
              <a:t>t6= tensor([ 3, 12])</a:t>
            </a:r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7C22DAE-78FA-0F4C-5816-E617C5939F34}"/>
              </a:ext>
            </a:extLst>
          </p:cNvPr>
          <p:cNvSpPr txBox="1">
            <a:spLocks/>
          </p:cNvSpPr>
          <p:nvPr/>
        </p:nvSpPr>
        <p:spPr>
          <a:xfrm>
            <a:off x="233083" y="380847"/>
            <a:ext cx="10515600" cy="7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                                           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380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m</a:t>
            </a:r>
            <a:r>
              <a:rPr lang="en-US" altLang="zh-TW" sz="3600" b="0" i="0" dirty="0">
                <a:effectLst/>
                <a:latin typeface="Roboto" panose="02000000000000000000" pitchFamily="2" charset="0"/>
              </a:rPr>
              <a:t>atrix </a:t>
            </a:r>
            <a:r>
              <a:rPr lang="en-US" altLang="zh-TW" sz="3600" dirty="0">
                <a:latin typeface="Roboto" panose="02000000000000000000" pitchFamily="2" charset="0"/>
              </a:rPr>
              <a:t>o</a:t>
            </a:r>
            <a:r>
              <a:rPr lang="en-US" altLang="zh-TW" sz="3600" b="0" i="0" dirty="0">
                <a:effectLst/>
                <a:latin typeface="Roboto" panose="02000000000000000000" pitchFamily="2" charset="0"/>
              </a:rPr>
              <a:t>peration</a:t>
            </a:r>
          </a:p>
        </p:txBody>
      </p:sp>
    </p:spTree>
    <p:extLst>
      <p:ext uri="{BB962C8B-B14F-4D97-AF65-F5344CB8AC3E}">
        <p14:creationId xmlns:p14="http://schemas.microsoft.com/office/powerpoint/2010/main" val="262008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8804"/>
            <a:ext cx="5760000" cy="397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x = torch.arange(6, dtype=torch.float32).reshape(2,-1)</a:t>
            </a:r>
          </a:p>
          <a:p>
            <a:r>
              <a:rPr lang="fr-FR" altLang="zh-TW" dirty="0"/>
              <a:t>y = torch.arange(6, dtype=torch.float32).reshape(3,2)</a:t>
            </a:r>
          </a:p>
          <a:p>
            <a:r>
              <a:rPr lang="fr-FR" altLang="zh-TW" dirty="0"/>
              <a:t>z = torch.matmul(x, y)</a:t>
            </a:r>
          </a:p>
          <a:p>
            <a:r>
              <a:rPr lang="fr-FR" altLang="zh-TW" dirty="0"/>
              <a:t>z2 = x @ y</a:t>
            </a:r>
          </a:p>
          <a:p>
            <a:r>
              <a:rPr lang="fr-FR" altLang="zh-TW" dirty="0"/>
              <a:t>s = torch.matmul(x, y).size()</a:t>
            </a:r>
          </a:p>
          <a:p>
            <a:endParaRPr lang="fr-FR" altLang="zh-TW" dirty="0"/>
          </a:p>
          <a:p>
            <a:r>
              <a:rPr lang="fr-FR" altLang="zh-TW" dirty="0"/>
              <a:t>print(f'x={x}\ny={y}\nx={z}\nx2={z2}\ns={s}\n')</a:t>
            </a:r>
          </a:p>
          <a:p>
            <a:endParaRPr lang="fr-FR" altLang="zh-TW" dirty="0"/>
          </a:p>
          <a:p>
            <a:r>
              <a:rPr lang="fr-FR" altLang="zh-TW" dirty="0"/>
              <a:t>z4 = torch.transpose(x, 0, 1)</a:t>
            </a:r>
          </a:p>
          <a:p>
            <a:r>
              <a:rPr lang="fr-FR" altLang="zh-TW" dirty="0"/>
              <a:t>z5 = torch.t(y)</a:t>
            </a:r>
          </a:p>
          <a:p>
            <a:r>
              <a:rPr lang="fr-FR" altLang="zh-TW" dirty="0"/>
              <a:t>z6 = torch.inverse(z)</a:t>
            </a:r>
          </a:p>
          <a:p>
            <a:r>
              <a:rPr lang="fr-FR" altLang="zh-TW" dirty="0"/>
              <a:t>print(f'z4={z4}\nz5={z5}\nz6={z6}')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79067" y="998804"/>
            <a:ext cx="5760000" cy="5078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l-PL" altLang="zh-TW" dirty="0"/>
              <a:t>x=tensor([[0., 1., 2.],</a:t>
            </a:r>
          </a:p>
          <a:p>
            <a:r>
              <a:rPr lang="pl-PL" altLang="zh-TW" dirty="0"/>
              <a:t>        [3., 4., 5.]])</a:t>
            </a:r>
          </a:p>
          <a:p>
            <a:r>
              <a:rPr lang="pl-PL" altLang="zh-TW" dirty="0"/>
              <a:t>y=tensor([[0., 1.],</a:t>
            </a:r>
          </a:p>
          <a:p>
            <a:r>
              <a:rPr lang="pl-PL" altLang="zh-TW" dirty="0"/>
              <a:t>        [2., 3.],</a:t>
            </a:r>
          </a:p>
          <a:p>
            <a:r>
              <a:rPr lang="pl-PL" altLang="zh-TW" dirty="0"/>
              <a:t>        [4., 5.]])</a:t>
            </a:r>
          </a:p>
          <a:p>
            <a:r>
              <a:rPr lang="pl-PL" altLang="zh-TW" dirty="0"/>
              <a:t>x=tensor([[10., 13.],</a:t>
            </a:r>
          </a:p>
          <a:p>
            <a:r>
              <a:rPr lang="pl-PL" altLang="zh-TW" dirty="0"/>
              <a:t>        [28., 40.]])</a:t>
            </a:r>
          </a:p>
          <a:p>
            <a:r>
              <a:rPr lang="pl-PL" altLang="zh-TW" dirty="0"/>
              <a:t>x2=tensor([[10., 13.],</a:t>
            </a:r>
          </a:p>
          <a:p>
            <a:r>
              <a:rPr lang="pl-PL" altLang="zh-TW" dirty="0"/>
              <a:t>        [28., 40.]])</a:t>
            </a:r>
          </a:p>
          <a:p>
            <a:r>
              <a:rPr lang="pl-PL" altLang="zh-TW" dirty="0"/>
              <a:t>s=torch.Size([2, 2])</a:t>
            </a:r>
          </a:p>
          <a:p>
            <a:endParaRPr lang="pl-PL" altLang="zh-TW" dirty="0"/>
          </a:p>
          <a:p>
            <a:r>
              <a:rPr lang="pl-PL" altLang="zh-TW" dirty="0"/>
              <a:t>z4=tensor([[0., 3.],</a:t>
            </a:r>
          </a:p>
          <a:p>
            <a:r>
              <a:rPr lang="pl-PL" altLang="zh-TW" dirty="0"/>
              <a:t>        [1., 4.],</a:t>
            </a:r>
          </a:p>
          <a:p>
            <a:r>
              <a:rPr lang="pl-PL" altLang="zh-TW" dirty="0"/>
              <a:t>        [2., 5.]])</a:t>
            </a:r>
          </a:p>
          <a:p>
            <a:r>
              <a:rPr lang="pl-PL" altLang="zh-TW" dirty="0"/>
              <a:t>z5=tensor([[0., 2., 4.],</a:t>
            </a:r>
          </a:p>
          <a:p>
            <a:r>
              <a:rPr lang="pl-PL" altLang="zh-TW" dirty="0"/>
              <a:t>        [1., 3., 5.]])</a:t>
            </a:r>
          </a:p>
          <a:p>
            <a:r>
              <a:rPr lang="pl-PL" altLang="zh-TW" dirty="0"/>
              <a:t>z6=tensor([[ 1.1111, -0.3611],</a:t>
            </a:r>
          </a:p>
          <a:p>
            <a:r>
              <a:rPr lang="pl-PL" altLang="zh-TW" dirty="0"/>
              <a:t>        [-0.7778,  0.2778]])</a:t>
            </a:r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7C22DAE-78FA-0F4C-5816-E617C5939F34}"/>
              </a:ext>
            </a:extLst>
          </p:cNvPr>
          <p:cNvSpPr txBox="1">
            <a:spLocks/>
          </p:cNvSpPr>
          <p:nvPr/>
        </p:nvSpPr>
        <p:spPr>
          <a:xfrm>
            <a:off x="233083" y="380847"/>
            <a:ext cx="10515600" cy="7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                                           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380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m</a:t>
            </a:r>
            <a:r>
              <a:rPr lang="en-US" altLang="zh-TW" sz="3600" b="0" i="0" dirty="0">
                <a:effectLst/>
                <a:latin typeface="Roboto" panose="02000000000000000000" pitchFamily="2" charset="0"/>
              </a:rPr>
              <a:t>atrix Operation</a:t>
            </a:r>
          </a:p>
        </p:txBody>
      </p:sp>
    </p:spTree>
    <p:extLst>
      <p:ext uri="{BB962C8B-B14F-4D97-AF65-F5344CB8AC3E}">
        <p14:creationId xmlns:p14="http://schemas.microsoft.com/office/powerpoint/2010/main" val="105127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8805"/>
            <a:ext cx="5760000" cy="48013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a = torch.arange(10,50,10).reshape((1, 4))</a:t>
            </a:r>
          </a:p>
          <a:p>
            <a:r>
              <a:rPr lang="fr-FR" altLang="zh-TW" dirty="0"/>
              <a:t>print('a=', a)</a:t>
            </a:r>
          </a:p>
          <a:p>
            <a:endParaRPr lang="fr-FR" altLang="zh-TW" dirty="0"/>
          </a:p>
          <a:p>
            <a:r>
              <a:rPr lang="fr-FR" altLang="zh-TW" dirty="0"/>
              <a:t>b = torch.arange(8).reshape((2, 4))</a:t>
            </a:r>
          </a:p>
          <a:p>
            <a:r>
              <a:rPr lang="fr-FR" altLang="zh-TW" dirty="0"/>
              <a:t>print('b=', b)</a:t>
            </a:r>
          </a:p>
          <a:p>
            <a:endParaRPr lang="fr-FR" altLang="zh-TW" dirty="0"/>
          </a:p>
          <a:p>
            <a:r>
              <a:rPr lang="fr-FR" altLang="zh-TW" dirty="0"/>
              <a:t>print('a+b=', a+b)</a:t>
            </a:r>
          </a:p>
          <a:p>
            <a:endParaRPr lang="fr-FR" altLang="zh-TW" dirty="0"/>
          </a:p>
          <a:p>
            <a:r>
              <a:rPr lang="fr-FR" altLang="zh-TW" dirty="0"/>
              <a:t>a2 = torch.arange(10,50,10).reshape((4, 1))</a:t>
            </a:r>
          </a:p>
          <a:p>
            <a:r>
              <a:rPr lang="fr-FR" altLang="zh-TW" dirty="0"/>
              <a:t>print('a2=', a2)</a:t>
            </a:r>
          </a:p>
          <a:p>
            <a:endParaRPr lang="fr-FR" altLang="zh-TW" dirty="0"/>
          </a:p>
          <a:p>
            <a:r>
              <a:rPr lang="fr-FR" altLang="zh-TW" dirty="0"/>
              <a:t>b2 = torch.arange(3).reshape((1, 3))</a:t>
            </a:r>
          </a:p>
          <a:p>
            <a:r>
              <a:rPr lang="fr-FR" altLang="zh-TW" dirty="0"/>
              <a:t>print('b2=', b2)</a:t>
            </a:r>
          </a:p>
          <a:p>
            <a:endParaRPr lang="fr-FR" altLang="zh-TW" dirty="0"/>
          </a:p>
          <a:p>
            <a:r>
              <a:rPr lang="fr-FR" altLang="zh-TW" dirty="0"/>
              <a:t>print('a2+b2=', a2+b2)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79067" y="998804"/>
            <a:ext cx="5760000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a= tensor([[10, 20, 30, 40]])</a:t>
            </a:r>
          </a:p>
          <a:p>
            <a:r>
              <a:rPr lang="en-US" altLang="zh-TW" dirty="0"/>
              <a:t>b= tensor([[0, 1, 2, 3],</a:t>
            </a:r>
          </a:p>
          <a:p>
            <a:r>
              <a:rPr lang="en-US" altLang="zh-TW" dirty="0"/>
              <a:t>        [4, 5, 6, 7]])</a:t>
            </a:r>
          </a:p>
          <a:p>
            <a:r>
              <a:rPr lang="en-US" altLang="zh-TW" dirty="0" err="1"/>
              <a:t>a+b</a:t>
            </a:r>
            <a:r>
              <a:rPr lang="en-US" altLang="zh-TW" dirty="0"/>
              <a:t>= tensor([[10, 21, 32, 43],</a:t>
            </a:r>
          </a:p>
          <a:p>
            <a:r>
              <a:rPr lang="en-US" altLang="zh-TW" dirty="0"/>
              <a:t>        [14, 25, 36, 47]])</a:t>
            </a:r>
          </a:p>
          <a:p>
            <a:r>
              <a:rPr lang="en-US" altLang="zh-TW" dirty="0"/>
              <a:t>a2= tensor([[10],</a:t>
            </a:r>
          </a:p>
          <a:p>
            <a:r>
              <a:rPr lang="en-US" altLang="zh-TW" dirty="0"/>
              <a:t>        [20],</a:t>
            </a:r>
          </a:p>
          <a:p>
            <a:r>
              <a:rPr lang="en-US" altLang="zh-TW" dirty="0"/>
              <a:t>        [30],</a:t>
            </a:r>
          </a:p>
          <a:p>
            <a:r>
              <a:rPr lang="en-US" altLang="zh-TW" dirty="0"/>
              <a:t>        [40]])</a:t>
            </a:r>
          </a:p>
          <a:p>
            <a:r>
              <a:rPr lang="en-US" altLang="zh-TW" dirty="0"/>
              <a:t>b2= tensor([[0, 1, 2]])</a:t>
            </a:r>
          </a:p>
          <a:p>
            <a:r>
              <a:rPr lang="en-US" altLang="zh-TW" dirty="0"/>
              <a:t>a2+b2= tensor([[10, 11, 12],</a:t>
            </a:r>
          </a:p>
          <a:p>
            <a:r>
              <a:rPr lang="en-US" altLang="zh-TW" dirty="0"/>
              <a:t>        [20, 21, 22],</a:t>
            </a:r>
          </a:p>
          <a:p>
            <a:r>
              <a:rPr lang="en-US" altLang="zh-TW" dirty="0"/>
              <a:t>        [30, 31, 32],</a:t>
            </a:r>
          </a:p>
          <a:p>
            <a:r>
              <a:rPr lang="en-US" altLang="zh-TW" dirty="0"/>
              <a:t>        [40, 41, 42]])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380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broadcasting</a:t>
            </a:r>
            <a:endParaRPr lang="en-US" altLang="zh-TW" sz="3600" b="0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57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25518"/>
            <a:ext cx="5760000" cy="397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numpy as np</a:t>
            </a:r>
          </a:p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a = np.array([[1,2,3],[4,5,6]])</a:t>
            </a:r>
          </a:p>
          <a:p>
            <a:r>
              <a:rPr lang="fr-FR" altLang="zh-TW" dirty="0"/>
              <a:t>print('a=', a, '\na.ndim=', a.ndim, '\ntype(a)=', type(a))</a:t>
            </a:r>
          </a:p>
          <a:p>
            <a:endParaRPr lang="fr-FR" altLang="zh-TW" dirty="0"/>
          </a:p>
          <a:p>
            <a:r>
              <a:rPr lang="fr-FR" altLang="zh-TW" dirty="0"/>
              <a:t>b = torch.from_numpy(a)</a:t>
            </a:r>
          </a:p>
          <a:p>
            <a:r>
              <a:rPr lang="fr-FR" altLang="zh-TW" dirty="0"/>
              <a:t>print('\nb=', b, '\ntype(b)=', type(b))</a:t>
            </a:r>
          </a:p>
          <a:p>
            <a:endParaRPr lang="fr-FR" altLang="zh-TW" dirty="0"/>
          </a:p>
          <a:p>
            <a:r>
              <a:rPr lang="fr-FR" altLang="zh-TW" dirty="0"/>
              <a:t>c = b.numpy()</a:t>
            </a:r>
          </a:p>
          <a:p>
            <a:r>
              <a:rPr lang="fr-FR" altLang="zh-TW" dirty="0"/>
              <a:t>print('\nc=', c, '\ntype(c)=', type(c))</a:t>
            </a:r>
          </a:p>
          <a:p>
            <a:endParaRPr lang="fr-FR" altLang="zh-TW" dirty="0"/>
          </a:p>
          <a:p>
            <a:r>
              <a:rPr lang="fr-FR" altLang="zh-TW" dirty="0"/>
              <a:t>d = torch.tensor(2.3)</a:t>
            </a:r>
          </a:p>
          <a:p>
            <a:r>
              <a:rPr lang="fr-FR" altLang="zh-TW" dirty="0"/>
              <a:t>print('\nd=', d, '\nd.item()=', d.item())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320902" y="925518"/>
            <a:ext cx="5760000" cy="42473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a= [[1 2 3]</a:t>
            </a:r>
          </a:p>
          <a:p>
            <a:r>
              <a:rPr lang="en-US" altLang="zh-TW" dirty="0"/>
              <a:t> [4 5 6]] </a:t>
            </a:r>
          </a:p>
          <a:p>
            <a:r>
              <a:rPr lang="en-US" altLang="zh-TW" dirty="0" err="1"/>
              <a:t>a.ndim</a:t>
            </a:r>
            <a:r>
              <a:rPr lang="en-US" altLang="zh-TW" dirty="0"/>
              <a:t>= 2 </a:t>
            </a:r>
          </a:p>
          <a:p>
            <a:r>
              <a:rPr lang="en-US" altLang="zh-TW" dirty="0"/>
              <a:t>type(a)= &lt;class '</a:t>
            </a:r>
            <a:r>
              <a:rPr lang="en-US" altLang="zh-TW" dirty="0" err="1"/>
              <a:t>numpy.ndarray</a:t>
            </a:r>
            <a:r>
              <a:rPr lang="en-US" altLang="zh-TW" dirty="0"/>
              <a:t>'&gt;</a:t>
            </a:r>
          </a:p>
          <a:p>
            <a:endParaRPr lang="en-US" altLang="zh-TW" dirty="0"/>
          </a:p>
          <a:p>
            <a:r>
              <a:rPr lang="en-US" altLang="zh-TW" dirty="0"/>
              <a:t>b= tensor([[1, 2, 3],</a:t>
            </a:r>
          </a:p>
          <a:p>
            <a:r>
              <a:rPr lang="en-US" altLang="zh-TW" dirty="0"/>
              <a:t>        [4, 5, 6]], </a:t>
            </a:r>
            <a:r>
              <a:rPr lang="en-US" altLang="zh-TW" dirty="0" err="1"/>
              <a:t>dtype</a:t>
            </a:r>
            <a:r>
              <a:rPr lang="en-US" altLang="zh-TW" dirty="0"/>
              <a:t>=torch.int32) </a:t>
            </a:r>
          </a:p>
          <a:p>
            <a:r>
              <a:rPr lang="en-US" altLang="zh-TW" dirty="0"/>
              <a:t>type(b)= &lt;class '</a:t>
            </a:r>
            <a:r>
              <a:rPr lang="en-US" altLang="zh-TW" dirty="0" err="1"/>
              <a:t>torch.Tensor</a:t>
            </a:r>
            <a:r>
              <a:rPr lang="en-US" altLang="zh-TW" dirty="0"/>
              <a:t>'&gt;</a:t>
            </a:r>
          </a:p>
          <a:p>
            <a:endParaRPr lang="en-US" altLang="zh-TW" dirty="0"/>
          </a:p>
          <a:p>
            <a:r>
              <a:rPr lang="en-US" altLang="zh-TW" dirty="0"/>
              <a:t>c= [[1 2 3]</a:t>
            </a:r>
          </a:p>
          <a:p>
            <a:r>
              <a:rPr lang="en-US" altLang="zh-TW" dirty="0"/>
              <a:t> [4 5 6]] </a:t>
            </a:r>
          </a:p>
          <a:p>
            <a:r>
              <a:rPr lang="en-US" altLang="zh-TW" dirty="0"/>
              <a:t>type(c)= &lt;class '</a:t>
            </a:r>
            <a:r>
              <a:rPr lang="en-US" altLang="zh-TW" dirty="0" err="1"/>
              <a:t>numpy.ndarray</a:t>
            </a:r>
            <a:r>
              <a:rPr lang="en-US" altLang="zh-TW" dirty="0"/>
              <a:t>'&gt;</a:t>
            </a:r>
          </a:p>
          <a:p>
            <a:endParaRPr lang="en-US" altLang="zh-TW" dirty="0"/>
          </a:p>
          <a:p>
            <a:r>
              <a:rPr lang="en-US" altLang="zh-TW" dirty="0"/>
              <a:t>d= tensor(2.3000) </a:t>
            </a:r>
          </a:p>
          <a:p>
            <a:r>
              <a:rPr lang="en-US" altLang="zh-TW" dirty="0" err="1"/>
              <a:t>d.item</a:t>
            </a:r>
            <a:r>
              <a:rPr lang="en-US" altLang="zh-TW" dirty="0"/>
              <a:t>()= 2.299999952316284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4" y="147765"/>
            <a:ext cx="10698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  <a:hlinkClick r:id="rId2"/>
              </a:rPr>
              <a:t>bridge with NumPy</a:t>
            </a:r>
            <a:endParaRPr lang="en-US" altLang="zh-TW" sz="3600" b="0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0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189B14-C813-5094-D478-5318AD7E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21720"/>
          </a:xfrm>
        </p:spPr>
        <p:txBody>
          <a:bodyPr/>
          <a:lstStyle/>
          <a:p>
            <a:pPr algn="ctr"/>
            <a:r>
              <a:rPr lang="en-US" altLang="zh-TW" dirty="0"/>
              <a:t>Derivatives and Differentiations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03CC63-CAB1-5C43-0245-5F761EDEA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Extended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2"/>
              </a:rPr>
              <a:t>https://mathworld.wolfram.com/topics/DifferentialCalculus.html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hlinkClick r:id="rId3"/>
              </a:rPr>
              <a:t>https://mathworld.wolfram.com/Derivative.html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697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F9EE334-8A82-2874-96B4-CD0C374B98D2}"/>
              </a:ext>
            </a:extLst>
          </p:cNvPr>
          <p:cNvSpPr txBox="1"/>
          <p:nvPr/>
        </p:nvSpPr>
        <p:spPr>
          <a:xfrm>
            <a:off x="376075" y="492577"/>
            <a:ext cx="9656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directives</a:t>
            </a:r>
            <a:endParaRPr lang="en-US" altLang="zh-TW" sz="3600" b="0" i="1" dirty="0"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50DAFA-B661-BC1E-F82C-DAC06DC94828}"/>
                  </a:ext>
                </a:extLst>
              </p:cNvPr>
              <p:cNvSpPr txBox="1"/>
              <p:nvPr/>
            </p:nvSpPr>
            <p:spPr>
              <a:xfrm>
                <a:off x="2310873" y="2189710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TW" sz="2400" b="1" i="0" smtClean="0">
                          <a:effectLst/>
                          <a:latin typeface="Trade Gothic Inline" panose="020B0504030203020204" pitchFamily="34" charset="0"/>
                          <a:ea typeface="STCaiyun" panose="020B0503020204020204" pitchFamily="2" charset="-122"/>
                        </a:rPr>
                        <m:t>R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zh-TW" sz="2400" b="1">
                          <a:latin typeface="Trade Gothic Inline" panose="020B0504030203020204" pitchFamily="34" charset="0"/>
                          <a:ea typeface="STCaiyun" panose="020B0503020204020204" pitchFamily="2" charset="-122"/>
                        </a:rPr>
                        <m:t>R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50DAFA-B661-BC1E-F82C-DAC06DC94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873" y="2189710"/>
                <a:ext cx="1574358" cy="369332"/>
              </a:xfrm>
              <a:prstGeom prst="rect">
                <a:avLst/>
              </a:prstGeom>
              <a:blipFill>
                <a:blip r:embed="rId2"/>
                <a:stretch>
                  <a:fillRect l="-8915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23DD498-4440-2AD6-0C4B-3B04FB30D43E}"/>
                  </a:ext>
                </a:extLst>
              </p:cNvPr>
              <p:cNvSpPr txBox="1"/>
              <p:nvPr/>
            </p:nvSpPr>
            <p:spPr>
              <a:xfrm>
                <a:off x="736515" y="3123418"/>
                <a:ext cx="3830023" cy="716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 = </m:t>
                      </m:r>
                      <m:func>
                        <m:funcPr>
                          <m:ctrlPr>
                            <a:rPr lang="pt-BR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TW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altLang="zh-TW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23DD498-4440-2AD6-0C4B-3B04FB30D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15" y="3123418"/>
                <a:ext cx="3830023" cy="716735"/>
              </a:xfrm>
              <a:prstGeom prst="rect">
                <a:avLst/>
              </a:prstGeom>
              <a:blipFill>
                <a:blip r:embed="rId3"/>
                <a:stretch>
                  <a:fillRect l="-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EBE09F7-B027-429A-C646-23FEF3E989A2}"/>
                  </a:ext>
                </a:extLst>
              </p:cNvPr>
              <p:cNvSpPr txBox="1"/>
              <p:nvPr/>
            </p:nvSpPr>
            <p:spPr>
              <a:xfrm>
                <a:off x="3098052" y="422377"/>
                <a:ext cx="6685947" cy="7021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sz="24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sz="2400" i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EBE09F7-B027-429A-C646-23FEF3E98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052" y="422377"/>
                <a:ext cx="6685947" cy="702180"/>
              </a:xfrm>
              <a:prstGeom prst="rect">
                <a:avLst/>
              </a:prstGeom>
              <a:blipFill>
                <a:blip r:embed="rId4"/>
                <a:stretch>
                  <a:fillRect l="-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9C7B32D-1E02-0F1C-BF05-A47E157D3939}"/>
                  </a:ext>
                </a:extLst>
              </p:cNvPr>
              <p:cNvSpPr txBox="1"/>
              <p:nvPr/>
            </p:nvSpPr>
            <p:spPr>
              <a:xfrm>
                <a:off x="6273106" y="1859979"/>
                <a:ext cx="5273435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0       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any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const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9C7B32D-1E02-0F1C-BF05-A47E157D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106" y="1859979"/>
                <a:ext cx="5273435" cy="701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217552B-82E9-4F24-EB23-2FF9B2530DC8}"/>
                  </a:ext>
                </a:extLst>
              </p:cNvPr>
              <p:cNvSpPr txBox="1"/>
              <p:nvPr/>
            </p:nvSpPr>
            <p:spPr>
              <a:xfrm>
                <a:off x="6273106" y="2876822"/>
                <a:ext cx="5407042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𝑛𝑥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any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const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217552B-82E9-4F24-EB23-2FF9B2530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106" y="2876822"/>
                <a:ext cx="5407042" cy="7012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3B6A31E-274F-0878-05EB-3E8673941528}"/>
                  </a:ext>
                </a:extLst>
              </p:cNvPr>
              <p:cNvSpPr txBox="1"/>
              <p:nvPr/>
            </p:nvSpPr>
            <p:spPr>
              <a:xfrm>
                <a:off x="6273106" y="3893665"/>
                <a:ext cx="1892410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3B6A31E-274F-0878-05EB-3E8673941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106" y="3893665"/>
                <a:ext cx="1892410" cy="7012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5492A06-4AB6-19FB-9516-AA65CB011D86}"/>
                  </a:ext>
                </a:extLst>
              </p:cNvPr>
              <p:cNvSpPr txBox="1"/>
              <p:nvPr/>
            </p:nvSpPr>
            <p:spPr>
              <a:xfrm>
                <a:off x="6273106" y="4910509"/>
                <a:ext cx="2095394" cy="725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5492A06-4AB6-19FB-9516-AA65CB011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106" y="4910509"/>
                <a:ext cx="2095394" cy="7257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D21A91F-C838-47AA-1BC9-BE7694050668}"/>
                  </a:ext>
                </a:extLst>
              </p:cNvPr>
              <p:cNvSpPr txBox="1"/>
              <p:nvPr/>
            </p:nvSpPr>
            <p:spPr>
              <a:xfrm>
                <a:off x="736515" y="2163376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D21A91F-C838-47AA-1BC9-BE7694050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15" y="2163376"/>
                <a:ext cx="1574358" cy="369332"/>
              </a:xfrm>
              <a:prstGeom prst="rect">
                <a:avLst/>
              </a:prstGeom>
              <a:blipFill>
                <a:blip r:embed="rId9"/>
                <a:stretch>
                  <a:fillRect l="-697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713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F9EE334-8A82-2874-96B4-CD0C374B98D2}"/>
              </a:ext>
            </a:extLst>
          </p:cNvPr>
          <p:cNvSpPr txBox="1"/>
          <p:nvPr/>
        </p:nvSpPr>
        <p:spPr>
          <a:xfrm>
            <a:off x="376075" y="244341"/>
            <a:ext cx="9656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directives</a:t>
            </a:r>
            <a:endParaRPr lang="en-US" altLang="zh-TW" sz="3600" b="0" i="1" dirty="0"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9C7B32D-1E02-0F1C-BF05-A47E157D3939}"/>
                  </a:ext>
                </a:extLst>
              </p:cNvPr>
              <p:cNvSpPr txBox="1"/>
              <p:nvPr/>
            </p:nvSpPr>
            <p:spPr>
              <a:xfrm>
                <a:off x="1050039" y="1273413"/>
                <a:ext cx="7051706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𝐶𝑓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9C7B32D-1E02-0F1C-BF05-A47E157D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39" y="1273413"/>
                <a:ext cx="7051706" cy="701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351A4BC-7C20-9207-FD29-3EBBB4135B46}"/>
                  </a:ext>
                </a:extLst>
              </p:cNvPr>
              <p:cNvSpPr txBox="1"/>
              <p:nvPr/>
            </p:nvSpPr>
            <p:spPr>
              <a:xfrm>
                <a:off x="1050039" y="2436356"/>
                <a:ext cx="7051706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351A4BC-7C20-9207-FD29-3EBBB4135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39" y="2436356"/>
                <a:ext cx="7051706" cy="701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C9FA20F-EF05-0EE4-606B-5A0A6AB26004}"/>
                  </a:ext>
                </a:extLst>
              </p:cNvPr>
              <p:cNvSpPr txBox="1"/>
              <p:nvPr/>
            </p:nvSpPr>
            <p:spPr>
              <a:xfrm>
                <a:off x="1050039" y="3599299"/>
                <a:ext cx="7051706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C9FA20F-EF05-0EE4-606B-5A0A6AB26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39" y="3599299"/>
                <a:ext cx="7051706" cy="701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EE74AB2-2070-A7B0-F790-661D63202545}"/>
                  </a:ext>
                </a:extLst>
              </p:cNvPr>
              <p:cNvSpPr txBox="1"/>
              <p:nvPr/>
            </p:nvSpPr>
            <p:spPr>
              <a:xfrm>
                <a:off x="1050039" y="4762243"/>
                <a:ext cx="7051706" cy="1010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EE74AB2-2070-A7B0-F790-661D63202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39" y="4762243"/>
                <a:ext cx="7051706" cy="1010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586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F9EE334-8A82-2874-96B4-CD0C374B98D2}"/>
              </a:ext>
            </a:extLst>
          </p:cNvPr>
          <p:cNvSpPr txBox="1"/>
          <p:nvPr/>
        </p:nvSpPr>
        <p:spPr>
          <a:xfrm>
            <a:off x="376075" y="179327"/>
            <a:ext cx="9656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partial directives</a:t>
            </a:r>
            <a:endParaRPr lang="en-US" altLang="zh-TW" sz="3600" b="0" i="1" dirty="0"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EE74AB2-2070-A7B0-F790-661D63202545}"/>
                  </a:ext>
                </a:extLst>
              </p:cNvPr>
              <p:cNvSpPr txBox="1"/>
              <p:nvPr/>
            </p:nvSpPr>
            <p:spPr>
              <a:xfrm>
                <a:off x="741807" y="1919297"/>
                <a:ext cx="7051706" cy="779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altLang="zh-TW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TW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altLang="zh-TW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EE74AB2-2070-A7B0-F790-661D63202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07" y="1919297"/>
                <a:ext cx="7051706" cy="779188"/>
              </a:xfrm>
              <a:prstGeom prst="rect">
                <a:avLst/>
              </a:prstGeom>
              <a:blipFill>
                <a:blip r:embed="rId2"/>
                <a:stretch>
                  <a:fillRect l="-87" r="-348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9696006-D783-9307-2A40-A4BEB7AE2DB5}"/>
                  </a:ext>
                </a:extLst>
              </p:cNvPr>
              <p:cNvSpPr txBox="1"/>
              <p:nvPr/>
            </p:nvSpPr>
            <p:spPr>
              <a:xfrm>
                <a:off x="741807" y="1189688"/>
                <a:ext cx="307045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9696006-D783-9307-2A40-A4BEB7AE2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07" y="1189688"/>
                <a:ext cx="3070456" cy="369332"/>
              </a:xfrm>
              <a:prstGeom prst="rect">
                <a:avLst/>
              </a:prstGeom>
              <a:blipFill>
                <a:blip r:embed="rId3"/>
                <a:stretch>
                  <a:fillRect l="-3579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0E6EA7B-4487-DC4E-C030-2593E631A2DD}"/>
                  </a:ext>
                </a:extLst>
              </p:cNvPr>
              <p:cNvSpPr txBox="1"/>
              <p:nvPr/>
            </p:nvSpPr>
            <p:spPr>
              <a:xfrm>
                <a:off x="4102946" y="948576"/>
                <a:ext cx="7051706" cy="764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0E6EA7B-4487-DC4E-C030-2593E631A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946" y="948576"/>
                <a:ext cx="7051706" cy="7646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48D93AC9-BEBB-05F3-3B77-11774689EA2F}"/>
              </a:ext>
            </a:extLst>
          </p:cNvPr>
          <p:cNvSpPr txBox="1"/>
          <p:nvPr/>
        </p:nvSpPr>
        <p:spPr>
          <a:xfrm>
            <a:off x="596190" y="2994547"/>
            <a:ext cx="103674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0" i="0" dirty="0">
                <a:effectLst/>
                <a:latin typeface="Roboto" panose="02000000000000000000" pitchFamily="2" charset="0"/>
              </a:rPr>
              <a:t>The partial derivatives of a multivariate function with respect to all its variables to obtain a vector that is called the </a:t>
            </a:r>
            <a:r>
              <a:rPr lang="en-US" altLang="zh-TW" sz="2400" b="1" i="1" dirty="0">
                <a:effectLst/>
                <a:latin typeface="Roboto" panose="02000000000000000000" pitchFamily="2" charset="0"/>
              </a:rPr>
              <a:t>gradient</a:t>
            </a:r>
            <a:r>
              <a:rPr lang="en-US" altLang="zh-TW" sz="2400" b="0" i="0" dirty="0">
                <a:effectLst/>
                <a:latin typeface="Roboto" panose="02000000000000000000" pitchFamily="2" charset="0"/>
              </a:rPr>
              <a:t> of the function.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6FA8277-C339-AE58-D972-206A3C913765}"/>
                  </a:ext>
                </a:extLst>
              </p:cNvPr>
              <p:cNvSpPr txBox="1"/>
              <p:nvPr/>
            </p:nvSpPr>
            <p:spPr>
              <a:xfrm>
                <a:off x="741807" y="3933565"/>
                <a:ext cx="7051706" cy="5226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6FA8277-C339-AE58-D972-206A3C913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07" y="3933565"/>
                <a:ext cx="7051706" cy="5226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1741270-6577-6195-DD3E-35CFB186B765}"/>
                  </a:ext>
                </a:extLst>
              </p:cNvPr>
              <p:cNvSpPr txBox="1"/>
              <p:nvPr/>
            </p:nvSpPr>
            <p:spPr>
              <a:xfrm>
                <a:off x="741807" y="4824149"/>
                <a:ext cx="153522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zh-TW" sz="2400" b="1">
                              <a:latin typeface="Trade Gothic Inline" panose="020B0504030203020204" pitchFamily="34" charset="0"/>
                              <a:ea typeface="STCaiyun" panose="020B0503020204020204" pitchFamily="2" charset="-122"/>
                            </a:rPr>
                            <m:t>R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1741270-6577-6195-DD3E-35CFB186B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07" y="4824149"/>
                <a:ext cx="1535228" cy="369332"/>
              </a:xfrm>
              <a:prstGeom prst="rect">
                <a:avLst/>
              </a:prstGeom>
              <a:blipFill>
                <a:blip r:embed="rId6"/>
                <a:stretch>
                  <a:fillRect l="-7143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3F8F466-787D-8691-A40B-3FD5D192F414}"/>
                  </a:ext>
                </a:extLst>
              </p:cNvPr>
              <p:cNvSpPr txBox="1"/>
              <p:nvPr/>
            </p:nvSpPr>
            <p:spPr>
              <a:xfrm>
                <a:off x="2556178" y="4817609"/>
                <a:ext cx="1546768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3F8F466-787D-8691-A40B-3FD5D192F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78" y="4817609"/>
                <a:ext cx="1546768" cy="375872"/>
              </a:xfrm>
              <a:prstGeom prst="rect">
                <a:avLst/>
              </a:prstGeom>
              <a:blipFill>
                <a:blip r:embed="rId7"/>
                <a:stretch>
                  <a:fillRect l="-6693" t="-1613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BBCD374-8645-4704-B878-6CA47BEE5D34}"/>
                  </a:ext>
                </a:extLst>
              </p:cNvPr>
              <p:cNvSpPr txBox="1"/>
              <p:nvPr/>
            </p:nvSpPr>
            <p:spPr>
              <a:xfrm>
                <a:off x="4549232" y="4824149"/>
                <a:ext cx="1546768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BBCD374-8645-4704-B878-6CA47BEE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232" y="4824149"/>
                <a:ext cx="1546768" cy="375872"/>
              </a:xfrm>
              <a:prstGeom prst="rect">
                <a:avLst/>
              </a:prstGeom>
              <a:blipFill>
                <a:blip r:embed="rId8"/>
                <a:stretch>
                  <a:fillRect l="-6693" t="-1613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7DD968-C8D3-2C1D-C95D-4ADD21F1D882}"/>
                  </a:ext>
                </a:extLst>
              </p:cNvPr>
              <p:cNvSpPr txBox="1"/>
              <p:nvPr/>
            </p:nvSpPr>
            <p:spPr>
              <a:xfrm>
                <a:off x="6481796" y="4832641"/>
                <a:ext cx="3120430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1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7DD968-C8D3-2C1D-C95D-4ADD21F1D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796" y="4832641"/>
                <a:ext cx="3120430" cy="375872"/>
              </a:xfrm>
              <a:prstGeom prst="rect">
                <a:avLst/>
              </a:prstGeom>
              <a:blipFill>
                <a:blip r:embed="rId9"/>
                <a:stretch>
                  <a:fillRect l="-3320" t="-3279" b="-36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D839559-6CDD-8CCB-F9E8-3F44C9668AA0}"/>
                  </a:ext>
                </a:extLst>
              </p:cNvPr>
              <p:cNvSpPr txBox="1"/>
              <p:nvPr/>
            </p:nvSpPr>
            <p:spPr>
              <a:xfrm>
                <a:off x="2556178" y="5668312"/>
                <a:ext cx="3120430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D839559-6CDD-8CCB-F9E8-3F44C9668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78" y="5668312"/>
                <a:ext cx="3120430" cy="375872"/>
              </a:xfrm>
              <a:prstGeom prst="rect">
                <a:avLst/>
              </a:prstGeom>
              <a:blipFill>
                <a:blip r:embed="rId10"/>
                <a:stretch>
                  <a:fillRect l="-3320" t="-3226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6DF2531-CCBA-22B1-0FD8-52C6F6534CBE}"/>
                  </a:ext>
                </a:extLst>
              </p:cNvPr>
              <p:cNvSpPr txBox="1"/>
              <p:nvPr/>
            </p:nvSpPr>
            <p:spPr>
              <a:xfrm>
                <a:off x="6068584" y="5667927"/>
                <a:ext cx="3120430" cy="376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6DF2531-CCBA-22B1-0FD8-52C6F6534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584" y="5667927"/>
                <a:ext cx="3120430" cy="376257"/>
              </a:xfrm>
              <a:prstGeom prst="rect">
                <a:avLst/>
              </a:prstGeom>
              <a:blipFill>
                <a:blip r:embed="rId11"/>
                <a:stretch>
                  <a:fillRect l="-3523" b="-145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141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F9EE334-8A82-2874-96B4-CD0C374B98D2}"/>
              </a:ext>
            </a:extLst>
          </p:cNvPr>
          <p:cNvSpPr txBox="1"/>
          <p:nvPr/>
        </p:nvSpPr>
        <p:spPr>
          <a:xfrm>
            <a:off x="376075" y="179327"/>
            <a:ext cx="9656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chain rule</a:t>
            </a:r>
            <a:endParaRPr lang="en-US" altLang="zh-TW" sz="3600" b="0" i="1" dirty="0"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D3E032C-D932-CC37-E4DA-AFA3C81E53AE}"/>
                  </a:ext>
                </a:extLst>
              </p:cNvPr>
              <p:cNvSpPr txBox="1"/>
              <p:nvPr/>
            </p:nvSpPr>
            <p:spPr>
              <a:xfrm>
                <a:off x="6784958" y="1042509"/>
                <a:ext cx="2619018" cy="620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m:rPr>
                        <m:nor/>
                      </m:rPr>
                      <a:rPr lang="en-US" altLang="zh-TW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en-US" altLang="zh-TW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m:rPr>
                        <m:nor/>
                      </m:rPr>
                      <a:rPr lang="en-US" altLang="zh-TW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D3E032C-D932-CC37-E4DA-AFA3C81E5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958" y="1042509"/>
                <a:ext cx="2619018" cy="620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910215A-3021-7693-D21E-4E121F8D5F30}"/>
                  </a:ext>
                </a:extLst>
              </p:cNvPr>
              <p:cNvSpPr txBox="1"/>
              <p:nvPr/>
            </p:nvSpPr>
            <p:spPr>
              <a:xfrm>
                <a:off x="868252" y="1187829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910215A-3021-7693-D21E-4E121F8D5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2" y="1187829"/>
                <a:ext cx="1574358" cy="369332"/>
              </a:xfrm>
              <a:prstGeom prst="rect">
                <a:avLst/>
              </a:prstGeom>
              <a:blipFill>
                <a:blip r:embed="rId3"/>
                <a:stretch>
                  <a:fillRect l="-6950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0902E50-08A6-C466-3A92-D6667EB0C8D8}"/>
                  </a:ext>
                </a:extLst>
              </p:cNvPr>
              <p:cNvSpPr txBox="1"/>
              <p:nvPr/>
            </p:nvSpPr>
            <p:spPr>
              <a:xfrm>
                <a:off x="2679123" y="1187829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0902E50-08A6-C466-3A92-D6667EB0C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123" y="1187829"/>
                <a:ext cx="1574358" cy="369332"/>
              </a:xfrm>
              <a:prstGeom prst="rect">
                <a:avLst/>
              </a:prstGeom>
              <a:blipFill>
                <a:blip r:embed="rId4"/>
                <a:stretch>
                  <a:fillRect l="-4633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DF44939-A9D0-AB1B-1AA9-52784F202502}"/>
                  </a:ext>
                </a:extLst>
              </p:cNvPr>
              <p:cNvSpPr txBox="1"/>
              <p:nvPr/>
            </p:nvSpPr>
            <p:spPr>
              <a:xfrm>
                <a:off x="4391381" y="1168120"/>
                <a:ext cx="201362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DF44939-A9D0-AB1B-1AA9-52784F202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381" y="1168120"/>
                <a:ext cx="2013629" cy="369332"/>
              </a:xfrm>
              <a:prstGeom prst="rect">
                <a:avLst/>
              </a:prstGeom>
              <a:blipFill>
                <a:blip r:embed="rId5"/>
                <a:stretch>
                  <a:fillRect l="-5438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79FDB14-CA2F-6E21-4EA4-C4A0124C1019}"/>
                  </a:ext>
                </a:extLst>
              </p:cNvPr>
              <p:cNvSpPr txBox="1"/>
              <p:nvPr/>
            </p:nvSpPr>
            <p:spPr>
              <a:xfrm>
                <a:off x="868252" y="2278420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79FDB14-CA2F-6E21-4EA4-C4A0124C1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2" y="2278420"/>
                <a:ext cx="1574358" cy="369332"/>
              </a:xfrm>
              <a:prstGeom prst="rect">
                <a:avLst/>
              </a:prstGeom>
              <a:blipFill>
                <a:blip r:embed="rId6"/>
                <a:stretch>
                  <a:fillRect l="-6950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57C6316-08E0-5D09-8C87-56F093E501EE}"/>
                  </a:ext>
                </a:extLst>
              </p:cNvPr>
              <p:cNvSpPr txBox="1"/>
              <p:nvPr/>
            </p:nvSpPr>
            <p:spPr>
              <a:xfrm>
                <a:off x="2629017" y="3083653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57C6316-08E0-5D09-8C87-56F093E50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017" y="3083653"/>
                <a:ext cx="1574358" cy="369332"/>
              </a:xfrm>
              <a:prstGeom prst="rect">
                <a:avLst/>
              </a:prstGeom>
              <a:blipFill>
                <a:blip r:embed="rId7"/>
                <a:stretch>
                  <a:fillRect l="-4633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4646486-6C95-95D8-3C24-CBE333048F0C}"/>
                  </a:ext>
                </a:extLst>
              </p:cNvPr>
              <p:cNvSpPr txBox="1"/>
              <p:nvPr/>
            </p:nvSpPr>
            <p:spPr>
              <a:xfrm>
                <a:off x="2629017" y="2288770"/>
                <a:ext cx="25755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4646486-6C95-95D8-3C24-CBE33304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017" y="2288770"/>
                <a:ext cx="2575520" cy="369332"/>
              </a:xfrm>
              <a:prstGeom prst="rect">
                <a:avLst/>
              </a:prstGeom>
              <a:blipFill>
                <a:blip r:embed="rId8"/>
                <a:stretch>
                  <a:fillRect l="-3073" r="-1182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CC174D92-C7A3-1614-619D-502CCC81A3DB}"/>
                  </a:ext>
                </a:extLst>
              </p:cNvPr>
              <p:cNvSpPr txBox="1"/>
              <p:nvPr/>
            </p:nvSpPr>
            <p:spPr>
              <a:xfrm>
                <a:off x="4656592" y="3083653"/>
                <a:ext cx="25755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CC174D92-C7A3-1614-619D-502CCC81A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592" y="3083653"/>
                <a:ext cx="2575520" cy="369332"/>
              </a:xfrm>
              <a:prstGeom prst="rect">
                <a:avLst/>
              </a:prstGeom>
              <a:blipFill>
                <a:blip r:embed="rId9"/>
                <a:stretch>
                  <a:fillRect l="-3081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90A8462-95E2-3151-F1E9-E01CBD169400}"/>
                  </a:ext>
                </a:extLst>
              </p:cNvPr>
              <p:cNvSpPr txBox="1"/>
              <p:nvPr/>
            </p:nvSpPr>
            <p:spPr>
              <a:xfrm>
                <a:off x="868252" y="3083653"/>
                <a:ext cx="15743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90A8462-95E2-3151-F1E9-E01CBD169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2" y="3083653"/>
                <a:ext cx="1574358" cy="369332"/>
              </a:xfrm>
              <a:prstGeom prst="rect">
                <a:avLst/>
              </a:prstGeom>
              <a:blipFill>
                <a:blip r:embed="rId10"/>
                <a:stretch>
                  <a:fillRect l="-5019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A1167CD-39F6-E32C-14D9-715C65EBC5DE}"/>
                  </a:ext>
                </a:extLst>
              </p:cNvPr>
              <p:cNvSpPr txBox="1"/>
              <p:nvPr/>
            </p:nvSpPr>
            <p:spPr>
              <a:xfrm>
                <a:off x="868252" y="3853375"/>
                <a:ext cx="7301319" cy="689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TW" alt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altLang="zh-TW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A1167CD-39F6-E32C-14D9-715C65EBC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2" y="3853375"/>
                <a:ext cx="7301319" cy="6896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F2B82712-045A-DD42-BE39-F28FB2061AFD}"/>
                  </a:ext>
                </a:extLst>
              </p:cNvPr>
              <p:cNvSpPr txBox="1"/>
              <p:nvPr/>
            </p:nvSpPr>
            <p:spPr>
              <a:xfrm>
                <a:off x="865528" y="5065532"/>
                <a:ext cx="705170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𝐮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F2B82712-045A-DD42-BE39-F28FB2061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28" y="5065532"/>
                <a:ext cx="7051706" cy="369332"/>
              </a:xfrm>
              <a:prstGeom prst="rect">
                <a:avLst/>
              </a:prstGeom>
              <a:blipFill>
                <a:blip r:embed="rId12"/>
                <a:stretch>
                  <a:fillRect l="-1556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4D6D402-36E0-8693-8006-690811D6B27E}"/>
                  </a:ext>
                </a:extLst>
              </p:cNvPr>
              <p:cNvSpPr txBox="1"/>
              <p:nvPr/>
            </p:nvSpPr>
            <p:spPr>
              <a:xfrm>
                <a:off x="3121364" y="5065532"/>
                <a:ext cx="153522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zh-TW" sz="2400" b="1">
                              <a:latin typeface="Trade Gothic Inline" panose="020B0504030203020204" pitchFamily="34" charset="0"/>
                              <a:ea typeface="STCaiyun" panose="020B0503020204020204" pitchFamily="2" charset="-122"/>
                            </a:rPr>
                            <m:t>R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STCaiyun" panose="020B0503020204020204" pitchFamily="2" charset="-122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4D6D402-36E0-8693-8006-690811D6B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364" y="5065532"/>
                <a:ext cx="1535228" cy="369332"/>
              </a:xfrm>
              <a:prstGeom prst="rect">
                <a:avLst/>
              </a:prstGeom>
              <a:blipFill>
                <a:blip r:embed="rId13"/>
                <a:stretch>
                  <a:fillRect l="-6746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DFD63C75-E31E-448A-C474-A73444A0E996}"/>
              </a:ext>
            </a:extLst>
          </p:cNvPr>
          <p:cNvSpPr txBox="1"/>
          <p:nvPr/>
        </p:nvSpPr>
        <p:spPr>
          <a:xfrm>
            <a:off x="4469032" y="5045823"/>
            <a:ext cx="81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Roboto" panose="02000000000000000000" pitchFamily="2" charset="0"/>
              </a:rPr>
              <a:t>is a </a:t>
            </a:r>
            <a:r>
              <a:rPr lang="en-US" altLang="zh-TW" b="0" i="1" dirty="0">
                <a:effectLst/>
                <a:latin typeface="Roboto" panose="02000000000000000000" pitchFamily="2" charset="0"/>
              </a:rPr>
              <a:t>matrix</a:t>
            </a:r>
            <a:r>
              <a:rPr lang="en-US" altLang="zh-TW" b="0" i="0" dirty="0">
                <a:effectLst/>
                <a:latin typeface="Roboto" panose="02000000000000000000" pitchFamily="2" charset="0"/>
              </a:rPr>
              <a:t> that contains the derivative of vector </a:t>
            </a:r>
            <a:r>
              <a:rPr lang="en-US" altLang="zh-TW" b="1" dirty="0">
                <a:effectLst/>
                <a:latin typeface="Roboto" panose="02000000000000000000" pitchFamily="2" charset="0"/>
              </a:rPr>
              <a:t>u</a:t>
            </a:r>
            <a:r>
              <a:rPr lang="en-US" altLang="zh-TW" b="0" i="0" dirty="0">
                <a:effectLst/>
                <a:latin typeface="Roboto" panose="02000000000000000000" pitchFamily="2" charset="0"/>
              </a:rPr>
              <a:t> with respect to vector 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x</a:t>
            </a:r>
            <a:r>
              <a:rPr lang="en-US" altLang="zh-TW" b="0" i="0" dirty="0">
                <a:effectLst/>
                <a:latin typeface="Roboto" panose="02000000000000000000" pitchFamily="2" charset="0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4761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93251"/>
            <a:ext cx="5760000" cy="50783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x = torch.tensor([1.0, 2.0, 3.0, 4.0], requires_grad=True)</a:t>
            </a:r>
          </a:p>
          <a:p>
            <a:r>
              <a:rPr lang="fr-FR" altLang="zh-TW" dirty="0"/>
              <a:t>print('x=', x, '\nx.grad=', x.grad)</a:t>
            </a:r>
          </a:p>
          <a:p>
            <a:endParaRPr lang="fr-FR" altLang="zh-TW" dirty="0"/>
          </a:p>
          <a:p>
            <a:r>
              <a:rPr lang="fr-FR" altLang="zh-TW" dirty="0"/>
              <a:t>y = 2 * torch.dot(x, x)</a:t>
            </a:r>
          </a:p>
          <a:p>
            <a:r>
              <a:rPr lang="fr-FR" altLang="zh-TW" dirty="0"/>
              <a:t>print('\ny=', y)</a:t>
            </a:r>
          </a:p>
          <a:p>
            <a:r>
              <a:rPr lang="fr-FR" altLang="zh-TW" dirty="0"/>
              <a:t>y.backward()</a:t>
            </a:r>
          </a:p>
          <a:p>
            <a:r>
              <a:rPr lang="fr-FR" altLang="zh-TW" dirty="0"/>
              <a:t>print('x.grad=', x.grad, '\n')</a:t>
            </a:r>
          </a:p>
          <a:p>
            <a:endParaRPr lang="fr-FR" altLang="zh-TW" dirty="0"/>
          </a:p>
          <a:p>
            <a:r>
              <a:rPr lang="fr-FR" altLang="zh-TW" dirty="0"/>
              <a:t>y2 = x * x</a:t>
            </a:r>
          </a:p>
          <a:p>
            <a:r>
              <a:rPr lang="fr-FR" altLang="zh-TW" dirty="0"/>
              <a:t>y2.backward(gradient=torch.ones(len(y2)))</a:t>
            </a:r>
          </a:p>
          <a:p>
            <a:r>
              <a:rPr lang="fr-FR" altLang="zh-TW" dirty="0"/>
              <a:t>print('x=', x, '\nx.grad=', x.grad)</a:t>
            </a:r>
          </a:p>
          <a:p>
            <a:endParaRPr lang="fr-FR" altLang="zh-TW" dirty="0"/>
          </a:p>
          <a:p>
            <a:r>
              <a:rPr lang="fr-FR" altLang="zh-TW" dirty="0"/>
              <a:t>x.grad.zero_()</a:t>
            </a:r>
          </a:p>
          <a:p>
            <a:r>
              <a:rPr lang="fr-FR" altLang="zh-TW" dirty="0"/>
              <a:t>y3 = x * x</a:t>
            </a:r>
          </a:p>
          <a:p>
            <a:r>
              <a:rPr lang="fr-FR" altLang="zh-TW" dirty="0"/>
              <a:t>y3.backward(gradient=torch.ones(len(y3)))</a:t>
            </a:r>
          </a:p>
          <a:p>
            <a:r>
              <a:rPr lang="fr-FR" altLang="zh-TW" dirty="0"/>
              <a:t>print('\nx=', x, '\nx.grad=', x.grad)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322920" y="993251"/>
            <a:ext cx="5760000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x= tensor([1., 2., 3., 4.], </a:t>
            </a:r>
            <a:r>
              <a:rPr lang="en-US" altLang="zh-TW" dirty="0" err="1"/>
              <a:t>requires_grad</a:t>
            </a:r>
            <a:r>
              <a:rPr lang="en-US" altLang="zh-TW" dirty="0"/>
              <a:t>=True) </a:t>
            </a:r>
          </a:p>
          <a:p>
            <a:r>
              <a:rPr lang="en-US" altLang="zh-TW" dirty="0" err="1"/>
              <a:t>x.grad</a:t>
            </a:r>
            <a:r>
              <a:rPr lang="en-US" altLang="zh-TW" dirty="0"/>
              <a:t>= None</a:t>
            </a:r>
          </a:p>
          <a:p>
            <a:endParaRPr lang="en-US" altLang="zh-TW" dirty="0"/>
          </a:p>
          <a:p>
            <a:r>
              <a:rPr lang="en-US" altLang="zh-TW" dirty="0"/>
              <a:t>y= tensor(60., </a:t>
            </a:r>
            <a:r>
              <a:rPr lang="en-US" altLang="zh-TW" dirty="0" err="1"/>
              <a:t>grad_fn</a:t>
            </a:r>
            <a:r>
              <a:rPr lang="en-US" altLang="zh-TW" dirty="0"/>
              <a:t>=&lt;MulBackward0&gt;)</a:t>
            </a:r>
          </a:p>
          <a:p>
            <a:r>
              <a:rPr lang="en-US" altLang="zh-TW" dirty="0" err="1"/>
              <a:t>x.grad</a:t>
            </a:r>
            <a:r>
              <a:rPr lang="en-US" altLang="zh-TW" dirty="0"/>
              <a:t>= tensor([ 4.,  8., 12., 16.]) </a:t>
            </a:r>
          </a:p>
          <a:p>
            <a:endParaRPr lang="en-US" altLang="zh-TW" dirty="0"/>
          </a:p>
          <a:p>
            <a:r>
              <a:rPr lang="en-US" altLang="zh-TW" dirty="0"/>
              <a:t>x= tensor([1., 2., 3., 4.], </a:t>
            </a:r>
            <a:r>
              <a:rPr lang="en-US" altLang="zh-TW" dirty="0" err="1"/>
              <a:t>requires_grad</a:t>
            </a:r>
            <a:r>
              <a:rPr lang="en-US" altLang="zh-TW" dirty="0"/>
              <a:t>=True) </a:t>
            </a:r>
          </a:p>
          <a:p>
            <a:r>
              <a:rPr lang="en-US" altLang="zh-TW" dirty="0" err="1"/>
              <a:t>x.grad</a:t>
            </a:r>
            <a:r>
              <a:rPr lang="en-US" altLang="zh-TW" dirty="0"/>
              <a:t>= tensor([ 6., 12., 18., 24.])</a:t>
            </a:r>
          </a:p>
          <a:p>
            <a:endParaRPr lang="en-US" altLang="zh-TW" dirty="0"/>
          </a:p>
          <a:p>
            <a:r>
              <a:rPr lang="en-US" altLang="zh-TW" dirty="0"/>
              <a:t>x= tensor([1., 2., 3., 4.], </a:t>
            </a:r>
            <a:r>
              <a:rPr lang="en-US" altLang="zh-TW" dirty="0" err="1"/>
              <a:t>requires_grad</a:t>
            </a:r>
            <a:r>
              <a:rPr lang="en-US" altLang="zh-TW" dirty="0"/>
              <a:t>=True) </a:t>
            </a:r>
          </a:p>
          <a:p>
            <a:r>
              <a:rPr lang="en-US" altLang="zh-TW" dirty="0" err="1"/>
              <a:t>x.grad</a:t>
            </a:r>
            <a:r>
              <a:rPr lang="en-US" altLang="zh-TW" dirty="0"/>
              <a:t>= tensor([2., 4., 6., 8.])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F9EE334-8A82-2874-96B4-CD0C374B98D2}"/>
              </a:ext>
            </a:extLst>
          </p:cNvPr>
          <p:cNvSpPr txBox="1"/>
          <p:nvPr/>
        </p:nvSpPr>
        <p:spPr>
          <a:xfrm>
            <a:off x="376075" y="179327"/>
            <a:ext cx="9656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a</a:t>
            </a:r>
            <a:r>
              <a:rPr lang="en-US" altLang="zh-TW" sz="3600" b="0" i="0" dirty="0">
                <a:effectLst/>
                <a:latin typeface="Roboto" panose="02000000000000000000" pitchFamily="2" charset="0"/>
              </a:rPr>
              <a:t>utomatic </a:t>
            </a:r>
            <a:r>
              <a:rPr lang="en-US" altLang="zh-TW" sz="3600" dirty="0">
                <a:latin typeface="Roboto" panose="02000000000000000000" pitchFamily="2" charset="0"/>
              </a:rPr>
              <a:t>d</a:t>
            </a:r>
            <a:r>
              <a:rPr lang="en-US" altLang="zh-TW" sz="3600" b="0" i="0" dirty="0">
                <a:effectLst/>
                <a:latin typeface="Roboto" panose="02000000000000000000" pitchFamily="2" charset="0"/>
              </a:rPr>
              <a:t>ifferentiation, </a:t>
            </a:r>
            <a:r>
              <a:rPr lang="en-US" altLang="zh-TW" sz="3600" b="0" i="1" dirty="0" err="1">
                <a:effectLst/>
                <a:latin typeface="Roboto" panose="02000000000000000000" pitchFamily="2" charset="0"/>
              </a:rPr>
              <a:t>autograd</a:t>
            </a:r>
            <a:endParaRPr lang="en-US" altLang="zh-TW" sz="3600" b="0" i="1" dirty="0">
              <a:effectLst/>
              <a:latin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B2A2EB0-DA2A-4119-876D-E0D2F1A792CF}"/>
                  </a:ext>
                </a:extLst>
              </p:cNvPr>
              <p:cNvSpPr txBox="1"/>
              <p:nvPr/>
            </p:nvSpPr>
            <p:spPr>
              <a:xfrm>
                <a:off x="3389850" y="2456416"/>
                <a:ext cx="717504" cy="28193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b="1" i="1" dirty="0"/>
                  <a:t>y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B2A2EB0-DA2A-4119-876D-E0D2F1A7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850" y="2456416"/>
                <a:ext cx="717504" cy="281937"/>
              </a:xfrm>
              <a:prstGeom prst="rect">
                <a:avLst/>
              </a:prstGeom>
              <a:blipFill>
                <a:blip r:embed="rId2"/>
                <a:stretch>
                  <a:fillRect l="-19492" t="-26087" r="-7627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A2FA61F-12CF-419F-95FC-AD0DC6FB5E44}"/>
                  </a:ext>
                </a:extLst>
              </p:cNvPr>
              <p:cNvSpPr txBox="1"/>
              <p:nvPr/>
            </p:nvSpPr>
            <p:spPr>
              <a:xfrm>
                <a:off x="3161967" y="3710558"/>
                <a:ext cx="586635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b="1" dirty="0"/>
                  <a:t>y</a:t>
                </a:r>
                <a14:m>
                  <m:oMath xmlns:m="http://schemas.openxmlformats.org/officeDocument/2006/math">
                    <m:r>
                      <a:rPr lang="en-US" altLang="zh-TW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A2FA61F-12CF-419F-95FC-AD0DC6FB5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967" y="3710558"/>
                <a:ext cx="586635" cy="276999"/>
              </a:xfrm>
              <a:prstGeom prst="rect">
                <a:avLst/>
              </a:prstGeom>
              <a:blipFill>
                <a:blip r:embed="rId3"/>
                <a:stretch>
                  <a:fillRect l="-25000" t="-28889" r="-6250" b="-5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ED22571-C2A7-45C6-9975-269B0D412673}"/>
                  </a:ext>
                </a:extLst>
              </p:cNvPr>
              <p:cNvSpPr txBox="1"/>
              <p:nvPr/>
            </p:nvSpPr>
            <p:spPr>
              <a:xfrm>
                <a:off x="4815963" y="4096396"/>
                <a:ext cx="589072" cy="28193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  <m:sSub>
                      <m:sSub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zh-TW" b="1" dirty="0"/>
                  <a:t>y</a:t>
                </a:r>
                <a:endParaRPr lang="zh-TW" altLang="en-US" b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ED22571-C2A7-45C6-9975-269B0D412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963" y="4096396"/>
                <a:ext cx="589072" cy="281937"/>
              </a:xfrm>
              <a:prstGeom prst="rect">
                <a:avLst/>
              </a:prstGeom>
              <a:blipFill>
                <a:blip r:embed="rId4"/>
                <a:stretch>
                  <a:fillRect l="-10309" t="-26087" r="-23711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D69F97A-566D-A8A2-B9C7-5777F30C99D8}"/>
                  </a:ext>
                </a:extLst>
              </p:cNvPr>
              <p:cNvSpPr txBox="1"/>
              <p:nvPr/>
            </p:nvSpPr>
            <p:spPr>
              <a:xfrm>
                <a:off x="3389850" y="2919028"/>
                <a:ext cx="1791706" cy="3132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TW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altLang="zh-TW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D69F97A-566D-A8A2-B9C7-5777F30C9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850" y="2919028"/>
                <a:ext cx="1791706" cy="313291"/>
              </a:xfrm>
              <a:prstGeom prst="rect">
                <a:avLst/>
              </a:prstGeom>
              <a:blipFill>
                <a:blip r:embed="rId5"/>
                <a:stretch>
                  <a:fillRect l="-4762" t="-3922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52E4D71-761D-B075-2F4F-6EA7B6610164}"/>
                  </a:ext>
                </a:extLst>
              </p:cNvPr>
              <p:cNvSpPr txBox="1"/>
              <p:nvPr/>
            </p:nvSpPr>
            <p:spPr>
              <a:xfrm>
                <a:off x="4214646" y="4545926"/>
                <a:ext cx="1791706" cy="3132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altLang="zh-TW" sz="2000" b="1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52E4D71-761D-B075-2F4F-6EA7B6610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646" y="4545926"/>
                <a:ext cx="1791706" cy="313291"/>
              </a:xfrm>
              <a:prstGeom prst="rect">
                <a:avLst/>
              </a:prstGeom>
              <a:blipFill>
                <a:blip r:embed="rId6"/>
                <a:stretch>
                  <a:fillRect l="-4762" t="-3922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A302C69E-E92A-CF27-B118-BB0C021D4136}"/>
              </a:ext>
            </a:extLst>
          </p:cNvPr>
          <p:cNvSpPr txBox="1"/>
          <p:nvPr/>
        </p:nvSpPr>
        <p:spPr>
          <a:xfrm>
            <a:off x="6322920" y="4545926"/>
            <a:ext cx="576000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b="1" dirty="0" err="1"/>
              <a:t>Tensor.backward</a:t>
            </a:r>
            <a:r>
              <a:rPr lang="en-US" altLang="zh-TW" b="1" dirty="0"/>
              <a:t>(gradient=None, </a:t>
            </a:r>
            <a:r>
              <a:rPr lang="en-US" altLang="zh-TW" b="1" dirty="0" err="1"/>
              <a:t>retain_graph</a:t>
            </a:r>
            <a:r>
              <a:rPr lang="en-US" altLang="zh-TW" b="1" dirty="0"/>
              <a:t>=None, </a:t>
            </a:r>
            <a:r>
              <a:rPr lang="en-US" altLang="zh-TW" b="1" dirty="0" err="1"/>
              <a:t>create_graph</a:t>
            </a:r>
            <a:r>
              <a:rPr lang="en-US" altLang="zh-TW" b="1" dirty="0"/>
              <a:t>=False, inputs=None)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This function </a:t>
            </a:r>
            <a:r>
              <a:rPr lang="en-US" altLang="zh-TW" dirty="0">
                <a:solidFill>
                  <a:srgbClr val="FF0000"/>
                </a:solidFill>
              </a:rPr>
              <a:t>accumulates</a:t>
            </a:r>
            <a:r>
              <a:rPr lang="en-US" altLang="zh-TW" dirty="0"/>
              <a:t> gradients in the leaves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3129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25518"/>
            <a:ext cx="5760000" cy="53553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x = torch.tensor([1.0, 2.0, 3.0, 4.0], requires_grad = True)</a:t>
            </a:r>
          </a:p>
          <a:p>
            <a:r>
              <a:rPr lang="fr-FR" altLang="zh-TW" dirty="0"/>
              <a:t>print('x=', x)</a:t>
            </a:r>
          </a:p>
          <a:p>
            <a:endParaRPr lang="fr-FR" altLang="zh-TW" dirty="0"/>
          </a:p>
          <a:p>
            <a:r>
              <a:rPr lang="fr-FR" altLang="zh-TW" dirty="0"/>
              <a:t>y = 3 * x * x</a:t>
            </a:r>
          </a:p>
          <a:p>
            <a:r>
              <a:rPr lang="fr-FR" altLang="zh-TW" dirty="0"/>
              <a:t>print('y=', y)</a:t>
            </a:r>
          </a:p>
          <a:p>
            <a:endParaRPr lang="fr-FR" altLang="zh-TW" dirty="0"/>
          </a:p>
          <a:p>
            <a:r>
              <a:rPr lang="fr-FR" altLang="zh-TW" dirty="0"/>
              <a:t>u = y.detach()</a:t>
            </a:r>
          </a:p>
          <a:p>
            <a:r>
              <a:rPr lang="fr-FR" altLang="zh-TW" dirty="0"/>
              <a:t>print('u=', u)</a:t>
            </a:r>
          </a:p>
          <a:p>
            <a:endParaRPr lang="fr-FR" altLang="zh-TW" dirty="0"/>
          </a:p>
          <a:p>
            <a:r>
              <a:rPr lang="fr-FR" altLang="zh-TW" dirty="0"/>
              <a:t>z = u * x</a:t>
            </a:r>
          </a:p>
          <a:p>
            <a:r>
              <a:rPr lang="fr-FR" altLang="zh-TW" dirty="0"/>
              <a:t>print('z=', z)</a:t>
            </a:r>
          </a:p>
          <a:p>
            <a:r>
              <a:rPr lang="fr-FR" altLang="zh-TW" dirty="0"/>
              <a:t>z.sum().backward()</a:t>
            </a:r>
          </a:p>
          <a:p>
            <a:r>
              <a:rPr lang="fr-FR" altLang="zh-TW" dirty="0"/>
              <a:t>print('\nx.grad=', x.grad)</a:t>
            </a:r>
          </a:p>
          <a:p>
            <a:endParaRPr lang="fr-FR" altLang="zh-TW" dirty="0"/>
          </a:p>
          <a:p>
            <a:r>
              <a:rPr lang="fr-FR" altLang="zh-TW" dirty="0"/>
              <a:t>x.grad.zero_()</a:t>
            </a:r>
          </a:p>
          <a:p>
            <a:r>
              <a:rPr lang="fr-FR" altLang="zh-TW" dirty="0"/>
              <a:t>y.sum().backward()</a:t>
            </a:r>
          </a:p>
          <a:p>
            <a:r>
              <a:rPr lang="fr-FR" altLang="zh-TW" dirty="0"/>
              <a:t>print('\nx.grad=', x.grad)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70102" y="925518"/>
            <a:ext cx="576000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/>
              <a:t>x= tensor([1., 2., 3., 4.], requires_grad=True)</a:t>
            </a:r>
          </a:p>
          <a:p>
            <a:r>
              <a:rPr lang="en-US" altLang="zh-TW"/>
              <a:t>y= tensor([ 3., 12., 27., 48.], grad_fn=&lt;MulBackward0&gt;)</a:t>
            </a:r>
          </a:p>
          <a:p>
            <a:r>
              <a:rPr lang="en-US" altLang="zh-TW"/>
              <a:t>u= tensor([ 3., 12., 27., 48.])</a:t>
            </a:r>
          </a:p>
          <a:p>
            <a:r>
              <a:rPr lang="en-US" altLang="zh-TW"/>
              <a:t>z= tensor([  3.,  24.,  81., 192.], grad_fn=&lt;MulBackward0&gt;)</a:t>
            </a:r>
          </a:p>
          <a:p>
            <a:endParaRPr lang="en-US" altLang="zh-TW"/>
          </a:p>
          <a:p>
            <a:r>
              <a:rPr lang="en-US" altLang="zh-TW"/>
              <a:t>x.grad= tensor([ 3., 12., 27., 48.])</a:t>
            </a:r>
          </a:p>
          <a:p>
            <a:endParaRPr lang="en-US" altLang="zh-TW"/>
          </a:p>
          <a:p>
            <a:r>
              <a:rPr lang="en-US" altLang="zh-TW"/>
              <a:t>x.grad= tensor([ 6., 12., 18., 24.])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5" y="1477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detaching computation</a:t>
            </a:r>
            <a:endParaRPr lang="en-US" altLang="zh-TW" sz="3600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0B08D-B2F6-3F10-1A65-671FEFA45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075" y="4026748"/>
            <a:ext cx="4870180" cy="92333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x</a:t>
            </a:r>
          </a:p>
          <a:p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y = </a:t>
            </a:r>
            <a:r>
              <a:rPr lang="en-US" altLang="zh-TW" sz="2000" dirty="0">
                <a:latin typeface="Arial Unicode MS"/>
                <a:ea typeface="Menlo"/>
              </a:rPr>
              <a:t>3</a:t>
            </a:r>
            <a:r>
              <a:rPr lang="zh-TW" altLang="en-US" sz="2000" dirty="0">
                <a:latin typeface="Arial Unicode MS"/>
                <a:ea typeface="Menlo"/>
              </a:rPr>
              <a:t> * 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x * x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                   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u=</a:t>
            </a:r>
            <a:r>
              <a:rPr kumimoji="0" lang="en-US" altLang="zh-TW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y.detach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                                       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z = 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u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 * 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Menlo"/>
              </a:rPr>
              <a:t>x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 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903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9216065-30D1-69D5-E575-CA34DF46AC5A}"/>
              </a:ext>
            </a:extLst>
          </p:cNvPr>
          <p:cNvSpPr txBox="1"/>
          <p:nvPr/>
        </p:nvSpPr>
        <p:spPr>
          <a:xfrm>
            <a:off x="376075" y="925518"/>
            <a:ext cx="5760000" cy="48013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altLang="zh-TW" dirty="0"/>
              <a:t>import torch</a:t>
            </a:r>
          </a:p>
          <a:p>
            <a:endParaRPr lang="fr-FR" altLang="zh-TW" dirty="0"/>
          </a:p>
          <a:p>
            <a:r>
              <a:rPr lang="fr-FR" altLang="zh-TW" dirty="0"/>
              <a:t>def f(a):</a:t>
            </a:r>
          </a:p>
          <a:p>
            <a:r>
              <a:rPr lang="fr-FR" altLang="zh-TW" dirty="0"/>
              <a:t>    b = a * 2</a:t>
            </a:r>
          </a:p>
          <a:p>
            <a:r>
              <a:rPr lang="fr-FR" altLang="zh-TW" dirty="0"/>
              <a:t>    while b.norm() &lt; 1000:</a:t>
            </a:r>
          </a:p>
          <a:p>
            <a:r>
              <a:rPr lang="fr-FR" altLang="zh-TW" dirty="0"/>
              <a:t>        b = b * 2</a:t>
            </a:r>
          </a:p>
          <a:p>
            <a:r>
              <a:rPr lang="fr-FR" altLang="zh-TW" dirty="0"/>
              <a:t>    if b.sum() &gt; 0:</a:t>
            </a:r>
          </a:p>
          <a:p>
            <a:r>
              <a:rPr lang="fr-FR" altLang="zh-TW" dirty="0"/>
              <a:t>        c = b</a:t>
            </a:r>
          </a:p>
          <a:p>
            <a:r>
              <a:rPr lang="fr-FR" altLang="zh-TW" dirty="0"/>
              <a:t>    else:</a:t>
            </a:r>
          </a:p>
          <a:p>
            <a:r>
              <a:rPr lang="fr-FR" altLang="zh-TW" dirty="0"/>
              <a:t>        c = 100 * b</a:t>
            </a:r>
          </a:p>
          <a:p>
            <a:r>
              <a:rPr lang="fr-FR" altLang="zh-TW" dirty="0"/>
              <a:t>    return c</a:t>
            </a:r>
          </a:p>
          <a:p>
            <a:endParaRPr lang="fr-FR" altLang="zh-TW" dirty="0"/>
          </a:p>
          <a:p>
            <a:r>
              <a:rPr lang="fr-FR" altLang="zh-TW" dirty="0"/>
              <a:t>a = torch.randn(size=(), requires_grad=True)</a:t>
            </a:r>
          </a:p>
          <a:p>
            <a:r>
              <a:rPr lang="fr-FR" altLang="zh-TW" dirty="0"/>
              <a:t>d = f(a)</a:t>
            </a:r>
          </a:p>
          <a:p>
            <a:r>
              <a:rPr lang="fr-FR" altLang="zh-TW" dirty="0"/>
              <a:t>d.backward()</a:t>
            </a:r>
          </a:p>
          <a:p>
            <a:endParaRPr lang="fr-FR" altLang="zh-TW" dirty="0"/>
          </a:p>
          <a:p>
            <a:r>
              <a:rPr lang="fr-FR" altLang="zh-TW" dirty="0"/>
              <a:t>print(a.grad == d / a)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74AABC-3B74-3EE5-B713-3BBF32CD29FE}"/>
              </a:ext>
            </a:extLst>
          </p:cNvPr>
          <p:cNvSpPr txBox="1"/>
          <p:nvPr/>
        </p:nvSpPr>
        <p:spPr>
          <a:xfrm>
            <a:off x="6203088" y="5357500"/>
            <a:ext cx="57600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tensor(True)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3DBB14-9892-A2A5-D65A-BF10E6AB5E70}"/>
              </a:ext>
            </a:extLst>
          </p:cNvPr>
          <p:cNvSpPr txBox="1"/>
          <p:nvPr/>
        </p:nvSpPr>
        <p:spPr>
          <a:xfrm>
            <a:off x="376074" y="174659"/>
            <a:ext cx="82390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dirty="0">
                <a:latin typeface="Roboto" panose="02000000000000000000" pitchFamily="2" charset="0"/>
              </a:rPr>
              <a:t>gradients and Python control flow</a:t>
            </a:r>
            <a:endParaRPr lang="en-US" altLang="zh-TW" sz="3600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4FEEB1-A380-CFDB-F91D-7B8CCC338572}"/>
              </a:ext>
            </a:extLst>
          </p:cNvPr>
          <p:cNvSpPr txBox="1"/>
          <p:nvPr/>
        </p:nvSpPr>
        <p:spPr>
          <a:xfrm>
            <a:off x="6346946" y="925518"/>
            <a:ext cx="54722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0" i="0" dirty="0">
                <a:effectLst/>
                <a:highlight>
                  <a:srgbClr val="FAFAFA"/>
                </a:highlight>
                <a:latin typeface="Roboto" panose="02000000000000000000" pitchFamily="2" charset="0"/>
              </a:rPr>
              <a:t>One benefit of using automatic differentiation is that even if building the computational graph of a function required passing through a maze of Python control flow (e.g., conditionals, loops, and arbitrary function calls), we can still calculate the gradient of the resulting variable.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02526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F36AB2-4B0B-DA36-F6D6-D6DA2B7E6E45}"/>
              </a:ext>
            </a:extLst>
          </p:cNvPr>
          <p:cNvSpPr txBox="1"/>
          <p:nvPr/>
        </p:nvSpPr>
        <p:spPr>
          <a:xfrm>
            <a:off x="31172" y="443345"/>
            <a:ext cx="5943600" cy="106182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tensor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 err="1">
                <a:solidFill>
                  <a:srgbClr val="56A8F5"/>
                </a:solidFill>
                <a:effectLst/>
                <a:latin typeface="JetBrains Mono"/>
              </a:rPr>
              <a:t>showDeviceInfo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'Device: 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torch.cuda.get_device_name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'Memory Usage:'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'Total:'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round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torch.cuda.get_device_properties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total_memory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1024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'GB'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'Allocated:'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round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torch.cuda.memory_allocated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 /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1024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'GB'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'Cached:   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round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torch.cuda.memory_reserved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 /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1024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'GB'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__name__ ==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'__main__'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setting device on GPU if available, else CPU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device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torch.device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cuda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torch.cuda.is_available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else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cpu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'Using device:'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device,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show 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cuda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device information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device.type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cuda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showDeviceInfo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t.tensorTest1()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t.tensorTest2()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t.tensorTest3()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t.tensorTest4()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t.tensorTest5()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t.tensorTest6()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t.tensorTest7()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t.tensorTest8()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t.tensorTest9()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t.tensorTest10()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t.tensorTest11()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t.tensorTest12()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t.tensorTest13()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t.tensorTest14()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1E0661-9266-B739-C970-9F06DEB449AC}"/>
              </a:ext>
            </a:extLst>
          </p:cNvPr>
          <p:cNvSpPr txBox="1"/>
          <p:nvPr/>
        </p:nvSpPr>
        <p:spPr>
          <a:xfrm>
            <a:off x="6248398" y="450272"/>
            <a:ext cx="5943601" cy="685110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np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1D tensor with 12 elements 0,1,...,11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x1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'x1='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x1)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1D tensor with 12 zeros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torch.zeros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2D tensor with 3x4 ones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torch.ones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'x3='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x3)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2D tensor with 3x4 uniform distributed random numbers [0.0, 1.0)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x4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torch.rand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'x4='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x4)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3D tensor with 2x3x4 gaussian random numbers N(0.0, 1.0)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x5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torch.randn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'x5='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x5)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x.shape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x.shape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x.size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x.numel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x.numel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x.type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'type(x)='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x.reshape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],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y.shape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y.shape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y.size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y.numel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y.numel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y.type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'type(x)='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(y))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t0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1.23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0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't0='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t0, t0.shape)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t1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1.23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1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't1='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t1, t1.shape)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t12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1.23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2.34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1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't12='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t12, t12.shape)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1.23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]])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2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t2, t2.shape)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t23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1.23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2.34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3.45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],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4.56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5.67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6.78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]])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2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't23='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t23, t23.shape)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([[[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1.23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]]])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3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't3='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t3, t3.shape)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t34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dim = 3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't34='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t34, t34.shape)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t1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't1='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t1, t1.size())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torch.squeeze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(t1)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t2, t2.size())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torch.unsqueeze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(t2,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't3='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t3, t3.size())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t4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torch.unsqueeze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(t2,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't4='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t4, t4.size())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'x[1]='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'x[-1]='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x[-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'x[:, 1:3]='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x[:,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'x[:2, 3:]='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x[: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x[:,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200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x+y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 +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'x-y='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 -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'x*y='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 *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'x/y='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 /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'x**y='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 **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ex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torch.exp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'ex='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ex)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tensorTest7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=torch.float32).reshape(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130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=torch.float32).reshape(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z1 = torch.cat([x, y],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dim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'z1='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z1)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z2 = torch.cat([x, y],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dim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'z2='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z2)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x2,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'x2.item()='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x2.item())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x.mean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'x3='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x3)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tensorTest8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t.clone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t.T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't3='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t3)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t4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't4='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t4)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t5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axis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't5='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t5)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t6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axis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't6='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t6)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tensorTest9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=torch.float32).reshape(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-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=torch.float32).reshape(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torch.matmul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z2 = x @ y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s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torch.matmul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(x, y).size()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f'x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y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z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x2=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z2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s=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s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z4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torch.transpose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z5 = torch.t(y)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z6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torch.inverse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(z)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f'z4=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z4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z5=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z5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z6=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z6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a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a)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b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'b='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b)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a+b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a + b)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a2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a2)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b2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).reshape((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'b2='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b2)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'a2+b2='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a2 + b2)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tensorTest11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a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np.array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],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a,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a.ndim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a.ndim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(a)='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(a))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b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torch.from_numpy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(a)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b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b,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(b)='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(b))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c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b.numpy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c,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(c)='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type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(c))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d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2.3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d,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d.item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()='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d.item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tensorTest12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requires_grad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torch.dot(x, 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y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y.backward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y2 = x * 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y2.backward(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gradient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torch.ones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(y2)))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x.grad.zero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_()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y3 = x * 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y3.backward(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gradient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torch.ones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(y3)))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tensorTest13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4.0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requires_grad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'x='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y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x * 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'y='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u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y.detach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'u='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u)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z = u * 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'z='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z)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z.sum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().backward()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x.grad.zero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_()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().backward()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='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(a):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b = a 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while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b.norm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&lt;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b = b 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&gt;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c = b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else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c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b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tensorTest14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a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torch.randn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=(),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requires_grad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d = f(a)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d.backward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a.grad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== d / a)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EEC71F-0970-ED98-EACD-00AE57A6FCC0}"/>
              </a:ext>
            </a:extLst>
          </p:cNvPr>
          <p:cNvSpPr txBox="1"/>
          <p:nvPr/>
        </p:nvSpPr>
        <p:spPr>
          <a:xfrm>
            <a:off x="2940628" y="2906940"/>
            <a:ext cx="6158344" cy="543841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C:\Users\user\anaconda3\envs\torch5800\python.exe E:\Pytorch\L002_Tensor\main.py </a:t>
            </a:r>
          </a:p>
          <a:p>
            <a:r>
              <a:rPr lang="zh-TW" altLang="en-US" dirty="0"/>
              <a:t>Using device: cuda </a:t>
            </a:r>
          </a:p>
          <a:p>
            <a:endParaRPr lang="zh-TW" altLang="en-US" dirty="0"/>
          </a:p>
          <a:p>
            <a:r>
              <a:rPr lang="zh-TW" altLang="en-US" dirty="0"/>
              <a:t>Device:  NVIDIA GeForce RTX 5080</a:t>
            </a:r>
          </a:p>
          <a:p>
            <a:r>
              <a:rPr lang="zh-TW" altLang="en-US" dirty="0"/>
              <a:t>Memory Usage:</a:t>
            </a:r>
          </a:p>
          <a:p>
            <a:r>
              <a:rPr lang="zh-TW" altLang="en-US" dirty="0"/>
              <a:t>Total: 15.9 GB</a:t>
            </a:r>
          </a:p>
          <a:p>
            <a:r>
              <a:rPr lang="zh-TW" altLang="en-US" dirty="0"/>
              <a:t>Allocated: 0.0 GB</a:t>
            </a:r>
          </a:p>
          <a:p>
            <a:r>
              <a:rPr lang="zh-TW" altLang="en-US" dirty="0"/>
              <a:t>Cached:    0.0 GB</a:t>
            </a:r>
          </a:p>
          <a:p>
            <a:r>
              <a:rPr lang="zh-TW" altLang="en-US" dirty="0"/>
              <a:t>x1= tensor([ 0,  1,  2,  3,  4,  5,  6,  7,  8,  9, 10, 11])</a:t>
            </a:r>
          </a:p>
          <a:p>
            <a:r>
              <a:rPr lang="zh-TW" altLang="en-US" dirty="0"/>
              <a:t>x2= tensor([0., 0., 0., 0., 0., 0., 0., 0., 0., 0., 0., 0.])</a:t>
            </a:r>
          </a:p>
          <a:p>
            <a:r>
              <a:rPr lang="zh-TW" altLang="en-US" dirty="0"/>
              <a:t>x3= tensor([[1., 1., 1., 1.],</a:t>
            </a:r>
          </a:p>
          <a:p>
            <a:r>
              <a:rPr lang="zh-TW" altLang="en-US" dirty="0"/>
              <a:t>        [1., 1., 1., 1.],</a:t>
            </a:r>
          </a:p>
          <a:p>
            <a:r>
              <a:rPr lang="zh-TW" altLang="en-US" dirty="0"/>
              <a:t>        [1., 1., 1., 1.]])</a:t>
            </a:r>
          </a:p>
          <a:p>
            <a:r>
              <a:rPr lang="zh-TW" altLang="en-US" dirty="0"/>
              <a:t>x4= tensor([[0.0673, 0.4315, 0.9252, 0.8474],</a:t>
            </a:r>
          </a:p>
          <a:p>
            <a:r>
              <a:rPr lang="zh-TW" altLang="en-US" dirty="0"/>
              <a:t>        [0.1730, 0.4355, 0.3064, 0.4488],</a:t>
            </a:r>
          </a:p>
          <a:p>
            <a:r>
              <a:rPr lang="zh-TW" altLang="en-US" dirty="0"/>
              <a:t>        [0.4823, 0.1264, 0.7609, 0.1564]])</a:t>
            </a:r>
          </a:p>
          <a:p>
            <a:r>
              <a:rPr lang="zh-TW" altLang="en-US" dirty="0"/>
              <a:t>x5= tensor([[[ 0.3359, -1.2014,  1.5538,  0.9875],</a:t>
            </a:r>
          </a:p>
          <a:p>
            <a:r>
              <a:rPr lang="zh-TW" altLang="en-US" dirty="0"/>
              <a:t>         [ 0.5659,  2.1073, -0.5533,  0.6587],</a:t>
            </a:r>
          </a:p>
          <a:p>
            <a:r>
              <a:rPr lang="zh-TW" altLang="en-US" dirty="0"/>
              <a:t>         [ 1.7108, -1.3636, -0.4512, -0.3523]],</a:t>
            </a:r>
          </a:p>
          <a:p>
            <a:endParaRPr lang="zh-TW" altLang="en-US" dirty="0"/>
          </a:p>
          <a:p>
            <a:r>
              <a:rPr lang="zh-TW" altLang="en-US" dirty="0"/>
              <a:t>        [[ 0.6276,  0.0053,  0.3826, -0.1600],</a:t>
            </a:r>
          </a:p>
          <a:p>
            <a:r>
              <a:rPr lang="zh-TW" altLang="en-US" dirty="0"/>
              <a:t>         [-1.1537,  0.9114, -0.3342, -0.3813],</a:t>
            </a:r>
          </a:p>
          <a:p>
            <a:r>
              <a:rPr lang="zh-TW" altLang="en-US" dirty="0"/>
              <a:t>         [ 0.9714, -1.8746, -0.2780,  0.7564]]])</a:t>
            </a:r>
          </a:p>
          <a:p>
            <a:r>
              <a:rPr lang="zh-TW" altLang="en-US" dirty="0"/>
              <a:t>x= tensor([1, 2, 3, 4, 5, 6])</a:t>
            </a:r>
          </a:p>
          <a:p>
            <a:r>
              <a:rPr lang="zh-TW" altLang="en-US" dirty="0"/>
              <a:t>x.shape= torch.Size([6])</a:t>
            </a:r>
          </a:p>
          <a:p>
            <a:r>
              <a:rPr lang="zh-TW" altLang="en-US" dirty="0"/>
              <a:t>x.size()= torch.Size([6])</a:t>
            </a:r>
          </a:p>
          <a:p>
            <a:r>
              <a:rPr lang="zh-TW" altLang="en-US" dirty="0"/>
              <a:t>x.numel()= 6</a:t>
            </a:r>
          </a:p>
          <a:p>
            <a:r>
              <a:rPr lang="zh-TW" altLang="en-US" dirty="0"/>
              <a:t>x.type()= torch.LongTensor</a:t>
            </a:r>
          </a:p>
          <a:p>
            <a:r>
              <a:rPr lang="zh-TW" altLang="en-US" dirty="0"/>
              <a:t>type(x)= &lt;class 'torch.Tensor'&gt;</a:t>
            </a:r>
          </a:p>
          <a:p>
            <a:r>
              <a:rPr lang="zh-TW" altLang="en-US" dirty="0"/>
              <a:t>x2= tensor([[1, 2, 3],</a:t>
            </a:r>
          </a:p>
          <a:p>
            <a:r>
              <a:rPr lang="zh-TW" altLang="en-US" dirty="0"/>
              <a:t>        [4, 5, 6]])</a:t>
            </a:r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y= tensor([[1., 2., 3.],</a:t>
            </a:r>
          </a:p>
          <a:p>
            <a:r>
              <a:rPr lang="zh-TW" altLang="en-US" dirty="0"/>
              <a:t>        [4., 5., 6.]])</a:t>
            </a:r>
          </a:p>
          <a:p>
            <a:r>
              <a:rPr lang="zh-TW" altLang="en-US" dirty="0"/>
              <a:t>y.shape= torch.Size([2, 3])</a:t>
            </a:r>
          </a:p>
          <a:p>
            <a:r>
              <a:rPr lang="zh-TW" altLang="en-US" dirty="0"/>
              <a:t>y.size()= torch.Size([2, 3])</a:t>
            </a:r>
          </a:p>
          <a:p>
            <a:r>
              <a:rPr lang="zh-TW" altLang="en-US" dirty="0"/>
              <a:t>y.numel()= 6</a:t>
            </a:r>
          </a:p>
          <a:p>
            <a:r>
              <a:rPr lang="zh-TW" altLang="en-US" dirty="0"/>
              <a:t>y.type()= torch.FloatTensor</a:t>
            </a:r>
          </a:p>
          <a:p>
            <a:r>
              <a:rPr lang="zh-TW" altLang="en-US" dirty="0"/>
              <a:t>type(x)= &lt;class 'torch.Tensor'&gt;</a:t>
            </a:r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t0= tensor(1.2300) torch.Size([])</a:t>
            </a:r>
          </a:p>
          <a:p>
            <a:r>
              <a:rPr lang="zh-TW" altLang="en-US" dirty="0"/>
              <a:t>t1= tensor([1.2300]) torch.Size([1])</a:t>
            </a:r>
          </a:p>
          <a:p>
            <a:r>
              <a:rPr lang="zh-TW" altLang="en-US" dirty="0"/>
              <a:t>t12= tensor([1.2300, 2.3400]) torch.Size([2])</a:t>
            </a:r>
          </a:p>
          <a:p>
            <a:r>
              <a:rPr lang="zh-TW" altLang="en-US" dirty="0"/>
              <a:t>t2= tensor([[1.2300]]) torch.Size([1, 1])</a:t>
            </a:r>
          </a:p>
          <a:p>
            <a:r>
              <a:rPr lang="zh-TW" altLang="en-US" dirty="0"/>
              <a:t>t23= tensor([[1.2300, 2.3400, 3.4500],</a:t>
            </a:r>
          </a:p>
          <a:p>
            <a:r>
              <a:rPr lang="zh-TW" altLang="en-US" dirty="0"/>
              <a:t>        [4.5600, 5.6700, 6.7800]]) torch.Size([2, 3])</a:t>
            </a:r>
          </a:p>
          <a:p>
            <a:r>
              <a:rPr lang="zh-TW" altLang="en-US" dirty="0"/>
              <a:t>t3= tensor([[[1.2300]]]) torch.Size([1, 1, 1])</a:t>
            </a:r>
          </a:p>
          <a:p>
            <a:r>
              <a:rPr lang="zh-TW" altLang="en-US" dirty="0"/>
              <a:t>t34= tensor([[ 0,  1,  2,  3],</a:t>
            </a:r>
          </a:p>
          <a:p>
            <a:r>
              <a:rPr lang="zh-TW" altLang="en-US" dirty="0"/>
              <a:t>        [ 4,  5,  6,  7],</a:t>
            </a:r>
          </a:p>
          <a:p>
            <a:r>
              <a:rPr lang="zh-TW" altLang="en-US" dirty="0"/>
              <a:t>        [ 8,  9, 10, 11]]) torch.Size([3, 4])</a:t>
            </a:r>
          </a:p>
          <a:p>
            <a:r>
              <a:rPr lang="zh-TW" altLang="en-US" dirty="0"/>
              <a:t>t1= tensor([[[[0, 1, 2]]],</a:t>
            </a:r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        [[[3, 4, 5]]]]) torch.Size([2, 1, 1, 3])</a:t>
            </a:r>
          </a:p>
          <a:p>
            <a:r>
              <a:rPr lang="zh-TW" altLang="en-US" dirty="0"/>
              <a:t>t2= tensor([[0, 1, 2],</a:t>
            </a:r>
          </a:p>
          <a:p>
            <a:r>
              <a:rPr lang="zh-TW" altLang="en-US" dirty="0"/>
              <a:t>        [3, 4, 5]]) torch.Size([2, 3])</a:t>
            </a:r>
          </a:p>
          <a:p>
            <a:r>
              <a:rPr lang="zh-TW" altLang="en-US" dirty="0"/>
              <a:t>t3= tensor([[[0, 1, 2],</a:t>
            </a:r>
          </a:p>
          <a:p>
            <a:r>
              <a:rPr lang="zh-TW" altLang="en-US" dirty="0"/>
              <a:t>         [3, 4, 5]]]) torch.Size([1, 2, 3])</a:t>
            </a:r>
          </a:p>
          <a:p>
            <a:r>
              <a:rPr lang="zh-TW" altLang="en-US" dirty="0"/>
              <a:t>t4= tensor([[[0],</a:t>
            </a:r>
          </a:p>
          <a:p>
            <a:r>
              <a:rPr lang="zh-TW" altLang="en-US" dirty="0"/>
              <a:t>         [1],</a:t>
            </a:r>
          </a:p>
          <a:p>
            <a:r>
              <a:rPr lang="zh-TW" altLang="en-US" dirty="0"/>
              <a:t>         [2]],</a:t>
            </a:r>
          </a:p>
          <a:p>
            <a:endParaRPr lang="zh-TW" altLang="en-US" dirty="0"/>
          </a:p>
          <a:p>
            <a:r>
              <a:rPr lang="zh-TW" altLang="en-US" dirty="0"/>
              <a:t>        [[3],</a:t>
            </a:r>
          </a:p>
          <a:p>
            <a:r>
              <a:rPr lang="zh-TW" altLang="en-US" dirty="0"/>
              <a:t>         [4],</a:t>
            </a:r>
          </a:p>
          <a:p>
            <a:r>
              <a:rPr lang="zh-TW" altLang="en-US" dirty="0"/>
              <a:t>         [5]]]) torch.Size([2, 3, 1])</a:t>
            </a:r>
          </a:p>
          <a:p>
            <a:r>
              <a:rPr lang="zh-TW" altLang="en-US" dirty="0"/>
              <a:t>x= tensor([[ 0,  1,  2,  3,  4],</a:t>
            </a:r>
          </a:p>
          <a:p>
            <a:r>
              <a:rPr lang="zh-TW" altLang="en-US" dirty="0"/>
              <a:t>        [ 5,  6,  7,  8,  9],</a:t>
            </a:r>
          </a:p>
          <a:p>
            <a:r>
              <a:rPr lang="zh-TW" altLang="en-US" dirty="0"/>
              <a:t>        [10, 11, 12, 13, 14],</a:t>
            </a:r>
          </a:p>
          <a:p>
            <a:r>
              <a:rPr lang="zh-TW" altLang="en-US" dirty="0"/>
              <a:t>        [15, 16, 17, 18, 19]])</a:t>
            </a:r>
          </a:p>
          <a:p>
            <a:r>
              <a:rPr lang="zh-TW" altLang="en-US" dirty="0"/>
              <a:t>x[1]= tensor([5, 6, 7, 8, 9])</a:t>
            </a:r>
          </a:p>
          <a:p>
            <a:r>
              <a:rPr lang="zh-TW" altLang="en-US" dirty="0"/>
              <a:t>x[-1]= tensor([15, 16, 17, 18, 19])</a:t>
            </a:r>
          </a:p>
          <a:p>
            <a:r>
              <a:rPr lang="zh-TW" altLang="en-US" dirty="0"/>
              <a:t>x[:, 1:3]= tensor([[ 1,  2],</a:t>
            </a:r>
          </a:p>
          <a:p>
            <a:r>
              <a:rPr lang="zh-TW" altLang="en-US" dirty="0"/>
              <a:t>        [ 6,  7],</a:t>
            </a:r>
          </a:p>
          <a:p>
            <a:r>
              <a:rPr lang="zh-TW" altLang="en-US" dirty="0"/>
              <a:t>        [11, 12],</a:t>
            </a:r>
          </a:p>
          <a:p>
            <a:r>
              <a:rPr lang="zh-TW" altLang="en-US" dirty="0"/>
              <a:t>        [16, 17]])</a:t>
            </a:r>
          </a:p>
          <a:p>
            <a:r>
              <a:rPr lang="zh-TW" altLang="en-US" dirty="0"/>
              <a:t>x[:2, 3:]= tensor([[3, 4],</a:t>
            </a:r>
          </a:p>
          <a:p>
            <a:r>
              <a:rPr lang="zh-TW" altLang="en-US" dirty="0"/>
              <a:t>        [8, 9]])</a:t>
            </a:r>
          </a:p>
          <a:p>
            <a:r>
              <a:rPr lang="zh-TW" altLang="en-US" dirty="0"/>
              <a:t>x= tensor([[  0,   1, 200, 200,   4],</a:t>
            </a:r>
          </a:p>
          <a:p>
            <a:r>
              <a:rPr lang="zh-TW" altLang="en-US" dirty="0"/>
              <a:t>        [  5, 100, 200, 200,   9],</a:t>
            </a:r>
          </a:p>
          <a:p>
            <a:r>
              <a:rPr lang="zh-TW" altLang="en-US" dirty="0"/>
              <a:t>        [ 10,  11, 200, 200,  14],</a:t>
            </a:r>
          </a:p>
          <a:p>
            <a:r>
              <a:rPr lang="zh-TW" altLang="en-US" dirty="0"/>
              <a:t>        [ 15,  16, 200, 200,  19]])</a:t>
            </a:r>
          </a:p>
          <a:p>
            <a:r>
              <a:rPr lang="zh-TW" altLang="en-US" dirty="0"/>
              <a:t>x= tensor([[0, 1, 2],</a:t>
            </a:r>
          </a:p>
          <a:p>
            <a:r>
              <a:rPr lang="zh-TW" altLang="en-US" dirty="0"/>
              <a:t>        [3, 4, 5]])</a:t>
            </a:r>
          </a:p>
          <a:p>
            <a:r>
              <a:rPr lang="zh-TW" altLang="en-US" dirty="0"/>
              <a:t>y= tensor([[2, 3, 4],</a:t>
            </a:r>
          </a:p>
          <a:p>
            <a:r>
              <a:rPr lang="zh-TW" altLang="en-US" dirty="0"/>
              <a:t>        [5, 6, 7]])</a:t>
            </a:r>
          </a:p>
          <a:p>
            <a:r>
              <a:rPr lang="zh-TW" altLang="en-US" dirty="0"/>
              <a:t>x+y= tensor([[ 2,  4,  6],</a:t>
            </a:r>
          </a:p>
          <a:p>
            <a:r>
              <a:rPr lang="zh-TW" altLang="en-US" dirty="0"/>
              <a:t>        [ 8, 10, 12]])</a:t>
            </a:r>
          </a:p>
          <a:p>
            <a:r>
              <a:rPr lang="zh-TW" altLang="en-US" dirty="0"/>
              <a:t>x-y= tensor([[-2, -2, -2],</a:t>
            </a:r>
          </a:p>
          <a:p>
            <a:r>
              <a:rPr lang="zh-TW" altLang="en-US" dirty="0"/>
              <a:t>        [-2, -2, -2]])</a:t>
            </a:r>
          </a:p>
          <a:p>
            <a:r>
              <a:rPr lang="zh-TW" altLang="en-US" dirty="0"/>
              <a:t>x*y= tensor([[ 0,  3,  8],</a:t>
            </a:r>
          </a:p>
          <a:p>
            <a:r>
              <a:rPr lang="zh-TW" altLang="en-US" dirty="0"/>
              <a:t>        [15, 24, 35]])</a:t>
            </a:r>
          </a:p>
          <a:p>
            <a:r>
              <a:rPr lang="zh-TW" altLang="en-US" dirty="0"/>
              <a:t>x/y= tensor([[0.0000, 0.3333, 0.5000],</a:t>
            </a:r>
          </a:p>
          <a:p>
            <a:r>
              <a:rPr lang="zh-TW" altLang="en-US" dirty="0"/>
              <a:t>        [0.6000, 0.6667, 0.7143]])</a:t>
            </a:r>
          </a:p>
          <a:p>
            <a:r>
              <a:rPr lang="zh-TW" altLang="en-US" dirty="0"/>
              <a:t>x**y= tensor([[    0,     1,    16],</a:t>
            </a:r>
          </a:p>
          <a:p>
            <a:r>
              <a:rPr lang="zh-TW" altLang="en-US" dirty="0"/>
              <a:t>        [  243,  4096, 78125]])</a:t>
            </a:r>
          </a:p>
          <a:p>
            <a:r>
              <a:rPr lang="zh-TW" altLang="en-US" dirty="0"/>
              <a:t>ex= tensor([[  1.0000,   2.7183,   7.3891],</a:t>
            </a:r>
          </a:p>
          <a:p>
            <a:r>
              <a:rPr lang="zh-TW" altLang="en-US" dirty="0"/>
              <a:t>        [ 20.0855,  54.5981, 148.4132]])</a:t>
            </a:r>
          </a:p>
          <a:p>
            <a:r>
              <a:rPr lang="zh-TW" altLang="en-US" dirty="0"/>
              <a:t>x= tensor([[ 0.,  1.,  2.,  3.],</a:t>
            </a:r>
          </a:p>
          <a:p>
            <a:r>
              <a:rPr lang="zh-TW" altLang="en-US" dirty="0"/>
              <a:t>        [ 4.,  5.,  6.,  7.],</a:t>
            </a:r>
          </a:p>
          <a:p>
            <a:r>
              <a:rPr lang="zh-TW" altLang="en-US" dirty="0"/>
              <a:t>        [ 8.,  9., 10., 11.]]) </a:t>
            </a:r>
          </a:p>
          <a:p>
            <a:r>
              <a:rPr lang="zh-TW" altLang="en-US" dirty="0"/>
              <a:t>y= tensor([[ 10.,  20.,  30.,  40.],</a:t>
            </a:r>
          </a:p>
          <a:p>
            <a:r>
              <a:rPr lang="zh-TW" altLang="en-US" dirty="0"/>
              <a:t>        [ 50.,  60.,  70.,  80.],</a:t>
            </a:r>
          </a:p>
          <a:p>
            <a:r>
              <a:rPr lang="zh-TW" altLang="en-US" dirty="0"/>
              <a:t>        [ 90., 100., 110., 120.]])</a:t>
            </a:r>
          </a:p>
          <a:p>
            <a:r>
              <a:rPr lang="zh-TW" altLang="en-US" dirty="0"/>
              <a:t>z1= tensor([[  0.,   1.,   2.,   3.],</a:t>
            </a:r>
          </a:p>
          <a:p>
            <a:r>
              <a:rPr lang="zh-TW" altLang="en-US" dirty="0"/>
              <a:t>        [  4.,   5.,   6.,   7.],</a:t>
            </a:r>
          </a:p>
          <a:p>
            <a:r>
              <a:rPr lang="zh-TW" altLang="en-US" dirty="0"/>
              <a:t>        [  8.,   9.,  10.,  11.],</a:t>
            </a:r>
          </a:p>
          <a:p>
            <a:r>
              <a:rPr lang="zh-TW" altLang="en-US" dirty="0"/>
              <a:t>        [ 10.,  20.,  30.,  40.],</a:t>
            </a:r>
          </a:p>
          <a:p>
            <a:r>
              <a:rPr lang="zh-TW" altLang="en-US" dirty="0"/>
              <a:t>        [ 50.,  60.,  70.,  80.],</a:t>
            </a:r>
          </a:p>
          <a:p>
            <a:r>
              <a:rPr lang="zh-TW" altLang="en-US" dirty="0"/>
              <a:t>        [ 90., 100., 110., 120.]])</a:t>
            </a:r>
          </a:p>
          <a:p>
            <a:r>
              <a:rPr lang="zh-TW" altLang="en-US" dirty="0"/>
              <a:t>z2= tensor([[  0.,   1.,   2.,   3.,  10.,  20.,  30.,  40.],</a:t>
            </a:r>
          </a:p>
          <a:p>
            <a:r>
              <a:rPr lang="zh-TW" altLang="en-US" dirty="0"/>
              <a:t>        [  4.,   5.,   6.,   7.,  50.,  60.,  70.,  80.],</a:t>
            </a:r>
          </a:p>
          <a:p>
            <a:r>
              <a:rPr lang="zh-TW" altLang="en-US" dirty="0"/>
              <a:t>        [  8.,   9.,  10.,  11.,  90., 100., 110., 120.]])</a:t>
            </a:r>
          </a:p>
          <a:p>
            <a:r>
              <a:rPr lang="zh-TW" altLang="en-US" dirty="0"/>
              <a:t>x2= tensor(66.) x2.item()= 66.0</a:t>
            </a:r>
          </a:p>
          <a:p>
            <a:r>
              <a:rPr lang="zh-TW" altLang="en-US" dirty="0"/>
              <a:t>x3= tensor(5.5000)</a:t>
            </a:r>
          </a:p>
          <a:p>
            <a:r>
              <a:rPr lang="zh-TW" altLang="en-US" dirty="0"/>
              <a:t>t= tensor([[0, 1, 2],</a:t>
            </a:r>
          </a:p>
          <a:p>
            <a:r>
              <a:rPr lang="zh-TW" altLang="en-US" dirty="0"/>
              <a:t>        [3, 4, 5]])</a:t>
            </a:r>
          </a:p>
          <a:p>
            <a:r>
              <a:rPr lang="zh-TW" altLang="en-US" dirty="0"/>
              <a:t>t2= tensor([[0, 1, 2],</a:t>
            </a:r>
          </a:p>
          <a:p>
            <a:r>
              <a:rPr lang="zh-TW" altLang="en-US" dirty="0"/>
              <a:t>        [3, 4, 5]])</a:t>
            </a:r>
          </a:p>
          <a:p>
            <a:r>
              <a:rPr lang="zh-TW" altLang="en-US" dirty="0"/>
              <a:t>t3= tensor([[0, 3],</a:t>
            </a:r>
          </a:p>
          <a:p>
            <a:r>
              <a:rPr lang="zh-TW" altLang="en-US" dirty="0"/>
              <a:t>        [1, 4],</a:t>
            </a:r>
          </a:p>
          <a:p>
            <a:r>
              <a:rPr lang="zh-TW" altLang="en-US" dirty="0"/>
              <a:t>        [2, 5]])</a:t>
            </a:r>
          </a:p>
          <a:p>
            <a:r>
              <a:rPr lang="zh-TW" altLang="en-US" dirty="0"/>
              <a:t>t4= tensor(15)</a:t>
            </a:r>
          </a:p>
          <a:p>
            <a:r>
              <a:rPr lang="zh-TW" altLang="en-US" dirty="0"/>
              <a:t>t5= tensor([3, 5, 7])</a:t>
            </a:r>
          </a:p>
          <a:p>
            <a:r>
              <a:rPr lang="zh-TW" altLang="en-US" dirty="0"/>
              <a:t>t6= tensor([ 3, 12])</a:t>
            </a:r>
          </a:p>
          <a:p>
            <a:r>
              <a:rPr lang="zh-TW" altLang="en-US" dirty="0"/>
              <a:t>x=tensor([[0., 1., 2.],</a:t>
            </a:r>
          </a:p>
          <a:p>
            <a:r>
              <a:rPr lang="zh-TW" altLang="en-US" dirty="0"/>
              <a:t>        [3., 4., 5.]])</a:t>
            </a:r>
          </a:p>
          <a:p>
            <a:r>
              <a:rPr lang="zh-TW" altLang="en-US" dirty="0"/>
              <a:t>y=tensor([[0., 1.],</a:t>
            </a:r>
          </a:p>
          <a:p>
            <a:r>
              <a:rPr lang="zh-TW" altLang="en-US" dirty="0"/>
              <a:t>        [2., 3.],</a:t>
            </a:r>
          </a:p>
          <a:p>
            <a:r>
              <a:rPr lang="zh-TW" altLang="en-US" dirty="0"/>
              <a:t>        [4., 5.]])</a:t>
            </a:r>
          </a:p>
          <a:p>
            <a:r>
              <a:rPr lang="zh-TW" altLang="en-US" dirty="0"/>
              <a:t>x=tensor([[10., 13.],</a:t>
            </a:r>
          </a:p>
          <a:p>
            <a:r>
              <a:rPr lang="zh-TW" altLang="en-US" dirty="0"/>
              <a:t>        [28., 40.]])</a:t>
            </a:r>
          </a:p>
          <a:p>
            <a:r>
              <a:rPr lang="zh-TW" altLang="en-US" dirty="0"/>
              <a:t>x2=tensor([[10., 13.],</a:t>
            </a:r>
          </a:p>
          <a:p>
            <a:r>
              <a:rPr lang="zh-TW" altLang="en-US" dirty="0"/>
              <a:t>        [28., 40.]])</a:t>
            </a:r>
          </a:p>
          <a:p>
            <a:r>
              <a:rPr lang="zh-TW" altLang="en-US" dirty="0"/>
              <a:t>s=torch.Size([2, 2])</a:t>
            </a:r>
          </a:p>
          <a:p>
            <a:endParaRPr lang="zh-TW" altLang="en-US" dirty="0"/>
          </a:p>
          <a:p>
            <a:r>
              <a:rPr lang="zh-TW" altLang="en-US" dirty="0"/>
              <a:t>z4=tensor([[0., 3.],</a:t>
            </a:r>
          </a:p>
          <a:p>
            <a:r>
              <a:rPr lang="zh-TW" altLang="en-US" dirty="0"/>
              <a:t>        [1., 4.],</a:t>
            </a:r>
          </a:p>
          <a:p>
            <a:r>
              <a:rPr lang="zh-TW" altLang="en-US" dirty="0"/>
              <a:t>        [2., 5.]])</a:t>
            </a:r>
          </a:p>
          <a:p>
            <a:r>
              <a:rPr lang="zh-TW" altLang="en-US" dirty="0"/>
              <a:t>z5=tensor([[0., 2., 4.],</a:t>
            </a:r>
          </a:p>
          <a:p>
            <a:r>
              <a:rPr lang="zh-TW" altLang="en-US" dirty="0"/>
              <a:t>        [1., 3., 5.]])</a:t>
            </a:r>
          </a:p>
          <a:p>
            <a:r>
              <a:rPr lang="zh-TW" altLang="en-US" dirty="0"/>
              <a:t>z6=tensor([[ 1.1111, -0.3611],</a:t>
            </a:r>
          </a:p>
          <a:p>
            <a:r>
              <a:rPr lang="zh-TW" altLang="en-US" dirty="0"/>
              <a:t>        [-0.7778,  0.2778]])</a:t>
            </a:r>
          </a:p>
          <a:p>
            <a:r>
              <a:rPr lang="zh-TW" altLang="en-US" dirty="0"/>
              <a:t>a= tensor([[10, 20, 30, 40]])</a:t>
            </a:r>
          </a:p>
          <a:p>
            <a:r>
              <a:rPr lang="zh-TW" altLang="en-US" dirty="0"/>
              <a:t>b= tensor([[0, 1, 2, 3],</a:t>
            </a:r>
          </a:p>
          <a:p>
            <a:r>
              <a:rPr lang="zh-TW" altLang="en-US" dirty="0"/>
              <a:t>        [4, 5, 6, 7]])</a:t>
            </a:r>
          </a:p>
          <a:p>
            <a:r>
              <a:rPr lang="zh-TW" altLang="en-US" dirty="0"/>
              <a:t>a+b= tensor([[10, 21, 32, 43],</a:t>
            </a:r>
          </a:p>
          <a:p>
            <a:r>
              <a:rPr lang="zh-TW" altLang="en-US" dirty="0"/>
              <a:t>        [14, 25, 36, 47]])</a:t>
            </a:r>
          </a:p>
          <a:p>
            <a:r>
              <a:rPr lang="zh-TW" altLang="en-US" dirty="0"/>
              <a:t>a2= tensor([[10],</a:t>
            </a:r>
          </a:p>
          <a:p>
            <a:r>
              <a:rPr lang="zh-TW" altLang="en-US" dirty="0"/>
              <a:t>        [20],</a:t>
            </a:r>
          </a:p>
          <a:p>
            <a:r>
              <a:rPr lang="zh-TW" altLang="en-US" dirty="0"/>
              <a:t>        [30],</a:t>
            </a:r>
          </a:p>
          <a:p>
            <a:r>
              <a:rPr lang="zh-TW" altLang="en-US" dirty="0"/>
              <a:t>        [40]])</a:t>
            </a:r>
          </a:p>
          <a:p>
            <a:r>
              <a:rPr lang="zh-TW" altLang="en-US" dirty="0"/>
              <a:t>b2= tensor([[0, 1, 2]])</a:t>
            </a:r>
          </a:p>
          <a:p>
            <a:r>
              <a:rPr lang="zh-TW" altLang="en-US" dirty="0"/>
              <a:t>a2+b2= tensor([[10, 11, 12],</a:t>
            </a:r>
          </a:p>
          <a:p>
            <a:r>
              <a:rPr lang="zh-TW" altLang="en-US" dirty="0"/>
              <a:t>        [20, 21, 22],</a:t>
            </a:r>
          </a:p>
          <a:p>
            <a:r>
              <a:rPr lang="zh-TW" altLang="en-US" dirty="0"/>
              <a:t>        [30, 31, 32],</a:t>
            </a:r>
          </a:p>
          <a:p>
            <a:r>
              <a:rPr lang="zh-TW" altLang="en-US" dirty="0"/>
              <a:t>        [40, 41, 42]])</a:t>
            </a:r>
          </a:p>
          <a:p>
            <a:r>
              <a:rPr lang="zh-TW" altLang="en-US" dirty="0"/>
              <a:t>a= [[1 2 3]</a:t>
            </a:r>
          </a:p>
          <a:p>
            <a:r>
              <a:rPr lang="zh-TW" altLang="en-US" dirty="0"/>
              <a:t> [4 5 6]] </a:t>
            </a:r>
          </a:p>
          <a:p>
            <a:r>
              <a:rPr lang="zh-TW" altLang="en-US" dirty="0"/>
              <a:t>a.ndim= 2 </a:t>
            </a:r>
          </a:p>
          <a:p>
            <a:r>
              <a:rPr lang="zh-TW" altLang="en-US" dirty="0"/>
              <a:t>type(a)= &lt;class 'numpy.ndarray'&gt;</a:t>
            </a:r>
          </a:p>
          <a:p>
            <a:endParaRPr lang="zh-TW" altLang="en-US" dirty="0"/>
          </a:p>
          <a:p>
            <a:r>
              <a:rPr lang="zh-TW" altLang="en-US" dirty="0"/>
              <a:t>b= tensor([[1, 2, 3],</a:t>
            </a:r>
          </a:p>
          <a:p>
            <a:r>
              <a:rPr lang="zh-TW" altLang="en-US" dirty="0"/>
              <a:t>        [4, 5, 6]]) </a:t>
            </a:r>
          </a:p>
          <a:p>
            <a:r>
              <a:rPr lang="zh-TW" altLang="en-US" dirty="0"/>
              <a:t>type(b)= &lt;class 'torch.Tensor'&gt;</a:t>
            </a:r>
          </a:p>
          <a:p>
            <a:endParaRPr lang="zh-TW" altLang="en-US" dirty="0"/>
          </a:p>
          <a:p>
            <a:r>
              <a:rPr lang="zh-TW" altLang="en-US" dirty="0"/>
              <a:t>c= [[1 2 3]</a:t>
            </a:r>
          </a:p>
          <a:p>
            <a:r>
              <a:rPr lang="zh-TW" altLang="en-US" dirty="0"/>
              <a:t> [4 5 6]] </a:t>
            </a:r>
          </a:p>
          <a:p>
            <a:r>
              <a:rPr lang="zh-TW" altLang="en-US" dirty="0"/>
              <a:t>type(c)= &lt;class 'numpy.ndarray'&gt;</a:t>
            </a:r>
          </a:p>
          <a:p>
            <a:endParaRPr lang="zh-TW" altLang="en-US" dirty="0"/>
          </a:p>
          <a:p>
            <a:r>
              <a:rPr lang="zh-TW" altLang="en-US" dirty="0"/>
              <a:t>d= tensor(2.3000) </a:t>
            </a:r>
          </a:p>
          <a:p>
            <a:r>
              <a:rPr lang="zh-TW" altLang="en-US" dirty="0"/>
              <a:t>d.item()= 2.299999952316284</a:t>
            </a:r>
          </a:p>
          <a:p>
            <a:r>
              <a:rPr lang="zh-TW" altLang="en-US" dirty="0"/>
              <a:t>x= tensor([1., 2., 3., 4.], requires_grad=True) </a:t>
            </a:r>
          </a:p>
          <a:p>
            <a:r>
              <a:rPr lang="zh-TW" altLang="en-US" dirty="0"/>
              <a:t>x.grad= None</a:t>
            </a:r>
          </a:p>
          <a:p>
            <a:endParaRPr lang="zh-TW" altLang="en-US" dirty="0"/>
          </a:p>
          <a:p>
            <a:r>
              <a:rPr lang="zh-TW" altLang="en-US" dirty="0"/>
              <a:t>y= tensor(60., grad_fn=&lt;MulBackward0&gt;)</a:t>
            </a:r>
          </a:p>
          <a:p>
            <a:r>
              <a:rPr lang="zh-TW" altLang="en-US" dirty="0"/>
              <a:t>x.grad= tensor([ 4.,  8., 12., 16.]) </a:t>
            </a:r>
          </a:p>
          <a:p>
            <a:endParaRPr lang="zh-TW" altLang="en-US" dirty="0"/>
          </a:p>
          <a:p>
            <a:r>
              <a:rPr lang="zh-TW" altLang="en-US" dirty="0"/>
              <a:t>x= tensor([1., 2., 3., 4.], requires_grad=True) </a:t>
            </a:r>
          </a:p>
          <a:p>
            <a:r>
              <a:rPr lang="zh-TW" altLang="en-US" dirty="0"/>
              <a:t>x.grad= tensor([ 6., 12., 18., 24.])</a:t>
            </a:r>
          </a:p>
          <a:p>
            <a:endParaRPr lang="zh-TW" altLang="en-US" dirty="0"/>
          </a:p>
          <a:p>
            <a:r>
              <a:rPr lang="zh-TW" altLang="en-US" dirty="0"/>
              <a:t>x= tensor([1., 2., 3., 4.], requires_grad=True) </a:t>
            </a:r>
          </a:p>
          <a:p>
            <a:r>
              <a:rPr lang="zh-TW" altLang="en-US" dirty="0"/>
              <a:t>x.grad= tensor([2., 4., 6., 8.])</a:t>
            </a:r>
          </a:p>
          <a:p>
            <a:r>
              <a:rPr lang="zh-TW" altLang="en-US" dirty="0"/>
              <a:t>x= tensor([1., 2., 3., 4.], requires_grad=True)</a:t>
            </a:r>
          </a:p>
          <a:p>
            <a:r>
              <a:rPr lang="zh-TW" altLang="en-US" dirty="0"/>
              <a:t>y= tensor([ 3., 12., 27., 48.], grad_fn=&lt;MulBackward0&gt;)</a:t>
            </a:r>
          </a:p>
          <a:p>
            <a:r>
              <a:rPr lang="zh-TW" altLang="en-US" dirty="0"/>
              <a:t>u= tensor([ 3., 12., 27., 48.])</a:t>
            </a:r>
          </a:p>
          <a:p>
            <a:r>
              <a:rPr lang="zh-TW" altLang="en-US" dirty="0"/>
              <a:t>z= tensor([  3.,  24.,  81., 192.], grad_fn=&lt;MulBackward0&gt;)</a:t>
            </a:r>
          </a:p>
          <a:p>
            <a:endParaRPr lang="zh-TW" altLang="en-US" dirty="0"/>
          </a:p>
          <a:p>
            <a:r>
              <a:rPr lang="zh-TW" altLang="en-US" dirty="0"/>
              <a:t>x.grad= tensor([ 3., 12., 27., 48.])</a:t>
            </a:r>
          </a:p>
          <a:p>
            <a:endParaRPr lang="zh-TW" altLang="en-US" dirty="0"/>
          </a:p>
          <a:p>
            <a:r>
              <a:rPr lang="zh-TW" altLang="en-US" dirty="0"/>
              <a:t>x.grad= tensor([ 6., 12., 18., 24.])</a:t>
            </a:r>
          </a:p>
          <a:p>
            <a:r>
              <a:rPr lang="zh-TW" altLang="en-US" dirty="0"/>
              <a:t>tensor(True)</a:t>
            </a:r>
          </a:p>
          <a:p>
            <a:endParaRPr lang="zh-TW" altLang="en-US" dirty="0"/>
          </a:p>
          <a:p>
            <a:r>
              <a:rPr lang="zh-TW" altLang="en-US" dirty="0"/>
              <a:t>Process finished with exit code 0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88AED69-766C-BC2E-BF60-0C7F8FEAC7EE}"/>
              </a:ext>
            </a:extLst>
          </p:cNvPr>
          <p:cNvSpPr txBox="1"/>
          <p:nvPr/>
        </p:nvSpPr>
        <p:spPr>
          <a:xfrm>
            <a:off x="0" y="13855"/>
            <a:ext cx="597477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TW" sz="2400" b="0" i="0" dirty="0">
                <a:effectLst/>
                <a:latin typeface="Roboto" panose="02000000000000000000" pitchFamily="2" charset="0"/>
              </a:rPr>
              <a:t>main.py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7F2F849-4EAA-35D2-878A-BB025AABF129}"/>
              </a:ext>
            </a:extLst>
          </p:cNvPr>
          <p:cNvSpPr txBox="1"/>
          <p:nvPr/>
        </p:nvSpPr>
        <p:spPr>
          <a:xfrm>
            <a:off x="6217228" y="-11393"/>
            <a:ext cx="597477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TW" sz="2400" dirty="0">
                <a:latin typeface="Roboto" panose="02000000000000000000" pitchFamily="2" charset="0"/>
              </a:rPr>
              <a:t>tensor</a:t>
            </a:r>
            <a:r>
              <a:rPr lang="en-US" altLang="zh-TW" sz="2400" b="0" i="0" dirty="0">
                <a:effectLst/>
                <a:latin typeface="Roboto" panose="02000000000000000000" pitchFamily="2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78528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BB827752039164B86FD741153416EDF" ma:contentTypeVersion="11" ma:contentTypeDescription="建立新的文件。" ma:contentTypeScope="" ma:versionID="9e9c4e2852dc8557700f45ce1cc7f08e">
  <xsd:schema xmlns:xsd="http://www.w3.org/2001/XMLSchema" xmlns:xs="http://www.w3.org/2001/XMLSchema" xmlns:p="http://schemas.microsoft.com/office/2006/metadata/properties" xmlns:ns3="ee075635-a6d6-4f2b-a771-7195be426a45" xmlns:ns4="ea232b2d-0344-4432-9afd-89e11bf2ed72" targetNamespace="http://schemas.microsoft.com/office/2006/metadata/properties" ma:root="true" ma:fieldsID="0cd417f2f61872233189eeebdf96512e" ns3:_="" ns4:_="">
    <xsd:import namespace="ee075635-a6d6-4f2b-a771-7195be426a45"/>
    <xsd:import namespace="ea232b2d-0344-4432-9afd-89e11bf2ed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75635-a6d6-4f2b-a771-7195be426a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32b2d-0344-4432-9afd-89e11bf2ed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用提示雜湊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5121D-4FCC-4A56-A221-FA328E1618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9E545B-07C0-4998-A14E-D12D19B741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75635-a6d6-4f2b-a771-7195be426a45"/>
    <ds:schemaRef ds:uri="ea232b2d-0344-4432-9afd-89e11bf2ed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753425-AAAB-4B55-A8D8-8EA83F497B54}">
  <ds:schemaRefs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ea232b2d-0344-4432-9afd-89e11bf2ed72"/>
    <ds:schemaRef ds:uri="http://schemas.openxmlformats.org/package/2006/metadata/core-properties"/>
    <ds:schemaRef ds:uri="http://schemas.microsoft.com/office/2006/documentManagement/types"/>
    <ds:schemaRef ds:uri="ee075635-a6d6-4f2b-a771-7195be426a4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9587</TotalTime>
  <Words>8731</Words>
  <Application>Microsoft Office PowerPoint</Application>
  <PresentationFormat>寬螢幕</PresentationFormat>
  <Paragraphs>700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2" baseType="lpstr">
      <vt:lpstr>Arial Unicode MS</vt:lpstr>
      <vt:lpstr>JetBrains Mono</vt:lpstr>
      <vt:lpstr>Arial</vt:lpstr>
      <vt:lpstr>Calibri</vt:lpstr>
      <vt:lpstr>Calibri Light</vt:lpstr>
      <vt:lpstr>Cambria Math</vt:lpstr>
      <vt:lpstr>Nunito</vt:lpstr>
      <vt:lpstr>Roboto</vt:lpstr>
      <vt:lpstr>Source Sans Pro</vt:lpstr>
      <vt:lpstr>Trade Gothic Inline</vt:lpstr>
      <vt:lpstr>Office 佈景主題</vt:lpstr>
      <vt:lpstr>Tensor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Derivatives and Differentiations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王任瓚</dc:creator>
  <cp:lastModifiedBy>王任瓚 wang</cp:lastModifiedBy>
  <cp:revision>199</cp:revision>
  <dcterms:created xsi:type="dcterms:W3CDTF">2022-09-21T06:24:39Z</dcterms:created>
  <dcterms:modified xsi:type="dcterms:W3CDTF">2025-10-31T02:09:50Z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0x0101008BB827752039164B86FD741153416EDF</vt:lpwstr>
  </property>
</Properties>
</file>