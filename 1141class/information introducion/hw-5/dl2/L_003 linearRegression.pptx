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93" r:id="rId5"/>
    <p:sldId id="294" r:id="rId6"/>
    <p:sldId id="295" r:id="rId7"/>
    <p:sldId id="296" r:id="rId8"/>
    <p:sldId id="284" r:id="rId9"/>
    <p:sldId id="283" r:id="rId10"/>
    <p:sldId id="287" r:id="rId11"/>
    <p:sldId id="279" r:id="rId12"/>
    <p:sldId id="290" r:id="rId13"/>
    <p:sldId id="288" r:id="rId14"/>
    <p:sldId id="291" r:id="rId15"/>
    <p:sldId id="292" r:id="rId16"/>
    <p:sldId id="289" r:id="rId17"/>
    <p:sldId id="277" r:id="rId18"/>
    <p:sldId id="281" r:id="rId19"/>
    <p:sldId id="282" r:id="rId20"/>
    <p:sldId id="280" r:id="rId21"/>
    <p:sldId id="286" r:id="rId22"/>
    <p:sldId id="285" r:id="rId23"/>
    <p:sldId id="274" r:id="rId24"/>
    <p:sldId id="276" r:id="rId25"/>
    <p:sldId id="297" r:id="rId26"/>
    <p:sldId id="298" r:id="rId27"/>
    <p:sldId id="299" r:id="rId2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C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21" autoAdjust="0"/>
    <p:restoredTop sz="94660"/>
  </p:normalViewPr>
  <p:slideViewPr>
    <p:cSldViewPr snapToGrid="0">
      <p:cViewPr varScale="1">
        <p:scale>
          <a:sx n="110" d="100"/>
          <a:sy n="110" d="100"/>
        </p:scale>
        <p:origin x="1037"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DC58A4-81EB-4E19-9C56-29A19808025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B767D06A-67BA-4983-8173-3CDEA044CD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0F72EF1-BBF0-49FA-843E-E1C57133246E}"/>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5" name="頁尾版面配置區 4">
            <a:extLst>
              <a:ext uri="{FF2B5EF4-FFF2-40B4-BE49-F238E27FC236}">
                <a16:creationId xmlns:a16="http://schemas.microsoft.com/office/drawing/2014/main" id="{8BE387C2-9237-4077-8912-46D3FA9092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DDC342-49C4-4840-9302-7F3C819D21A1}"/>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34775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BAFC87-6009-467A-BBBF-AA90D620C2D6}"/>
              </a:ext>
            </a:extLst>
          </p:cNvPr>
          <p:cNvSpPr>
            <a:spLocks noGrp="1"/>
          </p:cNvSpPr>
          <p:nvPr>
            <p:ph type="title"/>
          </p:nvPr>
        </p:nvSpPr>
        <p:spPr/>
        <p:txBody>
          <a:bodyPr/>
          <a:lstStyle>
            <a:lvl1pPr>
              <a:defRPr>
                <a:latin typeface="+mn-lt"/>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B332B175-37F2-4849-9601-9D7975B2E38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C30AE147-66CB-4FDD-AAAA-310B5BD7DBAD}"/>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5" name="頁尾版面配置區 4">
            <a:extLst>
              <a:ext uri="{FF2B5EF4-FFF2-40B4-BE49-F238E27FC236}">
                <a16:creationId xmlns:a16="http://schemas.microsoft.com/office/drawing/2014/main" id="{DBFC8B2B-DF6D-4FED-B530-052D413EE9A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52A6675-3664-4381-A56F-D7469C455CD0}"/>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1146902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FDC381-7B7C-4A50-BB8E-EC4435EEA3E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1E0F9CD-AA40-42B1-A403-4CE5B1951B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30832B99-F07E-484E-BA33-04AA663CB4AF}"/>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5" name="頁尾版面配置區 4">
            <a:extLst>
              <a:ext uri="{FF2B5EF4-FFF2-40B4-BE49-F238E27FC236}">
                <a16:creationId xmlns:a16="http://schemas.microsoft.com/office/drawing/2014/main" id="{F90F5057-29FE-4002-8BEB-B23BF2BC976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D8EE934-8D54-45BE-9C37-E393D7DBE07E}"/>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448324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313C6F-E668-4554-BB12-3EEA1C898BD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521E178-6007-4BD3-9E99-BB3027F3B4C7}"/>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611F8F4-D77E-4EC1-97AF-E7402DD6343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33BD469-3C50-471D-BF0B-CB9DAAC83D8E}"/>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6" name="頁尾版面配置區 5">
            <a:extLst>
              <a:ext uri="{FF2B5EF4-FFF2-40B4-BE49-F238E27FC236}">
                <a16:creationId xmlns:a16="http://schemas.microsoft.com/office/drawing/2014/main" id="{3025FD5D-884D-4266-B74B-FEC95708F49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E20E63A-A9BB-408C-8CFF-72D6DECA1B72}"/>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873887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25EF29-B9D6-472E-B9A6-5271E68BB36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17EC9EB-8942-463F-BDF0-8DA3CDFFC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0C5B1D1-61DC-4DF6-BEC6-B82F401622F0}"/>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1F4D7CE-9D8B-4931-84D0-7287596720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BEDFF0D-C456-4741-9B05-44C0BFEC9AA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E754A65-6526-460D-B689-4D31BA68A18B}"/>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8" name="頁尾版面配置區 7">
            <a:extLst>
              <a:ext uri="{FF2B5EF4-FFF2-40B4-BE49-F238E27FC236}">
                <a16:creationId xmlns:a16="http://schemas.microsoft.com/office/drawing/2014/main" id="{44A45434-60AC-461C-A42F-3FC6BCB2C31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C47B367-B914-440E-B248-9E937320FE84}"/>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1797228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FD274C-AB84-4AA2-88AB-1E83700FEE9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E539EEB-5954-4F37-AF34-B07DAF65ABDB}"/>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4" name="頁尾版面配置區 3">
            <a:extLst>
              <a:ext uri="{FF2B5EF4-FFF2-40B4-BE49-F238E27FC236}">
                <a16:creationId xmlns:a16="http://schemas.microsoft.com/office/drawing/2014/main" id="{0F4CE6FD-E134-4E38-A86A-23D896FCDA48}"/>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D58E2E3-67DC-4F5F-95CC-E319C1814452}"/>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047260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F93AE29-544E-4A4C-8E7B-719570E70CA3}"/>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3" name="頁尾版面配置區 2">
            <a:extLst>
              <a:ext uri="{FF2B5EF4-FFF2-40B4-BE49-F238E27FC236}">
                <a16:creationId xmlns:a16="http://schemas.microsoft.com/office/drawing/2014/main" id="{00371B14-20A3-4776-AF96-67FA251DF89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37D02C73-AAEE-4FA4-B016-5330663A106D}"/>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688882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8C9DE2-5042-4EF0-9B64-C02B0D59CB2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99D112A-8809-42E3-B051-A8311F7CC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EC79B63-0414-4D0A-9B37-2B417F6C0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07D3DDE-2DB5-4DB8-ACC4-F0071A703FCE}"/>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6" name="頁尾版面配置區 5">
            <a:extLst>
              <a:ext uri="{FF2B5EF4-FFF2-40B4-BE49-F238E27FC236}">
                <a16:creationId xmlns:a16="http://schemas.microsoft.com/office/drawing/2014/main" id="{5AF74229-0F23-4956-B7A9-D1D9AB1BD43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286500-089D-4587-BA38-7AF287F4B3B7}"/>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708411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7309C1-803E-486D-A06C-B52CA232ECE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C41D49E-4396-4540-8404-7A42AF7795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F6D5FF0-0696-4A3D-8B21-75EBDD608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7AB1B93-E672-44E9-BA5F-65FF6DB680AF}"/>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6" name="頁尾版面配置區 5">
            <a:extLst>
              <a:ext uri="{FF2B5EF4-FFF2-40B4-BE49-F238E27FC236}">
                <a16:creationId xmlns:a16="http://schemas.microsoft.com/office/drawing/2014/main" id="{FA945FD7-AA99-4C95-A2FF-C6BB1572A3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391139C-D029-44C2-9E50-CA219D7D1D74}"/>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145863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BDCBAB-B887-4A27-AB3A-F052EDF6180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6A1AF8F-1B1D-4867-8A8C-6560A7577B5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EFBCD3-23C5-4DFA-B78E-FE8C275C919A}"/>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5" name="頁尾版面配置區 4">
            <a:extLst>
              <a:ext uri="{FF2B5EF4-FFF2-40B4-BE49-F238E27FC236}">
                <a16:creationId xmlns:a16="http://schemas.microsoft.com/office/drawing/2014/main" id="{8DAA67FB-FC9D-4EE4-B996-4A1F4EC4506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306363C-D752-419D-9F00-AFDDF9EE6795}"/>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51436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821D3CC-55F3-4697-802E-99EBCFDA52B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790A6F9-297D-4456-BF35-4CF10721F5D7}"/>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C2F6BC1-CA7D-43A1-8252-00E3D27D80A9}"/>
              </a:ext>
            </a:extLst>
          </p:cNvPr>
          <p:cNvSpPr>
            <a:spLocks noGrp="1"/>
          </p:cNvSpPr>
          <p:nvPr>
            <p:ph type="dt" sz="half" idx="10"/>
          </p:nvPr>
        </p:nvSpPr>
        <p:spPr/>
        <p:txBody>
          <a:bodyPr/>
          <a:lstStyle/>
          <a:p>
            <a:fld id="{232D8551-A4BE-4B6A-A4FC-2E76B947BA6A}" type="datetimeFigureOut">
              <a:rPr lang="zh-TW" altLang="en-US" smtClean="0"/>
              <a:t>2025/10/21</a:t>
            </a:fld>
            <a:endParaRPr lang="zh-TW" altLang="en-US"/>
          </a:p>
        </p:txBody>
      </p:sp>
      <p:sp>
        <p:nvSpPr>
          <p:cNvPr id="5" name="頁尾版面配置區 4">
            <a:extLst>
              <a:ext uri="{FF2B5EF4-FFF2-40B4-BE49-F238E27FC236}">
                <a16:creationId xmlns:a16="http://schemas.microsoft.com/office/drawing/2014/main" id="{F20D74CD-0BAD-4932-9EB8-EF61470C498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57A8151-40E2-49E9-9B0D-553ADD397485}"/>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4077773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56FBFEE-D4F9-4A0C-96CF-FF8234778818}"/>
              </a:ext>
            </a:extLst>
          </p:cNvPr>
          <p:cNvSpPr/>
          <p:nvPr userDrawn="1"/>
        </p:nvSpPr>
        <p:spPr>
          <a:xfrm>
            <a:off x="0" y="6356350"/>
            <a:ext cx="12192000" cy="5016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版面配置區 1">
            <a:extLst>
              <a:ext uri="{FF2B5EF4-FFF2-40B4-BE49-F238E27FC236}">
                <a16:creationId xmlns:a16="http://schemas.microsoft.com/office/drawing/2014/main" id="{70FC8CE9-56DF-420D-8EEE-5417DF46AD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5E55E24-4E18-4E29-8AFA-A9FA74C4A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AEB74F0-5C0C-4540-8D37-3AE97C986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2D8551-A4BE-4B6A-A4FC-2E76B947BA6A}" type="datetimeFigureOut">
              <a:rPr lang="zh-TW" altLang="en-US" smtClean="0"/>
              <a:t>2025/10/21</a:t>
            </a:fld>
            <a:endParaRPr lang="zh-TW" altLang="en-US"/>
          </a:p>
        </p:txBody>
      </p:sp>
      <p:sp>
        <p:nvSpPr>
          <p:cNvPr id="5" name="頁尾版面配置區 4">
            <a:extLst>
              <a:ext uri="{FF2B5EF4-FFF2-40B4-BE49-F238E27FC236}">
                <a16:creationId xmlns:a16="http://schemas.microsoft.com/office/drawing/2014/main" id="{13708A54-7F7E-413D-B258-772ECF4BD0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FD05AD-542F-4D8A-8CC6-3D802CCAD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0D83B-BCB6-4DA2-AF47-4F5FEB2645D9}" type="slidenum">
              <a:rPr lang="zh-TW" altLang="en-US" smtClean="0"/>
              <a:t>‹#›</a:t>
            </a:fld>
            <a:endParaRPr lang="zh-TW" altLang="en-US"/>
          </a:p>
        </p:txBody>
      </p:sp>
      <p:pic>
        <p:nvPicPr>
          <p:cNvPr id="7" name="圖片 6">
            <a:extLst>
              <a:ext uri="{FF2B5EF4-FFF2-40B4-BE49-F238E27FC236}">
                <a16:creationId xmlns:a16="http://schemas.microsoft.com/office/drawing/2014/main" id="{F60DCA81-2F90-4F7E-B082-0049E0D3089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52399" y="6575171"/>
            <a:ext cx="685801" cy="146304"/>
          </a:xfrm>
          <a:prstGeom prst="rect">
            <a:avLst/>
          </a:prstGeom>
        </p:spPr>
      </p:pic>
    </p:spTree>
    <p:extLst>
      <p:ext uri="{BB962C8B-B14F-4D97-AF65-F5344CB8AC3E}">
        <p14:creationId xmlns:p14="http://schemas.microsoft.com/office/powerpoint/2010/main" val="359381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52.png"/><Relationship Id="rId4" Type="http://schemas.openxmlformats.org/officeDocument/2006/relationships/image" Target="../media/image4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1.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1.png"/><Relationship Id="rId10" Type="http://schemas.openxmlformats.org/officeDocument/2006/relationships/image" Target="../media/image15.png"/><Relationship Id="rId4" Type="http://schemas.openxmlformats.org/officeDocument/2006/relationships/image" Target="../media/image91.png"/><Relationship Id="rId9" Type="http://schemas.openxmlformats.org/officeDocument/2006/relationships/image" Target="../media/image14.pn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90.png"/><Relationship Id="rId1" Type="http://schemas.openxmlformats.org/officeDocument/2006/relationships/slideLayout" Target="../slideLayouts/slideLayout7.xml"/><Relationship Id="rId4" Type="http://schemas.openxmlformats.org/officeDocument/2006/relationships/image" Target="../media/image30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0.png"/><Relationship Id="rId1" Type="http://schemas.openxmlformats.org/officeDocument/2006/relationships/slideLayout" Target="../slideLayouts/slideLayout7.xml"/><Relationship Id="rId4" Type="http://schemas.openxmlformats.org/officeDocument/2006/relationships/image" Target="../media/image301.png"/></Relationships>
</file>

<file path=ppt/slides/_rels/slide16.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290.png"/><Relationship Id="rId1" Type="http://schemas.openxmlformats.org/officeDocument/2006/relationships/slideLayout" Target="../slideLayouts/slideLayout7.xml"/><Relationship Id="rId4" Type="http://schemas.openxmlformats.org/officeDocument/2006/relationships/image" Target="../media/image320.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220.png"/><Relationship Id="rId7" Type="http://schemas.openxmlformats.org/officeDocument/2006/relationships/image" Target="../media/image38.png"/><Relationship Id="rId2" Type="http://schemas.openxmlformats.org/officeDocument/2006/relationships/image" Target="../media/image210.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0.png"/><Relationship Id="rId5" Type="http://schemas.openxmlformats.org/officeDocument/2006/relationships/image" Target="../media/image36.png"/><Relationship Id="rId10" Type="http://schemas.openxmlformats.org/officeDocument/2006/relationships/image" Target="../media/image39.png"/><Relationship Id="rId4" Type="http://schemas.openxmlformats.org/officeDocument/2006/relationships/image" Target="../media/image230.png"/><Relationship Id="rId9"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300.png"/><Relationship Id="rId7" Type="http://schemas.openxmlformats.org/officeDocument/2006/relationships/image" Target="../media/image70.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0.png"/><Relationship Id="rId4" Type="http://schemas.openxmlformats.org/officeDocument/2006/relationships/image" Target="../media/image400.png"/></Relationships>
</file>

<file path=ppt/slides/_rels/slide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52A563-CCDC-6A34-46FE-59B29B2E0E60}"/>
              </a:ext>
            </a:extLst>
          </p:cNvPr>
          <p:cNvSpPr>
            <a:spLocks noGrp="1"/>
          </p:cNvSpPr>
          <p:nvPr>
            <p:ph type="title"/>
          </p:nvPr>
        </p:nvSpPr>
        <p:spPr>
          <a:xfrm>
            <a:off x="838200" y="287262"/>
            <a:ext cx="10515600" cy="1325563"/>
          </a:xfrm>
        </p:spPr>
        <p:txBody>
          <a:bodyPr/>
          <a:lstStyle/>
          <a:p>
            <a:r>
              <a:rPr lang="en-US" altLang="zh-TW" b="1" dirty="0"/>
              <a:t>Linear Regression </a:t>
            </a:r>
            <a:r>
              <a:rPr lang="zh-TW" altLang="en-US" b="1" dirty="0">
                <a:latin typeface="微軟正黑體" panose="020B0604030504040204" pitchFamily="34" charset="-120"/>
                <a:ea typeface="微軟正黑體" panose="020B0604030504040204" pitchFamily="34" charset="-120"/>
              </a:rPr>
              <a:t>線性迴歸</a:t>
            </a:r>
          </a:p>
        </p:txBody>
      </p:sp>
      <p:sp>
        <p:nvSpPr>
          <p:cNvPr id="3" name="內容版面配置區 2">
            <a:extLst>
              <a:ext uri="{FF2B5EF4-FFF2-40B4-BE49-F238E27FC236}">
                <a16:creationId xmlns:a16="http://schemas.microsoft.com/office/drawing/2014/main" id="{47E652FD-F4AA-A553-C505-9FA57B581E18}"/>
              </a:ext>
            </a:extLst>
          </p:cNvPr>
          <p:cNvSpPr>
            <a:spLocks noGrp="1"/>
          </p:cNvSpPr>
          <p:nvPr>
            <p:ph idx="1"/>
          </p:nvPr>
        </p:nvSpPr>
        <p:spPr>
          <a:xfrm>
            <a:off x="838200" y="1399219"/>
            <a:ext cx="10515600" cy="4003940"/>
          </a:xfrm>
        </p:spPr>
        <p:txBody>
          <a:bodyPr/>
          <a:lstStyle/>
          <a:p>
            <a:r>
              <a:rPr lang="en-US" altLang="zh-TW" b="1" dirty="0"/>
              <a:t>Regression</a:t>
            </a:r>
            <a:r>
              <a:rPr lang="en-US" altLang="zh-TW" dirty="0"/>
              <a:t> is a method of modelling a target value based on independent predictors. This method is mostly used for forecasting and finding out cause and effect relationship between variables. </a:t>
            </a:r>
          </a:p>
          <a:p>
            <a:r>
              <a:rPr lang="en-US" altLang="zh-TW" dirty="0"/>
              <a:t>Regression techniques mostly differ based on the number of independent variables and the type of relationship between the independent and dependent variables.</a:t>
            </a:r>
          </a:p>
          <a:p>
            <a:r>
              <a:rPr lang="en-US" altLang="zh-TW" b="1" i="0" dirty="0">
                <a:solidFill>
                  <a:srgbClr val="242424"/>
                </a:solidFill>
                <a:effectLst/>
                <a:latin typeface="source-serif-pro"/>
              </a:rPr>
              <a:t>Simple Linear </a:t>
            </a:r>
            <a:r>
              <a:rPr lang="en-US" altLang="zh-TW" b="1" dirty="0">
                <a:solidFill>
                  <a:srgbClr val="242424"/>
                </a:solidFill>
                <a:latin typeface="source-serif-pro"/>
              </a:rPr>
              <a:t>R</a:t>
            </a:r>
            <a:r>
              <a:rPr lang="en-US" altLang="zh-TW" b="1" i="0" dirty="0">
                <a:solidFill>
                  <a:srgbClr val="242424"/>
                </a:solidFill>
                <a:effectLst/>
                <a:latin typeface="source-serif-pro"/>
              </a:rPr>
              <a:t>egression </a:t>
            </a:r>
            <a:r>
              <a:rPr lang="en-US" altLang="zh-TW" b="0" i="0" dirty="0">
                <a:solidFill>
                  <a:srgbClr val="242424"/>
                </a:solidFill>
                <a:effectLst/>
                <a:latin typeface="source-serif-pro"/>
              </a:rPr>
              <a:t>is a type of regression analysis where the number of independent variables is one and there is a linear relationship between the independent(x) and dependent(y) variable. </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C68B646-F0CE-40C9-11E8-5871030AFB8F}"/>
                  </a:ext>
                </a:extLst>
              </p:cNvPr>
              <p:cNvSpPr txBox="1"/>
              <p:nvPr/>
            </p:nvSpPr>
            <p:spPr>
              <a:xfrm>
                <a:off x="1122689" y="5480263"/>
                <a:ext cx="1254126"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𝑦</m:t>
                      </m:r>
                      <m:r>
                        <a:rPr lang="pt-BR" altLang="zh-TW" sz="2400" i="1" smtClean="0">
                          <a:latin typeface="Cambria Math" panose="02040503050406030204" pitchFamily="18" charset="0"/>
                        </a:rPr>
                        <m:t>=</m:t>
                      </m:r>
                      <m:r>
                        <a:rPr lang="en-US" altLang="zh-TW" sz="2400" b="0" i="1" smtClean="0">
                          <a:latin typeface="Cambria Math" panose="02040503050406030204" pitchFamily="18" charset="0"/>
                        </a:rPr>
                        <m:t>𝑓</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oMath>
                  </m:oMathPara>
                </a14:m>
                <a:endParaRPr lang="zh-TW" altLang="en-US" sz="2400" dirty="0"/>
              </a:p>
            </p:txBody>
          </p:sp>
        </mc:Choice>
        <mc:Fallback xmlns="">
          <p:sp>
            <p:nvSpPr>
              <p:cNvPr id="4" name="文字方塊 3">
                <a:extLst>
                  <a:ext uri="{FF2B5EF4-FFF2-40B4-BE49-F238E27FC236}">
                    <a16:creationId xmlns:a16="http://schemas.microsoft.com/office/drawing/2014/main" id="{BC68B646-F0CE-40C9-11E8-5871030AFB8F}"/>
                  </a:ext>
                </a:extLst>
              </p:cNvPr>
              <p:cNvSpPr txBox="1">
                <a:spLocks noRot="1" noChangeAspect="1" noMove="1" noResize="1" noEditPoints="1" noAdjustHandles="1" noChangeArrowheads="1" noChangeShapeType="1" noTextEdit="1"/>
              </p:cNvSpPr>
              <p:nvPr/>
            </p:nvSpPr>
            <p:spPr>
              <a:xfrm>
                <a:off x="1122689" y="5480263"/>
                <a:ext cx="1254126" cy="369332"/>
              </a:xfrm>
              <a:prstGeom prst="rect">
                <a:avLst/>
              </a:prstGeom>
              <a:blipFill>
                <a:blip r:embed="rId2"/>
                <a:stretch>
                  <a:fillRect l="-5340" r="-8252" b="-32787"/>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AC381306-BD95-B204-391B-8D6B595978A2}"/>
                  </a:ext>
                </a:extLst>
              </p:cNvPr>
              <p:cNvSpPr txBox="1"/>
              <p:nvPr/>
            </p:nvSpPr>
            <p:spPr>
              <a:xfrm>
                <a:off x="9451460" y="5480263"/>
                <a:ext cx="2032329" cy="369332"/>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400" b="0" i="1" smtClean="0">
                          <a:solidFill>
                            <a:schemeClr val="tx1"/>
                          </a:solidFill>
                          <a:latin typeface="Cambria Math" panose="02040503050406030204" pitchFamily="18" charset="0"/>
                        </a:rPr>
                        <m:t>𝑚𝑖𝑛𝑖𝑚𝑖𝑧𝑒</m:t>
                      </m:r>
                      <m:r>
                        <a:rPr lang="en-US" altLang="zh-TW" sz="2400" b="0" i="1" smtClean="0">
                          <a:solidFill>
                            <a:schemeClr val="tx1"/>
                          </a:solidFill>
                          <a:latin typeface="Cambria Math" panose="02040503050406030204" pitchFamily="18" charset="0"/>
                        </a:rPr>
                        <m:t>  </m:t>
                      </m:r>
                      <m:r>
                        <a:rPr lang="en-US" altLang="zh-TW" sz="2400" b="1" i="1" smtClean="0">
                          <a:solidFill>
                            <a:schemeClr val="tx1"/>
                          </a:solidFill>
                          <a:latin typeface="Cambria Math" panose="02040503050406030204" pitchFamily="18" charset="0"/>
                        </a:rPr>
                        <m:t>𝑱</m:t>
                      </m:r>
                    </m:oMath>
                  </m:oMathPara>
                </a14:m>
                <a:endParaRPr lang="zh-TW" altLang="en-US" sz="2400" b="1" dirty="0">
                  <a:solidFill>
                    <a:schemeClr val="accent5">
                      <a:lumMod val="50000"/>
                    </a:schemeClr>
                  </a:solidFill>
                </a:endParaRPr>
              </a:p>
            </p:txBody>
          </p:sp>
        </mc:Choice>
        <mc:Fallback xmlns="">
          <p:sp>
            <p:nvSpPr>
              <p:cNvPr id="5" name="文字方塊 4">
                <a:extLst>
                  <a:ext uri="{FF2B5EF4-FFF2-40B4-BE49-F238E27FC236}">
                    <a16:creationId xmlns:a16="http://schemas.microsoft.com/office/drawing/2014/main" id="{AC381306-BD95-B204-391B-8D6B595978A2}"/>
                  </a:ext>
                </a:extLst>
              </p:cNvPr>
              <p:cNvSpPr txBox="1">
                <a:spLocks noRot="1" noChangeAspect="1" noMove="1" noResize="1" noEditPoints="1" noAdjustHandles="1" noChangeArrowheads="1" noChangeShapeType="1" noTextEdit="1"/>
              </p:cNvSpPr>
              <p:nvPr/>
            </p:nvSpPr>
            <p:spPr>
              <a:xfrm>
                <a:off x="9451460" y="5480263"/>
                <a:ext cx="2032329" cy="369332"/>
              </a:xfrm>
              <a:prstGeom prst="rect">
                <a:avLst/>
              </a:prstGeom>
              <a:blipFill>
                <a:blip r:embed="rId3"/>
                <a:stretch>
                  <a:fillRect l="-5090" b="-278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98686B70-8C6A-45DD-DC3D-564CE160CAE0}"/>
                  </a:ext>
                </a:extLst>
              </p:cNvPr>
              <p:cNvSpPr txBox="1"/>
              <p:nvPr/>
            </p:nvSpPr>
            <p:spPr>
              <a:xfrm>
                <a:off x="2889879" y="5403159"/>
                <a:ext cx="6048517" cy="523541"/>
              </a:xfrm>
              <a:prstGeom prst="rect">
                <a:avLst/>
              </a:prstGeom>
              <a:noFill/>
            </p:spPr>
            <p:txBody>
              <a:bodyPr wrap="square" lIns="0" tIns="0" rIns="0" bIns="0" rtlCol="0">
                <a:spAutoFit/>
              </a:bodyPr>
              <a:lstStyle/>
              <a:p>
                <a:r>
                  <a:rPr lang="en-US" altLang="zh-TW" sz="2400" b="1" dirty="0">
                    <a:solidFill>
                      <a:schemeClr val="tx1"/>
                    </a:solidFill>
                  </a:rPr>
                  <a:t>C</a:t>
                </a:r>
                <a14:m>
                  <m:oMath xmlns:m="http://schemas.openxmlformats.org/officeDocument/2006/math">
                    <m:r>
                      <a:rPr lang="en-US" altLang="zh-TW" sz="2400" b="1" i="0" smtClean="0">
                        <a:latin typeface="Cambria Math" panose="02040503050406030204" pitchFamily="18" charset="0"/>
                      </a:rPr>
                      <m:t>𝐨</m:t>
                    </m:r>
                    <m:r>
                      <a:rPr lang="en-US" altLang="zh-TW" sz="2400" b="1" i="0" smtClean="0">
                        <a:solidFill>
                          <a:schemeClr val="tx1"/>
                        </a:solidFill>
                        <a:latin typeface="Cambria Math" panose="02040503050406030204" pitchFamily="18" charset="0"/>
                      </a:rPr>
                      <m:t>𝐬𝐭</m:t>
                    </m:r>
                    <m:r>
                      <a:rPr lang="en-US" altLang="zh-TW" sz="2400" b="1" i="0" smtClean="0">
                        <a:solidFill>
                          <a:schemeClr val="tx1"/>
                        </a:solidFill>
                        <a:latin typeface="Cambria Math" panose="02040503050406030204" pitchFamily="18" charset="0"/>
                      </a:rPr>
                      <m:t> </m:t>
                    </m:r>
                    <m:r>
                      <a:rPr lang="en-US" altLang="zh-TW" sz="2400" b="1" i="0">
                        <a:latin typeface="Cambria Math" panose="02040503050406030204" pitchFamily="18" charset="0"/>
                      </a:rPr>
                      <m:t>𝐅</m:t>
                    </m:r>
                    <m:r>
                      <a:rPr lang="en-US" altLang="zh-TW" sz="2400" b="1" i="0" smtClean="0">
                        <a:solidFill>
                          <a:schemeClr val="tx1"/>
                        </a:solidFill>
                        <a:latin typeface="Cambria Math" panose="02040503050406030204" pitchFamily="18" charset="0"/>
                      </a:rPr>
                      <m:t>𝐮𝐧𝐜𝐭𝐢𝐨𝐧</m:t>
                    </m:r>
                    <m:r>
                      <a:rPr lang="en-US" altLang="zh-TW" sz="2400" b="1" i="0" smtClean="0">
                        <a:solidFill>
                          <a:schemeClr val="tx1"/>
                        </a:solidFill>
                        <a:latin typeface="Cambria Math" panose="02040503050406030204" pitchFamily="18" charset="0"/>
                      </a:rPr>
                      <m:t>  </m:t>
                    </m:r>
                    <m:r>
                      <a:rPr lang="en-US" altLang="zh-TW" sz="2400" b="1" i="1" smtClean="0">
                        <a:solidFill>
                          <a:schemeClr val="tx1"/>
                        </a:solidFill>
                        <a:latin typeface="Cambria Math" panose="02040503050406030204" pitchFamily="18" charset="0"/>
                      </a:rPr>
                      <m:t>𝑱</m:t>
                    </m:r>
                    <m:r>
                      <a:rPr lang="en-US" altLang="zh-TW" sz="2400" b="0" i="1" smtClean="0">
                        <a:solidFill>
                          <a:schemeClr val="tx1"/>
                        </a:solidFill>
                        <a:latin typeface="Cambria Math" panose="02040503050406030204" pitchFamily="18" charset="0"/>
                      </a:rPr>
                      <m:t>= </m:t>
                    </m:r>
                    <m:f>
                      <m:fPr>
                        <m:ctrlPr>
                          <a:rPr lang="en-US" altLang="zh-TW" sz="2400" b="0" i="1" smtClean="0">
                            <a:solidFill>
                              <a:schemeClr val="tx1"/>
                            </a:solidFill>
                            <a:latin typeface="Cambria Math" panose="02040503050406030204" pitchFamily="18" charset="0"/>
                          </a:rPr>
                        </m:ctrlPr>
                      </m:fPr>
                      <m:num>
                        <m:r>
                          <a:rPr lang="en-US" altLang="zh-TW" sz="2400" b="0" i="1" smtClean="0">
                            <a:solidFill>
                              <a:schemeClr val="tx1"/>
                            </a:solidFill>
                            <a:latin typeface="Cambria Math" panose="02040503050406030204" pitchFamily="18" charset="0"/>
                          </a:rPr>
                          <m:t>1</m:t>
                        </m:r>
                      </m:num>
                      <m:den>
                        <m:r>
                          <a:rPr lang="en-US" altLang="zh-TW" sz="2400" b="0" i="1" smtClean="0">
                            <a:solidFill>
                              <a:schemeClr val="tx1"/>
                            </a:solidFill>
                            <a:latin typeface="Cambria Math" panose="02040503050406030204" pitchFamily="18" charset="0"/>
                          </a:rPr>
                          <m:t>𝑛</m:t>
                        </m:r>
                      </m:den>
                    </m:f>
                    <m:nary>
                      <m:naryPr>
                        <m:chr m:val="∑"/>
                        <m:ctrlPr>
                          <a:rPr lang="en-US" altLang="zh-TW" sz="2400" b="0" i="1" smtClean="0">
                            <a:solidFill>
                              <a:schemeClr val="tx1"/>
                            </a:solidFill>
                            <a:latin typeface="Cambria Math" panose="02040503050406030204" pitchFamily="18" charset="0"/>
                          </a:rPr>
                        </m:ctrlPr>
                      </m:naryPr>
                      <m:sub>
                        <m:r>
                          <m:rPr>
                            <m:brk m:alnAt="23"/>
                          </m:rPr>
                          <a:rPr lang="en-US" altLang="zh-TW" sz="2400" b="0" i="1" smtClean="0">
                            <a:solidFill>
                              <a:schemeClr val="tx1"/>
                            </a:solidFill>
                            <a:latin typeface="Cambria Math" panose="02040503050406030204" pitchFamily="18" charset="0"/>
                          </a:rPr>
                          <m:t>𝑖</m:t>
                        </m:r>
                        <m:r>
                          <a:rPr lang="en-US" altLang="zh-TW" sz="2400" b="0" i="1" smtClean="0">
                            <a:solidFill>
                              <a:schemeClr val="tx1"/>
                            </a:solidFill>
                            <a:latin typeface="Cambria Math" panose="02040503050406030204" pitchFamily="18" charset="0"/>
                          </a:rPr>
                          <m:t>=1</m:t>
                        </m:r>
                      </m:sub>
                      <m:sup>
                        <m:r>
                          <a:rPr lang="en-US" altLang="zh-TW" sz="2400" b="0" i="1" smtClean="0">
                            <a:solidFill>
                              <a:schemeClr val="tx1"/>
                            </a:solidFill>
                            <a:latin typeface="Cambria Math" panose="02040503050406030204" pitchFamily="18" charset="0"/>
                          </a:rPr>
                          <m:t>𝑁</m:t>
                        </m:r>
                      </m:sup>
                      <m:e>
                        <m:sSup>
                          <m:sSupPr>
                            <m:ctrlPr>
                              <a:rPr lang="en-US" altLang="zh-TW" sz="2400" b="0" i="1" smtClean="0">
                                <a:solidFill>
                                  <a:schemeClr val="tx1"/>
                                </a:solidFill>
                                <a:latin typeface="Cambria Math" panose="02040503050406030204" pitchFamily="18" charset="0"/>
                              </a:rPr>
                            </m:ctrlPr>
                          </m:sSupPr>
                          <m:e>
                            <m:r>
                              <a:rPr lang="en-US" altLang="zh-TW" sz="2400" b="0" i="1" smtClean="0">
                                <a:solidFill>
                                  <a:schemeClr val="tx1"/>
                                </a:solidFill>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𝑝𝑟𝑒𝑑𝑖𝑐𝑡</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i="1">
                                    <a:latin typeface="Cambria Math" panose="02040503050406030204" pitchFamily="18" charset="0"/>
                                  </a:rPr>
                                  <m:t>𝑖</m:t>
                                </m:r>
                              </m:sub>
                            </m:sSub>
                            <m:r>
                              <a:rPr lang="en-US" altLang="zh-TW" sz="2400" b="0" i="1" smtClean="0">
                                <a:solidFill>
                                  <a:schemeClr val="tx1"/>
                                </a:solidFill>
                                <a:latin typeface="Cambria Math" panose="02040503050406030204" pitchFamily="18" charset="0"/>
                              </a:rPr>
                              <m:t>)</m:t>
                            </m:r>
                          </m:e>
                          <m:sup>
                            <m:r>
                              <a:rPr lang="en-US" altLang="zh-TW" sz="2400" b="0" i="1" smtClean="0">
                                <a:solidFill>
                                  <a:schemeClr val="tx1"/>
                                </a:solidFill>
                                <a:latin typeface="Cambria Math" panose="02040503050406030204" pitchFamily="18" charset="0"/>
                              </a:rPr>
                              <m:t>2 </m:t>
                            </m:r>
                          </m:sup>
                        </m:sSup>
                      </m:e>
                    </m:nary>
                  </m:oMath>
                </a14:m>
                <a:endParaRPr lang="zh-TW" altLang="en-US" sz="2400" dirty="0">
                  <a:solidFill>
                    <a:schemeClr val="accent5">
                      <a:lumMod val="50000"/>
                    </a:schemeClr>
                  </a:solidFill>
                </a:endParaRPr>
              </a:p>
            </p:txBody>
          </p:sp>
        </mc:Choice>
        <mc:Fallback xmlns="">
          <p:sp>
            <p:nvSpPr>
              <p:cNvPr id="6" name="文字方塊 5">
                <a:extLst>
                  <a:ext uri="{FF2B5EF4-FFF2-40B4-BE49-F238E27FC236}">
                    <a16:creationId xmlns:a16="http://schemas.microsoft.com/office/drawing/2014/main" id="{98686B70-8C6A-45DD-DC3D-564CE160CAE0}"/>
                  </a:ext>
                </a:extLst>
              </p:cNvPr>
              <p:cNvSpPr txBox="1">
                <a:spLocks noRot="1" noChangeAspect="1" noMove="1" noResize="1" noEditPoints="1" noAdjustHandles="1" noChangeArrowheads="1" noChangeShapeType="1" noTextEdit="1"/>
              </p:cNvSpPr>
              <p:nvPr/>
            </p:nvSpPr>
            <p:spPr>
              <a:xfrm>
                <a:off x="2889879" y="5403159"/>
                <a:ext cx="6048517" cy="523541"/>
              </a:xfrm>
              <a:prstGeom prst="rect">
                <a:avLst/>
              </a:prstGeom>
              <a:blipFill>
                <a:blip r:embed="rId4"/>
                <a:stretch>
                  <a:fillRect l="-3024" t="-2326" b="-209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80006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154FBF-0F4E-8C3C-3073-5672DA286AAF}"/>
              </a:ext>
            </a:extLst>
          </p:cNvPr>
          <p:cNvSpPr txBox="1">
            <a:spLocks/>
          </p:cNvSpPr>
          <p:nvPr/>
        </p:nvSpPr>
        <p:spPr>
          <a:xfrm>
            <a:off x="766482" y="618956"/>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b="1"/>
              <a:t>Gradient Decent </a:t>
            </a:r>
            <a:r>
              <a:rPr lang="zh-TW" altLang="en-US" b="1">
                <a:latin typeface="微軟正黑體" panose="020B0604030504040204" pitchFamily="34" charset="-120"/>
                <a:ea typeface="微軟正黑體" panose="020B0604030504040204" pitchFamily="34" charset="-120"/>
              </a:rPr>
              <a:t>梯度下降法</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45054C42-A89F-7C29-C2DF-AC8A6C4740EC}"/>
              </a:ext>
            </a:extLst>
          </p:cNvPr>
          <p:cNvSpPr txBox="1">
            <a:spLocks/>
          </p:cNvSpPr>
          <p:nvPr/>
        </p:nvSpPr>
        <p:spPr>
          <a:xfrm>
            <a:off x="766482" y="1730913"/>
            <a:ext cx="7816913" cy="400394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"A gradient measures how much the output of a function changes if you change the inputs a little bit." — Lex </a:t>
            </a:r>
            <a:r>
              <a:rPr lang="en-US" altLang="zh-TW" dirty="0" err="1"/>
              <a:t>Fridman</a:t>
            </a:r>
            <a:r>
              <a:rPr lang="en-US" altLang="zh-TW" dirty="0"/>
              <a:t> (MIT)</a:t>
            </a:r>
            <a:endParaRPr lang="zh-TW" altLang="en-US" dirty="0"/>
          </a:p>
          <a:p>
            <a:r>
              <a:rPr lang="en-US" altLang="zh-TW" dirty="0"/>
              <a:t>Gradient Descent is an optimization algorithm for finding a local minimum of a differentiable function. </a:t>
            </a:r>
          </a:p>
          <a:p>
            <a:r>
              <a:rPr lang="en-US" altLang="zh-TW" dirty="0"/>
              <a:t>Gradient descent in machine learning is simply used to find the values of a function's parameters (coefficients) that minimize a cost function as far as possible.</a:t>
            </a:r>
          </a:p>
          <a:p>
            <a:endParaRPr lang="en-US" altLang="zh-TW" dirty="0"/>
          </a:p>
          <a:p>
            <a:endParaRPr lang="zh-TW" altLang="en-US" dirty="0"/>
          </a:p>
        </p:txBody>
      </p:sp>
      <p:pic>
        <p:nvPicPr>
          <p:cNvPr id="4" name="Picture 2" descr="gradient descent range">
            <a:extLst>
              <a:ext uri="{FF2B5EF4-FFF2-40B4-BE49-F238E27FC236}">
                <a16:creationId xmlns:a16="http://schemas.microsoft.com/office/drawing/2014/main" id="{BC774F41-AC84-4B1A-DEC5-B38B52F2A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3930" y="1598048"/>
            <a:ext cx="3016784" cy="3310952"/>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3B2A2B56-075A-2F91-251C-C1E85B55E66F}"/>
              </a:ext>
            </a:extLst>
          </p:cNvPr>
          <p:cNvSpPr txBox="1"/>
          <p:nvPr/>
        </p:nvSpPr>
        <p:spPr>
          <a:xfrm>
            <a:off x="8846705" y="5075286"/>
            <a:ext cx="3016784" cy="369332"/>
          </a:xfrm>
          <a:prstGeom prst="rect">
            <a:avLst/>
          </a:prstGeom>
          <a:noFill/>
        </p:spPr>
        <p:txBody>
          <a:bodyPr wrap="square">
            <a:spAutoFit/>
          </a:bodyPr>
          <a:lstStyle/>
          <a:p>
            <a:r>
              <a:rPr lang="en-US" altLang="zh-TW" b="0" i="0" dirty="0">
                <a:solidFill>
                  <a:srgbClr val="7F8398"/>
                </a:solidFill>
                <a:effectLst/>
                <a:latin typeface="Montserrat" panose="00000500000000000000" pitchFamily="2" charset="0"/>
              </a:rPr>
              <a:t>Image: Niklas Donges</a:t>
            </a:r>
            <a:endParaRPr lang="zh-TW" altLang="en-US" dirty="0"/>
          </a:p>
        </p:txBody>
      </p:sp>
    </p:spTree>
    <p:extLst>
      <p:ext uri="{BB962C8B-B14F-4D97-AF65-F5344CB8AC3E}">
        <p14:creationId xmlns:p14="http://schemas.microsoft.com/office/powerpoint/2010/main" val="419312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9BEED5-217C-CDDB-C642-9471732D71F7}"/>
              </a:ext>
            </a:extLst>
          </p:cNvPr>
          <p:cNvSpPr>
            <a:spLocks noGrp="1"/>
          </p:cNvSpPr>
          <p:nvPr>
            <p:ph type="title"/>
          </p:nvPr>
        </p:nvSpPr>
        <p:spPr/>
        <p:txBody>
          <a:bodyPr/>
          <a:lstStyle/>
          <a:p>
            <a:r>
              <a:rPr lang="en-US" altLang="zh-TW" dirty="0"/>
              <a:t>How Gradient Descent Works</a:t>
            </a:r>
            <a:endParaRPr lang="zh-TW" altLang="en-US" dirty="0"/>
          </a:p>
        </p:txBody>
      </p:sp>
      <p:sp>
        <p:nvSpPr>
          <p:cNvPr id="3" name="內容版面配置區 2">
            <a:extLst>
              <a:ext uri="{FF2B5EF4-FFF2-40B4-BE49-F238E27FC236}">
                <a16:creationId xmlns:a16="http://schemas.microsoft.com/office/drawing/2014/main" id="{7413AC5D-2974-B529-E7E2-DE0D4881CA04}"/>
              </a:ext>
            </a:extLst>
          </p:cNvPr>
          <p:cNvSpPr>
            <a:spLocks noGrp="1"/>
          </p:cNvSpPr>
          <p:nvPr>
            <p:ph idx="1"/>
          </p:nvPr>
        </p:nvSpPr>
        <p:spPr>
          <a:xfrm>
            <a:off x="838200" y="1825625"/>
            <a:ext cx="5728448" cy="4351338"/>
          </a:xfrm>
        </p:spPr>
        <p:txBody>
          <a:bodyPr/>
          <a:lstStyle/>
          <a:p>
            <a:endParaRPr lang="en-US" altLang="zh-TW" dirty="0"/>
          </a:p>
          <a:p>
            <a:endParaRPr lang="en-US" altLang="zh-TW" dirty="0"/>
          </a:p>
          <a:p>
            <a:r>
              <a:rPr lang="en-US" altLang="zh-TW" dirty="0"/>
              <a:t>Gradient descent is a convex function</a:t>
            </a:r>
          </a:p>
          <a:p>
            <a:r>
              <a:rPr lang="en-US" altLang="zh-TW" b="0" i="0" dirty="0">
                <a:solidFill>
                  <a:srgbClr val="3A3B41"/>
                </a:solidFill>
                <a:effectLst/>
              </a:rPr>
              <a:t>For the gradient descent algorithm to reach the local minimum we must set the learning rate to an appropriate value, which is neither too low nor too high.</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B22FD8D-ECDD-3AB1-5D00-445BD26F329F}"/>
                  </a:ext>
                </a:extLst>
              </p:cNvPr>
              <p:cNvSpPr txBox="1"/>
              <p:nvPr/>
            </p:nvSpPr>
            <p:spPr>
              <a:xfrm>
                <a:off x="1535052" y="1825625"/>
                <a:ext cx="4731277" cy="49244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sz="3200" b="0" i="1" smtClean="0">
                              <a:solidFill>
                                <a:schemeClr val="accent5">
                                  <a:lumMod val="50000"/>
                                </a:schemeClr>
                              </a:solidFill>
                              <a:latin typeface="Cambria Math" panose="02040503050406030204" pitchFamily="18" charset="0"/>
                            </a:rPr>
                          </m:ctrlPr>
                        </m:sSubPr>
                        <m:e>
                          <m:r>
                            <a:rPr lang="en-US" altLang="zh-TW" sz="3200" b="0" i="1" smtClean="0">
                              <a:solidFill>
                                <a:schemeClr val="accent5">
                                  <a:lumMod val="50000"/>
                                </a:schemeClr>
                              </a:solidFill>
                              <a:latin typeface="Cambria Math" panose="02040503050406030204" pitchFamily="18" charset="0"/>
                            </a:rPr>
                            <m:t>𝑎</m:t>
                          </m:r>
                        </m:e>
                        <m:sub>
                          <m:r>
                            <a:rPr lang="en-US" altLang="zh-TW" sz="3200" b="0" i="1" smtClean="0">
                              <a:solidFill>
                                <a:schemeClr val="accent5">
                                  <a:lumMod val="50000"/>
                                </a:schemeClr>
                              </a:solidFill>
                              <a:latin typeface="Cambria Math" panose="02040503050406030204" pitchFamily="18" charset="0"/>
                            </a:rPr>
                            <m:t>𝑛</m:t>
                          </m:r>
                          <m:r>
                            <a:rPr lang="en-US" altLang="zh-TW" sz="3200" b="0" i="1" smtClean="0">
                              <a:solidFill>
                                <a:schemeClr val="accent5">
                                  <a:lumMod val="50000"/>
                                </a:schemeClr>
                              </a:solidFill>
                              <a:latin typeface="Cambria Math" panose="02040503050406030204" pitchFamily="18" charset="0"/>
                            </a:rPr>
                            <m:t>+1</m:t>
                          </m:r>
                        </m:sub>
                      </m:sSub>
                      <m:r>
                        <a:rPr lang="en-US" altLang="zh-TW" sz="3200" b="0" i="1" smtClean="0">
                          <a:solidFill>
                            <a:schemeClr val="accent5">
                              <a:lumMod val="50000"/>
                            </a:schemeClr>
                          </a:solidFill>
                          <a:latin typeface="Cambria Math" panose="02040503050406030204" pitchFamily="18" charset="0"/>
                        </a:rPr>
                        <m:t>=</m:t>
                      </m:r>
                      <m:sSub>
                        <m:sSubPr>
                          <m:ctrlPr>
                            <a:rPr lang="en-US" altLang="zh-TW" sz="3200" i="1">
                              <a:solidFill>
                                <a:schemeClr val="accent5">
                                  <a:lumMod val="50000"/>
                                </a:schemeClr>
                              </a:solidFill>
                              <a:latin typeface="Cambria Math" panose="02040503050406030204" pitchFamily="18" charset="0"/>
                            </a:rPr>
                          </m:ctrlPr>
                        </m:sSubPr>
                        <m:e>
                          <m:r>
                            <a:rPr lang="en-US" altLang="zh-TW" sz="3200" i="1">
                              <a:solidFill>
                                <a:schemeClr val="accent5">
                                  <a:lumMod val="50000"/>
                                </a:schemeClr>
                              </a:solidFill>
                              <a:latin typeface="Cambria Math" panose="02040503050406030204" pitchFamily="18" charset="0"/>
                            </a:rPr>
                            <m:t>𝑎</m:t>
                          </m:r>
                        </m:e>
                        <m:sub>
                          <m:r>
                            <a:rPr lang="en-US" altLang="zh-TW" sz="3200" i="1">
                              <a:solidFill>
                                <a:schemeClr val="accent5">
                                  <a:lumMod val="50000"/>
                                </a:schemeClr>
                              </a:solidFill>
                              <a:latin typeface="Cambria Math" panose="02040503050406030204" pitchFamily="18" charset="0"/>
                            </a:rPr>
                            <m:t>𝑛</m:t>
                          </m:r>
                        </m:sub>
                      </m:sSub>
                      <m:r>
                        <a:rPr lang="en-US" altLang="zh-TW" sz="3200" b="0" i="1" smtClean="0">
                          <a:solidFill>
                            <a:schemeClr val="accent5">
                              <a:lumMod val="50000"/>
                            </a:schemeClr>
                          </a:solidFill>
                          <a:latin typeface="Cambria Math" panose="02040503050406030204" pitchFamily="18" charset="0"/>
                        </a:rPr>
                        <m:t>−</m:t>
                      </m:r>
                      <m:r>
                        <a:rPr lang="zh-TW" altLang="en-US" sz="3200" b="0" i="1" smtClean="0">
                          <a:solidFill>
                            <a:schemeClr val="accent5">
                              <a:lumMod val="50000"/>
                            </a:schemeClr>
                          </a:solidFill>
                          <a:latin typeface="Cambria Math" panose="02040503050406030204" pitchFamily="18" charset="0"/>
                        </a:rPr>
                        <m:t>𝛾</m:t>
                      </m:r>
                      <m:r>
                        <m:rPr>
                          <m:sty m:val="p"/>
                        </m:rPr>
                        <a:rPr lang="zh-TW" altLang="en-US" sz="3200" b="0" i="1" smtClean="0">
                          <a:solidFill>
                            <a:schemeClr val="accent5">
                              <a:lumMod val="50000"/>
                            </a:schemeClr>
                          </a:solidFill>
                          <a:latin typeface="Cambria Math" panose="02040503050406030204" pitchFamily="18" charset="0"/>
                        </a:rPr>
                        <m:t>∇</m:t>
                      </m:r>
                      <m:r>
                        <a:rPr lang="en-US" altLang="zh-TW" sz="3200" b="0" i="1" smtClean="0">
                          <a:solidFill>
                            <a:schemeClr val="accent5">
                              <a:lumMod val="50000"/>
                            </a:schemeClr>
                          </a:solidFill>
                          <a:latin typeface="Cambria Math" panose="02040503050406030204" pitchFamily="18" charset="0"/>
                        </a:rPr>
                        <m:t>𝐹</m:t>
                      </m:r>
                      <m:r>
                        <a:rPr lang="en-US" altLang="zh-TW" sz="3200" b="0" i="1" smtClean="0">
                          <a:solidFill>
                            <a:schemeClr val="accent5">
                              <a:lumMod val="50000"/>
                            </a:schemeClr>
                          </a:solidFill>
                          <a:latin typeface="Cambria Math" panose="02040503050406030204" pitchFamily="18" charset="0"/>
                        </a:rPr>
                        <m:t>(</m:t>
                      </m:r>
                      <m:sSub>
                        <m:sSubPr>
                          <m:ctrlPr>
                            <a:rPr lang="en-US" altLang="zh-TW" sz="3200" i="1">
                              <a:solidFill>
                                <a:schemeClr val="accent5">
                                  <a:lumMod val="50000"/>
                                </a:schemeClr>
                              </a:solidFill>
                              <a:latin typeface="Cambria Math" panose="02040503050406030204" pitchFamily="18" charset="0"/>
                            </a:rPr>
                          </m:ctrlPr>
                        </m:sSubPr>
                        <m:e>
                          <m:r>
                            <a:rPr lang="en-US" altLang="zh-TW" sz="3200" i="1">
                              <a:solidFill>
                                <a:schemeClr val="accent5">
                                  <a:lumMod val="50000"/>
                                </a:schemeClr>
                              </a:solidFill>
                              <a:latin typeface="Cambria Math" panose="02040503050406030204" pitchFamily="18" charset="0"/>
                            </a:rPr>
                            <m:t>𝑎</m:t>
                          </m:r>
                        </m:e>
                        <m:sub>
                          <m:r>
                            <a:rPr lang="en-US" altLang="zh-TW" sz="3200" i="1">
                              <a:solidFill>
                                <a:schemeClr val="accent5">
                                  <a:lumMod val="50000"/>
                                </a:schemeClr>
                              </a:solidFill>
                              <a:latin typeface="Cambria Math" panose="02040503050406030204" pitchFamily="18" charset="0"/>
                            </a:rPr>
                            <m:t>𝑛</m:t>
                          </m:r>
                        </m:sub>
                      </m:sSub>
                      <m:r>
                        <a:rPr lang="en-US" altLang="zh-TW" sz="3200" b="0" i="1" smtClean="0">
                          <a:solidFill>
                            <a:schemeClr val="accent5">
                              <a:lumMod val="50000"/>
                            </a:schemeClr>
                          </a:solidFill>
                          <a:latin typeface="Cambria Math" panose="02040503050406030204" pitchFamily="18" charset="0"/>
                        </a:rPr>
                        <m:t>)</m:t>
                      </m:r>
                    </m:oMath>
                  </m:oMathPara>
                </a14:m>
                <a:endParaRPr lang="zh-TW" altLang="en-US" sz="3200" dirty="0">
                  <a:solidFill>
                    <a:schemeClr val="accent5">
                      <a:lumMod val="50000"/>
                    </a:schemeClr>
                  </a:solidFill>
                </a:endParaRPr>
              </a:p>
            </p:txBody>
          </p:sp>
        </mc:Choice>
        <mc:Fallback xmlns="">
          <p:sp>
            <p:nvSpPr>
              <p:cNvPr id="4" name="文字方塊 3">
                <a:extLst>
                  <a:ext uri="{FF2B5EF4-FFF2-40B4-BE49-F238E27FC236}">
                    <a16:creationId xmlns:a16="http://schemas.microsoft.com/office/drawing/2014/main" id="{5B22FD8D-ECDD-3AB1-5D00-445BD26F329F}"/>
                  </a:ext>
                </a:extLst>
              </p:cNvPr>
              <p:cNvSpPr txBox="1">
                <a:spLocks noRot="1" noChangeAspect="1" noMove="1" noResize="1" noEditPoints="1" noAdjustHandles="1" noChangeArrowheads="1" noChangeShapeType="1" noTextEdit="1"/>
              </p:cNvSpPr>
              <p:nvPr/>
            </p:nvSpPr>
            <p:spPr>
              <a:xfrm>
                <a:off x="1535052" y="1825625"/>
                <a:ext cx="4731277" cy="492443"/>
              </a:xfrm>
              <a:prstGeom prst="rect">
                <a:avLst/>
              </a:prstGeom>
              <a:blipFill>
                <a:blip r:embed="rId2"/>
                <a:stretch>
                  <a:fillRect/>
                </a:stretch>
              </a:blipFill>
            </p:spPr>
            <p:txBody>
              <a:bodyPr/>
              <a:lstStyle/>
              <a:p>
                <a:r>
                  <a:rPr lang="zh-TW" altLang="en-US">
                    <a:noFill/>
                  </a:rPr>
                  <a:t> </a:t>
                </a:r>
              </a:p>
            </p:txBody>
          </p:sp>
        </mc:Fallback>
      </mc:AlternateContent>
      <p:pic>
        <p:nvPicPr>
          <p:cNvPr id="1026" name="Picture 2" descr="gradient descent learning rate">
            <a:extLst>
              <a:ext uri="{FF2B5EF4-FFF2-40B4-BE49-F238E27FC236}">
                <a16:creationId xmlns:a16="http://schemas.microsoft.com/office/drawing/2014/main" id="{2BA01616-19D0-AC53-4FAC-F30D37373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9718" y="4001294"/>
            <a:ext cx="4688542" cy="21937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adient descent convex function">
            <a:extLst>
              <a:ext uri="{FF2B5EF4-FFF2-40B4-BE49-F238E27FC236}">
                <a16:creationId xmlns:a16="http://schemas.microsoft.com/office/drawing/2014/main" id="{361B8D7A-36A5-FE9B-A614-9DBFC87EA6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4954" y="1143738"/>
            <a:ext cx="3596246" cy="234866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A8649242-40A0-4D43-3AA4-13340E3D8E80}"/>
                  </a:ext>
                </a:extLst>
              </p:cNvPr>
              <p:cNvSpPr txBox="1"/>
              <p:nvPr/>
            </p:nvSpPr>
            <p:spPr>
              <a:xfrm>
                <a:off x="8650940" y="3946563"/>
                <a:ext cx="49305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1800" b="0" i="1" smtClean="0">
                          <a:solidFill>
                            <a:schemeClr val="accent5">
                              <a:lumMod val="50000"/>
                            </a:schemeClr>
                          </a:solidFill>
                          <a:latin typeface="Cambria Math" panose="02040503050406030204" pitchFamily="18" charset="0"/>
                        </a:rPr>
                        <m:t>𝛾</m:t>
                      </m:r>
                    </m:oMath>
                  </m:oMathPara>
                </a14:m>
                <a:endParaRPr lang="zh-TW" altLang="en-US" dirty="0"/>
              </a:p>
            </p:txBody>
          </p:sp>
        </mc:Choice>
        <mc:Fallback xmlns="">
          <p:sp>
            <p:nvSpPr>
              <p:cNvPr id="6" name="文字方塊 5">
                <a:extLst>
                  <a:ext uri="{FF2B5EF4-FFF2-40B4-BE49-F238E27FC236}">
                    <a16:creationId xmlns:a16="http://schemas.microsoft.com/office/drawing/2014/main" id="{A8649242-40A0-4D43-3AA4-13340E3D8E80}"/>
                  </a:ext>
                </a:extLst>
              </p:cNvPr>
              <p:cNvSpPr txBox="1">
                <a:spLocks noRot="1" noChangeAspect="1" noMove="1" noResize="1" noEditPoints="1" noAdjustHandles="1" noChangeArrowheads="1" noChangeShapeType="1" noTextEdit="1"/>
              </p:cNvSpPr>
              <p:nvPr/>
            </p:nvSpPr>
            <p:spPr>
              <a:xfrm>
                <a:off x="8650940" y="3946563"/>
                <a:ext cx="493059" cy="369332"/>
              </a:xfrm>
              <a:prstGeom prst="rect">
                <a:avLst/>
              </a:prstGeom>
              <a:blipFill>
                <a:blip r:embed="rId5"/>
                <a:stretch>
                  <a:fillRect b="-3279"/>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E9DCB196-A55F-FD21-1BB9-516A980A9F7C}"/>
              </a:ext>
            </a:extLst>
          </p:cNvPr>
          <p:cNvSpPr txBox="1"/>
          <p:nvPr/>
        </p:nvSpPr>
        <p:spPr>
          <a:xfrm>
            <a:off x="8084685" y="6308209"/>
            <a:ext cx="3016784" cy="369332"/>
          </a:xfrm>
          <a:prstGeom prst="rect">
            <a:avLst/>
          </a:prstGeom>
          <a:noFill/>
        </p:spPr>
        <p:txBody>
          <a:bodyPr wrap="square">
            <a:spAutoFit/>
          </a:bodyPr>
          <a:lstStyle/>
          <a:p>
            <a:r>
              <a:rPr lang="en-US" altLang="zh-TW" b="0" i="0" dirty="0">
                <a:solidFill>
                  <a:srgbClr val="7F8398"/>
                </a:solidFill>
                <a:effectLst/>
                <a:latin typeface="Montserrat" panose="00000500000000000000" pitchFamily="2" charset="0"/>
              </a:rPr>
              <a:t>Image: Niklas Donges</a:t>
            </a:r>
            <a:endParaRPr lang="zh-TW" altLang="en-US" dirty="0"/>
          </a:p>
        </p:txBody>
      </p:sp>
    </p:spTree>
    <p:extLst>
      <p:ext uri="{BB962C8B-B14F-4D97-AF65-F5344CB8AC3E}">
        <p14:creationId xmlns:p14="http://schemas.microsoft.com/office/powerpoint/2010/main" val="4149425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9BEED5-217C-CDDB-C642-9471732D71F7}"/>
              </a:ext>
            </a:extLst>
          </p:cNvPr>
          <p:cNvSpPr>
            <a:spLocks noGrp="1"/>
          </p:cNvSpPr>
          <p:nvPr>
            <p:ph type="title"/>
          </p:nvPr>
        </p:nvSpPr>
        <p:spPr>
          <a:xfrm>
            <a:off x="838200" y="365125"/>
            <a:ext cx="10515600" cy="880969"/>
          </a:xfrm>
        </p:spPr>
        <p:txBody>
          <a:bodyPr/>
          <a:lstStyle/>
          <a:p>
            <a:r>
              <a:rPr lang="en-US" altLang="zh-TW" dirty="0"/>
              <a:t>Types of Gradient Descent</a:t>
            </a:r>
            <a:endParaRPr lang="zh-TW" altLang="en-US" dirty="0"/>
          </a:p>
        </p:txBody>
      </p:sp>
      <p:sp>
        <p:nvSpPr>
          <p:cNvPr id="3" name="內容版面配置區 2">
            <a:extLst>
              <a:ext uri="{FF2B5EF4-FFF2-40B4-BE49-F238E27FC236}">
                <a16:creationId xmlns:a16="http://schemas.microsoft.com/office/drawing/2014/main" id="{7413AC5D-2974-B529-E7E2-DE0D4881CA04}"/>
              </a:ext>
            </a:extLst>
          </p:cNvPr>
          <p:cNvSpPr>
            <a:spLocks noGrp="1"/>
          </p:cNvSpPr>
          <p:nvPr>
            <p:ph idx="1"/>
          </p:nvPr>
        </p:nvSpPr>
        <p:spPr>
          <a:xfrm>
            <a:off x="838200" y="1461247"/>
            <a:ext cx="10663518" cy="4715716"/>
          </a:xfrm>
        </p:spPr>
        <p:txBody>
          <a:bodyPr>
            <a:normAutofit fontScale="92500" lnSpcReduction="20000"/>
          </a:bodyPr>
          <a:lstStyle/>
          <a:p>
            <a:r>
              <a:rPr lang="en-US" altLang="zh-TW" dirty="0"/>
              <a:t>Batch Gradient Decent</a:t>
            </a:r>
          </a:p>
          <a:p>
            <a:pPr lvl="1"/>
            <a:r>
              <a:rPr lang="en-US" altLang="zh-TW" dirty="0"/>
              <a:t>Batch gradient descent, also called vanilla gradient descent, calculates the error for each example within the training dataset, but only after all training examples have been evaluated does the model get updated. This whole process is like a cycle and it’s called a training epoch.</a:t>
            </a:r>
          </a:p>
          <a:p>
            <a:r>
              <a:rPr lang="en-US" altLang="zh-TW" dirty="0"/>
              <a:t>Stochastic Gradient Decent</a:t>
            </a:r>
          </a:p>
          <a:p>
            <a:pPr lvl="1"/>
            <a:r>
              <a:rPr lang="en-US" altLang="zh-TW" dirty="0"/>
              <a:t>Stochastic gradient descent (SGD) does this for each training example within the dataset, meaning it updates the parameters for each training example one by one. Depending on the problem, this can make SGD faster than batch gradient descent. One advantage is the frequent updates allow us to have a pretty detailed rate of improvement.</a:t>
            </a:r>
          </a:p>
          <a:p>
            <a:r>
              <a:rPr lang="en-US" altLang="zh-TW" dirty="0"/>
              <a:t>Mini-Batch Gradient Decent</a:t>
            </a:r>
          </a:p>
          <a:p>
            <a:pPr lvl="1"/>
            <a:r>
              <a:rPr lang="en-US" altLang="zh-TW" dirty="0"/>
              <a:t>Mini-batch gradient descent is the go-to method since it’s a combination of the concepts of SGD and batch gradient descent. It simply splits the training dataset into small batches and performs an update for each of those batches. This creates a balance between the robustness of stochastic gradient descent and the efficiency of batch gradient descent.</a:t>
            </a:r>
            <a:endParaRPr lang="zh-TW" altLang="en-US" dirty="0"/>
          </a:p>
        </p:txBody>
      </p:sp>
    </p:spTree>
    <p:extLst>
      <p:ext uri="{BB962C8B-B14F-4D97-AF65-F5344CB8AC3E}">
        <p14:creationId xmlns:p14="http://schemas.microsoft.com/office/powerpoint/2010/main" val="137607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093C79-4A75-48F8-BC84-D332B53748E5}"/>
              </a:ext>
            </a:extLst>
          </p:cNvPr>
          <p:cNvSpPr>
            <a:spLocks noGrp="1"/>
          </p:cNvSpPr>
          <p:nvPr>
            <p:ph type="title"/>
          </p:nvPr>
        </p:nvSpPr>
        <p:spPr>
          <a:xfrm>
            <a:off x="838200" y="202363"/>
            <a:ext cx="10515600" cy="1325563"/>
          </a:xfrm>
        </p:spPr>
        <p:txBody>
          <a:bodyPr/>
          <a:lstStyle/>
          <a:p>
            <a:r>
              <a:rPr lang="en-US" altLang="zh-TW" dirty="0">
                <a:ea typeface="標楷體" panose="03000509000000000000" pitchFamily="65" charset="-120"/>
              </a:rPr>
              <a:t>A Simple Regression</a:t>
            </a:r>
            <a:r>
              <a:rPr lang="zh-TW" altLang="en-US" dirty="0">
                <a:ea typeface="標楷體" panose="03000509000000000000" pitchFamily="65" charset="-120"/>
              </a:rPr>
              <a:t> </a:t>
            </a:r>
            <a:r>
              <a:rPr lang="en-US" altLang="zh-TW" dirty="0">
                <a:ea typeface="標楷體" panose="03000509000000000000" pitchFamily="65" charset="-120"/>
              </a:rPr>
              <a:t>Example </a:t>
            </a:r>
            <a:r>
              <a:rPr lang="zh-TW" altLang="en-US" dirty="0">
                <a:ea typeface="標楷體" panose="03000509000000000000" pitchFamily="65" charset="-120"/>
              </a:rPr>
              <a:t>線性迴歸</a:t>
            </a:r>
            <a:endParaRPr lang="en-US" altLang="zh-TW" dirty="0">
              <a:ea typeface="標楷體" panose="03000509000000000000" pitchFamily="65" charset="-12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063CBFF7-B24D-9E72-5F9A-0C91C63E22CC}"/>
                  </a:ext>
                </a:extLst>
              </p:cNvPr>
              <p:cNvSpPr txBox="1"/>
              <p:nvPr/>
            </p:nvSpPr>
            <p:spPr>
              <a:xfrm>
                <a:off x="3281237" y="2222275"/>
                <a:ext cx="2553520" cy="615553"/>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000" b="0" i="1" smtClean="0">
                          <a:solidFill>
                            <a:schemeClr val="tx1"/>
                          </a:solidFill>
                          <a:latin typeface="Cambria Math" panose="02040503050406030204" pitchFamily="18" charset="0"/>
                        </a:rPr>
                        <m:t>𝑦</m:t>
                      </m:r>
                      <m:r>
                        <a:rPr lang="pt-BR" altLang="zh-TW" sz="4000" i="1" smtClean="0">
                          <a:latin typeface="Cambria Math" panose="02040503050406030204" pitchFamily="18" charset="0"/>
                        </a:rPr>
                        <m:t>=</m:t>
                      </m:r>
                      <m:r>
                        <a:rPr lang="en-US" altLang="zh-TW" sz="4000" b="0" i="1" smtClean="0">
                          <a:latin typeface="Cambria Math" panose="02040503050406030204" pitchFamily="18" charset="0"/>
                        </a:rPr>
                        <m:t>𝑎</m:t>
                      </m:r>
                      <m:r>
                        <a:rPr lang="en-US" altLang="zh-TW" sz="4000" b="0" i="1" smtClean="0">
                          <a:latin typeface="Cambria Math" panose="02040503050406030204" pitchFamily="18" charset="0"/>
                        </a:rPr>
                        <m:t>+</m:t>
                      </m:r>
                      <m:r>
                        <a:rPr lang="en-US" altLang="zh-TW" sz="4000" b="0" i="1" smtClean="0">
                          <a:latin typeface="Cambria Math" panose="02040503050406030204" pitchFamily="18" charset="0"/>
                        </a:rPr>
                        <m:t>𝑏𝑥</m:t>
                      </m:r>
                    </m:oMath>
                  </m:oMathPara>
                </a14:m>
                <a:endParaRPr lang="zh-TW" altLang="en-US" sz="4000" dirty="0"/>
              </a:p>
            </p:txBody>
          </p:sp>
        </mc:Choice>
        <mc:Fallback xmlns="">
          <p:sp>
            <p:nvSpPr>
              <p:cNvPr id="3" name="文字方塊 2">
                <a:extLst>
                  <a:ext uri="{FF2B5EF4-FFF2-40B4-BE49-F238E27FC236}">
                    <a16:creationId xmlns:a16="http://schemas.microsoft.com/office/drawing/2014/main" id="{063CBFF7-B24D-9E72-5F9A-0C91C63E22CC}"/>
                  </a:ext>
                </a:extLst>
              </p:cNvPr>
              <p:cNvSpPr txBox="1">
                <a:spLocks noRot="1" noChangeAspect="1" noMove="1" noResize="1" noEditPoints="1" noAdjustHandles="1" noChangeArrowheads="1" noChangeShapeType="1" noTextEdit="1"/>
              </p:cNvSpPr>
              <p:nvPr/>
            </p:nvSpPr>
            <p:spPr>
              <a:xfrm>
                <a:off x="3281237" y="2222275"/>
                <a:ext cx="2553520" cy="615553"/>
              </a:xfrm>
              <a:prstGeom prst="rect">
                <a:avLst/>
              </a:prstGeom>
              <a:blipFill>
                <a:blip r:embed="rId2"/>
                <a:stretch>
                  <a:fillRect/>
                </a:stretch>
              </a:blipFill>
              <a:ln>
                <a:noFill/>
              </a:ln>
            </p:spPr>
            <p:txBody>
              <a:bodyPr/>
              <a:lstStyle/>
              <a:p>
                <a:r>
                  <a:rPr lang="zh-TW" altLang="en-US">
                    <a:noFill/>
                  </a:rPr>
                  <a:t> </a:t>
                </a:r>
              </a:p>
            </p:txBody>
          </p:sp>
        </mc:Fallback>
      </mc:AlternateContent>
      <p:grpSp>
        <p:nvGrpSpPr>
          <p:cNvPr id="68" name="群組 67">
            <a:extLst>
              <a:ext uri="{FF2B5EF4-FFF2-40B4-BE49-F238E27FC236}">
                <a16:creationId xmlns:a16="http://schemas.microsoft.com/office/drawing/2014/main" id="{7CE516F0-FA85-8F4A-7C13-5E5A6E1C1E7C}"/>
              </a:ext>
            </a:extLst>
          </p:cNvPr>
          <p:cNvGrpSpPr/>
          <p:nvPr/>
        </p:nvGrpSpPr>
        <p:grpSpPr>
          <a:xfrm>
            <a:off x="7518548" y="1824017"/>
            <a:ext cx="4568655" cy="3970319"/>
            <a:chOff x="7518548" y="1824017"/>
            <a:chExt cx="4568655" cy="3970319"/>
          </a:xfrm>
        </p:grpSpPr>
        <p:pic>
          <p:nvPicPr>
            <p:cNvPr id="5" name="圖片 4">
              <a:extLst>
                <a:ext uri="{FF2B5EF4-FFF2-40B4-BE49-F238E27FC236}">
                  <a16:creationId xmlns:a16="http://schemas.microsoft.com/office/drawing/2014/main" id="{8DCE6EE7-DE43-6590-48CC-A291F3B50A30}"/>
                </a:ext>
              </a:extLst>
            </p:cNvPr>
            <p:cNvPicPr>
              <a:picLocks noChangeAspect="1"/>
            </p:cNvPicPr>
            <p:nvPr/>
          </p:nvPicPr>
          <p:blipFill>
            <a:blip r:embed="rId3"/>
            <a:stretch>
              <a:fillRect/>
            </a:stretch>
          </p:blipFill>
          <p:spPr>
            <a:xfrm>
              <a:off x="7518548" y="1824017"/>
              <a:ext cx="4568655" cy="3970319"/>
            </a:xfrm>
            <a:prstGeom prst="rect">
              <a:avLst/>
            </a:prstGeom>
          </p:spPr>
        </p:pic>
        <p:cxnSp>
          <p:nvCxnSpPr>
            <p:cNvPr id="8" name="直線接點 7">
              <a:extLst>
                <a:ext uri="{FF2B5EF4-FFF2-40B4-BE49-F238E27FC236}">
                  <a16:creationId xmlns:a16="http://schemas.microsoft.com/office/drawing/2014/main" id="{18DAB122-9920-808E-E619-11A7D59A790A}"/>
                </a:ext>
              </a:extLst>
            </p:cNvPr>
            <p:cNvCxnSpPr>
              <a:cxnSpLocks/>
            </p:cNvCxnSpPr>
            <p:nvPr/>
          </p:nvCxnSpPr>
          <p:spPr>
            <a:xfrm flipV="1">
              <a:off x="8072706" y="2480650"/>
              <a:ext cx="3524783" cy="2461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BEB6510D-C2F2-84E3-4961-A7B77DFE3D1B}"/>
                  </a:ext>
                </a:extLst>
              </p:cNvPr>
              <p:cNvSpPr txBox="1"/>
              <p:nvPr/>
            </p:nvSpPr>
            <p:spPr>
              <a:xfrm>
                <a:off x="2606610" y="3295976"/>
                <a:ext cx="4634859" cy="55399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3600" smtClean="0">
                          <a:latin typeface="Cambria Math" panose="02040503050406030204" pitchFamily="18" charset="0"/>
                        </a:rPr>
                        <m:t>F</m:t>
                      </m:r>
                      <m:r>
                        <m:rPr>
                          <m:sty m:val="p"/>
                        </m:rPr>
                        <a:rPr lang="en-US" altLang="zh-TW" sz="3600" b="0" i="0" smtClean="0">
                          <a:latin typeface="Cambria Math" panose="02040503050406030204" pitchFamily="18" charset="0"/>
                        </a:rPr>
                        <m:t>ind</m:t>
                      </m:r>
                      <m:r>
                        <a:rPr lang="en-US" altLang="zh-TW" sz="3600" b="0" i="0" smtClean="0">
                          <a:latin typeface="Cambria Math" panose="02040503050406030204" pitchFamily="18" charset="0"/>
                        </a:rPr>
                        <m:t> </m:t>
                      </m:r>
                      <m:r>
                        <a:rPr lang="en-US" altLang="zh-TW" sz="3600" b="0" i="1" smtClean="0">
                          <a:solidFill>
                            <a:srgbClr val="FF0000"/>
                          </a:solidFill>
                          <a:latin typeface="Cambria Math" panose="02040503050406030204" pitchFamily="18" charset="0"/>
                        </a:rPr>
                        <m:t>𝑎</m:t>
                      </m:r>
                      <m:r>
                        <a:rPr lang="en-US" altLang="zh-TW" sz="3600" b="0" i="0" smtClean="0">
                          <a:latin typeface="Cambria Math" panose="02040503050406030204" pitchFamily="18" charset="0"/>
                        </a:rPr>
                        <m:t>, </m:t>
                      </m:r>
                      <m:r>
                        <a:rPr lang="en-US" altLang="zh-TW" sz="3600" b="0" i="1" smtClean="0">
                          <a:solidFill>
                            <a:srgbClr val="FF0000"/>
                          </a:solidFill>
                          <a:latin typeface="Cambria Math" panose="02040503050406030204" pitchFamily="18" charset="0"/>
                        </a:rPr>
                        <m:t>𝑏</m:t>
                      </m:r>
                      <m:r>
                        <a:rPr lang="en-US" altLang="zh-TW" sz="3600" b="0" i="0" smtClean="0">
                          <a:latin typeface="Cambria Math" panose="02040503050406030204" pitchFamily="18" charset="0"/>
                        </a:rPr>
                        <m:t> </m:t>
                      </m:r>
                      <m:r>
                        <m:rPr>
                          <m:sty m:val="p"/>
                        </m:rPr>
                        <a:rPr lang="en-US" altLang="zh-TW" sz="3600" b="0" i="0" smtClean="0">
                          <a:latin typeface="Cambria Math" panose="02040503050406030204" pitchFamily="18" charset="0"/>
                        </a:rPr>
                        <m:t>that</m:t>
                      </m:r>
                      <m:r>
                        <a:rPr lang="en-US" altLang="zh-TW" sz="3600" b="0" i="0" smtClean="0">
                          <a:latin typeface="Cambria Math" panose="02040503050406030204" pitchFamily="18" charset="0"/>
                        </a:rPr>
                        <m:t> </m:t>
                      </m:r>
                      <m:r>
                        <m:rPr>
                          <m:sty m:val="p"/>
                        </m:rPr>
                        <a:rPr lang="en-US" altLang="zh-TW" sz="3600" b="0" i="0" smtClean="0">
                          <a:latin typeface="Cambria Math" panose="02040503050406030204" pitchFamily="18" charset="0"/>
                        </a:rPr>
                        <m:t>minimize</m:t>
                      </m:r>
                    </m:oMath>
                  </m:oMathPara>
                </a14:m>
                <a:endParaRPr lang="zh-TW" altLang="en-US" sz="3600" dirty="0"/>
              </a:p>
            </p:txBody>
          </p:sp>
        </mc:Choice>
        <mc:Fallback xmlns="">
          <p:sp>
            <p:nvSpPr>
              <p:cNvPr id="9" name="文字方塊 8">
                <a:extLst>
                  <a:ext uri="{FF2B5EF4-FFF2-40B4-BE49-F238E27FC236}">
                    <a16:creationId xmlns:a16="http://schemas.microsoft.com/office/drawing/2014/main" id="{BEB6510D-C2F2-84E3-4961-A7B77DFE3D1B}"/>
                  </a:ext>
                </a:extLst>
              </p:cNvPr>
              <p:cNvSpPr txBox="1">
                <a:spLocks noRot="1" noChangeAspect="1" noMove="1" noResize="1" noEditPoints="1" noAdjustHandles="1" noChangeArrowheads="1" noChangeShapeType="1" noTextEdit="1"/>
              </p:cNvSpPr>
              <p:nvPr/>
            </p:nvSpPr>
            <p:spPr>
              <a:xfrm>
                <a:off x="2606610" y="3295976"/>
                <a:ext cx="4634859" cy="55399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EB791E91-18B1-2D58-104C-B87798EEBA6B}"/>
                  </a:ext>
                </a:extLst>
              </p:cNvPr>
              <p:cNvSpPr txBox="1"/>
              <p:nvPr/>
            </p:nvSpPr>
            <p:spPr>
              <a:xfrm>
                <a:off x="2817577" y="4153477"/>
                <a:ext cx="4634859" cy="121155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0" i="1" smtClean="0">
                          <a:solidFill>
                            <a:schemeClr val="accent5">
                              <a:lumMod val="50000"/>
                            </a:schemeClr>
                          </a:solidFill>
                          <a:latin typeface="Cambria Math" panose="02040503050406030204" pitchFamily="18" charset="0"/>
                        </a:rPr>
                        <m:t>𝑀𝑆𝐸</m:t>
                      </m:r>
                      <m:r>
                        <a:rPr lang="en-US" altLang="zh-TW" sz="2800" b="0" i="1" smtClean="0">
                          <a:solidFill>
                            <a:schemeClr val="accent5">
                              <a:lumMod val="50000"/>
                            </a:schemeClr>
                          </a:solidFill>
                          <a:latin typeface="Cambria Math" panose="02040503050406030204" pitchFamily="18" charset="0"/>
                        </a:rPr>
                        <m:t>=</m:t>
                      </m:r>
                      <m:f>
                        <m:fPr>
                          <m:ctrlPr>
                            <a:rPr lang="en-US" altLang="zh-TW" sz="2800" b="0" i="1" smtClean="0">
                              <a:solidFill>
                                <a:schemeClr val="accent5">
                                  <a:lumMod val="50000"/>
                                </a:schemeClr>
                              </a:solidFill>
                              <a:latin typeface="Cambria Math" panose="02040503050406030204" pitchFamily="18" charset="0"/>
                            </a:rPr>
                          </m:ctrlPr>
                        </m:fPr>
                        <m:num>
                          <m:r>
                            <a:rPr lang="en-US" altLang="zh-TW" sz="2800" b="0" i="1" smtClean="0">
                              <a:solidFill>
                                <a:schemeClr val="accent5">
                                  <a:lumMod val="50000"/>
                                </a:schemeClr>
                              </a:solidFill>
                              <a:latin typeface="Cambria Math" panose="02040503050406030204" pitchFamily="18" charset="0"/>
                            </a:rPr>
                            <m:t>1</m:t>
                          </m:r>
                        </m:num>
                        <m:den>
                          <m:r>
                            <a:rPr lang="en-US" altLang="zh-TW" sz="2800" b="0" i="1" smtClean="0">
                              <a:solidFill>
                                <a:schemeClr val="accent5">
                                  <a:lumMod val="50000"/>
                                </a:schemeClr>
                              </a:solidFill>
                              <a:latin typeface="Cambria Math" panose="02040503050406030204" pitchFamily="18" charset="0"/>
                            </a:rPr>
                            <m:t>𝑁</m:t>
                          </m:r>
                        </m:den>
                      </m:f>
                      <m:nary>
                        <m:naryPr>
                          <m:chr m:val="∑"/>
                          <m:ctrlPr>
                            <a:rPr lang="en-US" altLang="zh-TW" sz="2800" b="0" i="1" smtClean="0">
                              <a:solidFill>
                                <a:schemeClr val="accent5">
                                  <a:lumMod val="50000"/>
                                </a:schemeClr>
                              </a:solidFill>
                              <a:latin typeface="Cambria Math" panose="02040503050406030204" pitchFamily="18" charset="0"/>
                            </a:rPr>
                          </m:ctrlPr>
                        </m:naryPr>
                        <m:sub>
                          <m:r>
                            <m:rPr>
                              <m:brk m:alnAt="23"/>
                            </m:rPr>
                            <a:rPr lang="en-US" altLang="zh-TW" sz="2800" b="0" i="1" smtClean="0">
                              <a:solidFill>
                                <a:schemeClr val="accent5">
                                  <a:lumMod val="50000"/>
                                </a:schemeClr>
                              </a:solidFill>
                              <a:latin typeface="Cambria Math" panose="02040503050406030204" pitchFamily="18" charset="0"/>
                            </a:rPr>
                            <m:t>𝑖</m:t>
                          </m:r>
                          <m:r>
                            <a:rPr lang="en-US" altLang="zh-TW" sz="2800" b="0" i="1" smtClean="0">
                              <a:solidFill>
                                <a:schemeClr val="accent5">
                                  <a:lumMod val="50000"/>
                                </a:schemeClr>
                              </a:solidFill>
                              <a:latin typeface="Cambria Math" panose="02040503050406030204" pitchFamily="18" charset="0"/>
                            </a:rPr>
                            <m:t>=1</m:t>
                          </m:r>
                        </m:sub>
                        <m:sup>
                          <m:r>
                            <a:rPr lang="en-US" altLang="zh-TW" sz="2800" b="0" i="1" smtClean="0">
                              <a:solidFill>
                                <a:schemeClr val="accent5">
                                  <a:lumMod val="50000"/>
                                </a:schemeClr>
                              </a:solidFill>
                              <a:latin typeface="Cambria Math" panose="02040503050406030204" pitchFamily="18" charset="0"/>
                            </a:rPr>
                            <m:t>𝑁</m:t>
                          </m:r>
                        </m:sup>
                        <m:e>
                          <m:sSup>
                            <m:sSupPr>
                              <m:ctrlPr>
                                <a:rPr lang="en-US" altLang="zh-TW" sz="2800" b="0" i="1" smtClean="0">
                                  <a:solidFill>
                                    <a:schemeClr val="accent5">
                                      <a:lumMod val="50000"/>
                                    </a:schemeClr>
                                  </a:solidFill>
                                  <a:latin typeface="Cambria Math" panose="02040503050406030204" pitchFamily="18" charset="0"/>
                                </a:rPr>
                              </m:ctrlPr>
                            </m:sSupPr>
                            <m:e>
                              <m:r>
                                <a:rPr lang="en-US" altLang="zh-TW" sz="2800" b="0" i="1" smtClean="0">
                                  <a:solidFill>
                                    <a:schemeClr val="accent5">
                                      <a:lumMod val="50000"/>
                                    </a:schemeClr>
                                  </a:solidFill>
                                  <a:latin typeface="Cambria Math" panose="02040503050406030204" pitchFamily="18" charset="0"/>
                                </a:rPr>
                                <m:t> (</m:t>
                              </m:r>
                              <m:sSub>
                                <m:sSubPr>
                                  <m:ctrlPr>
                                    <a:rPr lang="en-US" altLang="zh-TW" sz="2800" b="0" i="1" smtClean="0">
                                      <a:solidFill>
                                        <a:schemeClr val="accent5">
                                          <a:lumMod val="50000"/>
                                        </a:schemeClr>
                                      </a:solidFill>
                                      <a:latin typeface="Cambria Math" panose="02040503050406030204" pitchFamily="18" charset="0"/>
                                    </a:rPr>
                                  </m:ctrlPr>
                                </m:sSubPr>
                                <m:e>
                                  <m:sSub>
                                    <m:sSubPr>
                                      <m:ctrlPr>
                                        <a:rPr lang="en-US" altLang="zh-TW" sz="2800" i="1">
                                          <a:solidFill>
                                            <a:schemeClr val="accent5">
                                              <a:lumMod val="50000"/>
                                            </a:schemeClr>
                                          </a:solidFill>
                                          <a:latin typeface="Cambria Math" panose="02040503050406030204" pitchFamily="18" charset="0"/>
                                        </a:rPr>
                                      </m:ctrlPr>
                                    </m:sSubPr>
                                    <m:e>
                                      <m:r>
                                        <a:rPr lang="en-US" altLang="zh-TW" sz="2800" i="1">
                                          <a:solidFill>
                                            <a:schemeClr val="accent5">
                                              <a:lumMod val="50000"/>
                                            </a:schemeClr>
                                          </a:solidFill>
                                          <a:latin typeface="Cambria Math" panose="02040503050406030204" pitchFamily="18" charset="0"/>
                                        </a:rPr>
                                        <m:t>𝑦</m:t>
                                      </m:r>
                                    </m:e>
                                    <m:sub>
                                      <m:r>
                                        <a:rPr lang="en-US" altLang="zh-TW" sz="2800" i="1">
                                          <a:solidFill>
                                            <a:schemeClr val="accent5">
                                              <a:lumMod val="50000"/>
                                            </a:schemeClr>
                                          </a:solidFill>
                                          <a:latin typeface="Cambria Math" panose="02040503050406030204" pitchFamily="18" charset="0"/>
                                        </a:rPr>
                                        <m:t>𝑖</m:t>
                                      </m:r>
                                    </m:sub>
                                  </m:sSub>
                                  <m:r>
                                    <a:rPr lang="en-US" altLang="zh-TW" sz="2800" b="0" i="1" smtClean="0">
                                      <a:solidFill>
                                        <a:schemeClr val="accent5">
                                          <a:lumMod val="50000"/>
                                        </a:schemeClr>
                                      </a:solidFill>
                                      <a:latin typeface="Cambria Math" panose="02040503050406030204" pitchFamily="18" charset="0"/>
                                    </a:rPr>
                                    <m:t>−</m:t>
                                  </m:r>
                                  <m:acc>
                                    <m:accPr>
                                      <m:chr m:val="̂"/>
                                      <m:ctrlPr>
                                        <a:rPr lang="en-US" altLang="zh-TW" sz="2800" b="0" i="1" smtClean="0">
                                          <a:solidFill>
                                            <a:srgbClr val="FF0000"/>
                                          </a:solidFill>
                                          <a:latin typeface="Cambria Math" panose="02040503050406030204" pitchFamily="18" charset="0"/>
                                        </a:rPr>
                                      </m:ctrlPr>
                                    </m:accPr>
                                    <m:e>
                                      <m:r>
                                        <a:rPr lang="en-US" altLang="zh-TW" sz="2800" b="0" i="1" smtClean="0">
                                          <a:solidFill>
                                            <a:srgbClr val="FF0000"/>
                                          </a:solidFill>
                                          <a:latin typeface="Cambria Math" panose="02040503050406030204" pitchFamily="18" charset="0"/>
                                        </a:rPr>
                                        <m:t>𝑦</m:t>
                                      </m:r>
                                    </m:e>
                                  </m:acc>
                                </m:e>
                                <m:sub>
                                  <m:r>
                                    <a:rPr lang="en-US" altLang="zh-TW" sz="2800" b="0" i="1" smtClean="0">
                                      <a:solidFill>
                                        <a:srgbClr val="FF0000"/>
                                      </a:solidFill>
                                      <a:latin typeface="Cambria Math" panose="02040503050406030204" pitchFamily="18" charset="0"/>
                                    </a:rPr>
                                    <m:t>𝑖</m:t>
                                  </m:r>
                                </m:sub>
                              </m:sSub>
                              <m:r>
                                <a:rPr lang="en-US" altLang="zh-TW" sz="2800" b="0" i="1" smtClean="0">
                                  <a:solidFill>
                                    <a:schemeClr val="accent5">
                                      <a:lumMod val="50000"/>
                                    </a:schemeClr>
                                  </a:solidFill>
                                  <a:latin typeface="Cambria Math" panose="02040503050406030204" pitchFamily="18" charset="0"/>
                                </a:rPr>
                                <m:t> )</m:t>
                              </m:r>
                            </m:e>
                            <m:sup>
                              <m:r>
                                <a:rPr lang="en-US" altLang="zh-TW" sz="2800" b="0" i="1" smtClean="0">
                                  <a:solidFill>
                                    <a:schemeClr val="accent5">
                                      <a:lumMod val="50000"/>
                                    </a:schemeClr>
                                  </a:solidFill>
                                  <a:latin typeface="Cambria Math" panose="02040503050406030204" pitchFamily="18" charset="0"/>
                                </a:rPr>
                                <m:t>2 </m:t>
                              </m:r>
                            </m:sup>
                          </m:sSup>
                        </m:e>
                      </m:nary>
                    </m:oMath>
                  </m:oMathPara>
                </a14:m>
                <a:endParaRPr lang="zh-TW" altLang="en-US" sz="2800" dirty="0">
                  <a:solidFill>
                    <a:schemeClr val="accent5">
                      <a:lumMod val="50000"/>
                    </a:schemeClr>
                  </a:solidFill>
                </a:endParaRPr>
              </a:p>
            </p:txBody>
          </p:sp>
        </mc:Choice>
        <mc:Fallback xmlns="">
          <p:sp>
            <p:nvSpPr>
              <p:cNvPr id="46" name="文字方塊 45">
                <a:extLst>
                  <a:ext uri="{FF2B5EF4-FFF2-40B4-BE49-F238E27FC236}">
                    <a16:creationId xmlns:a16="http://schemas.microsoft.com/office/drawing/2014/main" id="{EB791E91-18B1-2D58-104C-B87798EEBA6B}"/>
                  </a:ext>
                </a:extLst>
              </p:cNvPr>
              <p:cNvSpPr txBox="1">
                <a:spLocks noRot="1" noChangeAspect="1" noMove="1" noResize="1" noEditPoints="1" noAdjustHandles="1" noChangeArrowheads="1" noChangeShapeType="1" noTextEdit="1"/>
              </p:cNvSpPr>
              <p:nvPr/>
            </p:nvSpPr>
            <p:spPr>
              <a:xfrm>
                <a:off x="2817577" y="4153477"/>
                <a:ext cx="4634859" cy="1211550"/>
              </a:xfrm>
              <a:prstGeom prst="rect">
                <a:avLst/>
              </a:prstGeom>
              <a:blipFill>
                <a:blip r:embed="rId5"/>
                <a:stretch>
                  <a:fillRect/>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D87976CB-E42F-E766-1E91-3CA4473D00AB}"/>
              </a:ext>
            </a:extLst>
          </p:cNvPr>
          <p:cNvSpPr txBox="1"/>
          <p:nvPr/>
        </p:nvSpPr>
        <p:spPr>
          <a:xfrm>
            <a:off x="324411" y="2080259"/>
            <a:ext cx="1273035" cy="3539430"/>
          </a:xfrm>
          <a:prstGeom prst="rect">
            <a:avLst/>
          </a:prstGeom>
          <a:noFill/>
          <a:ln>
            <a:noFill/>
          </a:ln>
        </p:spPr>
        <p:txBody>
          <a:bodyPr wrap="square">
            <a:spAutoFit/>
          </a:bodyPr>
          <a:lstStyle/>
          <a:p>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anose="02020603050405020304" pitchFamily="18" charset="0"/>
                <a:cs typeface="Times New Roman" panose="02020603050405020304" pitchFamily="18" charset="0"/>
              </a:rPr>
              <a:t>x</a:t>
            </a:r>
            <a:r>
              <a:rPr lang="en-US" altLang="zh-TW" sz="3200" baseline="-25000" dirty="0"/>
              <a:t>1</a:t>
            </a:r>
            <a:r>
              <a:rPr lang="en-US" altLang="zh-TW" sz="3200" dirty="0"/>
              <a:t>, </a:t>
            </a:r>
            <a:r>
              <a:rPr lang="en-US" altLang="zh-TW" sz="3200" i="1" dirty="0">
                <a:latin typeface="Times New Roman" panose="02020603050405020304" pitchFamily="18" charset="0"/>
                <a:cs typeface="Times New Roman" panose="02020603050405020304" pitchFamily="18" charset="0"/>
              </a:rPr>
              <a:t>y</a:t>
            </a:r>
            <a:r>
              <a:rPr lang="en-US" altLang="zh-TW" sz="3200" baseline="-25000" dirty="0"/>
              <a:t>1</a:t>
            </a:r>
            <a:r>
              <a:rPr lang="en-US" altLang="zh-TW" sz="3200" dirty="0"/>
              <a:t>]</a:t>
            </a:r>
          </a:p>
          <a:p>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anose="02020603050405020304" pitchFamily="18" charset="0"/>
                <a:cs typeface="Times New Roman" panose="02020603050405020304" pitchFamily="18" charset="0"/>
              </a:rPr>
              <a:t>x</a:t>
            </a:r>
            <a:r>
              <a:rPr lang="en-US" altLang="zh-TW" sz="3200" baseline="-25000" dirty="0"/>
              <a:t>2</a:t>
            </a:r>
            <a:r>
              <a:rPr lang="en-US" altLang="zh-TW" sz="3200" dirty="0"/>
              <a:t>, </a:t>
            </a:r>
            <a:r>
              <a:rPr lang="en-US" altLang="zh-TW" sz="3200" i="1" dirty="0">
                <a:latin typeface="Times New Roman" panose="02020603050405020304" pitchFamily="18" charset="0"/>
                <a:cs typeface="Times New Roman" panose="02020603050405020304" pitchFamily="18" charset="0"/>
              </a:rPr>
              <a:t>y</a:t>
            </a:r>
            <a:r>
              <a:rPr lang="en-US" altLang="zh-TW" sz="3200" baseline="-25000" dirty="0"/>
              <a:t>2</a:t>
            </a:r>
            <a:r>
              <a:rPr lang="en-US" altLang="zh-TW" sz="3200" dirty="0"/>
              <a:t>]</a:t>
            </a:r>
          </a:p>
          <a:p>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anose="02020603050405020304" pitchFamily="18" charset="0"/>
                <a:cs typeface="Times New Roman" panose="02020603050405020304" pitchFamily="18" charset="0"/>
              </a:rPr>
              <a:t>x</a:t>
            </a:r>
            <a:r>
              <a:rPr lang="en-US" altLang="zh-TW" sz="3200" baseline="-25000" dirty="0"/>
              <a:t>3</a:t>
            </a:r>
            <a:r>
              <a:rPr lang="en-US" altLang="zh-TW" sz="3200" dirty="0"/>
              <a:t>, </a:t>
            </a:r>
            <a:r>
              <a:rPr lang="en-US" altLang="zh-TW" sz="3200" i="1" dirty="0">
                <a:latin typeface="Times New Roman" panose="02020603050405020304" pitchFamily="18" charset="0"/>
                <a:cs typeface="Times New Roman" panose="02020603050405020304" pitchFamily="18" charset="0"/>
              </a:rPr>
              <a:t>y</a:t>
            </a:r>
            <a:r>
              <a:rPr lang="en-US" altLang="zh-TW" sz="3200" baseline="-25000" dirty="0"/>
              <a:t>3</a:t>
            </a:r>
            <a:r>
              <a:rPr lang="en-US" altLang="zh-TW" sz="3200" dirty="0"/>
              <a:t>]</a:t>
            </a:r>
          </a:p>
          <a:p>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anose="02020603050405020304" pitchFamily="18" charset="0"/>
                <a:cs typeface="Times New Roman" panose="02020603050405020304" pitchFamily="18" charset="0"/>
              </a:rPr>
              <a:t>x</a:t>
            </a:r>
            <a:r>
              <a:rPr lang="en-US" altLang="zh-TW" sz="3200" baseline="-25000" dirty="0"/>
              <a:t>4</a:t>
            </a:r>
            <a:r>
              <a:rPr lang="en-US" altLang="zh-TW" sz="3200" dirty="0"/>
              <a:t>, </a:t>
            </a:r>
            <a:r>
              <a:rPr lang="en-US" altLang="zh-TW" sz="3200" i="1" dirty="0">
                <a:latin typeface="Times New Roman" panose="02020603050405020304" pitchFamily="18" charset="0"/>
                <a:cs typeface="Times New Roman" panose="02020603050405020304" pitchFamily="18" charset="0"/>
              </a:rPr>
              <a:t>y</a:t>
            </a:r>
            <a:r>
              <a:rPr lang="en-US" altLang="zh-TW" sz="3200" baseline="-25000" dirty="0"/>
              <a:t>4</a:t>
            </a:r>
            <a:r>
              <a:rPr lang="en-US" altLang="zh-TW" sz="3200" dirty="0"/>
              <a:t>]</a:t>
            </a:r>
          </a:p>
          <a:p>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anose="02020603050405020304" pitchFamily="18" charset="0"/>
                <a:cs typeface="Times New Roman" panose="02020603050405020304" pitchFamily="18" charset="0"/>
              </a:rPr>
              <a:t>x</a:t>
            </a:r>
            <a:r>
              <a:rPr lang="en-US" altLang="zh-TW" sz="3200" baseline="-25000" dirty="0"/>
              <a:t>1</a:t>
            </a:r>
            <a:r>
              <a:rPr lang="en-US" altLang="zh-TW" sz="3200" dirty="0"/>
              <a:t>, </a:t>
            </a:r>
            <a:r>
              <a:rPr lang="en-US" altLang="zh-TW" sz="3200" i="1" dirty="0">
                <a:latin typeface="Times New Roman" panose="02020603050405020304" pitchFamily="18" charset="0"/>
                <a:cs typeface="Times New Roman" panose="02020603050405020304" pitchFamily="18" charset="0"/>
              </a:rPr>
              <a:t>y</a:t>
            </a:r>
            <a:r>
              <a:rPr lang="en-US" altLang="zh-TW" sz="3200" baseline="-25000" dirty="0"/>
              <a:t>1</a:t>
            </a:r>
            <a:r>
              <a:rPr lang="en-US" altLang="zh-TW" sz="3200" dirty="0"/>
              <a:t>]</a:t>
            </a:r>
          </a:p>
          <a:p>
            <a:pPr algn="ctr"/>
            <a:r>
              <a:rPr lang="en-US" altLang="zh-TW" sz="3200" dirty="0"/>
              <a:t>…</a:t>
            </a:r>
          </a:p>
          <a:p>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anose="02020603050405020304" pitchFamily="18" charset="0"/>
                <a:cs typeface="Times New Roman" panose="02020603050405020304" pitchFamily="18" charset="0"/>
              </a:rPr>
              <a:t>x</a:t>
            </a:r>
            <a:r>
              <a:rPr lang="en-US" altLang="zh-TW" sz="3200" i="1" baseline="-25000" dirty="0" err="1"/>
              <a:t>N</a:t>
            </a:r>
            <a:r>
              <a:rPr lang="en-US" altLang="zh-TW" sz="3200" dirty="0"/>
              <a:t>, </a:t>
            </a:r>
            <a:r>
              <a:rPr lang="en-US" altLang="zh-TW" sz="3200" i="1" dirty="0" err="1">
                <a:latin typeface="Times New Roman" panose="02020603050405020304" pitchFamily="18" charset="0"/>
                <a:cs typeface="Times New Roman" panose="02020603050405020304" pitchFamily="18" charset="0"/>
              </a:rPr>
              <a:t>y</a:t>
            </a:r>
            <a:r>
              <a:rPr lang="en-US" altLang="zh-TW" sz="3200" i="1" baseline="-25000" dirty="0" err="1"/>
              <a:t>N</a:t>
            </a:r>
            <a:r>
              <a:rPr lang="en-US" altLang="zh-TW" sz="3200" dirty="0"/>
              <a:t>]</a:t>
            </a:r>
          </a:p>
        </p:txBody>
      </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2FF2B9E4-99A5-05B5-3B3A-6BAFF4AFDC23}"/>
                  </a:ext>
                </a:extLst>
              </p:cNvPr>
              <p:cNvSpPr txBox="1"/>
              <p:nvPr/>
            </p:nvSpPr>
            <p:spPr>
              <a:xfrm>
                <a:off x="393864" y="1479682"/>
                <a:ext cx="1998624" cy="492443"/>
              </a:xfrm>
              <a:prstGeom prst="rect">
                <a:avLst/>
              </a:prstGeom>
              <a:noFill/>
            </p:spPr>
            <p:txBody>
              <a:bodyPr wrap="none" lIns="0" tIns="0" rIns="0" bIns="0" rtlCol="0">
                <a:spAutoFit/>
              </a:bodyPr>
              <a:lstStyle/>
              <a:p>
                <a:r>
                  <a:rPr lang="en-US" altLang="zh-TW" sz="3200" dirty="0">
                    <a:latin typeface="Times New Roman" panose="02020603050405020304" pitchFamily="18" charset="0"/>
                    <a:cs typeface="Times New Roman" panose="02020603050405020304" pitchFamily="18" charset="0"/>
                  </a:rPr>
                  <a:t>Given [</a:t>
                </a:r>
                <a14:m>
                  <m:oMath xmlns:m="http://schemas.openxmlformats.org/officeDocument/2006/math">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 </m:t>
                    </m:r>
                    <m:r>
                      <a:rPr lang="en-US" altLang="zh-TW" sz="3200" b="0" i="1" smtClean="0">
                        <a:solidFill>
                          <a:schemeClr val="accent5">
                            <a:lumMod val="50000"/>
                          </a:schemeClr>
                        </a:solidFill>
                        <a:latin typeface="Cambria Math" panose="02040503050406030204" pitchFamily="18" charset="0"/>
                      </a:rPr>
                      <m:t>𝑦</m:t>
                    </m:r>
                  </m:oMath>
                </a14:m>
                <a:r>
                  <a:rPr lang="en-US" altLang="zh-TW" sz="3200" dirty="0">
                    <a:latin typeface="Times New Roman" panose="02020603050405020304" pitchFamily="18" charset="0"/>
                    <a:cs typeface="Times New Roman" panose="02020603050405020304" pitchFamily="18" charset="0"/>
                  </a:rPr>
                  <a:t>]</a:t>
                </a:r>
                <a:endParaRPr lang="zh-TW" altLang="en-US" sz="3200" dirty="0">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2FF2B9E4-99A5-05B5-3B3A-6BAFF4AFDC23}"/>
                  </a:ext>
                </a:extLst>
              </p:cNvPr>
              <p:cNvSpPr txBox="1">
                <a:spLocks noRot="1" noChangeAspect="1" noMove="1" noResize="1" noEditPoints="1" noAdjustHandles="1" noChangeArrowheads="1" noChangeShapeType="1" noTextEdit="1"/>
              </p:cNvSpPr>
              <p:nvPr/>
            </p:nvSpPr>
            <p:spPr>
              <a:xfrm>
                <a:off x="393864" y="1479682"/>
                <a:ext cx="1998624" cy="492443"/>
              </a:xfrm>
              <a:prstGeom prst="rect">
                <a:avLst/>
              </a:prstGeom>
              <a:blipFill>
                <a:blip r:embed="rId6"/>
                <a:stretch>
                  <a:fillRect l="-12538" t="-27160" r="-12232" b="-4691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45761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群組 31">
            <a:extLst>
              <a:ext uri="{FF2B5EF4-FFF2-40B4-BE49-F238E27FC236}">
                <a16:creationId xmlns:a16="http://schemas.microsoft.com/office/drawing/2014/main" id="{A93A8FC0-9DFB-53C0-D01D-32B2579B1A91}"/>
              </a:ext>
            </a:extLst>
          </p:cNvPr>
          <p:cNvGrpSpPr/>
          <p:nvPr/>
        </p:nvGrpSpPr>
        <p:grpSpPr>
          <a:xfrm>
            <a:off x="7294561" y="101519"/>
            <a:ext cx="3680149" cy="1504585"/>
            <a:chOff x="7082413" y="727877"/>
            <a:chExt cx="3680149" cy="1504585"/>
          </a:xfrm>
        </p:grpSpPr>
        <p:sp>
          <p:nvSpPr>
            <p:cNvPr id="8" name="橢圓 7">
              <a:extLst>
                <a:ext uri="{FF2B5EF4-FFF2-40B4-BE49-F238E27FC236}">
                  <a16:creationId xmlns:a16="http://schemas.microsoft.com/office/drawing/2014/main" id="{A21E1FFC-F5BB-F58A-7369-94DAD1AB9D1E}"/>
                </a:ext>
              </a:extLst>
            </p:cNvPr>
            <p:cNvSpPr/>
            <p:nvPr/>
          </p:nvSpPr>
          <p:spPr>
            <a:xfrm>
              <a:off x="7715141" y="930047"/>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sp>
          <p:nvSpPr>
            <p:cNvPr id="9" name="橢圓 8">
              <a:extLst>
                <a:ext uri="{FF2B5EF4-FFF2-40B4-BE49-F238E27FC236}">
                  <a16:creationId xmlns:a16="http://schemas.microsoft.com/office/drawing/2014/main" id="{D58B0155-27EC-A5FA-CC0F-C7E8DCCBE6A7}"/>
                </a:ext>
              </a:extLst>
            </p:cNvPr>
            <p:cNvSpPr/>
            <p:nvPr/>
          </p:nvSpPr>
          <p:spPr>
            <a:xfrm>
              <a:off x="7727031" y="1767831"/>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1" name="直線單箭頭接點 10">
              <a:extLst>
                <a:ext uri="{FF2B5EF4-FFF2-40B4-BE49-F238E27FC236}">
                  <a16:creationId xmlns:a16="http://schemas.microsoft.com/office/drawing/2014/main" id="{FA497EB9-FF2C-4809-BF1F-8A8D6F2604FE}"/>
                </a:ext>
              </a:extLst>
            </p:cNvPr>
            <p:cNvCxnSpPr>
              <a:cxnSpLocks/>
              <a:stCxn id="12" idx="6"/>
            </p:cNvCxnSpPr>
            <p:nvPr/>
          </p:nvCxnSpPr>
          <p:spPr>
            <a:xfrm>
              <a:off x="9239567" y="1501725"/>
              <a:ext cx="4320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橢圓 11">
              <a:extLst>
                <a:ext uri="{FF2B5EF4-FFF2-40B4-BE49-F238E27FC236}">
                  <a16:creationId xmlns:a16="http://schemas.microsoft.com/office/drawing/2014/main" id="{747A9881-E04E-D6B4-57DD-ACC819E44A88}"/>
                </a:ext>
              </a:extLst>
            </p:cNvPr>
            <p:cNvSpPr/>
            <p:nvPr/>
          </p:nvSpPr>
          <p:spPr>
            <a:xfrm>
              <a:off x="8879567" y="132172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DBC188DE-A503-774C-097F-310AC8043B8B}"/>
                </a:ext>
              </a:extLst>
            </p:cNvPr>
            <p:cNvCxnSpPr>
              <a:cxnSpLocks/>
              <a:stCxn id="9" idx="6"/>
              <a:endCxn id="12" idx="2"/>
            </p:cNvCxnSpPr>
            <p:nvPr/>
          </p:nvCxnSpPr>
          <p:spPr>
            <a:xfrm flipV="1">
              <a:off x="8087031" y="1501725"/>
              <a:ext cx="792536" cy="446106"/>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DD23DACD-FCAE-62A0-D8B9-C9FEF2FE02EF}"/>
                    </a:ext>
                  </a:extLst>
                </p:cNvPr>
                <p:cNvSpPr txBox="1"/>
                <p:nvPr/>
              </p:nvSpPr>
              <p:spPr>
                <a:xfrm>
                  <a:off x="8339202" y="727877"/>
                  <a:ext cx="329001"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rgbClr val="FF0000"/>
                            </a:solidFill>
                            <a:latin typeface="Cambria Math" panose="02040503050406030204" pitchFamily="18" charset="0"/>
                          </a:rPr>
                          <m:t>𝑎</m:t>
                        </m:r>
                      </m:oMath>
                    </m:oMathPara>
                  </a14:m>
                  <a:endParaRPr lang="en-US" altLang="zh-TW" sz="3200" b="0" i="1" dirty="0">
                    <a:solidFill>
                      <a:srgbClr val="FF0000"/>
                    </a:solidFill>
                    <a:latin typeface="Cambria Math" panose="02040503050406030204" pitchFamily="18" charset="0"/>
                  </a:endParaRPr>
                </a:p>
              </p:txBody>
            </p:sp>
          </mc:Choice>
          <mc:Fallback xmlns="">
            <p:sp>
              <p:nvSpPr>
                <p:cNvPr id="14" name="文字方塊 13">
                  <a:extLst>
                    <a:ext uri="{FF2B5EF4-FFF2-40B4-BE49-F238E27FC236}">
                      <a16:creationId xmlns:a16="http://schemas.microsoft.com/office/drawing/2014/main" id="{DD23DACD-FCAE-62A0-D8B9-C9FEF2FE02EF}"/>
                    </a:ext>
                  </a:extLst>
                </p:cNvPr>
                <p:cNvSpPr txBox="1">
                  <a:spLocks noRot="1" noChangeAspect="1" noMove="1" noResize="1" noEditPoints="1" noAdjustHandles="1" noChangeArrowheads="1" noChangeShapeType="1" noTextEdit="1"/>
                </p:cNvSpPr>
                <p:nvPr/>
              </p:nvSpPr>
              <p:spPr>
                <a:xfrm>
                  <a:off x="8339202" y="727877"/>
                  <a:ext cx="329001" cy="492443"/>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E7D9E37A-A3F3-49BA-37DB-6FA5344DF459}"/>
                    </a:ext>
                  </a:extLst>
                </p:cNvPr>
                <p:cNvSpPr txBox="1"/>
                <p:nvPr/>
              </p:nvSpPr>
              <p:spPr>
                <a:xfrm>
                  <a:off x="8306250" y="1740019"/>
                  <a:ext cx="320024"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rgbClr val="FF0000"/>
                            </a:solidFill>
                            <a:latin typeface="Cambria Math" panose="02040503050406030204" pitchFamily="18" charset="0"/>
                          </a:rPr>
                          <m:t>𝑏</m:t>
                        </m:r>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15" name="文字方塊 14">
                  <a:extLst>
                    <a:ext uri="{FF2B5EF4-FFF2-40B4-BE49-F238E27FC236}">
                      <a16:creationId xmlns:a16="http://schemas.microsoft.com/office/drawing/2014/main" id="{E7D9E37A-A3F3-49BA-37DB-6FA5344DF459}"/>
                    </a:ext>
                  </a:extLst>
                </p:cNvPr>
                <p:cNvSpPr txBox="1">
                  <a:spLocks noRot="1" noChangeAspect="1" noMove="1" noResize="1" noEditPoints="1" noAdjustHandles="1" noChangeArrowheads="1" noChangeShapeType="1" noTextEdit="1"/>
                </p:cNvSpPr>
                <p:nvPr/>
              </p:nvSpPr>
              <p:spPr>
                <a:xfrm>
                  <a:off x="8306250" y="1740019"/>
                  <a:ext cx="320024" cy="49244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74D93AC8-73F2-7ABF-D183-9A4BC993D87D}"/>
                    </a:ext>
                  </a:extLst>
                </p:cNvPr>
                <p:cNvSpPr txBox="1"/>
                <p:nvPr/>
              </p:nvSpPr>
              <p:spPr>
                <a:xfrm>
                  <a:off x="9767689" y="1237823"/>
                  <a:ext cx="325987"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acc>
                          <m:accPr>
                            <m:chr m:val="̂"/>
                            <m:ctrlPr>
                              <a:rPr lang="en-US" altLang="zh-TW" sz="3200" b="0" i="1" smtClean="0">
                                <a:solidFill>
                                  <a:srgbClr val="FF0000"/>
                                </a:solidFill>
                                <a:latin typeface="Cambria Math" panose="02040503050406030204" pitchFamily="18" charset="0"/>
                              </a:rPr>
                            </m:ctrlPr>
                          </m:accPr>
                          <m:e>
                            <m:r>
                              <a:rPr lang="en-US" altLang="zh-TW" sz="3200" b="0" i="1" smtClean="0">
                                <a:solidFill>
                                  <a:srgbClr val="FF0000"/>
                                </a:solidFill>
                                <a:latin typeface="Cambria Math" panose="02040503050406030204" pitchFamily="18" charset="0"/>
                              </a:rPr>
                              <m:t>𝑦</m:t>
                            </m:r>
                          </m:e>
                        </m:acc>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16" name="文字方塊 15">
                  <a:extLst>
                    <a:ext uri="{FF2B5EF4-FFF2-40B4-BE49-F238E27FC236}">
                      <a16:creationId xmlns:a16="http://schemas.microsoft.com/office/drawing/2014/main" id="{74D93AC8-73F2-7ABF-D183-9A4BC993D87D}"/>
                    </a:ext>
                  </a:extLst>
                </p:cNvPr>
                <p:cNvSpPr txBox="1">
                  <a:spLocks noRot="1" noChangeAspect="1" noMove="1" noResize="1" noEditPoints="1" noAdjustHandles="1" noChangeArrowheads="1" noChangeShapeType="1" noTextEdit="1"/>
                </p:cNvSpPr>
                <p:nvPr/>
              </p:nvSpPr>
              <p:spPr>
                <a:xfrm>
                  <a:off x="9767689" y="1237823"/>
                  <a:ext cx="325987" cy="492443"/>
                </a:xfrm>
                <a:prstGeom prst="rect">
                  <a:avLst/>
                </a:prstGeom>
                <a:blipFill>
                  <a:blip r:embed="rId4"/>
                  <a:stretch>
                    <a:fillRect/>
                  </a:stretch>
                </a:blipFill>
              </p:spPr>
              <p:txBody>
                <a:bodyPr/>
                <a:lstStyle/>
                <a:p>
                  <a:r>
                    <a:rPr lang="zh-TW" altLang="en-US">
                      <a:noFill/>
                    </a:rPr>
                    <a:t> </a:t>
                  </a:r>
                </a:p>
              </p:txBody>
            </p:sp>
          </mc:Fallback>
        </mc:AlternateContent>
        <p:cxnSp>
          <p:nvCxnSpPr>
            <p:cNvPr id="17" name="直線單箭頭接點 16">
              <a:extLst>
                <a:ext uri="{FF2B5EF4-FFF2-40B4-BE49-F238E27FC236}">
                  <a16:creationId xmlns:a16="http://schemas.microsoft.com/office/drawing/2014/main" id="{A0229FE0-8D18-0487-21B5-7B83F49BB7A6}"/>
                </a:ext>
              </a:extLst>
            </p:cNvPr>
            <p:cNvCxnSpPr>
              <a:cxnSpLocks/>
              <a:stCxn id="8" idx="6"/>
              <a:endCxn id="12" idx="2"/>
            </p:cNvCxnSpPr>
            <p:nvPr/>
          </p:nvCxnSpPr>
          <p:spPr>
            <a:xfrm>
              <a:off x="8075141" y="1110047"/>
              <a:ext cx="804426" cy="391678"/>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DE6C3A0B-E14F-BA97-4C94-22AF328FE193}"/>
                    </a:ext>
                  </a:extLst>
                </p:cNvPr>
                <p:cNvSpPr txBox="1"/>
                <p:nvPr/>
              </p:nvSpPr>
              <p:spPr>
                <a:xfrm>
                  <a:off x="10436575" y="1218962"/>
                  <a:ext cx="325987"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6">
                                <a:lumMod val="75000"/>
                              </a:schemeClr>
                            </a:solidFill>
                            <a:latin typeface="Cambria Math" panose="02040503050406030204" pitchFamily="18" charset="0"/>
                          </a:rPr>
                          <m:t>𝑦</m:t>
                        </m:r>
                      </m:oMath>
                    </m:oMathPara>
                  </a14:m>
                  <a:endParaRPr lang="en-US" altLang="zh-TW" sz="3200" b="0" i="1" dirty="0">
                    <a:solidFill>
                      <a:schemeClr val="accent6">
                        <a:lumMod val="75000"/>
                      </a:schemeClr>
                    </a:solidFill>
                    <a:latin typeface="Cambria Math" panose="02040503050406030204" pitchFamily="18" charset="0"/>
                  </a:endParaRPr>
                </a:p>
              </p:txBody>
            </p:sp>
          </mc:Choice>
          <mc:Fallback xmlns="">
            <p:sp>
              <p:nvSpPr>
                <p:cNvPr id="18" name="文字方塊 17">
                  <a:extLst>
                    <a:ext uri="{FF2B5EF4-FFF2-40B4-BE49-F238E27FC236}">
                      <a16:creationId xmlns:a16="http://schemas.microsoft.com/office/drawing/2014/main" id="{DE6C3A0B-E14F-BA97-4C94-22AF328FE193}"/>
                    </a:ext>
                  </a:extLst>
                </p:cNvPr>
                <p:cNvSpPr txBox="1">
                  <a:spLocks noRot="1" noChangeAspect="1" noMove="1" noResize="1" noEditPoints="1" noAdjustHandles="1" noChangeArrowheads="1" noChangeShapeType="1" noTextEdit="1"/>
                </p:cNvSpPr>
                <p:nvPr/>
              </p:nvSpPr>
              <p:spPr>
                <a:xfrm>
                  <a:off x="10436575" y="1218962"/>
                  <a:ext cx="325987" cy="492443"/>
                </a:xfrm>
                <a:prstGeom prst="rect">
                  <a:avLst/>
                </a:prstGeom>
                <a:blipFill>
                  <a:blip r:embed="rId5"/>
                  <a:stretch>
                    <a:fillRect/>
                  </a:stretch>
                </a:blipFill>
              </p:spPr>
              <p:txBody>
                <a:bodyPr/>
                <a:lstStyle/>
                <a:p>
                  <a:r>
                    <a:rPr lang="zh-TW" altLang="en-US">
                      <a:noFill/>
                    </a:rPr>
                    <a:t> </a:t>
                  </a:r>
                </a:p>
              </p:txBody>
            </p:sp>
          </mc:Fallback>
        </mc:AlternateContent>
        <p:cxnSp>
          <p:nvCxnSpPr>
            <p:cNvPr id="24" name="直線單箭頭接點 23">
              <a:extLst>
                <a:ext uri="{FF2B5EF4-FFF2-40B4-BE49-F238E27FC236}">
                  <a16:creationId xmlns:a16="http://schemas.microsoft.com/office/drawing/2014/main" id="{BC7DD9F7-D1F4-85B7-F191-3BA27A355BA1}"/>
                </a:ext>
              </a:extLst>
            </p:cNvPr>
            <p:cNvCxnSpPr>
              <a:cxnSpLocks/>
              <a:endCxn id="8" idx="2"/>
            </p:cNvCxnSpPr>
            <p:nvPr/>
          </p:nvCxnSpPr>
          <p:spPr>
            <a:xfrm>
              <a:off x="7426913" y="1110047"/>
              <a:ext cx="288228" cy="0"/>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p:cxnSp>
          <p:nvCxnSpPr>
            <p:cNvPr id="27" name="直線單箭頭接點 26">
              <a:extLst>
                <a:ext uri="{FF2B5EF4-FFF2-40B4-BE49-F238E27FC236}">
                  <a16:creationId xmlns:a16="http://schemas.microsoft.com/office/drawing/2014/main" id="{F15690D8-0C5D-8837-773A-B92B105EEA80}"/>
                </a:ext>
              </a:extLst>
            </p:cNvPr>
            <p:cNvCxnSpPr>
              <a:cxnSpLocks/>
              <a:endCxn id="9" idx="2"/>
            </p:cNvCxnSpPr>
            <p:nvPr/>
          </p:nvCxnSpPr>
          <p:spPr>
            <a:xfrm>
              <a:off x="7435278" y="1947831"/>
              <a:ext cx="291753" cy="0"/>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BE2B8AAC-FF16-44D8-AC0A-8F43D9FF7D2E}"/>
                    </a:ext>
                  </a:extLst>
                </p:cNvPr>
                <p:cNvSpPr txBox="1"/>
                <p:nvPr/>
              </p:nvSpPr>
              <p:spPr>
                <a:xfrm>
                  <a:off x="7082413" y="829282"/>
                  <a:ext cx="329001"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tx1"/>
                            </a:solidFill>
                            <a:latin typeface="Cambria Math" panose="02040503050406030204" pitchFamily="18" charset="0"/>
                          </a:rPr>
                          <m:t>1</m:t>
                        </m:r>
                      </m:oMath>
                    </m:oMathPara>
                  </a14:m>
                  <a:endParaRPr lang="en-US" altLang="zh-TW" sz="3200" b="0" i="1" dirty="0">
                    <a:solidFill>
                      <a:schemeClr val="tx1"/>
                    </a:solidFill>
                    <a:latin typeface="Cambria Math" panose="02040503050406030204" pitchFamily="18" charset="0"/>
                  </a:endParaRPr>
                </a:p>
              </p:txBody>
            </p:sp>
          </mc:Choice>
          <mc:Fallback xmlns="">
            <p:sp>
              <p:nvSpPr>
                <p:cNvPr id="30" name="文字方塊 29">
                  <a:extLst>
                    <a:ext uri="{FF2B5EF4-FFF2-40B4-BE49-F238E27FC236}">
                      <a16:creationId xmlns:a16="http://schemas.microsoft.com/office/drawing/2014/main" id="{BE2B8AAC-FF16-44D8-AC0A-8F43D9FF7D2E}"/>
                    </a:ext>
                  </a:extLst>
                </p:cNvPr>
                <p:cNvSpPr txBox="1">
                  <a:spLocks noRot="1" noChangeAspect="1" noMove="1" noResize="1" noEditPoints="1" noAdjustHandles="1" noChangeArrowheads="1" noChangeShapeType="1" noTextEdit="1"/>
                </p:cNvSpPr>
                <p:nvPr/>
              </p:nvSpPr>
              <p:spPr>
                <a:xfrm>
                  <a:off x="7082413" y="829282"/>
                  <a:ext cx="329001" cy="492443"/>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E155C4F1-6D6A-1CE8-1330-BB4395C665B9}"/>
                    </a:ext>
                  </a:extLst>
                </p:cNvPr>
                <p:cNvSpPr txBox="1"/>
                <p:nvPr/>
              </p:nvSpPr>
              <p:spPr>
                <a:xfrm>
                  <a:off x="7109117" y="1623762"/>
                  <a:ext cx="320216"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rgbClr val="FF0000"/>
                            </a:solidFill>
                            <a:latin typeface="Cambria Math" panose="02040503050406030204" pitchFamily="18" charset="0"/>
                          </a:rPr>
                          <m:t>𝑥</m:t>
                        </m:r>
                      </m:oMath>
                    </m:oMathPara>
                  </a14:m>
                  <a:endParaRPr lang="en-US" altLang="zh-TW" sz="3200" b="0" i="1" dirty="0">
                    <a:solidFill>
                      <a:srgbClr val="FF0000"/>
                    </a:solidFill>
                    <a:latin typeface="Cambria Math" panose="02040503050406030204" pitchFamily="18" charset="0"/>
                  </a:endParaRPr>
                </a:p>
              </p:txBody>
            </p:sp>
          </mc:Choice>
          <mc:Fallback xmlns="">
            <p:sp>
              <p:nvSpPr>
                <p:cNvPr id="31" name="文字方塊 30">
                  <a:extLst>
                    <a:ext uri="{FF2B5EF4-FFF2-40B4-BE49-F238E27FC236}">
                      <a16:creationId xmlns:a16="http://schemas.microsoft.com/office/drawing/2014/main" id="{E155C4F1-6D6A-1CE8-1330-BB4395C665B9}"/>
                    </a:ext>
                  </a:extLst>
                </p:cNvPr>
                <p:cNvSpPr txBox="1">
                  <a:spLocks noRot="1" noChangeAspect="1" noMove="1" noResize="1" noEditPoints="1" noAdjustHandles="1" noChangeArrowheads="1" noChangeShapeType="1" noTextEdit="1"/>
                </p:cNvSpPr>
                <p:nvPr/>
              </p:nvSpPr>
              <p:spPr>
                <a:xfrm>
                  <a:off x="7109117" y="1623762"/>
                  <a:ext cx="320216" cy="492443"/>
                </a:xfrm>
                <a:prstGeom prst="rect">
                  <a:avLst/>
                </a:prstGeom>
                <a:blipFill>
                  <a:blip r:embed="rId7"/>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DE1586C1-E377-CCF5-4104-86A8DC543E62}"/>
                  </a:ext>
                </a:extLst>
              </p:cNvPr>
              <p:cNvSpPr txBox="1"/>
              <p:nvPr/>
            </p:nvSpPr>
            <p:spPr>
              <a:xfrm>
                <a:off x="3426619" y="664819"/>
                <a:ext cx="2553520" cy="615553"/>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000" b="0" i="1" smtClean="0">
                          <a:solidFill>
                            <a:schemeClr val="tx1"/>
                          </a:solidFill>
                          <a:latin typeface="Cambria Math" panose="02040503050406030204" pitchFamily="18" charset="0"/>
                        </a:rPr>
                        <m:t>𝑦</m:t>
                      </m:r>
                      <m:r>
                        <a:rPr lang="pt-BR" altLang="zh-TW" sz="4000" i="1" smtClean="0">
                          <a:latin typeface="Cambria Math" panose="02040503050406030204" pitchFamily="18" charset="0"/>
                        </a:rPr>
                        <m:t>=</m:t>
                      </m:r>
                      <m:r>
                        <a:rPr lang="en-US" altLang="zh-TW" sz="4000" b="0" i="1" smtClean="0">
                          <a:latin typeface="Cambria Math" panose="02040503050406030204" pitchFamily="18" charset="0"/>
                        </a:rPr>
                        <m:t>𝑎</m:t>
                      </m:r>
                      <m:r>
                        <a:rPr lang="en-US" altLang="zh-TW" sz="4000" b="0" i="1" smtClean="0">
                          <a:latin typeface="Cambria Math" panose="02040503050406030204" pitchFamily="18" charset="0"/>
                        </a:rPr>
                        <m:t>+</m:t>
                      </m:r>
                      <m:r>
                        <a:rPr lang="en-US" altLang="zh-TW" sz="4000" b="0" i="1" smtClean="0">
                          <a:latin typeface="Cambria Math" panose="02040503050406030204" pitchFamily="18" charset="0"/>
                        </a:rPr>
                        <m:t>𝑏𝑥</m:t>
                      </m:r>
                    </m:oMath>
                  </m:oMathPara>
                </a14:m>
                <a:endParaRPr lang="zh-TW" altLang="en-US" sz="4000" dirty="0"/>
              </a:p>
            </p:txBody>
          </p:sp>
        </mc:Choice>
        <mc:Fallback xmlns="">
          <p:sp>
            <p:nvSpPr>
              <p:cNvPr id="34" name="文字方塊 33">
                <a:extLst>
                  <a:ext uri="{FF2B5EF4-FFF2-40B4-BE49-F238E27FC236}">
                    <a16:creationId xmlns:a16="http://schemas.microsoft.com/office/drawing/2014/main" id="{DE1586C1-E377-CCF5-4104-86A8DC543E62}"/>
                  </a:ext>
                </a:extLst>
              </p:cNvPr>
              <p:cNvSpPr txBox="1">
                <a:spLocks noRot="1" noChangeAspect="1" noMove="1" noResize="1" noEditPoints="1" noAdjustHandles="1" noChangeArrowheads="1" noChangeShapeType="1" noTextEdit="1"/>
              </p:cNvSpPr>
              <p:nvPr/>
            </p:nvSpPr>
            <p:spPr>
              <a:xfrm>
                <a:off x="3426619" y="664819"/>
                <a:ext cx="2553520" cy="615553"/>
              </a:xfrm>
              <a:prstGeom prst="rect">
                <a:avLst/>
              </a:prstGeom>
              <a:blipFill>
                <a:blip r:embed="rId8"/>
                <a:stretch>
                  <a:fillRect/>
                </a:stretch>
              </a:blipFill>
              <a:ln>
                <a:noFill/>
              </a:ln>
            </p:spPr>
            <p:txBody>
              <a:bodyPr/>
              <a:lstStyle/>
              <a:p>
                <a:r>
                  <a:rPr lang="zh-TW" altLang="en-US">
                    <a:noFill/>
                  </a:rPr>
                  <a:t> </a:t>
                </a:r>
              </a:p>
            </p:txBody>
          </p:sp>
        </mc:Fallback>
      </mc:AlternateContent>
      <p:sp>
        <p:nvSpPr>
          <p:cNvPr id="51" name="文字方塊 50">
            <a:extLst>
              <a:ext uri="{FF2B5EF4-FFF2-40B4-BE49-F238E27FC236}">
                <a16:creationId xmlns:a16="http://schemas.microsoft.com/office/drawing/2014/main" id="{38E9BA49-6017-191D-79DA-68A4EF8FE9FF}"/>
              </a:ext>
            </a:extLst>
          </p:cNvPr>
          <p:cNvSpPr txBox="1"/>
          <p:nvPr/>
        </p:nvSpPr>
        <p:spPr>
          <a:xfrm>
            <a:off x="131377" y="1875641"/>
            <a:ext cx="2304478" cy="3970318"/>
          </a:xfrm>
          <a:prstGeom prst="rect">
            <a:avLst/>
          </a:prstGeom>
          <a:noFill/>
          <a:ln>
            <a:solidFill>
              <a:schemeClr val="tx1"/>
            </a:solidFill>
          </a:ln>
        </p:spPr>
        <p:txBody>
          <a:bodyPr wrap="square">
            <a:spAutoFit/>
          </a:bodyPr>
          <a:lstStyle/>
          <a:p>
            <a:r>
              <a:rPr lang="en-US" altLang="zh-TW" dirty="0"/>
              <a:t>[</a:t>
            </a:r>
            <a:r>
              <a:rPr lang="en-US" altLang="zh-TW" dirty="0">
                <a:solidFill>
                  <a:srgbClr val="FF0000"/>
                </a:solidFill>
              </a:rPr>
              <a:t>4.76e-01</a:t>
            </a:r>
            <a:r>
              <a:rPr lang="en-US" altLang="zh-TW" dirty="0"/>
              <a:t>, </a:t>
            </a:r>
            <a:r>
              <a:rPr lang="en-US" altLang="zh-TW" dirty="0">
                <a:solidFill>
                  <a:schemeClr val="accent6">
                    <a:lumMod val="75000"/>
                  </a:schemeClr>
                </a:solidFill>
              </a:rPr>
              <a:t>3.53e+00</a:t>
            </a:r>
            <a:r>
              <a:rPr lang="en-US" altLang="zh-TW" dirty="0"/>
              <a:t>],</a:t>
            </a:r>
          </a:p>
          <a:p>
            <a:r>
              <a:rPr lang="en-US" altLang="zh-TW" dirty="0"/>
              <a:t>[</a:t>
            </a:r>
            <a:r>
              <a:rPr lang="en-US" altLang="zh-TW" dirty="0">
                <a:solidFill>
                  <a:srgbClr val="FF0000"/>
                </a:solidFill>
              </a:rPr>
              <a:t>1.02e-01</a:t>
            </a:r>
            <a:r>
              <a:rPr lang="en-US" altLang="zh-TW" dirty="0"/>
              <a:t>, </a:t>
            </a:r>
            <a:r>
              <a:rPr lang="en-US" altLang="zh-TW" dirty="0">
                <a:solidFill>
                  <a:schemeClr val="accent6">
                    <a:lumMod val="75000"/>
                  </a:schemeClr>
                </a:solidFill>
              </a:rPr>
              <a:t>2.33e+00</a:t>
            </a:r>
            <a:r>
              <a:rPr lang="en-US" altLang="zh-TW" dirty="0"/>
              <a:t>],</a:t>
            </a:r>
          </a:p>
          <a:p>
            <a:r>
              <a:rPr lang="en-US" altLang="zh-TW" dirty="0"/>
              <a:t>[</a:t>
            </a:r>
            <a:r>
              <a:rPr lang="en-US" altLang="zh-TW" dirty="0">
                <a:solidFill>
                  <a:srgbClr val="FF0000"/>
                </a:solidFill>
              </a:rPr>
              <a:t>7.49e-01</a:t>
            </a:r>
            <a:r>
              <a:rPr lang="en-US" altLang="zh-TW" dirty="0"/>
              <a:t>, </a:t>
            </a:r>
            <a:r>
              <a:rPr lang="en-US" altLang="zh-TW" dirty="0">
                <a:solidFill>
                  <a:schemeClr val="accent6">
                    <a:lumMod val="75000"/>
                  </a:schemeClr>
                </a:solidFill>
              </a:rPr>
              <a:t>4.17e+00</a:t>
            </a:r>
            <a:r>
              <a:rPr lang="en-US" altLang="zh-TW" dirty="0"/>
              <a:t>],</a:t>
            </a:r>
          </a:p>
          <a:p>
            <a:r>
              <a:rPr lang="en-US" altLang="zh-TW" dirty="0"/>
              <a:t>[</a:t>
            </a:r>
            <a:r>
              <a:rPr lang="en-US" altLang="zh-TW" dirty="0">
                <a:solidFill>
                  <a:srgbClr val="FF0000"/>
                </a:solidFill>
              </a:rPr>
              <a:t>6.43e-01</a:t>
            </a:r>
            <a:r>
              <a:rPr lang="en-US" altLang="zh-TW" dirty="0"/>
              <a:t>, </a:t>
            </a:r>
            <a:r>
              <a:rPr lang="en-US" altLang="zh-TW" dirty="0">
                <a:solidFill>
                  <a:schemeClr val="accent6">
                    <a:lumMod val="75000"/>
                  </a:schemeClr>
                </a:solidFill>
              </a:rPr>
              <a:t>4.08e+00</a:t>
            </a:r>
            <a:r>
              <a:rPr lang="en-US" altLang="zh-TW" dirty="0"/>
              <a:t>],</a:t>
            </a:r>
          </a:p>
          <a:p>
            <a:r>
              <a:rPr lang="en-US" altLang="zh-TW" dirty="0"/>
              <a:t>[</a:t>
            </a:r>
            <a:r>
              <a:rPr lang="en-US" altLang="zh-TW" dirty="0">
                <a:solidFill>
                  <a:srgbClr val="FF0000"/>
                </a:solidFill>
              </a:rPr>
              <a:t>1.30e-02</a:t>
            </a:r>
            <a:r>
              <a:rPr lang="en-US" altLang="zh-TW" dirty="0"/>
              <a:t>, </a:t>
            </a:r>
            <a:r>
              <a:rPr lang="en-US" altLang="zh-TW" dirty="0">
                <a:solidFill>
                  <a:schemeClr val="accent6">
                    <a:lumMod val="75000"/>
                  </a:schemeClr>
                </a:solidFill>
              </a:rPr>
              <a:t>1.87e+00</a:t>
            </a:r>
            <a:r>
              <a:rPr lang="en-US" altLang="zh-TW" dirty="0"/>
              <a:t>],</a:t>
            </a:r>
          </a:p>
          <a:p>
            <a:r>
              <a:rPr lang="en-US" altLang="zh-TW" dirty="0"/>
              <a:t>[</a:t>
            </a:r>
            <a:r>
              <a:rPr lang="en-US" altLang="zh-TW" dirty="0">
                <a:solidFill>
                  <a:srgbClr val="FF0000"/>
                </a:solidFill>
              </a:rPr>
              <a:t>8.82e-01</a:t>
            </a:r>
            <a:r>
              <a:rPr lang="en-US" altLang="zh-TW" dirty="0"/>
              <a:t>, </a:t>
            </a:r>
            <a:r>
              <a:rPr lang="en-US" altLang="zh-TW" dirty="0">
                <a:solidFill>
                  <a:schemeClr val="accent6">
                    <a:lumMod val="75000"/>
                  </a:schemeClr>
                </a:solidFill>
              </a:rPr>
              <a:t>4.59e+00</a:t>
            </a:r>
            <a:r>
              <a:rPr lang="en-US" altLang="zh-TW" dirty="0"/>
              <a:t>],</a:t>
            </a:r>
          </a:p>
          <a:p>
            <a:r>
              <a:rPr lang="en-US" altLang="zh-TW" dirty="0"/>
              <a:t>[</a:t>
            </a:r>
            <a:r>
              <a:rPr lang="en-US" altLang="zh-TW" dirty="0">
                <a:solidFill>
                  <a:srgbClr val="FF0000"/>
                </a:solidFill>
              </a:rPr>
              <a:t>8.57e-01</a:t>
            </a:r>
            <a:r>
              <a:rPr lang="en-US" altLang="zh-TW" dirty="0"/>
              <a:t>, </a:t>
            </a:r>
            <a:r>
              <a:rPr lang="en-US" altLang="zh-TW" dirty="0">
                <a:solidFill>
                  <a:schemeClr val="accent6">
                    <a:lumMod val="75000"/>
                  </a:schemeClr>
                </a:solidFill>
              </a:rPr>
              <a:t>4.49e+00</a:t>
            </a:r>
            <a:r>
              <a:rPr lang="en-US" altLang="zh-TW" dirty="0"/>
              <a:t>],</a:t>
            </a:r>
          </a:p>
          <a:p>
            <a:r>
              <a:rPr lang="en-US" altLang="zh-TW" dirty="0"/>
              <a:t>[</a:t>
            </a:r>
            <a:r>
              <a:rPr lang="en-US" altLang="zh-TW" dirty="0">
                <a:solidFill>
                  <a:srgbClr val="FF0000"/>
                </a:solidFill>
              </a:rPr>
              <a:t>4.11e-01</a:t>
            </a:r>
            <a:r>
              <a:rPr lang="en-US" altLang="zh-TW" dirty="0"/>
              <a:t>, </a:t>
            </a:r>
            <a:r>
              <a:rPr lang="en-US" altLang="zh-TW" dirty="0">
                <a:solidFill>
                  <a:schemeClr val="accent6">
                    <a:lumMod val="75000"/>
                  </a:schemeClr>
                </a:solidFill>
              </a:rPr>
              <a:t>3.22e+00</a:t>
            </a:r>
            <a:r>
              <a:rPr lang="en-US" altLang="zh-TW" dirty="0"/>
              <a:t>],</a:t>
            </a:r>
          </a:p>
          <a:p>
            <a:r>
              <a:rPr lang="en-US" altLang="zh-TW" dirty="0"/>
              <a:t>[</a:t>
            </a:r>
            <a:r>
              <a:rPr lang="en-US" altLang="zh-TW" dirty="0">
                <a:solidFill>
                  <a:srgbClr val="FF0000"/>
                </a:solidFill>
              </a:rPr>
              <a:t>4.50e-01</a:t>
            </a:r>
            <a:r>
              <a:rPr lang="en-US" altLang="zh-TW" dirty="0"/>
              <a:t>, </a:t>
            </a:r>
            <a:r>
              <a:rPr lang="en-US" altLang="zh-TW" dirty="0">
                <a:solidFill>
                  <a:schemeClr val="accent6">
                    <a:lumMod val="75000"/>
                  </a:schemeClr>
                </a:solidFill>
              </a:rPr>
              <a:t>3.19e+00</a:t>
            </a:r>
            <a:r>
              <a:rPr lang="en-US" altLang="zh-TW" dirty="0"/>
              <a:t>],</a:t>
            </a:r>
          </a:p>
          <a:p>
            <a:r>
              <a:rPr lang="en-US" altLang="zh-TW" dirty="0"/>
              <a:t>[</a:t>
            </a:r>
            <a:r>
              <a:rPr lang="en-US" altLang="zh-TW" dirty="0">
                <a:solidFill>
                  <a:srgbClr val="FF0000"/>
                </a:solidFill>
              </a:rPr>
              <a:t>4.41e-01</a:t>
            </a:r>
            <a:r>
              <a:rPr lang="en-US" altLang="zh-TW" dirty="0"/>
              <a:t>, </a:t>
            </a:r>
            <a:r>
              <a:rPr lang="en-US" altLang="zh-TW" dirty="0">
                <a:solidFill>
                  <a:schemeClr val="accent6">
                    <a:lumMod val="75000"/>
                  </a:schemeClr>
                </a:solidFill>
              </a:rPr>
              <a:t>3.30e+00</a:t>
            </a:r>
            <a:r>
              <a:rPr lang="en-US" altLang="zh-TW" dirty="0"/>
              <a:t>],</a:t>
            </a:r>
          </a:p>
          <a:p>
            <a:r>
              <a:rPr lang="en-US" altLang="zh-TW" dirty="0"/>
              <a:t>[</a:t>
            </a:r>
            <a:r>
              <a:rPr lang="en-US" altLang="zh-TW" dirty="0">
                <a:solidFill>
                  <a:srgbClr val="FF0000"/>
                </a:solidFill>
              </a:rPr>
              <a:t>4.56e-01</a:t>
            </a:r>
            <a:r>
              <a:rPr lang="en-US" altLang="zh-TW" dirty="0"/>
              <a:t>,</a:t>
            </a:r>
            <a:r>
              <a:rPr lang="en-US" altLang="zh-TW" dirty="0">
                <a:solidFill>
                  <a:schemeClr val="accent6">
                    <a:lumMod val="75000"/>
                  </a:schemeClr>
                </a:solidFill>
              </a:rPr>
              <a:t> 3.30e+00</a:t>
            </a:r>
            <a:r>
              <a:rPr lang="en-US" altLang="zh-TW" dirty="0"/>
              <a:t>],</a:t>
            </a:r>
          </a:p>
          <a:p>
            <a:r>
              <a:rPr lang="en-US" altLang="zh-TW" dirty="0"/>
              <a:t>[</a:t>
            </a:r>
            <a:r>
              <a:rPr lang="en-US" altLang="zh-TW" dirty="0">
                <a:solidFill>
                  <a:srgbClr val="FF0000"/>
                </a:solidFill>
              </a:rPr>
              <a:t>1.11e-01</a:t>
            </a:r>
            <a:r>
              <a:rPr lang="en-US" altLang="zh-TW" dirty="0"/>
              <a:t>, </a:t>
            </a:r>
            <a:r>
              <a:rPr lang="en-US" altLang="zh-TW" dirty="0">
                <a:solidFill>
                  <a:schemeClr val="accent6">
                    <a:lumMod val="75000"/>
                  </a:schemeClr>
                </a:solidFill>
              </a:rPr>
              <a:t>2.39e+00</a:t>
            </a:r>
            <a:r>
              <a:rPr lang="en-US" altLang="zh-TW" dirty="0"/>
              <a:t>],</a:t>
            </a:r>
          </a:p>
          <a:p>
            <a:r>
              <a:rPr lang="en-US" altLang="zh-TW" dirty="0"/>
              <a:t>[</a:t>
            </a:r>
            <a:r>
              <a:rPr lang="en-US" altLang="zh-TW" dirty="0">
                <a:solidFill>
                  <a:srgbClr val="FF0000"/>
                </a:solidFill>
              </a:rPr>
              <a:t>9.31e-01</a:t>
            </a:r>
            <a:r>
              <a:rPr lang="en-US" altLang="zh-TW" dirty="0"/>
              <a:t>, </a:t>
            </a:r>
            <a:r>
              <a:rPr lang="en-US" altLang="zh-TW" dirty="0">
                <a:solidFill>
                  <a:schemeClr val="accent6">
                    <a:lumMod val="75000"/>
                  </a:schemeClr>
                </a:solidFill>
              </a:rPr>
              <a:t>4.93e+00</a:t>
            </a:r>
            <a:r>
              <a:rPr lang="en-US" altLang="zh-TW" dirty="0"/>
              <a:t>],</a:t>
            </a:r>
          </a:p>
          <a:p>
            <a:r>
              <a:rPr lang="en-US" altLang="zh-TW" dirty="0"/>
              <a:t>…</a:t>
            </a:r>
          </a:p>
        </p:txBody>
      </p:sp>
      <p:sp>
        <p:nvSpPr>
          <p:cNvPr id="52" name="文字方塊 51">
            <a:extLst>
              <a:ext uri="{FF2B5EF4-FFF2-40B4-BE49-F238E27FC236}">
                <a16:creationId xmlns:a16="http://schemas.microsoft.com/office/drawing/2014/main" id="{2B353AB3-1868-0C04-C9CB-FB63DB6BB830}"/>
              </a:ext>
            </a:extLst>
          </p:cNvPr>
          <p:cNvSpPr txBox="1"/>
          <p:nvPr/>
        </p:nvSpPr>
        <p:spPr>
          <a:xfrm>
            <a:off x="488699" y="1555017"/>
            <a:ext cx="1406325" cy="369332"/>
          </a:xfrm>
          <a:prstGeom prst="rect">
            <a:avLst/>
          </a:prstGeom>
          <a:noFill/>
        </p:spPr>
        <p:txBody>
          <a:bodyPr wrap="square">
            <a:spAutoFit/>
          </a:bodyPr>
          <a:lstStyle/>
          <a:p>
            <a:r>
              <a:rPr lang="en-US" altLang="zh-TW" i="1" dirty="0">
                <a:latin typeface="Times New Roman" panose="02020603050405020304" pitchFamily="18" charset="0"/>
                <a:cs typeface="Times New Roman" panose="02020603050405020304" pitchFamily="18" charset="0"/>
              </a:rPr>
              <a:t>x</a:t>
            </a:r>
            <a:r>
              <a:rPr lang="en-US" altLang="zh-TW" dirty="0"/>
              <a:t>                  </a:t>
            </a:r>
            <a:r>
              <a:rPr lang="en-US" altLang="zh-TW" dirty="0">
                <a:latin typeface="Times New Roman" panose="02020603050405020304" pitchFamily="18" charset="0"/>
                <a:cs typeface="Times New Roman" panose="02020603050405020304" pitchFamily="18" charset="0"/>
              </a:rPr>
              <a:t>y </a:t>
            </a:r>
            <a:endParaRPr lang="zh-TW" altLang="en-US" dirty="0"/>
          </a:p>
        </p:txBody>
      </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BFD24E8D-01F4-F9EA-31E9-0C8C27DEDE98}"/>
                  </a:ext>
                </a:extLst>
              </p:cNvPr>
              <p:cNvSpPr txBox="1"/>
              <p:nvPr/>
            </p:nvSpPr>
            <p:spPr>
              <a:xfrm>
                <a:off x="284304" y="997404"/>
                <a:ext cx="1998624" cy="492443"/>
              </a:xfrm>
              <a:prstGeom prst="rect">
                <a:avLst/>
              </a:prstGeom>
              <a:noFill/>
            </p:spPr>
            <p:txBody>
              <a:bodyPr wrap="none" lIns="0" tIns="0" rIns="0" bIns="0" rtlCol="0">
                <a:spAutoFit/>
              </a:bodyPr>
              <a:lstStyle/>
              <a:p>
                <a:r>
                  <a:rPr lang="en-US" altLang="zh-TW" sz="3200" dirty="0">
                    <a:latin typeface="Times New Roman" panose="02020603050405020304" pitchFamily="18" charset="0"/>
                    <a:cs typeface="Times New Roman" panose="02020603050405020304" pitchFamily="18" charset="0"/>
                  </a:rPr>
                  <a:t>Given [</a:t>
                </a:r>
                <a14:m>
                  <m:oMath xmlns:m="http://schemas.openxmlformats.org/officeDocument/2006/math">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 </m:t>
                    </m:r>
                    <m:r>
                      <a:rPr lang="en-US" altLang="zh-TW" sz="3200" b="0" i="1" smtClean="0">
                        <a:solidFill>
                          <a:schemeClr val="accent5">
                            <a:lumMod val="50000"/>
                          </a:schemeClr>
                        </a:solidFill>
                        <a:latin typeface="Cambria Math" panose="02040503050406030204" pitchFamily="18" charset="0"/>
                      </a:rPr>
                      <m:t>𝑦</m:t>
                    </m:r>
                  </m:oMath>
                </a14:m>
                <a:r>
                  <a:rPr lang="en-US" altLang="zh-TW" sz="3200" dirty="0">
                    <a:latin typeface="Times New Roman" panose="02020603050405020304" pitchFamily="18" charset="0"/>
                    <a:cs typeface="Times New Roman" panose="02020603050405020304" pitchFamily="18" charset="0"/>
                  </a:rPr>
                  <a:t>]</a:t>
                </a:r>
                <a:endParaRPr lang="zh-TW" altLang="en-US" sz="3200" dirty="0">
                  <a:latin typeface="Times New Roman" panose="02020603050405020304" pitchFamily="18" charset="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BFD24E8D-01F4-F9EA-31E9-0C8C27DEDE98}"/>
                  </a:ext>
                </a:extLst>
              </p:cNvPr>
              <p:cNvSpPr txBox="1">
                <a:spLocks noRot="1" noChangeAspect="1" noMove="1" noResize="1" noEditPoints="1" noAdjustHandles="1" noChangeArrowheads="1" noChangeShapeType="1" noTextEdit="1"/>
              </p:cNvSpPr>
              <p:nvPr/>
            </p:nvSpPr>
            <p:spPr>
              <a:xfrm>
                <a:off x="284304" y="997404"/>
                <a:ext cx="1998624" cy="492443"/>
              </a:xfrm>
              <a:prstGeom prst="rect">
                <a:avLst/>
              </a:prstGeom>
              <a:blipFill>
                <a:blip r:embed="rId9"/>
                <a:stretch>
                  <a:fillRect l="-12538" t="-27500" r="-12232" b="-487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33704D93-B303-2259-7933-373D0F7D08DA}"/>
                  </a:ext>
                </a:extLst>
              </p:cNvPr>
              <p:cNvSpPr txBox="1"/>
              <p:nvPr/>
            </p:nvSpPr>
            <p:spPr>
              <a:xfrm>
                <a:off x="3094912" y="2017522"/>
                <a:ext cx="8036265" cy="1043106"/>
              </a:xfrm>
              <a:prstGeom prst="rect">
                <a:avLst/>
              </a:prstGeom>
              <a:noFill/>
            </p:spPr>
            <p:txBody>
              <a:bodyPr wrap="square" lIns="0" tIns="0" rIns="0" bIns="0" rtlCol="0">
                <a:spAutoFit/>
              </a:bodyPr>
              <a:lstStyle/>
              <a:p>
                <a14:m>
                  <m:oMath xmlns:m="http://schemas.openxmlformats.org/officeDocument/2006/math">
                    <m:r>
                      <a:rPr lang="en-US" altLang="zh-TW" sz="2400" b="0" i="1" smtClean="0">
                        <a:solidFill>
                          <a:schemeClr val="accent5">
                            <a:lumMod val="50000"/>
                          </a:schemeClr>
                        </a:solidFill>
                        <a:latin typeface="Cambria Math" panose="02040503050406030204" pitchFamily="18" charset="0"/>
                      </a:rPr>
                      <m:t>𝑀𝑆𝐸</m:t>
                    </m:r>
                    <m:r>
                      <a:rPr lang="en-US" altLang="zh-TW" sz="2400" b="0" i="1" smtClean="0">
                        <a:solidFill>
                          <a:schemeClr val="accent5">
                            <a:lumMod val="50000"/>
                          </a:schemeClr>
                        </a:solidFill>
                        <a:latin typeface="Cambria Math" panose="02040503050406030204" pitchFamily="18" charset="0"/>
                      </a:rPr>
                      <m:t>=</m:t>
                    </m:r>
                    <m:f>
                      <m:fPr>
                        <m:ctrlPr>
                          <a:rPr lang="en-US" altLang="zh-TW" sz="2400" b="0" i="1" smtClean="0">
                            <a:solidFill>
                              <a:schemeClr val="accent5">
                                <a:lumMod val="50000"/>
                              </a:schemeClr>
                            </a:solidFill>
                            <a:latin typeface="Cambria Math" panose="02040503050406030204" pitchFamily="18" charset="0"/>
                          </a:rPr>
                        </m:ctrlPr>
                      </m:fPr>
                      <m:num>
                        <m:r>
                          <a:rPr lang="en-US" altLang="zh-TW" sz="2400" b="0" i="1" smtClean="0">
                            <a:solidFill>
                              <a:schemeClr val="accent5">
                                <a:lumMod val="50000"/>
                              </a:schemeClr>
                            </a:solidFill>
                            <a:latin typeface="Cambria Math" panose="02040503050406030204" pitchFamily="18" charset="0"/>
                          </a:rPr>
                          <m:t>1</m:t>
                        </m:r>
                      </m:num>
                      <m:den>
                        <m:r>
                          <a:rPr lang="en-US" altLang="zh-TW" sz="2400" b="0" i="1" smtClean="0">
                            <a:solidFill>
                              <a:schemeClr val="accent5">
                                <a:lumMod val="50000"/>
                              </a:schemeClr>
                            </a:solidFill>
                            <a:latin typeface="Cambria Math" panose="02040503050406030204" pitchFamily="18" charset="0"/>
                          </a:rPr>
                          <m:t>𝑁</m:t>
                        </m:r>
                      </m:den>
                    </m:f>
                    <m:nary>
                      <m:naryPr>
                        <m:chr m:val="∑"/>
                        <m:ctrlPr>
                          <a:rPr lang="en-US" altLang="zh-TW" sz="2400" b="0" i="1" smtClean="0">
                            <a:solidFill>
                              <a:schemeClr val="accent5">
                                <a:lumMod val="50000"/>
                              </a:schemeClr>
                            </a:solidFill>
                            <a:latin typeface="Cambria Math" panose="02040503050406030204" pitchFamily="18" charset="0"/>
                          </a:rPr>
                        </m:ctrlPr>
                      </m:naryPr>
                      <m:sub>
                        <m:r>
                          <m:rPr>
                            <m:brk m:alnAt="23"/>
                          </m:rPr>
                          <a:rPr lang="en-US" altLang="zh-TW" sz="2400" b="0" i="1" smtClean="0">
                            <a:solidFill>
                              <a:schemeClr val="accent5">
                                <a:lumMod val="50000"/>
                              </a:schemeClr>
                            </a:solidFill>
                            <a:latin typeface="Cambria Math" panose="02040503050406030204" pitchFamily="18" charset="0"/>
                          </a:rPr>
                          <m:t>𝑖</m:t>
                        </m:r>
                        <m:r>
                          <a:rPr lang="en-US" altLang="zh-TW" sz="2400" b="0" i="1" smtClean="0">
                            <a:solidFill>
                              <a:schemeClr val="accent5">
                                <a:lumMod val="50000"/>
                              </a:schemeClr>
                            </a:solidFill>
                            <a:latin typeface="Cambria Math" panose="02040503050406030204" pitchFamily="18" charset="0"/>
                          </a:rPr>
                          <m:t>=1</m:t>
                        </m:r>
                      </m:sub>
                      <m:sup>
                        <m:r>
                          <a:rPr lang="en-US" altLang="zh-TW" sz="2400" b="0" i="1" smtClean="0">
                            <a:solidFill>
                              <a:schemeClr val="accent5">
                                <a:lumMod val="50000"/>
                              </a:schemeClr>
                            </a:solidFill>
                            <a:latin typeface="Cambria Math" panose="02040503050406030204" pitchFamily="18" charset="0"/>
                          </a:rPr>
                          <m:t>𝑁</m:t>
                        </m:r>
                      </m:sup>
                      <m:e>
                        <m:sSup>
                          <m:sSupPr>
                            <m:ctrlPr>
                              <a:rPr lang="en-US" altLang="zh-TW" sz="2400" b="0" i="1" smtClean="0">
                                <a:solidFill>
                                  <a:schemeClr val="accent5">
                                    <a:lumMod val="50000"/>
                                  </a:schemeClr>
                                </a:solidFill>
                                <a:latin typeface="Cambria Math" panose="02040503050406030204" pitchFamily="18" charset="0"/>
                              </a:rPr>
                            </m:ctrlPr>
                          </m:sSupPr>
                          <m:e>
                            <m:r>
                              <a:rPr lang="en-US" altLang="zh-TW" sz="2400" b="0" i="1" smtClean="0">
                                <a:solidFill>
                                  <a:schemeClr val="accent5">
                                    <a:lumMod val="50000"/>
                                  </a:schemeClr>
                                </a:solidFill>
                                <a:latin typeface="Cambria Math" panose="02040503050406030204" pitchFamily="18" charset="0"/>
                              </a:rPr>
                              <m:t> (</m:t>
                            </m:r>
                            <m:sSub>
                              <m:sSubPr>
                                <m:ctrlPr>
                                  <a:rPr lang="en-US" altLang="zh-TW" sz="2400" b="0" i="1" smtClean="0">
                                    <a:solidFill>
                                      <a:schemeClr val="accent5">
                                        <a:lumMod val="50000"/>
                                      </a:schemeClr>
                                    </a:solidFill>
                                    <a:latin typeface="Cambria Math" panose="02040503050406030204" pitchFamily="18" charset="0"/>
                                  </a:rPr>
                                </m:ctrlPr>
                              </m:sSubPr>
                              <m:e>
                                <m:sSub>
                                  <m:sSubPr>
                                    <m:ctrlPr>
                                      <a:rPr lang="en-US" altLang="zh-TW" sz="2400" i="1" smtClean="0">
                                        <a:solidFill>
                                          <a:schemeClr val="accent6">
                                            <a:lumMod val="75000"/>
                                          </a:schemeClr>
                                        </a:solidFill>
                                        <a:latin typeface="Cambria Math" panose="02040503050406030204" pitchFamily="18" charset="0"/>
                                      </a:rPr>
                                    </m:ctrlPr>
                                  </m:sSubPr>
                                  <m:e>
                                    <m:r>
                                      <a:rPr lang="en-US" altLang="zh-TW" sz="2400" i="1">
                                        <a:solidFill>
                                          <a:schemeClr val="accent6">
                                            <a:lumMod val="75000"/>
                                          </a:schemeClr>
                                        </a:solidFill>
                                        <a:latin typeface="Cambria Math" panose="02040503050406030204" pitchFamily="18" charset="0"/>
                                      </a:rPr>
                                      <m:t>𝑦</m:t>
                                    </m:r>
                                  </m:e>
                                  <m:sub>
                                    <m:r>
                                      <a:rPr lang="en-US" altLang="zh-TW" sz="2400" i="1">
                                        <a:solidFill>
                                          <a:schemeClr val="accent6">
                                            <a:lumMod val="75000"/>
                                          </a:schemeClr>
                                        </a:solidFill>
                                        <a:latin typeface="Cambria Math" panose="02040503050406030204" pitchFamily="18" charset="0"/>
                                      </a:rPr>
                                      <m:t>𝑖</m:t>
                                    </m:r>
                                  </m:sub>
                                </m:sSub>
                                <m:r>
                                  <a:rPr lang="en-US" altLang="zh-TW" sz="2400" b="0" i="1" smtClean="0">
                                    <a:solidFill>
                                      <a:schemeClr val="accent5">
                                        <a:lumMod val="50000"/>
                                      </a:schemeClr>
                                    </a:solidFill>
                                    <a:latin typeface="Cambria Math" panose="02040503050406030204" pitchFamily="18" charset="0"/>
                                  </a:rPr>
                                  <m:t>−</m:t>
                                </m:r>
                                <m:acc>
                                  <m:accPr>
                                    <m:chr m:val="̂"/>
                                    <m:ctrlPr>
                                      <a:rPr lang="en-US" altLang="zh-TW" sz="2400" b="0" i="1" smtClean="0">
                                        <a:solidFill>
                                          <a:srgbClr val="FF0000"/>
                                        </a:solidFill>
                                        <a:latin typeface="Cambria Math" panose="02040503050406030204" pitchFamily="18" charset="0"/>
                                      </a:rPr>
                                    </m:ctrlPr>
                                  </m:accPr>
                                  <m:e>
                                    <m:r>
                                      <a:rPr lang="en-US" altLang="zh-TW" sz="2400" b="0" i="1" smtClean="0">
                                        <a:solidFill>
                                          <a:srgbClr val="FF0000"/>
                                        </a:solidFill>
                                        <a:latin typeface="Cambria Math" panose="02040503050406030204" pitchFamily="18" charset="0"/>
                                      </a:rPr>
                                      <m:t>𝑦</m:t>
                                    </m:r>
                                  </m:e>
                                </m:acc>
                              </m:e>
                              <m:sub>
                                <m:r>
                                  <a:rPr lang="en-US" altLang="zh-TW" sz="2400" b="0" i="1" smtClean="0">
                                    <a:solidFill>
                                      <a:srgbClr val="FF0000"/>
                                    </a:solidFill>
                                    <a:latin typeface="Cambria Math" panose="02040503050406030204" pitchFamily="18" charset="0"/>
                                  </a:rPr>
                                  <m:t>𝑖</m:t>
                                </m:r>
                              </m:sub>
                            </m:sSub>
                            <m:r>
                              <a:rPr lang="en-US" altLang="zh-TW" sz="2400" b="0" i="1" smtClean="0">
                                <a:solidFill>
                                  <a:schemeClr val="accent5">
                                    <a:lumMod val="50000"/>
                                  </a:schemeClr>
                                </a:solidFill>
                                <a:latin typeface="Cambria Math" panose="02040503050406030204" pitchFamily="18" charset="0"/>
                              </a:rPr>
                              <m:t> )</m:t>
                            </m:r>
                          </m:e>
                          <m:sup>
                            <m:r>
                              <a:rPr lang="en-US" altLang="zh-TW" sz="2400" b="0" i="1" smtClean="0">
                                <a:solidFill>
                                  <a:schemeClr val="accent5">
                                    <a:lumMod val="50000"/>
                                  </a:schemeClr>
                                </a:solidFill>
                                <a:latin typeface="Cambria Math" panose="02040503050406030204" pitchFamily="18" charset="0"/>
                              </a:rPr>
                              <m:t>2 </m:t>
                            </m:r>
                          </m:sup>
                        </m:sSup>
                      </m:e>
                    </m:nary>
                    <m:r>
                      <a:rPr lang="en-US" altLang="zh-TW" sz="2400" b="0" i="0" smtClean="0">
                        <a:solidFill>
                          <a:schemeClr val="accent5">
                            <a:lumMod val="50000"/>
                          </a:schemeClr>
                        </a:solidFill>
                        <a:latin typeface="Cambria Math" panose="02040503050406030204" pitchFamily="18" charset="0"/>
                      </a:rPr>
                      <m:t>=</m:t>
                    </m:r>
                  </m:oMath>
                </a14:m>
                <a:r>
                  <a:rPr lang="en-US" altLang="zh-TW" sz="2400" dirty="0">
                    <a:solidFill>
                      <a:schemeClr val="accent5">
                        <a:lumMod val="50000"/>
                      </a:schemeClr>
                    </a:solidFill>
                  </a:rPr>
                  <a:t> </a:t>
                </a:r>
                <a14:m>
                  <m:oMath xmlns:m="http://schemas.openxmlformats.org/officeDocument/2006/math">
                    <m:f>
                      <m:fPr>
                        <m:ctrlPr>
                          <a:rPr lang="en-US" altLang="zh-TW" sz="2400" i="1">
                            <a:solidFill>
                              <a:schemeClr val="accent5">
                                <a:lumMod val="50000"/>
                              </a:schemeClr>
                            </a:solidFill>
                            <a:latin typeface="Cambria Math" panose="02040503050406030204" pitchFamily="18" charset="0"/>
                          </a:rPr>
                        </m:ctrlPr>
                      </m:fPr>
                      <m:num>
                        <m:r>
                          <a:rPr lang="en-US" altLang="zh-TW" sz="2400" i="1">
                            <a:solidFill>
                              <a:schemeClr val="accent5">
                                <a:lumMod val="50000"/>
                              </a:schemeClr>
                            </a:solidFill>
                            <a:latin typeface="Cambria Math" panose="02040503050406030204" pitchFamily="18" charset="0"/>
                          </a:rPr>
                          <m:t>1</m:t>
                        </m:r>
                      </m:num>
                      <m:den>
                        <m:r>
                          <a:rPr lang="en-US" altLang="zh-TW" sz="2400" i="1">
                            <a:solidFill>
                              <a:schemeClr val="accent5">
                                <a:lumMod val="50000"/>
                              </a:schemeClr>
                            </a:solidFill>
                            <a:latin typeface="Cambria Math" panose="02040503050406030204" pitchFamily="18" charset="0"/>
                          </a:rPr>
                          <m:t>𝑁</m:t>
                        </m:r>
                      </m:den>
                    </m:f>
                    <m:nary>
                      <m:naryPr>
                        <m:chr m:val="∑"/>
                        <m:ctrlPr>
                          <a:rPr lang="en-US" altLang="zh-TW" sz="2400" i="1">
                            <a:solidFill>
                              <a:schemeClr val="accent5">
                                <a:lumMod val="50000"/>
                              </a:schemeClr>
                            </a:solidFill>
                            <a:latin typeface="Cambria Math" panose="02040503050406030204" pitchFamily="18" charset="0"/>
                          </a:rPr>
                        </m:ctrlPr>
                      </m:naryPr>
                      <m:sub>
                        <m:r>
                          <m:rPr>
                            <m:brk m:alnAt="23"/>
                          </m:rPr>
                          <a:rPr lang="en-US" altLang="zh-TW" sz="2400" i="1">
                            <a:solidFill>
                              <a:schemeClr val="accent5">
                                <a:lumMod val="50000"/>
                              </a:schemeClr>
                            </a:solidFill>
                            <a:latin typeface="Cambria Math" panose="02040503050406030204" pitchFamily="18" charset="0"/>
                          </a:rPr>
                          <m:t>𝑖</m:t>
                        </m:r>
                        <m:r>
                          <a:rPr lang="en-US" altLang="zh-TW" sz="2400" i="1">
                            <a:solidFill>
                              <a:schemeClr val="accent5">
                                <a:lumMod val="50000"/>
                              </a:schemeClr>
                            </a:solidFill>
                            <a:latin typeface="Cambria Math" panose="02040503050406030204" pitchFamily="18" charset="0"/>
                          </a:rPr>
                          <m:t>=1</m:t>
                        </m:r>
                      </m:sub>
                      <m:sup>
                        <m:r>
                          <a:rPr lang="en-US" altLang="zh-TW" sz="2400" i="1">
                            <a:solidFill>
                              <a:schemeClr val="accent5">
                                <a:lumMod val="50000"/>
                              </a:schemeClr>
                            </a:solidFill>
                            <a:latin typeface="Cambria Math" panose="02040503050406030204" pitchFamily="18" charset="0"/>
                          </a:rPr>
                          <m:t>𝑁</m:t>
                        </m:r>
                      </m:sup>
                      <m:e>
                        <m:sSup>
                          <m:sSupPr>
                            <m:ctrlPr>
                              <a:rPr lang="en-US" altLang="zh-TW" sz="2400" i="1">
                                <a:solidFill>
                                  <a:schemeClr val="accent5">
                                    <a:lumMod val="50000"/>
                                  </a:schemeClr>
                                </a:solidFill>
                                <a:latin typeface="Cambria Math" panose="02040503050406030204" pitchFamily="18" charset="0"/>
                              </a:rPr>
                            </m:ctrlPr>
                          </m:sSupPr>
                          <m:e>
                            <m:r>
                              <a:rPr lang="en-US" altLang="zh-TW" sz="2400" i="1">
                                <a:solidFill>
                                  <a:schemeClr val="accent5">
                                    <a:lumMod val="50000"/>
                                  </a:schemeClr>
                                </a:solidFill>
                                <a:latin typeface="Cambria Math" panose="02040503050406030204" pitchFamily="18" charset="0"/>
                              </a:rPr>
                              <m:t>(</m:t>
                            </m:r>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𝑦</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𝑎</m:t>
                            </m:r>
                            <m:r>
                              <a:rPr lang="en-US" altLang="zh-TW" sz="2400" i="1">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𝑏</m:t>
                            </m:r>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𝑥</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e>
                          <m:sup>
                            <m:r>
                              <a:rPr lang="en-US" altLang="zh-TW" sz="2400" i="1">
                                <a:solidFill>
                                  <a:schemeClr val="accent5">
                                    <a:lumMod val="50000"/>
                                  </a:schemeClr>
                                </a:solidFill>
                                <a:latin typeface="Cambria Math" panose="02040503050406030204" pitchFamily="18" charset="0"/>
                              </a:rPr>
                              <m:t>2</m:t>
                            </m:r>
                          </m:sup>
                        </m:sSup>
                      </m:e>
                    </m:nary>
                  </m:oMath>
                </a14:m>
                <a:r>
                  <a:rPr lang="en-US" altLang="zh-TW" sz="2400" dirty="0">
                    <a:solidFill>
                      <a:schemeClr val="accent5">
                        <a:lumMod val="50000"/>
                      </a:schemeClr>
                    </a:solidFill>
                  </a:rPr>
                  <a:t>  </a:t>
                </a:r>
              </a:p>
              <a:p>
                <a:r>
                  <a:rPr lang="en-US" altLang="zh-TW" sz="2400" dirty="0">
                    <a:solidFill>
                      <a:schemeClr val="accent5">
                        <a:lumMod val="50000"/>
                      </a:schemeClr>
                    </a:solidFill>
                    <a:latin typeface="Cambria Math" panose="02040503050406030204" pitchFamily="18" charset="0"/>
                  </a:rPr>
                  <a:t>           =</a:t>
                </a:r>
                <a14:m>
                  <m:oMath xmlns:m="http://schemas.openxmlformats.org/officeDocument/2006/math">
                    <m:f>
                      <m:fPr>
                        <m:ctrlPr>
                          <a:rPr lang="en-US" altLang="zh-TW" sz="2400" i="1">
                            <a:solidFill>
                              <a:schemeClr val="accent5">
                                <a:lumMod val="50000"/>
                              </a:schemeClr>
                            </a:solidFill>
                            <a:latin typeface="Cambria Math" panose="02040503050406030204" pitchFamily="18" charset="0"/>
                          </a:rPr>
                        </m:ctrlPr>
                      </m:fPr>
                      <m:num>
                        <m:r>
                          <a:rPr lang="en-US" altLang="zh-TW" sz="2400" i="1">
                            <a:solidFill>
                              <a:schemeClr val="accent5">
                                <a:lumMod val="50000"/>
                              </a:schemeClr>
                            </a:solidFill>
                            <a:latin typeface="Cambria Math" panose="02040503050406030204" pitchFamily="18" charset="0"/>
                          </a:rPr>
                          <m:t>1</m:t>
                        </m:r>
                      </m:num>
                      <m:den>
                        <m:r>
                          <a:rPr lang="en-US" altLang="zh-TW" sz="2400" i="1">
                            <a:solidFill>
                              <a:schemeClr val="accent5">
                                <a:lumMod val="50000"/>
                              </a:schemeClr>
                            </a:solidFill>
                            <a:latin typeface="Cambria Math" panose="02040503050406030204" pitchFamily="18" charset="0"/>
                          </a:rPr>
                          <m:t>𝑁</m:t>
                        </m:r>
                      </m:den>
                    </m:f>
                    <m:nary>
                      <m:naryPr>
                        <m:chr m:val="∑"/>
                        <m:ctrlPr>
                          <a:rPr lang="en-US" altLang="zh-TW" sz="2400" i="1">
                            <a:solidFill>
                              <a:schemeClr val="accent5">
                                <a:lumMod val="50000"/>
                              </a:schemeClr>
                            </a:solidFill>
                            <a:latin typeface="Cambria Math" panose="02040503050406030204" pitchFamily="18" charset="0"/>
                          </a:rPr>
                        </m:ctrlPr>
                      </m:naryPr>
                      <m:sub>
                        <m:r>
                          <m:rPr>
                            <m:brk m:alnAt="23"/>
                          </m:rPr>
                          <a:rPr lang="en-US" altLang="zh-TW" sz="2400" i="1">
                            <a:solidFill>
                              <a:schemeClr val="accent5">
                                <a:lumMod val="50000"/>
                              </a:schemeClr>
                            </a:solidFill>
                            <a:latin typeface="Cambria Math" panose="02040503050406030204" pitchFamily="18" charset="0"/>
                          </a:rPr>
                          <m:t>𝑖</m:t>
                        </m:r>
                        <m:r>
                          <a:rPr lang="en-US" altLang="zh-TW" sz="2400" i="1">
                            <a:solidFill>
                              <a:schemeClr val="accent5">
                                <a:lumMod val="50000"/>
                              </a:schemeClr>
                            </a:solidFill>
                            <a:latin typeface="Cambria Math" panose="02040503050406030204" pitchFamily="18" charset="0"/>
                          </a:rPr>
                          <m:t>=1</m:t>
                        </m:r>
                      </m:sub>
                      <m:sup>
                        <m:r>
                          <a:rPr lang="en-US" altLang="zh-TW" sz="2400" i="1">
                            <a:solidFill>
                              <a:schemeClr val="accent5">
                                <a:lumMod val="50000"/>
                              </a:schemeClr>
                            </a:solidFill>
                            <a:latin typeface="Cambria Math" panose="02040503050406030204" pitchFamily="18" charset="0"/>
                          </a:rPr>
                          <m:t>𝑁</m:t>
                        </m:r>
                      </m:sup>
                      <m:e>
                        <m:sSup>
                          <m:sSupPr>
                            <m:ctrlPr>
                              <a:rPr lang="en-US" altLang="zh-TW" sz="2400" i="1">
                                <a:solidFill>
                                  <a:schemeClr val="accent5">
                                    <a:lumMod val="50000"/>
                                  </a:schemeClr>
                                </a:solidFill>
                                <a:latin typeface="Cambria Math" panose="02040503050406030204" pitchFamily="18" charset="0"/>
                              </a:rPr>
                            </m:ctrlPr>
                          </m:sSupPr>
                          <m:e>
                            <m:r>
                              <a:rPr lang="en-US" altLang="zh-TW" sz="2400" i="1">
                                <a:solidFill>
                                  <a:schemeClr val="accent5">
                                    <a:lumMod val="50000"/>
                                  </a:schemeClr>
                                </a:solidFill>
                                <a:latin typeface="Cambria Math" panose="02040503050406030204" pitchFamily="18" charset="0"/>
                              </a:rPr>
                              <m:t>(</m:t>
                            </m:r>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𝑦</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𝑎</m:t>
                            </m:r>
                            <m:r>
                              <a:rPr lang="en-US" altLang="zh-TW" sz="2400" i="1">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𝑏</m:t>
                            </m:r>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𝑥</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e>
                          <m:sup>
                            <m:r>
                              <a:rPr lang="en-US" altLang="zh-TW" sz="2400" i="1">
                                <a:solidFill>
                                  <a:schemeClr val="accent5">
                                    <a:lumMod val="50000"/>
                                  </a:schemeClr>
                                </a:solidFill>
                                <a:latin typeface="Cambria Math" panose="02040503050406030204" pitchFamily="18" charset="0"/>
                              </a:rPr>
                              <m:t>2</m:t>
                            </m:r>
                          </m:sup>
                        </m:sSup>
                      </m:e>
                    </m:nary>
                  </m:oMath>
                </a14:m>
                <a:endParaRPr lang="zh-TW" altLang="en-US" sz="2400" dirty="0">
                  <a:solidFill>
                    <a:schemeClr val="accent5">
                      <a:lumMod val="50000"/>
                    </a:schemeClr>
                  </a:solidFill>
                </a:endParaRPr>
              </a:p>
            </p:txBody>
          </p:sp>
        </mc:Choice>
        <mc:Fallback xmlns="">
          <p:sp>
            <p:nvSpPr>
              <p:cNvPr id="54" name="文字方塊 53">
                <a:extLst>
                  <a:ext uri="{FF2B5EF4-FFF2-40B4-BE49-F238E27FC236}">
                    <a16:creationId xmlns:a16="http://schemas.microsoft.com/office/drawing/2014/main" id="{33704D93-B303-2259-7933-373D0F7D08DA}"/>
                  </a:ext>
                </a:extLst>
              </p:cNvPr>
              <p:cNvSpPr txBox="1">
                <a:spLocks noRot="1" noChangeAspect="1" noMove="1" noResize="1" noEditPoints="1" noAdjustHandles="1" noChangeArrowheads="1" noChangeShapeType="1" noTextEdit="1"/>
              </p:cNvSpPr>
              <p:nvPr/>
            </p:nvSpPr>
            <p:spPr>
              <a:xfrm>
                <a:off x="3094912" y="2017522"/>
                <a:ext cx="8036265" cy="1043106"/>
              </a:xfrm>
              <a:prstGeom prst="rect">
                <a:avLst/>
              </a:prstGeom>
              <a:blipFill>
                <a:blip r:embed="rId10"/>
                <a:stretch>
                  <a:fillRect b="-818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738CF87C-A7B5-5427-99EA-5C363EF0A139}"/>
                  </a:ext>
                </a:extLst>
              </p:cNvPr>
              <p:cNvSpPr txBox="1"/>
              <p:nvPr/>
            </p:nvSpPr>
            <p:spPr>
              <a:xfrm>
                <a:off x="3094912" y="3326735"/>
                <a:ext cx="8922327" cy="593560"/>
              </a:xfrm>
              <a:prstGeom prst="rect">
                <a:avLst/>
              </a:prstGeom>
              <a:noFill/>
            </p:spPr>
            <p:txBody>
              <a:bodyPr wrap="square" lIns="0" tIns="0" rIns="0" bIns="0" rtlCol="0">
                <a:spAutoFit/>
              </a:bodyPr>
              <a:lstStyle/>
              <a:p>
                <a14:m>
                  <m:oMath xmlns:m="http://schemas.openxmlformats.org/officeDocument/2006/math">
                    <m:f>
                      <m:fPr>
                        <m:ctrlPr>
                          <a:rPr lang="en-US" altLang="zh-TW" sz="2400" b="0" i="1" smtClean="0">
                            <a:solidFill>
                              <a:schemeClr val="accent5">
                                <a:lumMod val="50000"/>
                              </a:schemeClr>
                            </a:solidFill>
                            <a:latin typeface="Cambria Math" panose="02040503050406030204" pitchFamily="18" charset="0"/>
                          </a:rPr>
                        </m:ctrlPr>
                      </m:fPr>
                      <m:num>
                        <m:r>
                          <a:rPr lang="zh-TW" altLang="en-US" sz="2400" b="0" i="1" smtClean="0">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𝑀𝑆𝐸</m:t>
                        </m:r>
                      </m:num>
                      <m:den>
                        <m:r>
                          <a:rPr lang="zh-TW" altLang="en-US" sz="2400" b="0" i="1" smtClean="0">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𝑎</m:t>
                        </m:r>
                      </m:den>
                    </m:f>
                    <m:r>
                      <a:rPr lang="en-US" altLang="zh-TW" sz="2400" b="0" i="0" smtClean="0">
                        <a:solidFill>
                          <a:schemeClr val="accent5">
                            <a:lumMod val="50000"/>
                          </a:schemeClr>
                        </a:solidFill>
                        <a:latin typeface="Cambria Math" panose="02040503050406030204" pitchFamily="18" charset="0"/>
                      </a:rPr>
                      <m:t>=</m:t>
                    </m:r>
                    <m:f>
                      <m:fPr>
                        <m:ctrlPr>
                          <a:rPr lang="en-US" altLang="zh-TW" sz="2400" i="1">
                            <a:solidFill>
                              <a:schemeClr val="accent5">
                                <a:lumMod val="50000"/>
                              </a:schemeClr>
                            </a:solidFill>
                            <a:latin typeface="Cambria Math" panose="02040503050406030204" pitchFamily="18" charset="0"/>
                          </a:rPr>
                        </m:ctrlPr>
                      </m:fPr>
                      <m:num>
                        <m:r>
                          <a:rPr lang="zh-TW" altLang="en-US" sz="2400" i="1">
                            <a:solidFill>
                              <a:schemeClr val="accent5">
                                <a:lumMod val="50000"/>
                              </a:schemeClr>
                            </a:solidFill>
                            <a:latin typeface="Cambria Math" panose="02040503050406030204" pitchFamily="18" charset="0"/>
                          </a:rPr>
                          <m:t>𝛿</m:t>
                        </m:r>
                        <m:r>
                          <a:rPr lang="en-US" altLang="zh-TW" sz="2400" i="1">
                            <a:solidFill>
                              <a:schemeClr val="accent5">
                                <a:lumMod val="50000"/>
                              </a:schemeClr>
                            </a:solidFill>
                            <a:latin typeface="Cambria Math" panose="02040503050406030204" pitchFamily="18" charset="0"/>
                          </a:rPr>
                          <m:t>𝑀𝑆𝐸</m:t>
                        </m:r>
                      </m:num>
                      <m:den>
                        <m:r>
                          <a:rPr lang="zh-TW" altLang="en-US" sz="2400" i="1">
                            <a:solidFill>
                              <a:schemeClr val="accent5">
                                <a:lumMod val="50000"/>
                              </a:schemeClr>
                            </a:solidFill>
                            <a:latin typeface="Cambria Math" panose="02040503050406030204" pitchFamily="18" charset="0"/>
                          </a:rPr>
                          <m:t>𝛿</m:t>
                        </m:r>
                        <m:sSub>
                          <m:sSubPr>
                            <m:ctrlPr>
                              <a:rPr lang="en-US" altLang="zh-TW" sz="2400" i="1">
                                <a:solidFill>
                                  <a:schemeClr val="accent5">
                                    <a:lumMod val="50000"/>
                                  </a:schemeClr>
                                </a:solidFill>
                                <a:latin typeface="Cambria Math" panose="02040503050406030204" pitchFamily="18" charset="0"/>
                              </a:rPr>
                            </m:ctrlPr>
                          </m:sSubPr>
                          <m:e>
                            <m:acc>
                              <m:accPr>
                                <m:chr m:val="̂"/>
                                <m:ctrlPr>
                                  <a:rPr lang="en-US" altLang="zh-TW" sz="2400" i="1">
                                    <a:solidFill>
                                      <a:schemeClr val="accent5">
                                        <a:lumMod val="50000"/>
                                      </a:schemeClr>
                                    </a:solidFill>
                                    <a:latin typeface="Cambria Math" panose="02040503050406030204" pitchFamily="18" charset="0"/>
                                  </a:rPr>
                                </m:ctrlPr>
                              </m:accPr>
                              <m:e>
                                <m:r>
                                  <a:rPr lang="en-US" altLang="zh-TW" sz="2400" i="1">
                                    <a:solidFill>
                                      <a:schemeClr val="accent5">
                                        <a:lumMod val="50000"/>
                                      </a:schemeClr>
                                    </a:solidFill>
                                    <a:latin typeface="Cambria Math" panose="02040503050406030204" pitchFamily="18" charset="0"/>
                                  </a:rPr>
                                  <m:t>𝑦</m:t>
                                </m:r>
                              </m:e>
                            </m:acc>
                          </m:e>
                          <m:sub>
                            <m:r>
                              <a:rPr lang="en-US" altLang="zh-TW" sz="2400" i="1">
                                <a:solidFill>
                                  <a:schemeClr val="accent5">
                                    <a:lumMod val="50000"/>
                                  </a:schemeClr>
                                </a:solidFill>
                                <a:latin typeface="Cambria Math" panose="02040503050406030204" pitchFamily="18" charset="0"/>
                              </a:rPr>
                              <m:t>𝑖</m:t>
                            </m:r>
                          </m:sub>
                        </m:sSub>
                      </m:den>
                    </m:f>
                    <m:r>
                      <a:rPr lang="en-US" altLang="zh-TW" sz="2400" i="1" smtClean="0">
                        <a:solidFill>
                          <a:schemeClr val="accent5">
                            <a:lumMod val="50000"/>
                          </a:schemeClr>
                        </a:solidFill>
                        <a:latin typeface="Cambria Math" panose="02040503050406030204" pitchFamily="18" charset="0"/>
                        <a:ea typeface="Cambria Math" panose="02040503050406030204" pitchFamily="18" charset="0"/>
                      </a:rPr>
                      <m:t>∙</m:t>
                    </m:r>
                    <m:f>
                      <m:fPr>
                        <m:ctrlPr>
                          <a:rPr lang="en-US" altLang="zh-TW" sz="2400" i="1">
                            <a:solidFill>
                              <a:schemeClr val="accent5">
                                <a:lumMod val="50000"/>
                              </a:schemeClr>
                            </a:solidFill>
                            <a:latin typeface="Cambria Math" panose="02040503050406030204" pitchFamily="18" charset="0"/>
                          </a:rPr>
                        </m:ctrlPr>
                      </m:fPr>
                      <m:num>
                        <m:r>
                          <a:rPr lang="zh-TW" altLang="en-US" sz="2400" i="1">
                            <a:solidFill>
                              <a:schemeClr val="accent5">
                                <a:lumMod val="50000"/>
                              </a:schemeClr>
                            </a:solidFill>
                            <a:latin typeface="Cambria Math" panose="02040503050406030204" pitchFamily="18" charset="0"/>
                          </a:rPr>
                          <m:t>𝛿</m:t>
                        </m:r>
                        <m:sSub>
                          <m:sSubPr>
                            <m:ctrlPr>
                              <a:rPr lang="en-US" altLang="zh-TW" sz="2400" i="1" smtClean="0">
                                <a:solidFill>
                                  <a:schemeClr val="accent5">
                                    <a:lumMod val="50000"/>
                                  </a:schemeClr>
                                </a:solidFill>
                                <a:latin typeface="Cambria Math" panose="02040503050406030204" pitchFamily="18" charset="0"/>
                              </a:rPr>
                            </m:ctrlPr>
                          </m:sSubPr>
                          <m:e>
                            <m:acc>
                              <m:accPr>
                                <m:chr m:val="̂"/>
                                <m:ctrlPr>
                                  <a:rPr lang="en-US" altLang="zh-TW" sz="2400" b="0" i="1" smtClean="0">
                                    <a:solidFill>
                                      <a:schemeClr val="accent5">
                                        <a:lumMod val="50000"/>
                                      </a:schemeClr>
                                    </a:solidFill>
                                    <a:latin typeface="Cambria Math" panose="02040503050406030204" pitchFamily="18" charset="0"/>
                                  </a:rPr>
                                </m:ctrlPr>
                              </m:accPr>
                              <m:e>
                                <m:r>
                                  <a:rPr lang="en-US" altLang="zh-TW" sz="2400" b="0" i="1" smtClean="0">
                                    <a:solidFill>
                                      <a:schemeClr val="accent5">
                                        <a:lumMod val="50000"/>
                                      </a:schemeClr>
                                    </a:solidFill>
                                    <a:latin typeface="Cambria Math" panose="02040503050406030204" pitchFamily="18" charset="0"/>
                                  </a:rPr>
                                  <m:t>𝑦</m:t>
                                </m:r>
                              </m:e>
                            </m:acc>
                          </m:e>
                          <m:sub>
                            <m:r>
                              <a:rPr lang="en-US" altLang="zh-TW" sz="2400" b="0" i="1" smtClean="0">
                                <a:solidFill>
                                  <a:schemeClr val="accent5">
                                    <a:lumMod val="50000"/>
                                  </a:schemeClr>
                                </a:solidFill>
                                <a:latin typeface="Cambria Math" panose="02040503050406030204" pitchFamily="18" charset="0"/>
                              </a:rPr>
                              <m:t>𝑖</m:t>
                            </m:r>
                          </m:sub>
                        </m:sSub>
                      </m:num>
                      <m:den>
                        <m:r>
                          <a:rPr lang="zh-TW" altLang="en-US" sz="2400" i="1">
                            <a:solidFill>
                              <a:schemeClr val="accent5">
                                <a:lumMod val="50000"/>
                              </a:schemeClr>
                            </a:solidFill>
                            <a:latin typeface="Cambria Math" panose="02040503050406030204" pitchFamily="18" charset="0"/>
                          </a:rPr>
                          <m:t>𝛿</m:t>
                        </m:r>
                        <m:r>
                          <a:rPr lang="en-US" altLang="zh-TW" sz="2400" i="1">
                            <a:solidFill>
                              <a:schemeClr val="accent5">
                                <a:lumMod val="50000"/>
                              </a:schemeClr>
                            </a:solidFill>
                            <a:latin typeface="Cambria Math" panose="02040503050406030204" pitchFamily="18" charset="0"/>
                          </a:rPr>
                          <m:t>𝑎</m:t>
                        </m:r>
                      </m:den>
                    </m:f>
                    <m:r>
                      <a:rPr lang="en-US" altLang="zh-TW" sz="2400">
                        <a:solidFill>
                          <a:schemeClr val="accent5">
                            <a:lumMod val="50000"/>
                          </a:schemeClr>
                        </a:solidFill>
                        <a:latin typeface="Cambria Math" panose="02040503050406030204" pitchFamily="18" charset="0"/>
                      </a:rPr>
                      <m:t>=</m:t>
                    </m:r>
                  </m:oMath>
                </a14:m>
                <a:r>
                  <a:rPr lang="en-US" altLang="zh-TW" sz="2400" dirty="0">
                    <a:solidFill>
                      <a:schemeClr val="accent5">
                        <a:lumMod val="50000"/>
                      </a:schemeClr>
                    </a:solidFill>
                  </a:rPr>
                  <a:t> </a:t>
                </a:r>
                <a14:m>
                  <m:oMath xmlns:m="http://schemas.openxmlformats.org/officeDocument/2006/math">
                    <m:f>
                      <m:fPr>
                        <m:ctrlPr>
                          <a:rPr lang="en-US" altLang="zh-TW" sz="2400" i="1">
                            <a:solidFill>
                              <a:schemeClr val="accent5">
                                <a:lumMod val="50000"/>
                              </a:schemeClr>
                            </a:solidFill>
                            <a:latin typeface="Cambria Math" panose="02040503050406030204" pitchFamily="18" charset="0"/>
                          </a:rPr>
                        </m:ctrlPr>
                      </m:fPr>
                      <m:num>
                        <m:r>
                          <a:rPr lang="en-US" altLang="zh-TW" sz="2400" i="1">
                            <a:solidFill>
                              <a:schemeClr val="accent5">
                                <a:lumMod val="50000"/>
                              </a:schemeClr>
                            </a:solidFill>
                            <a:latin typeface="Cambria Math" panose="02040503050406030204" pitchFamily="18" charset="0"/>
                          </a:rPr>
                          <m:t>1</m:t>
                        </m:r>
                      </m:num>
                      <m:den>
                        <m:r>
                          <a:rPr lang="en-US" altLang="zh-TW" sz="2400" i="1">
                            <a:solidFill>
                              <a:schemeClr val="accent5">
                                <a:lumMod val="50000"/>
                              </a:schemeClr>
                            </a:solidFill>
                            <a:latin typeface="Cambria Math" panose="02040503050406030204" pitchFamily="18" charset="0"/>
                          </a:rPr>
                          <m:t>𝑁</m:t>
                        </m:r>
                      </m:den>
                    </m:f>
                    <m:nary>
                      <m:naryPr>
                        <m:chr m:val="∑"/>
                        <m:ctrlPr>
                          <a:rPr lang="en-US" altLang="zh-TW" sz="2400" i="1">
                            <a:solidFill>
                              <a:schemeClr val="accent5">
                                <a:lumMod val="50000"/>
                              </a:schemeClr>
                            </a:solidFill>
                            <a:latin typeface="Cambria Math" panose="02040503050406030204" pitchFamily="18" charset="0"/>
                          </a:rPr>
                        </m:ctrlPr>
                      </m:naryPr>
                      <m:sub>
                        <m:r>
                          <m:rPr>
                            <m:brk m:alnAt="23"/>
                          </m:rPr>
                          <a:rPr lang="en-US" altLang="zh-TW" sz="2400" i="1">
                            <a:solidFill>
                              <a:schemeClr val="accent5">
                                <a:lumMod val="50000"/>
                              </a:schemeClr>
                            </a:solidFill>
                            <a:latin typeface="Cambria Math" panose="02040503050406030204" pitchFamily="18" charset="0"/>
                          </a:rPr>
                          <m:t>𝑖</m:t>
                        </m:r>
                        <m:r>
                          <a:rPr lang="en-US" altLang="zh-TW" sz="2400" i="1">
                            <a:solidFill>
                              <a:schemeClr val="accent5">
                                <a:lumMod val="50000"/>
                              </a:schemeClr>
                            </a:solidFill>
                            <a:latin typeface="Cambria Math" panose="02040503050406030204" pitchFamily="18" charset="0"/>
                          </a:rPr>
                          <m:t>=1</m:t>
                        </m:r>
                      </m:sub>
                      <m:sup>
                        <m:r>
                          <a:rPr lang="en-US" altLang="zh-TW" sz="2400" i="1">
                            <a:solidFill>
                              <a:schemeClr val="accent5">
                                <a:lumMod val="50000"/>
                              </a:schemeClr>
                            </a:solidFill>
                            <a:latin typeface="Cambria Math" panose="02040503050406030204" pitchFamily="18" charset="0"/>
                          </a:rPr>
                          <m:t>𝑁</m:t>
                        </m:r>
                      </m:sup>
                      <m:e>
                        <m:r>
                          <a:rPr lang="en-US" altLang="zh-TW" sz="2400" b="0" i="1" smtClean="0">
                            <a:solidFill>
                              <a:schemeClr val="accent5">
                                <a:lumMod val="50000"/>
                              </a:schemeClr>
                            </a:solidFill>
                            <a:latin typeface="Cambria Math" panose="02040503050406030204" pitchFamily="18" charset="0"/>
                          </a:rPr>
                          <m:t>2</m:t>
                        </m:r>
                        <m:d>
                          <m:dPr>
                            <m:ctrlPr>
                              <a:rPr lang="en-US" altLang="zh-TW" sz="2400" i="1">
                                <a:solidFill>
                                  <a:schemeClr val="accent5">
                                    <a:lumMod val="50000"/>
                                  </a:schemeClr>
                                </a:solidFill>
                                <a:latin typeface="Cambria Math" panose="02040503050406030204" pitchFamily="18" charset="0"/>
                              </a:rPr>
                            </m:ctrlPr>
                          </m:dPr>
                          <m:e>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𝑦</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𝑎</m:t>
                            </m:r>
                            <m:r>
                              <a:rPr lang="en-US" altLang="zh-TW" sz="2400" i="1">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𝑏</m:t>
                            </m:r>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𝑥</m:t>
                                </m:r>
                              </m:e>
                              <m:sub>
                                <m:r>
                                  <a:rPr lang="en-US" altLang="zh-TW" sz="2400" i="1">
                                    <a:solidFill>
                                      <a:schemeClr val="accent5">
                                        <a:lumMod val="50000"/>
                                      </a:schemeClr>
                                    </a:solidFill>
                                    <a:latin typeface="Cambria Math" panose="02040503050406030204" pitchFamily="18" charset="0"/>
                                  </a:rPr>
                                  <m:t>𝑖</m:t>
                                </m:r>
                              </m:sub>
                            </m:sSub>
                          </m:e>
                        </m:d>
                        <m:d>
                          <m:dPr>
                            <m:ctrlPr>
                              <a:rPr lang="en-US" altLang="zh-TW" sz="2400" b="0" i="1" smtClean="0">
                                <a:solidFill>
                                  <a:schemeClr val="accent5">
                                    <a:lumMod val="50000"/>
                                  </a:schemeClr>
                                </a:solidFill>
                                <a:latin typeface="Cambria Math" panose="02040503050406030204" pitchFamily="18" charset="0"/>
                              </a:rPr>
                            </m:ctrlPr>
                          </m:dPr>
                          <m:e>
                            <m:r>
                              <a:rPr lang="en-US" altLang="zh-TW" sz="2400" b="0" i="1" smtClean="0">
                                <a:solidFill>
                                  <a:schemeClr val="accent5">
                                    <a:lumMod val="50000"/>
                                  </a:schemeClr>
                                </a:solidFill>
                                <a:latin typeface="Cambria Math" panose="02040503050406030204" pitchFamily="18" charset="0"/>
                              </a:rPr>
                              <m:t>−1</m:t>
                            </m:r>
                          </m:e>
                        </m:d>
                      </m:e>
                    </m:nary>
                    <m:r>
                      <a:rPr lang="en-US" altLang="zh-TW" sz="2400" b="0" i="1" smtClean="0">
                        <a:solidFill>
                          <a:schemeClr val="accent5">
                            <a:lumMod val="50000"/>
                          </a:schemeClr>
                        </a:solidFill>
                        <a:latin typeface="Cambria Math" panose="02040503050406030204" pitchFamily="18" charset="0"/>
                      </a:rPr>
                      <m:t>=</m:t>
                    </m:r>
                    <m:f>
                      <m:fPr>
                        <m:ctrlPr>
                          <a:rPr lang="en-US" altLang="zh-TW" sz="2400" i="1">
                            <a:solidFill>
                              <a:schemeClr val="accent5">
                                <a:lumMod val="50000"/>
                              </a:schemeClr>
                            </a:solidFill>
                            <a:latin typeface="Cambria Math" panose="02040503050406030204" pitchFamily="18" charset="0"/>
                          </a:rPr>
                        </m:ctrlPr>
                      </m:fPr>
                      <m:num>
                        <m:r>
                          <a:rPr lang="en-US" altLang="zh-TW" sz="2400" b="0" i="1" smtClean="0">
                            <a:solidFill>
                              <a:schemeClr val="accent5">
                                <a:lumMod val="50000"/>
                              </a:schemeClr>
                            </a:solidFill>
                            <a:latin typeface="Cambria Math" panose="02040503050406030204" pitchFamily="18" charset="0"/>
                          </a:rPr>
                          <m:t>−2</m:t>
                        </m:r>
                      </m:num>
                      <m:den>
                        <m:r>
                          <a:rPr lang="en-US" altLang="zh-TW" sz="2400" i="1">
                            <a:solidFill>
                              <a:schemeClr val="accent5">
                                <a:lumMod val="50000"/>
                              </a:schemeClr>
                            </a:solidFill>
                            <a:latin typeface="Cambria Math" panose="02040503050406030204" pitchFamily="18" charset="0"/>
                          </a:rPr>
                          <m:t>𝑁</m:t>
                        </m:r>
                      </m:den>
                    </m:f>
                    <m:nary>
                      <m:naryPr>
                        <m:chr m:val="∑"/>
                        <m:ctrlPr>
                          <a:rPr lang="en-US" altLang="zh-TW" sz="2400" i="1">
                            <a:solidFill>
                              <a:schemeClr val="accent5">
                                <a:lumMod val="50000"/>
                              </a:schemeClr>
                            </a:solidFill>
                            <a:latin typeface="Cambria Math" panose="02040503050406030204" pitchFamily="18" charset="0"/>
                          </a:rPr>
                        </m:ctrlPr>
                      </m:naryPr>
                      <m:sub>
                        <m:r>
                          <m:rPr>
                            <m:brk m:alnAt="23"/>
                          </m:rPr>
                          <a:rPr lang="en-US" altLang="zh-TW" sz="2400" i="1">
                            <a:solidFill>
                              <a:schemeClr val="accent5">
                                <a:lumMod val="50000"/>
                              </a:schemeClr>
                            </a:solidFill>
                            <a:latin typeface="Cambria Math" panose="02040503050406030204" pitchFamily="18" charset="0"/>
                          </a:rPr>
                          <m:t>𝑖</m:t>
                        </m:r>
                        <m:r>
                          <a:rPr lang="en-US" altLang="zh-TW" sz="2400" i="1">
                            <a:solidFill>
                              <a:schemeClr val="accent5">
                                <a:lumMod val="50000"/>
                              </a:schemeClr>
                            </a:solidFill>
                            <a:latin typeface="Cambria Math" panose="02040503050406030204" pitchFamily="18" charset="0"/>
                          </a:rPr>
                          <m:t>=1</m:t>
                        </m:r>
                      </m:sub>
                      <m:sup>
                        <m:r>
                          <a:rPr lang="en-US" altLang="zh-TW" sz="2400" i="1">
                            <a:solidFill>
                              <a:schemeClr val="accent5">
                                <a:lumMod val="50000"/>
                              </a:schemeClr>
                            </a:solidFill>
                            <a:latin typeface="Cambria Math" panose="02040503050406030204" pitchFamily="18" charset="0"/>
                          </a:rPr>
                          <m:t>𝑁</m:t>
                        </m:r>
                      </m:sup>
                      <m:e>
                        <m:r>
                          <a:rPr lang="en-US" altLang="zh-TW" sz="2400" b="0" i="1" smtClean="0">
                            <a:solidFill>
                              <a:schemeClr val="accent5">
                                <a:lumMod val="50000"/>
                              </a:schemeClr>
                            </a:solidFill>
                            <a:latin typeface="Cambria Math" panose="02040503050406030204" pitchFamily="18" charset="0"/>
                          </a:rPr>
                          <m:t>(</m:t>
                        </m:r>
                        <m:sSub>
                          <m:sSubPr>
                            <m:ctrlPr>
                              <a:rPr lang="en-US" altLang="zh-TW" sz="2400" i="1">
                                <a:solidFill>
                                  <a:schemeClr val="accent5">
                                    <a:lumMod val="50000"/>
                                  </a:schemeClr>
                                </a:solidFill>
                                <a:latin typeface="Cambria Math" panose="02040503050406030204" pitchFamily="18" charset="0"/>
                              </a:rPr>
                            </m:ctrlPr>
                          </m:sSubPr>
                          <m:e>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𝑦</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acc>
                              <m:accPr>
                                <m:chr m:val="̂"/>
                                <m:ctrlPr>
                                  <a:rPr lang="en-US" altLang="zh-TW" sz="2400" i="1">
                                    <a:solidFill>
                                      <a:schemeClr val="accent5">
                                        <a:lumMod val="50000"/>
                                      </a:schemeClr>
                                    </a:solidFill>
                                    <a:latin typeface="Cambria Math" panose="02040503050406030204" pitchFamily="18" charset="0"/>
                                  </a:rPr>
                                </m:ctrlPr>
                              </m:accPr>
                              <m:e>
                                <m:r>
                                  <a:rPr lang="en-US" altLang="zh-TW" sz="2400" i="1">
                                    <a:solidFill>
                                      <a:schemeClr val="accent5">
                                        <a:lumMod val="50000"/>
                                      </a:schemeClr>
                                    </a:solidFill>
                                    <a:latin typeface="Cambria Math" panose="02040503050406030204" pitchFamily="18" charset="0"/>
                                  </a:rPr>
                                  <m:t>𝑦</m:t>
                                </m:r>
                              </m:e>
                            </m:acc>
                          </m:e>
                          <m:sub>
                            <m:r>
                              <a:rPr lang="en-US" altLang="zh-TW" sz="2400" i="1">
                                <a:solidFill>
                                  <a:schemeClr val="accent5">
                                    <a:lumMod val="50000"/>
                                  </a:schemeClr>
                                </a:solidFill>
                                <a:latin typeface="Cambria Math" panose="02040503050406030204" pitchFamily="18" charset="0"/>
                              </a:rPr>
                              <m:t>𝑖</m:t>
                            </m:r>
                          </m:sub>
                        </m:sSub>
                        <m:r>
                          <a:rPr lang="en-US" altLang="zh-TW" sz="2400" b="0" i="1" smtClean="0">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 </m:t>
                        </m:r>
                      </m:e>
                    </m:nary>
                  </m:oMath>
                </a14:m>
                <a:endParaRPr lang="zh-TW" altLang="en-US" sz="2400" dirty="0">
                  <a:solidFill>
                    <a:schemeClr val="accent5">
                      <a:lumMod val="50000"/>
                    </a:schemeClr>
                  </a:solidFill>
                </a:endParaRPr>
              </a:p>
            </p:txBody>
          </p:sp>
        </mc:Choice>
        <mc:Fallback xmlns="">
          <p:sp>
            <p:nvSpPr>
              <p:cNvPr id="55" name="文字方塊 54">
                <a:extLst>
                  <a:ext uri="{FF2B5EF4-FFF2-40B4-BE49-F238E27FC236}">
                    <a16:creationId xmlns:a16="http://schemas.microsoft.com/office/drawing/2014/main" id="{738CF87C-A7B5-5427-99EA-5C363EF0A139}"/>
                  </a:ext>
                </a:extLst>
              </p:cNvPr>
              <p:cNvSpPr txBox="1">
                <a:spLocks noRot="1" noChangeAspect="1" noMove="1" noResize="1" noEditPoints="1" noAdjustHandles="1" noChangeArrowheads="1" noChangeShapeType="1" noTextEdit="1"/>
              </p:cNvSpPr>
              <p:nvPr/>
            </p:nvSpPr>
            <p:spPr>
              <a:xfrm>
                <a:off x="3094912" y="3326735"/>
                <a:ext cx="8922327" cy="593560"/>
              </a:xfrm>
              <a:prstGeom prst="rect">
                <a:avLst/>
              </a:prstGeom>
              <a:blipFill>
                <a:blip r:embed="rId11"/>
                <a:stretch>
                  <a:fillRect l="-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E61B3E48-4317-2563-BF02-CB1F1BE0AA67}"/>
                  </a:ext>
                </a:extLst>
              </p:cNvPr>
              <p:cNvSpPr txBox="1"/>
              <p:nvPr/>
            </p:nvSpPr>
            <p:spPr>
              <a:xfrm>
                <a:off x="3094912" y="4279499"/>
                <a:ext cx="9088298" cy="593560"/>
              </a:xfrm>
              <a:prstGeom prst="rect">
                <a:avLst/>
              </a:prstGeom>
              <a:noFill/>
            </p:spPr>
            <p:txBody>
              <a:bodyPr wrap="square" lIns="0" tIns="0" rIns="0" bIns="0" rtlCol="0">
                <a:spAutoFit/>
              </a:bodyPr>
              <a:lstStyle/>
              <a:p>
                <a14:m>
                  <m:oMath xmlns:m="http://schemas.openxmlformats.org/officeDocument/2006/math">
                    <m:f>
                      <m:fPr>
                        <m:ctrlPr>
                          <a:rPr lang="en-US" altLang="zh-TW" sz="2400" b="0" i="1" smtClean="0">
                            <a:solidFill>
                              <a:schemeClr val="accent5">
                                <a:lumMod val="50000"/>
                              </a:schemeClr>
                            </a:solidFill>
                            <a:latin typeface="Cambria Math" panose="02040503050406030204" pitchFamily="18" charset="0"/>
                          </a:rPr>
                        </m:ctrlPr>
                      </m:fPr>
                      <m:num>
                        <m:r>
                          <a:rPr lang="zh-TW" altLang="en-US" sz="2400" b="0" i="1" smtClean="0">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𝑀𝑆𝐸</m:t>
                        </m:r>
                      </m:num>
                      <m:den>
                        <m:r>
                          <a:rPr lang="zh-TW" altLang="en-US" sz="2400" b="0" i="1" smtClean="0">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𝑏</m:t>
                        </m:r>
                      </m:den>
                    </m:f>
                    <m:r>
                      <a:rPr lang="en-US" altLang="zh-TW" sz="2400" b="0" i="0" smtClean="0">
                        <a:solidFill>
                          <a:schemeClr val="accent5">
                            <a:lumMod val="50000"/>
                          </a:schemeClr>
                        </a:solidFill>
                        <a:latin typeface="Cambria Math" panose="02040503050406030204" pitchFamily="18" charset="0"/>
                      </a:rPr>
                      <m:t>=</m:t>
                    </m:r>
                    <m:f>
                      <m:fPr>
                        <m:ctrlPr>
                          <a:rPr lang="en-US" altLang="zh-TW" sz="2400" i="1">
                            <a:solidFill>
                              <a:schemeClr val="accent5">
                                <a:lumMod val="50000"/>
                              </a:schemeClr>
                            </a:solidFill>
                            <a:latin typeface="Cambria Math" panose="02040503050406030204" pitchFamily="18" charset="0"/>
                          </a:rPr>
                        </m:ctrlPr>
                      </m:fPr>
                      <m:num>
                        <m:r>
                          <a:rPr lang="zh-TW" altLang="en-US" sz="2400" i="1">
                            <a:solidFill>
                              <a:schemeClr val="accent5">
                                <a:lumMod val="50000"/>
                              </a:schemeClr>
                            </a:solidFill>
                            <a:latin typeface="Cambria Math" panose="02040503050406030204" pitchFamily="18" charset="0"/>
                          </a:rPr>
                          <m:t>𝛿</m:t>
                        </m:r>
                        <m:r>
                          <a:rPr lang="en-US" altLang="zh-TW" sz="2400" i="1">
                            <a:solidFill>
                              <a:schemeClr val="accent5">
                                <a:lumMod val="50000"/>
                              </a:schemeClr>
                            </a:solidFill>
                            <a:latin typeface="Cambria Math" panose="02040503050406030204" pitchFamily="18" charset="0"/>
                          </a:rPr>
                          <m:t>𝑀𝑆𝐸</m:t>
                        </m:r>
                      </m:num>
                      <m:den>
                        <m:r>
                          <a:rPr lang="zh-TW" altLang="en-US" sz="2400" i="1">
                            <a:solidFill>
                              <a:schemeClr val="accent5">
                                <a:lumMod val="50000"/>
                              </a:schemeClr>
                            </a:solidFill>
                            <a:latin typeface="Cambria Math" panose="02040503050406030204" pitchFamily="18" charset="0"/>
                          </a:rPr>
                          <m:t>𝛿</m:t>
                        </m:r>
                        <m:sSub>
                          <m:sSubPr>
                            <m:ctrlPr>
                              <a:rPr lang="en-US" altLang="zh-TW" sz="2400" i="1">
                                <a:solidFill>
                                  <a:schemeClr val="accent5">
                                    <a:lumMod val="50000"/>
                                  </a:schemeClr>
                                </a:solidFill>
                                <a:latin typeface="Cambria Math" panose="02040503050406030204" pitchFamily="18" charset="0"/>
                              </a:rPr>
                            </m:ctrlPr>
                          </m:sSubPr>
                          <m:e>
                            <m:acc>
                              <m:accPr>
                                <m:chr m:val="̂"/>
                                <m:ctrlPr>
                                  <a:rPr lang="en-US" altLang="zh-TW" sz="2400" i="1">
                                    <a:solidFill>
                                      <a:schemeClr val="accent5">
                                        <a:lumMod val="50000"/>
                                      </a:schemeClr>
                                    </a:solidFill>
                                    <a:latin typeface="Cambria Math" panose="02040503050406030204" pitchFamily="18" charset="0"/>
                                  </a:rPr>
                                </m:ctrlPr>
                              </m:accPr>
                              <m:e>
                                <m:r>
                                  <a:rPr lang="en-US" altLang="zh-TW" sz="2400" i="1">
                                    <a:solidFill>
                                      <a:schemeClr val="accent5">
                                        <a:lumMod val="50000"/>
                                      </a:schemeClr>
                                    </a:solidFill>
                                    <a:latin typeface="Cambria Math" panose="02040503050406030204" pitchFamily="18" charset="0"/>
                                  </a:rPr>
                                  <m:t>𝑦</m:t>
                                </m:r>
                              </m:e>
                            </m:acc>
                          </m:e>
                          <m:sub>
                            <m:r>
                              <a:rPr lang="en-US" altLang="zh-TW" sz="2400" i="1">
                                <a:solidFill>
                                  <a:schemeClr val="accent5">
                                    <a:lumMod val="50000"/>
                                  </a:schemeClr>
                                </a:solidFill>
                                <a:latin typeface="Cambria Math" panose="02040503050406030204" pitchFamily="18" charset="0"/>
                              </a:rPr>
                              <m:t>𝑖</m:t>
                            </m:r>
                          </m:sub>
                        </m:sSub>
                      </m:den>
                    </m:f>
                    <m:r>
                      <a:rPr lang="en-US" altLang="zh-TW" sz="2400" i="1" smtClean="0">
                        <a:solidFill>
                          <a:schemeClr val="accent5">
                            <a:lumMod val="50000"/>
                          </a:schemeClr>
                        </a:solidFill>
                        <a:latin typeface="Cambria Math" panose="02040503050406030204" pitchFamily="18" charset="0"/>
                        <a:ea typeface="Cambria Math" panose="02040503050406030204" pitchFamily="18" charset="0"/>
                      </a:rPr>
                      <m:t>∙</m:t>
                    </m:r>
                    <m:f>
                      <m:fPr>
                        <m:ctrlPr>
                          <a:rPr lang="en-US" altLang="zh-TW" sz="2400" i="1">
                            <a:solidFill>
                              <a:schemeClr val="accent5">
                                <a:lumMod val="50000"/>
                              </a:schemeClr>
                            </a:solidFill>
                            <a:latin typeface="Cambria Math" panose="02040503050406030204" pitchFamily="18" charset="0"/>
                          </a:rPr>
                        </m:ctrlPr>
                      </m:fPr>
                      <m:num>
                        <m:r>
                          <a:rPr lang="zh-TW" altLang="en-US" sz="2400" i="1">
                            <a:solidFill>
                              <a:schemeClr val="accent5">
                                <a:lumMod val="50000"/>
                              </a:schemeClr>
                            </a:solidFill>
                            <a:latin typeface="Cambria Math" panose="02040503050406030204" pitchFamily="18" charset="0"/>
                          </a:rPr>
                          <m:t>𝛿</m:t>
                        </m:r>
                        <m:sSub>
                          <m:sSubPr>
                            <m:ctrlPr>
                              <a:rPr lang="en-US" altLang="zh-TW" sz="2400" i="1" smtClean="0">
                                <a:solidFill>
                                  <a:schemeClr val="accent5">
                                    <a:lumMod val="50000"/>
                                  </a:schemeClr>
                                </a:solidFill>
                                <a:latin typeface="Cambria Math" panose="02040503050406030204" pitchFamily="18" charset="0"/>
                              </a:rPr>
                            </m:ctrlPr>
                          </m:sSubPr>
                          <m:e>
                            <m:acc>
                              <m:accPr>
                                <m:chr m:val="̂"/>
                                <m:ctrlPr>
                                  <a:rPr lang="en-US" altLang="zh-TW" sz="2400" b="0" i="1" smtClean="0">
                                    <a:solidFill>
                                      <a:schemeClr val="accent5">
                                        <a:lumMod val="50000"/>
                                      </a:schemeClr>
                                    </a:solidFill>
                                    <a:latin typeface="Cambria Math" panose="02040503050406030204" pitchFamily="18" charset="0"/>
                                  </a:rPr>
                                </m:ctrlPr>
                              </m:accPr>
                              <m:e>
                                <m:r>
                                  <a:rPr lang="en-US" altLang="zh-TW" sz="2400" b="0" i="1" smtClean="0">
                                    <a:solidFill>
                                      <a:schemeClr val="accent5">
                                        <a:lumMod val="50000"/>
                                      </a:schemeClr>
                                    </a:solidFill>
                                    <a:latin typeface="Cambria Math" panose="02040503050406030204" pitchFamily="18" charset="0"/>
                                  </a:rPr>
                                  <m:t>𝑦</m:t>
                                </m:r>
                              </m:e>
                            </m:acc>
                          </m:e>
                          <m:sub>
                            <m:r>
                              <a:rPr lang="en-US" altLang="zh-TW" sz="2400" b="0" i="1" smtClean="0">
                                <a:solidFill>
                                  <a:schemeClr val="accent5">
                                    <a:lumMod val="50000"/>
                                  </a:schemeClr>
                                </a:solidFill>
                                <a:latin typeface="Cambria Math" panose="02040503050406030204" pitchFamily="18" charset="0"/>
                              </a:rPr>
                              <m:t>𝑖</m:t>
                            </m:r>
                          </m:sub>
                        </m:sSub>
                      </m:num>
                      <m:den>
                        <m:r>
                          <a:rPr lang="zh-TW" altLang="en-US" sz="2400" i="1">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𝑏</m:t>
                        </m:r>
                      </m:den>
                    </m:f>
                    <m:r>
                      <a:rPr lang="en-US" altLang="zh-TW" sz="2400">
                        <a:solidFill>
                          <a:schemeClr val="accent5">
                            <a:lumMod val="50000"/>
                          </a:schemeClr>
                        </a:solidFill>
                        <a:latin typeface="Cambria Math" panose="02040503050406030204" pitchFamily="18" charset="0"/>
                      </a:rPr>
                      <m:t>=</m:t>
                    </m:r>
                  </m:oMath>
                </a14:m>
                <a:r>
                  <a:rPr lang="en-US" altLang="zh-TW" sz="2400" dirty="0">
                    <a:solidFill>
                      <a:schemeClr val="accent5">
                        <a:lumMod val="50000"/>
                      </a:schemeClr>
                    </a:solidFill>
                  </a:rPr>
                  <a:t> </a:t>
                </a:r>
                <a14:m>
                  <m:oMath xmlns:m="http://schemas.openxmlformats.org/officeDocument/2006/math">
                    <m:f>
                      <m:fPr>
                        <m:ctrlPr>
                          <a:rPr lang="en-US" altLang="zh-TW" sz="2400" i="1">
                            <a:solidFill>
                              <a:schemeClr val="accent5">
                                <a:lumMod val="50000"/>
                              </a:schemeClr>
                            </a:solidFill>
                            <a:latin typeface="Cambria Math" panose="02040503050406030204" pitchFamily="18" charset="0"/>
                          </a:rPr>
                        </m:ctrlPr>
                      </m:fPr>
                      <m:num>
                        <m:r>
                          <a:rPr lang="en-US" altLang="zh-TW" sz="2400" i="1">
                            <a:solidFill>
                              <a:schemeClr val="accent5">
                                <a:lumMod val="50000"/>
                              </a:schemeClr>
                            </a:solidFill>
                            <a:latin typeface="Cambria Math" panose="02040503050406030204" pitchFamily="18" charset="0"/>
                          </a:rPr>
                          <m:t>1</m:t>
                        </m:r>
                      </m:num>
                      <m:den>
                        <m:r>
                          <a:rPr lang="en-US" altLang="zh-TW" sz="2400" i="1">
                            <a:solidFill>
                              <a:schemeClr val="accent5">
                                <a:lumMod val="50000"/>
                              </a:schemeClr>
                            </a:solidFill>
                            <a:latin typeface="Cambria Math" panose="02040503050406030204" pitchFamily="18" charset="0"/>
                          </a:rPr>
                          <m:t>𝑁</m:t>
                        </m:r>
                      </m:den>
                    </m:f>
                    <m:nary>
                      <m:naryPr>
                        <m:chr m:val="∑"/>
                        <m:ctrlPr>
                          <a:rPr lang="en-US" altLang="zh-TW" sz="2400" i="1">
                            <a:solidFill>
                              <a:schemeClr val="accent5">
                                <a:lumMod val="50000"/>
                              </a:schemeClr>
                            </a:solidFill>
                            <a:latin typeface="Cambria Math" panose="02040503050406030204" pitchFamily="18" charset="0"/>
                          </a:rPr>
                        </m:ctrlPr>
                      </m:naryPr>
                      <m:sub>
                        <m:r>
                          <m:rPr>
                            <m:brk m:alnAt="23"/>
                          </m:rPr>
                          <a:rPr lang="en-US" altLang="zh-TW" sz="2400" i="1">
                            <a:solidFill>
                              <a:schemeClr val="accent5">
                                <a:lumMod val="50000"/>
                              </a:schemeClr>
                            </a:solidFill>
                            <a:latin typeface="Cambria Math" panose="02040503050406030204" pitchFamily="18" charset="0"/>
                          </a:rPr>
                          <m:t>𝑖</m:t>
                        </m:r>
                        <m:r>
                          <a:rPr lang="en-US" altLang="zh-TW" sz="2400" i="1">
                            <a:solidFill>
                              <a:schemeClr val="accent5">
                                <a:lumMod val="50000"/>
                              </a:schemeClr>
                            </a:solidFill>
                            <a:latin typeface="Cambria Math" panose="02040503050406030204" pitchFamily="18" charset="0"/>
                          </a:rPr>
                          <m:t>=1</m:t>
                        </m:r>
                      </m:sub>
                      <m:sup>
                        <m:r>
                          <a:rPr lang="en-US" altLang="zh-TW" sz="2400" i="1">
                            <a:solidFill>
                              <a:schemeClr val="accent5">
                                <a:lumMod val="50000"/>
                              </a:schemeClr>
                            </a:solidFill>
                            <a:latin typeface="Cambria Math" panose="02040503050406030204" pitchFamily="18" charset="0"/>
                          </a:rPr>
                          <m:t>𝑁</m:t>
                        </m:r>
                      </m:sup>
                      <m:e>
                        <m:r>
                          <a:rPr lang="en-US" altLang="zh-TW" sz="2400" b="0" i="1" smtClean="0">
                            <a:solidFill>
                              <a:schemeClr val="accent5">
                                <a:lumMod val="50000"/>
                              </a:schemeClr>
                            </a:solidFill>
                            <a:latin typeface="Cambria Math" panose="02040503050406030204" pitchFamily="18" charset="0"/>
                          </a:rPr>
                          <m:t>2</m:t>
                        </m:r>
                        <m:d>
                          <m:dPr>
                            <m:ctrlPr>
                              <a:rPr lang="en-US" altLang="zh-TW" sz="2400" i="1">
                                <a:solidFill>
                                  <a:schemeClr val="accent5">
                                    <a:lumMod val="50000"/>
                                  </a:schemeClr>
                                </a:solidFill>
                                <a:latin typeface="Cambria Math" panose="02040503050406030204" pitchFamily="18" charset="0"/>
                              </a:rPr>
                            </m:ctrlPr>
                          </m:dPr>
                          <m:e>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𝑦</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r>
                              <a:rPr lang="en-US" altLang="zh-TW" sz="2400" i="1">
                                <a:solidFill>
                                  <a:schemeClr val="accent5">
                                    <a:lumMod val="50000"/>
                                  </a:schemeClr>
                                </a:solidFill>
                                <a:latin typeface="Cambria Math" panose="02040503050406030204" pitchFamily="18" charset="0"/>
                              </a:rPr>
                              <m:t>𝑎</m:t>
                            </m:r>
                            <m:r>
                              <a:rPr lang="en-US" altLang="zh-TW" sz="2400" i="1">
                                <a:solidFill>
                                  <a:schemeClr val="accent5">
                                    <a:lumMod val="50000"/>
                                  </a:schemeClr>
                                </a:solidFill>
                                <a:latin typeface="Cambria Math" panose="02040503050406030204" pitchFamily="18" charset="0"/>
                              </a:rPr>
                              <m:t>−</m:t>
                            </m:r>
                            <m:r>
                              <a:rPr lang="en-US" altLang="zh-TW" sz="2400" i="1">
                                <a:solidFill>
                                  <a:schemeClr val="accent5">
                                    <a:lumMod val="50000"/>
                                  </a:schemeClr>
                                </a:solidFill>
                                <a:latin typeface="Cambria Math" panose="02040503050406030204" pitchFamily="18" charset="0"/>
                              </a:rPr>
                              <m:t>𝑏</m:t>
                            </m:r>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𝑥</m:t>
                                </m:r>
                              </m:e>
                              <m:sub>
                                <m:r>
                                  <a:rPr lang="en-US" altLang="zh-TW" sz="2400" i="1">
                                    <a:solidFill>
                                      <a:schemeClr val="accent5">
                                        <a:lumMod val="50000"/>
                                      </a:schemeClr>
                                    </a:solidFill>
                                    <a:latin typeface="Cambria Math" panose="02040503050406030204" pitchFamily="18" charset="0"/>
                                  </a:rPr>
                                  <m:t>𝑖</m:t>
                                </m:r>
                              </m:sub>
                            </m:sSub>
                          </m:e>
                        </m:d>
                        <m:d>
                          <m:dPr>
                            <m:ctrlPr>
                              <a:rPr lang="en-US" altLang="zh-TW" sz="2400" b="0" i="1" smtClean="0">
                                <a:solidFill>
                                  <a:schemeClr val="accent5">
                                    <a:lumMod val="50000"/>
                                  </a:schemeClr>
                                </a:solidFill>
                                <a:latin typeface="Cambria Math" panose="02040503050406030204" pitchFamily="18" charset="0"/>
                              </a:rPr>
                            </m:ctrlPr>
                          </m:dPr>
                          <m:e>
                            <m:r>
                              <a:rPr lang="en-US" altLang="zh-TW" sz="2400" b="0" i="1" smtClean="0">
                                <a:solidFill>
                                  <a:schemeClr val="accent5">
                                    <a:lumMod val="50000"/>
                                  </a:schemeClr>
                                </a:solidFill>
                                <a:latin typeface="Cambria Math" panose="02040503050406030204" pitchFamily="18" charset="0"/>
                              </a:rPr>
                              <m:t>−</m:t>
                            </m:r>
                            <m:sSub>
                              <m:sSubPr>
                                <m:ctrlPr>
                                  <a:rPr lang="en-US" altLang="zh-TW" sz="2400" b="0" i="1" smtClean="0">
                                    <a:solidFill>
                                      <a:schemeClr val="accent5">
                                        <a:lumMod val="50000"/>
                                      </a:schemeClr>
                                    </a:solidFill>
                                    <a:latin typeface="Cambria Math" panose="02040503050406030204" pitchFamily="18" charset="0"/>
                                  </a:rPr>
                                </m:ctrlPr>
                              </m:sSubPr>
                              <m:e>
                                <m:r>
                                  <a:rPr lang="en-US" altLang="zh-TW" sz="2400" b="0" i="1" smtClean="0">
                                    <a:solidFill>
                                      <a:schemeClr val="accent5">
                                        <a:lumMod val="50000"/>
                                      </a:schemeClr>
                                    </a:solidFill>
                                    <a:latin typeface="Cambria Math" panose="02040503050406030204" pitchFamily="18" charset="0"/>
                                  </a:rPr>
                                  <m:t>𝑥</m:t>
                                </m:r>
                              </m:e>
                              <m:sub>
                                <m:r>
                                  <a:rPr lang="en-US" altLang="zh-TW" sz="2400" b="0" i="1" smtClean="0">
                                    <a:solidFill>
                                      <a:schemeClr val="accent5">
                                        <a:lumMod val="50000"/>
                                      </a:schemeClr>
                                    </a:solidFill>
                                    <a:latin typeface="Cambria Math" panose="02040503050406030204" pitchFamily="18" charset="0"/>
                                  </a:rPr>
                                  <m:t>𝑖</m:t>
                                </m:r>
                              </m:sub>
                            </m:sSub>
                          </m:e>
                        </m:d>
                      </m:e>
                    </m:nary>
                    <m:r>
                      <a:rPr lang="en-US" altLang="zh-TW" sz="2400" b="0" i="1" smtClean="0">
                        <a:solidFill>
                          <a:schemeClr val="accent5">
                            <a:lumMod val="50000"/>
                          </a:schemeClr>
                        </a:solidFill>
                        <a:latin typeface="Cambria Math" panose="02040503050406030204" pitchFamily="18" charset="0"/>
                      </a:rPr>
                      <m:t>=</m:t>
                    </m:r>
                    <m:f>
                      <m:fPr>
                        <m:ctrlPr>
                          <a:rPr lang="en-US" altLang="zh-TW" sz="2400" i="1">
                            <a:solidFill>
                              <a:schemeClr val="accent5">
                                <a:lumMod val="50000"/>
                              </a:schemeClr>
                            </a:solidFill>
                            <a:latin typeface="Cambria Math" panose="02040503050406030204" pitchFamily="18" charset="0"/>
                          </a:rPr>
                        </m:ctrlPr>
                      </m:fPr>
                      <m:num>
                        <m:r>
                          <a:rPr lang="en-US" altLang="zh-TW" sz="2400" b="0" i="1" smtClean="0">
                            <a:solidFill>
                              <a:schemeClr val="accent5">
                                <a:lumMod val="50000"/>
                              </a:schemeClr>
                            </a:solidFill>
                            <a:latin typeface="Cambria Math" panose="02040503050406030204" pitchFamily="18" charset="0"/>
                          </a:rPr>
                          <m:t>−2</m:t>
                        </m:r>
                      </m:num>
                      <m:den>
                        <m:r>
                          <a:rPr lang="en-US" altLang="zh-TW" sz="2400" i="1">
                            <a:solidFill>
                              <a:schemeClr val="accent5">
                                <a:lumMod val="50000"/>
                              </a:schemeClr>
                            </a:solidFill>
                            <a:latin typeface="Cambria Math" panose="02040503050406030204" pitchFamily="18" charset="0"/>
                          </a:rPr>
                          <m:t>𝑁</m:t>
                        </m:r>
                      </m:den>
                    </m:f>
                    <m:nary>
                      <m:naryPr>
                        <m:chr m:val="∑"/>
                        <m:ctrlPr>
                          <a:rPr lang="en-US" altLang="zh-TW" sz="2400" i="1">
                            <a:solidFill>
                              <a:schemeClr val="accent5">
                                <a:lumMod val="50000"/>
                              </a:schemeClr>
                            </a:solidFill>
                            <a:latin typeface="Cambria Math" panose="02040503050406030204" pitchFamily="18" charset="0"/>
                          </a:rPr>
                        </m:ctrlPr>
                      </m:naryPr>
                      <m:sub>
                        <m:r>
                          <m:rPr>
                            <m:brk m:alnAt="23"/>
                          </m:rPr>
                          <a:rPr lang="en-US" altLang="zh-TW" sz="2400" i="1">
                            <a:solidFill>
                              <a:schemeClr val="accent5">
                                <a:lumMod val="50000"/>
                              </a:schemeClr>
                            </a:solidFill>
                            <a:latin typeface="Cambria Math" panose="02040503050406030204" pitchFamily="18" charset="0"/>
                          </a:rPr>
                          <m:t>𝑖</m:t>
                        </m:r>
                        <m:r>
                          <a:rPr lang="en-US" altLang="zh-TW" sz="2400" i="1">
                            <a:solidFill>
                              <a:schemeClr val="accent5">
                                <a:lumMod val="50000"/>
                              </a:schemeClr>
                            </a:solidFill>
                            <a:latin typeface="Cambria Math" panose="02040503050406030204" pitchFamily="18" charset="0"/>
                          </a:rPr>
                          <m:t>=1</m:t>
                        </m:r>
                      </m:sub>
                      <m:sup>
                        <m:r>
                          <a:rPr lang="en-US" altLang="zh-TW" sz="2400" i="1">
                            <a:solidFill>
                              <a:schemeClr val="accent5">
                                <a:lumMod val="50000"/>
                              </a:schemeClr>
                            </a:solidFill>
                            <a:latin typeface="Cambria Math" panose="02040503050406030204" pitchFamily="18" charset="0"/>
                          </a:rPr>
                          <m:t>𝑁</m:t>
                        </m:r>
                      </m:sup>
                      <m:e>
                        <m:sSub>
                          <m:sSubPr>
                            <m:ctrlPr>
                              <a:rPr lang="en-US" altLang="zh-TW" sz="2400" i="1" smtClean="0">
                                <a:solidFill>
                                  <a:schemeClr val="accent5">
                                    <a:lumMod val="50000"/>
                                  </a:schemeClr>
                                </a:solidFill>
                                <a:latin typeface="Cambria Math" panose="02040503050406030204" pitchFamily="18" charset="0"/>
                              </a:rPr>
                            </m:ctrlPr>
                          </m:sSubPr>
                          <m:e>
                            <m:r>
                              <a:rPr lang="en-US" altLang="zh-TW" sz="2400" b="0" i="1" smtClean="0">
                                <a:solidFill>
                                  <a:schemeClr val="accent5">
                                    <a:lumMod val="50000"/>
                                  </a:schemeClr>
                                </a:solidFill>
                                <a:latin typeface="Cambria Math" panose="02040503050406030204" pitchFamily="18" charset="0"/>
                              </a:rPr>
                              <m:t>𝑥</m:t>
                            </m:r>
                          </m:e>
                          <m:sub>
                            <m:r>
                              <a:rPr lang="en-US" altLang="zh-TW" sz="2400" b="0" i="1" smtClean="0">
                                <a:solidFill>
                                  <a:schemeClr val="accent5">
                                    <a:lumMod val="50000"/>
                                  </a:schemeClr>
                                </a:solidFill>
                                <a:latin typeface="Cambria Math" panose="02040503050406030204" pitchFamily="18" charset="0"/>
                              </a:rPr>
                              <m:t>𝑖</m:t>
                            </m:r>
                          </m:sub>
                        </m:sSub>
                        <m:r>
                          <a:rPr lang="en-US" altLang="zh-TW" sz="2400" b="0" i="1" smtClean="0">
                            <a:solidFill>
                              <a:schemeClr val="accent5">
                                <a:lumMod val="50000"/>
                              </a:schemeClr>
                            </a:solidFill>
                            <a:latin typeface="Cambria Math" panose="02040503050406030204" pitchFamily="18" charset="0"/>
                          </a:rPr>
                          <m:t>(</m:t>
                        </m:r>
                        <m:sSub>
                          <m:sSubPr>
                            <m:ctrlPr>
                              <a:rPr lang="en-US" altLang="zh-TW" sz="2400" i="1">
                                <a:solidFill>
                                  <a:schemeClr val="accent5">
                                    <a:lumMod val="50000"/>
                                  </a:schemeClr>
                                </a:solidFill>
                                <a:latin typeface="Cambria Math" panose="02040503050406030204" pitchFamily="18" charset="0"/>
                              </a:rPr>
                            </m:ctrlPr>
                          </m:sSubPr>
                          <m:e>
                            <m:sSub>
                              <m:sSubPr>
                                <m:ctrlPr>
                                  <a:rPr lang="en-US" altLang="zh-TW" sz="2400" i="1">
                                    <a:solidFill>
                                      <a:schemeClr val="accent5">
                                        <a:lumMod val="50000"/>
                                      </a:schemeClr>
                                    </a:solidFill>
                                    <a:latin typeface="Cambria Math" panose="02040503050406030204" pitchFamily="18" charset="0"/>
                                  </a:rPr>
                                </m:ctrlPr>
                              </m:sSubPr>
                              <m:e>
                                <m:r>
                                  <a:rPr lang="en-US" altLang="zh-TW" sz="2400" i="1">
                                    <a:solidFill>
                                      <a:schemeClr val="accent5">
                                        <a:lumMod val="50000"/>
                                      </a:schemeClr>
                                    </a:solidFill>
                                    <a:latin typeface="Cambria Math" panose="02040503050406030204" pitchFamily="18" charset="0"/>
                                  </a:rPr>
                                  <m:t>𝑦</m:t>
                                </m:r>
                              </m:e>
                              <m:sub>
                                <m:r>
                                  <a:rPr lang="en-US" altLang="zh-TW" sz="2400" i="1">
                                    <a:solidFill>
                                      <a:schemeClr val="accent5">
                                        <a:lumMod val="50000"/>
                                      </a:schemeClr>
                                    </a:solidFill>
                                    <a:latin typeface="Cambria Math" panose="02040503050406030204" pitchFamily="18" charset="0"/>
                                  </a:rPr>
                                  <m:t>𝑖</m:t>
                                </m:r>
                              </m:sub>
                            </m:sSub>
                            <m:r>
                              <a:rPr lang="en-US" altLang="zh-TW" sz="2400" i="1">
                                <a:solidFill>
                                  <a:schemeClr val="accent5">
                                    <a:lumMod val="50000"/>
                                  </a:schemeClr>
                                </a:solidFill>
                                <a:latin typeface="Cambria Math" panose="02040503050406030204" pitchFamily="18" charset="0"/>
                              </a:rPr>
                              <m:t>−</m:t>
                            </m:r>
                            <m:acc>
                              <m:accPr>
                                <m:chr m:val="̂"/>
                                <m:ctrlPr>
                                  <a:rPr lang="en-US" altLang="zh-TW" sz="2400" i="1">
                                    <a:solidFill>
                                      <a:schemeClr val="accent5">
                                        <a:lumMod val="50000"/>
                                      </a:schemeClr>
                                    </a:solidFill>
                                    <a:latin typeface="Cambria Math" panose="02040503050406030204" pitchFamily="18" charset="0"/>
                                  </a:rPr>
                                </m:ctrlPr>
                              </m:accPr>
                              <m:e>
                                <m:r>
                                  <a:rPr lang="en-US" altLang="zh-TW" sz="2400" i="1">
                                    <a:solidFill>
                                      <a:schemeClr val="accent5">
                                        <a:lumMod val="50000"/>
                                      </a:schemeClr>
                                    </a:solidFill>
                                    <a:latin typeface="Cambria Math" panose="02040503050406030204" pitchFamily="18" charset="0"/>
                                  </a:rPr>
                                  <m:t>𝑦</m:t>
                                </m:r>
                              </m:e>
                            </m:acc>
                          </m:e>
                          <m:sub>
                            <m:r>
                              <a:rPr lang="en-US" altLang="zh-TW" sz="2400" i="1">
                                <a:solidFill>
                                  <a:schemeClr val="accent5">
                                    <a:lumMod val="50000"/>
                                  </a:schemeClr>
                                </a:solidFill>
                                <a:latin typeface="Cambria Math" panose="02040503050406030204" pitchFamily="18" charset="0"/>
                              </a:rPr>
                              <m:t>𝑖</m:t>
                            </m:r>
                          </m:sub>
                        </m:sSub>
                        <m:r>
                          <a:rPr lang="en-US" altLang="zh-TW" sz="2400" b="0" i="1" smtClean="0">
                            <a:solidFill>
                              <a:schemeClr val="accent5">
                                <a:lumMod val="50000"/>
                              </a:schemeClr>
                            </a:solidFill>
                            <a:latin typeface="Cambria Math" panose="02040503050406030204" pitchFamily="18" charset="0"/>
                          </a:rPr>
                          <m:t>)</m:t>
                        </m:r>
                        <m:r>
                          <a:rPr lang="en-US" altLang="zh-TW" sz="2400" i="1" smtClean="0">
                            <a:solidFill>
                              <a:schemeClr val="accent5">
                                <a:lumMod val="50000"/>
                              </a:schemeClr>
                            </a:solidFill>
                            <a:latin typeface="Cambria Math" panose="02040503050406030204" pitchFamily="18" charset="0"/>
                          </a:rPr>
                          <m:t> </m:t>
                        </m:r>
                      </m:e>
                    </m:nary>
                  </m:oMath>
                </a14:m>
                <a:endParaRPr lang="zh-TW" altLang="en-US" sz="2400" dirty="0">
                  <a:solidFill>
                    <a:schemeClr val="accent5">
                      <a:lumMod val="50000"/>
                    </a:schemeClr>
                  </a:solidFill>
                </a:endParaRPr>
              </a:p>
            </p:txBody>
          </p:sp>
        </mc:Choice>
        <mc:Fallback xmlns="">
          <p:sp>
            <p:nvSpPr>
              <p:cNvPr id="56" name="文字方塊 55">
                <a:extLst>
                  <a:ext uri="{FF2B5EF4-FFF2-40B4-BE49-F238E27FC236}">
                    <a16:creationId xmlns:a16="http://schemas.microsoft.com/office/drawing/2014/main" id="{E61B3E48-4317-2563-BF02-CB1F1BE0AA67}"/>
                  </a:ext>
                </a:extLst>
              </p:cNvPr>
              <p:cNvSpPr txBox="1">
                <a:spLocks noRot="1" noChangeAspect="1" noMove="1" noResize="1" noEditPoints="1" noAdjustHandles="1" noChangeArrowheads="1" noChangeShapeType="1" noTextEdit="1"/>
              </p:cNvSpPr>
              <p:nvPr/>
            </p:nvSpPr>
            <p:spPr>
              <a:xfrm>
                <a:off x="3094912" y="4279499"/>
                <a:ext cx="9088298" cy="593560"/>
              </a:xfrm>
              <a:prstGeom prst="rect">
                <a:avLst/>
              </a:prstGeom>
              <a:blipFill>
                <a:blip r:embed="rId12"/>
                <a:stretch>
                  <a:fillRect l="-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5F386071-76BE-38E4-1F8C-6B2320A6B2F6}"/>
                  </a:ext>
                </a:extLst>
              </p:cNvPr>
              <p:cNvSpPr txBox="1"/>
              <p:nvPr/>
            </p:nvSpPr>
            <p:spPr>
              <a:xfrm>
                <a:off x="3094912" y="5237387"/>
                <a:ext cx="2153707" cy="70218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400" b="0" i="1" smtClean="0">
                          <a:solidFill>
                            <a:schemeClr val="accent5">
                              <a:lumMod val="50000"/>
                            </a:schemeClr>
                          </a:solidFill>
                          <a:latin typeface="Cambria Math" panose="02040503050406030204" pitchFamily="18" charset="0"/>
                        </a:rPr>
                        <m:t>𝑎</m:t>
                      </m:r>
                      <m:r>
                        <a:rPr lang="en-US" altLang="zh-TW" sz="2400" b="0" i="1" smtClean="0">
                          <a:solidFill>
                            <a:schemeClr val="accent5">
                              <a:lumMod val="50000"/>
                            </a:schemeClr>
                          </a:solidFill>
                          <a:latin typeface="Cambria Math" panose="02040503050406030204" pitchFamily="18" charset="0"/>
                        </a:rPr>
                        <m:t>=</m:t>
                      </m:r>
                      <m:r>
                        <a:rPr lang="en-US" altLang="zh-TW" sz="2400" b="0" i="1" smtClean="0">
                          <a:solidFill>
                            <a:schemeClr val="accent5">
                              <a:lumMod val="50000"/>
                            </a:schemeClr>
                          </a:solidFill>
                          <a:latin typeface="Cambria Math" panose="02040503050406030204" pitchFamily="18" charset="0"/>
                        </a:rPr>
                        <m:t>𝑎</m:t>
                      </m:r>
                      <m:r>
                        <a:rPr lang="en-US" altLang="zh-TW" sz="2400" b="0" i="1" smtClean="0">
                          <a:solidFill>
                            <a:schemeClr val="accent5">
                              <a:lumMod val="50000"/>
                            </a:schemeClr>
                          </a:solidFill>
                          <a:latin typeface="Cambria Math" panose="02040503050406030204" pitchFamily="18" charset="0"/>
                        </a:rPr>
                        <m:t>−</m:t>
                      </m:r>
                      <m:r>
                        <a:rPr lang="zh-TW" altLang="en-US" sz="2400" b="0" i="1" smtClean="0">
                          <a:solidFill>
                            <a:schemeClr val="accent5">
                              <a:lumMod val="50000"/>
                            </a:schemeClr>
                          </a:solidFill>
                          <a:latin typeface="Cambria Math" panose="02040503050406030204" pitchFamily="18" charset="0"/>
                        </a:rPr>
                        <m:t>𝜀</m:t>
                      </m:r>
                      <m:f>
                        <m:fPr>
                          <m:ctrlPr>
                            <a:rPr lang="en-US" altLang="zh-TW" sz="2400" i="1">
                              <a:solidFill>
                                <a:schemeClr val="accent5">
                                  <a:lumMod val="50000"/>
                                </a:schemeClr>
                              </a:solidFill>
                              <a:latin typeface="Cambria Math" panose="02040503050406030204" pitchFamily="18" charset="0"/>
                            </a:rPr>
                          </m:ctrlPr>
                        </m:fPr>
                        <m:num>
                          <m:r>
                            <a:rPr lang="zh-TW" altLang="en-US" sz="2400" i="1">
                              <a:solidFill>
                                <a:schemeClr val="accent5">
                                  <a:lumMod val="50000"/>
                                </a:schemeClr>
                              </a:solidFill>
                              <a:latin typeface="Cambria Math" panose="02040503050406030204" pitchFamily="18" charset="0"/>
                            </a:rPr>
                            <m:t>𝛿</m:t>
                          </m:r>
                          <m:r>
                            <a:rPr lang="en-US" altLang="zh-TW" sz="2400" i="1">
                              <a:solidFill>
                                <a:schemeClr val="accent5">
                                  <a:lumMod val="50000"/>
                                </a:schemeClr>
                              </a:solidFill>
                              <a:latin typeface="Cambria Math" panose="02040503050406030204" pitchFamily="18" charset="0"/>
                            </a:rPr>
                            <m:t>𝑀𝑆𝐸</m:t>
                          </m:r>
                        </m:num>
                        <m:den>
                          <m:r>
                            <a:rPr lang="zh-TW" altLang="en-US" sz="2400" i="1">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𝑎</m:t>
                          </m:r>
                        </m:den>
                      </m:f>
                    </m:oMath>
                  </m:oMathPara>
                </a14:m>
                <a:endParaRPr lang="zh-TW" altLang="en-US" sz="2400" dirty="0">
                  <a:solidFill>
                    <a:schemeClr val="accent5">
                      <a:lumMod val="50000"/>
                    </a:schemeClr>
                  </a:solidFill>
                </a:endParaRPr>
              </a:p>
            </p:txBody>
          </p:sp>
        </mc:Choice>
        <mc:Fallback xmlns="">
          <p:sp>
            <p:nvSpPr>
              <p:cNvPr id="57" name="文字方塊 56">
                <a:extLst>
                  <a:ext uri="{FF2B5EF4-FFF2-40B4-BE49-F238E27FC236}">
                    <a16:creationId xmlns:a16="http://schemas.microsoft.com/office/drawing/2014/main" id="{5F386071-76BE-38E4-1F8C-6B2320A6B2F6}"/>
                  </a:ext>
                </a:extLst>
              </p:cNvPr>
              <p:cNvSpPr txBox="1">
                <a:spLocks noRot="1" noChangeAspect="1" noMove="1" noResize="1" noEditPoints="1" noAdjustHandles="1" noChangeArrowheads="1" noChangeShapeType="1" noTextEdit="1"/>
              </p:cNvSpPr>
              <p:nvPr/>
            </p:nvSpPr>
            <p:spPr>
              <a:xfrm>
                <a:off x="3094912" y="5237387"/>
                <a:ext cx="2153707" cy="702180"/>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59E04875-B477-0FDE-AE9C-9F1DF7AB7CDB}"/>
                  </a:ext>
                </a:extLst>
              </p:cNvPr>
              <p:cNvSpPr txBox="1"/>
              <p:nvPr/>
            </p:nvSpPr>
            <p:spPr>
              <a:xfrm>
                <a:off x="5866529" y="5237452"/>
                <a:ext cx="2153707" cy="70211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400" b="0" i="1" smtClean="0">
                          <a:solidFill>
                            <a:schemeClr val="accent5">
                              <a:lumMod val="50000"/>
                            </a:schemeClr>
                          </a:solidFill>
                          <a:latin typeface="Cambria Math" panose="02040503050406030204" pitchFamily="18" charset="0"/>
                        </a:rPr>
                        <m:t>𝑏</m:t>
                      </m:r>
                      <m:r>
                        <a:rPr lang="en-US" altLang="zh-TW" sz="2400" b="0" i="1" smtClean="0">
                          <a:solidFill>
                            <a:schemeClr val="accent5">
                              <a:lumMod val="50000"/>
                            </a:schemeClr>
                          </a:solidFill>
                          <a:latin typeface="Cambria Math" panose="02040503050406030204" pitchFamily="18" charset="0"/>
                        </a:rPr>
                        <m:t>=</m:t>
                      </m:r>
                      <m:r>
                        <a:rPr lang="en-US" altLang="zh-TW" sz="2400" b="0" i="1" smtClean="0">
                          <a:solidFill>
                            <a:schemeClr val="accent5">
                              <a:lumMod val="50000"/>
                            </a:schemeClr>
                          </a:solidFill>
                          <a:latin typeface="Cambria Math" panose="02040503050406030204" pitchFamily="18" charset="0"/>
                        </a:rPr>
                        <m:t>𝑏</m:t>
                      </m:r>
                      <m:r>
                        <a:rPr lang="en-US" altLang="zh-TW" sz="2400" b="0" i="1" smtClean="0">
                          <a:solidFill>
                            <a:schemeClr val="accent5">
                              <a:lumMod val="50000"/>
                            </a:schemeClr>
                          </a:solidFill>
                          <a:latin typeface="Cambria Math" panose="02040503050406030204" pitchFamily="18" charset="0"/>
                        </a:rPr>
                        <m:t>−</m:t>
                      </m:r>
                      <m:r>
                        <a:rPr lang="zh-TW" altLang="en-US" sz="2400" b="0" i="1" smtClean="0">
                          <a:solidFill>
                            <a:schemeClr val="accent5">
                              <a:lumMod val="50000"/>
                            </a:schemeClr>
                          </a:solidFill>
                          <a:latin typeface="Cambria Math" panose="02040503050406030204" pitchFamily="18" charset="0"/>
                        </a:rPr>
                        <m:t>𝜀</m:t>
                      </m:r>
                      <m:f>
                        <m:fPr>
                          <m:ctrlPr>
                            <a:rPr lang="en-US" altLang="zh-TW" sz="2400" i="1">
                              <a:solidFill>
                                <a:schemeClr val="accent5">
                                  <a:lumMod val="50000"/>
                                </a:schemeClr>
                              </a:solidFill>
                              <a:latin typeface="Cambria Math" panose="02040503050406030204" pitchFamily="18" charset="0"/>
                            </a:rPr>
                          </m:ctrlPr>
                        </m:fPr>
                        <m:num>
                          <m:r>
                            <a:rPr lang="zh-TW" altLang="en-US" sz="2400" i="1">
                              <a:solidFill>
                                <a:schemeClr val="accent5">
                                  <a:lumMod val="50000"/>
                                </a:schemeClr>
                              </a:solidFill>
                              <a:latin typeface="Cambria Math" panose="02040503050406030204" pitchFamily="18" charset="0"/>
                            </a:rPr>
                            <m:t>𝛿</m:t>
                          </m:r>
                          <m:r>
                            <a:rPr lang="en-US" altLang="zh-TW" sz="2400" i="1">
                              <a:solidFill>
                                <a:schemeClr val="accent5">
                                  <a:lumMod val="50000"/>
                                </a:schemeClr>
                              </a:solidFill>
                              <a:latin typeface="Cambria Math" panose="02040503050406030204" pitchFamily="18" charset="0"/>
                            </a:rPr>
                            <m:t>𝑀𝑆𝐸</m:t>
                          </m:r>
                        </m:num>
                        <m:den>
                          <m:r>
                            <a:rPr lang="zh-TW" altLang="en-US" sz="2400" i="1">
                              <a:solidFill>
                                <a:schemeClr val="accent5">
                                  <a:lumMod val="50000"/>
                                </a:schemeClr>
                              </a:solidFill>
                              <a:latin typeface="Cambria Math" panose="02040503050406030204" pitchFamily="18" charset="0"/>
                            </a:rPr>
                            <m:t>𝛿</m:t>
                          </m:r>
                          <m:r>
                            <a:rPr lang="en-US" altLang="zh-TW" sz="2400" b="0" i="1" smtClean="0">
                              <a:solidFill>
                                <a:schemeClr val="accent5">
                                  <a:lumMod val="50000"/>
                                </a:schemeClr>
                              </a:solidFill>
                              <a:latin typeface="Cambria Math" panose="02040503050406030204" pitchFamily="18" charset="0"/>
                            </a:rPr>
                            <m:t>𝑏</m:t>
                          </m:r>
                        </m:den>
                      </m:f>
                    </m:oMath>
                  </m:oMathPara>
                </a14:m>
                <a:endParaRPr lang="zh-TW" altLang="en-US" sz="2400" dirty="0">
                  <a:solidFill>
                    <a:schemeClr val="accent5">
                      <a:lumMod val="50000"/>
                    </a:schemeClr>
                  </a:solidFill>
                </a:endParaRPr>
              </a:p>
            </p:txBody>
          </p:sp>
        </mc:Choice>
        <mc:Fallback xmlns="">
          <p:sp>
            <p:nvSpPr>
              <p:cNvPr id="58" name="文字方塊 57">
                <a:extLst>
                  <a:ext uri="{FF2B5EF4-FFF2-40B4-BE49-F238E27FC236}">
                    <a16:creationId xmlns:a16="http://schemas.microsoft.com/office/drawing/2014/main" id="{59E04875-B477-0FDE-AE9C-9F1DF7AB7CDB}"/>
                  </a:ext>
                </a:extLst>
              </p:cNvPr>
              <p:cNvSpPr txBox="1">
                <a:spLocks noRot="1" noChangeAspect="1" noMove="1" noResize="1" noEditPoints="1" noAdjustHandles="1" noChangeArrowheads="1" noChangeShapeType="1" noTextEdit="1"/>
              </p:cNvSpPr>
              <p:nvPr/>
            </p:nvSpPr>
            <p:spPr>
              <a:xfrm>
                <a:off x="5866529" y="5237452"/>
                <a:ext cx="2153707" cy="702115"/>
              </a:xfrm>
              <a:prstGeom prst="rect">
                <a:avLst/>
              </a:prstGeom>
              <a:blipFill>
                <a:blip r:embed="rId14"/>
                <a:stretch>
                  <a:fillRect/>
                </a:stretch>
              </a:blipFill>
            </p:spPr>
            <p:txBody>
              <a:bodyPr/>
              <a:lstStyle/>
              <a:p>
                <a:r>
                  <a:rPr lang="zh-TW" altLang="en-US">
                    <a:noFill/>
                  </a:rPr>
                  <a:t> </a:t>
                </a:r>
              </a:p>
            </p:txBody>
          </p:sp>
        </mc:Fallback>
      </mc:AlternateContent>
      <p:cxnSp>
        <p:nvCxnSpPr>
          <p:cNvPr id="3" name="直線單箭頭接點 2">
            <a:extLst>
              <a:ext uri="{FF2B5EF4-FFF2-40B4-BE49-F238E27FC236}">
                <a16:creationId xmlns:a16="http://schemas.microsoft.com/office/drawing/2014/main" id="{1EC15D60-6291-629F-60B8-525D0A7A0C31}"/>
              </a:ext>
            </a:extLst>
          </p:cNvPr>
          <p:cNvCxnSpPr>
            <a:cxnSpLocks/>
          </p:cNvCxnSpPr>
          <p:nvPr/>
        </p:nvCxnSpPr>
        <p:spPr>
          <a:xfrm flipV="1">
            <a:off x="3953435" y="5782235"/>
            <a:ext cx="277906" cy="510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7C3330E1-0541-34FD-8AA8-380D33055523}"/>
              </a:ext>
            </a:extLst>
          </p:cNvPr>
          <p:cNvSpPr txBox="1"/>
          <p:nvPr/>
        </p:nvSpPr>
        <p:spPr>
          <a:xfrm>
            <a:off x="3590157" y="6361304"/>
            <a:ext cx="2226443" cy="246221"/>
          </a:xfrm>
          <a:prstGeom prst="rect">
            <a:avLst/>
          </a:prstGeom>
          <a:noFill/>
          <a:ln>
            <a:noFill/>
          </a:ln>
        </p:spPr>
        <p:txBody>
          <a:bodyPr wrap="none" lIns="0" tIns="0" rIns="0" bIns="0" rtlCol="0">
            <a:spAutoFit/>
          </a:bodyPr>
          <a:lstStyle/>
          <a:p>
            <a:r>
              <a:rPr lang="en-US" altLang="zh-TW" sz="1600" dirty="0"/>
              <a:t>a small value: learning rate</a:t>
            </a:r>
            <a:endParaRPr lang="zh-TW" altLang="en-US" sz="1600" dirty="0"/>
          </a:p>
        </p:txBody>
      </p:sp>
      <p:sp>
        <p:nvSpPr>
          <p:cNvPr id="4" name="文字方塊 3">
            <a:extLst>
              <a:ext uri="{FF2B5EF4-FFF2-40B4-BE49-F238E27FC236}">
                <a16:creationId xmlns:a16="http://schemas.microsoft.com/office/drawing/2014/main" id="{6D1941CC-4F4B-6BEE-A4DC-6DF937D87EAF}"/>
              </a:ext>
            </a:extLst>
          </p:cNvPr>
          <p:cNvSpPr txBox="1"/>
          <p:nvPr/>
        </p:nvSpPr>
        <p:spPr>
          <a:xfrm>
            <a:off x="8678410" y="5375958"/>
            <a:ext cx="2941202" cy="523220"/>
          </a:xfrm>
          <a:prstGeom prst="rect">
            <a:avLst/>
          </a:prstGeom>
          <a:noFill/>
        </p:spPr>
        <p:txBody>
          <a:bodyPr wrap="square">
            <a:spAutoFit/>
          </a:bodyPr>
          <a:lstStyle/>
          <a:p>
            <a:pPr algn="l"/>
            <a:r>
              <a:rPr lang="en-US" altLang="zh-TW" sz="2800" b="1" i="0" dirty="0">
                <a:solidFill>
                  <a:srgbClr val="242424"/>
                </a:solidFill>
                <a:effectLst/>
                <a:latin typeface="sohne"/>
              </a:rPr>
              <a:t>Gradient Descent</a:t>
            </a:r>
          </a:p>
        </p:txBody>
      </p:sp>
    </p:spTree>
    <p:extLst>
      <p:ext uri="{BB962C8B-B14F-4D97-AF65-F5344CB8AC3E}">
        <p14:creationId xmlns:p14="http://schemas.microsoft.com/office/powerpoint/2010/main" val="3219556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421F3457-C4A2-D93E-0180-C7BF26BCBFEE}"/>
                  </a:ext>
                </a:extLst>
              </p:cNvPr>
              <p:cNvSpPr>
                <a:spLocks noGrp="1"/>
              </p:cNvSpPr>
              <p:nvPr>
                <p:ph type="ctrTitle"/>
              </p:nvPr>
            </p:nvSpPr>
            <p:spPr/>
            <p:txBody>
              <a:bodyPr/>
              <a:lstStyle/>
              <a:p>
                <a:pPr/>
                <a14:m>
                  <m:oMathPara xmlns:m="http://schemas.openxmlformats.org/officeDocument/2006/math">
                    <m:oMathParaPr>
                      <m:jc m:val="centerGroup"/>
                    </m:oMathParaPr>
                    <m:oMath xmlns:m="http://schemas.openxmlformats.org/officeDocument/2006/math">
                      <m:r>
                        <m:rPr>
                          <m:sty m:val="p"/>
                        </m:rPr>
                        <a:rPr lang="en-US" altLang="zh-TW" sz="6000" b="0" i="0" smtClean="0">
                          <a:latin typeface="Cambria Math" panose="02040503050406030204" pitchFamily="18" charset="0"/>
                        </a:rPr>
                        <m:t>Learning</m:t>
                      </m:r>
                      <m:r>
                        <a:rPr lang="en-US" altLang="zh-TW" sz="6000" b="0" i="0" smtClean="0">
                          <a:latin typeface="Cambria Math" panose="02040503050406030204" pitchFamily="18" charset="0"/>
                        </a:rPr>
                        <m:t> </m:t>
                      </m:r>
                      <m:r>
                        <m:rPr>
                          <m:sty m:val="p"/>
                        </m:rPr>
                        <a:rPr lang="en-US" altLang="zh-TW" sz="6000" b="0" i="0" smtClean="0">
                          <a:latin typeface="Cambria Math" panose="02040503050406030204" pitchFamily="18" charset="0"/>
                        </a:rPr>
                        <m:t>from</m:t>
                      </m:r>
                      <m:r>
                        <a:rPr lang="en-US" altLang="zh-TW" sz="6000" b="0" i="0" smtClean="0">
                          <a:latin typeface="Cambria Math" panose="02040503050406030204" pitchFamily="18" charset="0"/>
                        </a:rPr>
                        <m:t> </m:t>
                      </m:r>
                      <m:r>
                        <m:rPr>
                          <m:sty m:val="p"/>
                        </m:rPr>
                        <a:rPr lang="en-US" altLang="zh-TW" sz="6000" b="0" i="0" smtClean="0">
                          <a:latin typeface="Cambria Math" panose="02040503050406030204" pitchFamily="18" charset="0"/>
                        </a:rPr>
                        <m:t>Sctatch</m:t>
                      </m:r>
                    </m:oMath>
                  </m:oMathPara>
                </a14:m>
                <a:endParaRPr lang="zh-TW" altLang="en-US" dirty="0"/>
              </a:p>
            </p:txBody>
          </p:sp>
        </mc:Choice>
        <mc:Fallback xmlns="">
          <p:sp>
            <p:nvSpPr>
              <p:cNvPr id="2" name="標題 1">
                <a:extLst>
                  <a:ext uri="{FF2B5EF4-FFF2-40B4-BE49-F238E27FC236}">
                    <a16:creationId xmlns:a16="http://schemas.microsoft.com/office/drawing/2014/main" id="{421F3457-C4A2-D93E-0180-C7BF26BCBFEE}"/>
                  </a:ext>
                </a:extLst>
              </p:cNvPr>
              <p:cNvSpPr>
                <a:spLocks noGrp="1" noRot="1" noChangeAspect="1" noMove="1" noResize="1" noEditPoints="1" noAdjustHandles="1" noChangeArrowheads="1" noChangeShapeType="1" noTextEdit="1"/>
              </p:cNvSpPr>
              <p:nvPr>
                <p:ph type="ctrTitle"/>
              </p:nvPr>
            </p:nvSpPr>
            <p:spPr>
              <a:blipFill>
                <a:blip r:embed="rId2"/>
                <a:stretch>
                  <a:fillRect/>
                </a:stretch>
              </a:blipFill>
            </p:spPr>
            <p:txBody>
              <a:bodyPr/>
              <a:lstStyle/>
              <a:p>
                <a:r>
                  <a:rPr lang="zh-TW" altLang="en-US">
                    <a:noFill/>
                  </a:rPr>
                  <a:t> </a:t>
                </a:r>
              </a:p>
            </p:txBody>
          </p:sp>
        </mc:Fallback>
      </mc:AlternateContent>
      <p:sp>
        <p:nvSpPr>
          <p:cNvPr id="3" name="副標題 2">
            <a:extLst>
              <a:ext uri="{FF2B5EF4-FFF2-40B4-BE49-F238E27FC236}">
                <a16:creationId xmlns:a16="http://schemas.microsoft.com/office/drawing/2014/main" id="{48A544E5-53D8-F3B5-832A-C5416B07A281}"/>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3910253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A8BCD467-BDDB-9473-17D0-84F6D7ED41D9}"/>
                  </a:ext>
                </a:extLst>
              </p:cNvPr>
              <p:cNvSpPr txBox="1"/>
              <p:nvPr/>
            </p:nvSpPr>
            <p:spPr>
              <a:xfrm>
                <a:off x="106864" y="1057801"/>
                <a:ext cx="5731764" cy="869212"/>
              </a:xfrm>
              <a:prstGeom prst="rect">
                <a:avLst/>
              </a:prstGeom>
              <a:noFill/>
            </p:spPr>
            <p:txBody>
              <a:bodyPr wrap="square" lIns="0" tIns="0" rIns="0" bIns="0" rtlCol="0">
                <a:spAutoFit/>
              </a:bodyPr>
              <a:lstStyle/>
              <a:p>
                <a14:m>
                  <m:oMath xmlns:m="http://schemas.openxmlformats.org/officeDocument/2006/math">
                    <m:r>
                      <a:rPr lang="en-US" altLang="zh-TW" sz="2000" b="0" i="1" smtClean="0">
                        <a:solidFill>
                          <a:srgbClr val="FF0000"/>
                        </a:solidFill>
                        <a:latin typeface="Cambria Math" panose="02040503050406030204" pitchFamily="18" charset="0"/>
                      </a:rPr>
                      <m:t>𝑀𝑆𝐸</m:t>
                    </m:r>
                    <m:r>
                      <a:rPr lang="en-US" altLang="zh-TW" sz="2000" b="0" i="1" smtClean="0">
                        <a:solidFill>
                          <a:schemeClr val="tx1"/>
                        </a:solidFill>
                        <a:latin typeface="Cambria Math" panose="02040503050406030204" pitchFamily="18" charset="0"/>
                      </a:rPr>
                      <m:t>=</m:t>
                    </m:r>
                    <m:f>
                      <m:fPr>
                        <m:ctrlPr>
                          <a:rPr lang="en-US" altLang="zh-TW" sz="2000" b="0" i="1" smtClean="0">
                            <a:solidFill>
                              <a:schemeClr val="tx1"/>
                            </a:solidFill>
                            <a:latin typeface="Cambria Math" panose="02040503050406030204" pitchFamily="18" charset="0"/>
                          </a:rPr>
                        </m:ctrlPr>
                      </m:fPr>
                      <m:num>
                        <m:r>
                          <a:rPr lang="en-US" altLang="zh-TW" sz="2000" b="0" i="1" smtClean="0">
                            <a:solidFill>
                              <a:schemeClr val="tx1"/>
                            </a:solidFill>
                            <a:latin typeface="Cambria Math" panose="02040503050406030204" pitchFamily="18" charset="0"/>
                          </a:rPr>
                          <m:t>1</m:t>
                        </m:r>
                      </m:num>
                      <m:den>
                        <m:r>
                          <a:rPr lang="en-US" altLang="zh-TW" sz="2000" b="0" i="1" smtClean="0">
                            <a:solidFill>
                              <a:schemeClr val="tx1"/>
                            </a:solidFill>
                            <a:latin typeface="Cambria Math" panose="02040503050406030204" pitchFamily="18" charset="0"/>
                          </a:rPr>
                          <m:t>𝑁</m:t>
                        </m:r>
                      </m:den>
                    </m:f>
                    <m:nary>
                      <m:naryPr>
                        <m:chr m:val="∑"/>
                        <m:ctrlPr>
                          <a:rPr lang="en-US" altLang="zh-TW" sz="2000" b="0" i="1" smtClean="0">
                            <a:solidFill>
                              <a:schemeClr val="tx1"/>
                            </a:solidFill>
                            <a:latin typeface="Cambria Math" panose="02040503050406030204" pitchFamily="18" charset="0"/>
                          </a:rPr>
                        </m:ctrlPr>
                      </m:naryPr>
                      <m:sub>
                        <m:r>
                          <m:rPr>
                            <m:brk m:alnAt="23"/>
                          </m:rPr>
                          <a:rPr lang="en-US" altLang="zh-TW" sz="2000" b="0" i="1" smtClean="0">
                            <a:solidFill>
                              <a:schemeClr val="tx1"/>
                            </a:solidFill>
                            <a:latin typeface="Cambria Math" panose="02040503050406030204" pitchFamily="18" charset="0"/>
                          </a:rPr>
                          <m:t>𝑖</m:t>
                        </m:r>
                        <m:r>
                          <a:rPr lang="en-US" altLang="zh-TW" sz="2000" b="0" i="1" smtClean="0">
                            <a:solidFill>
                              <a:schemeClr val="tx1"/>
                            </a:solidFill>
                            <a:latin typeface="Cambria Math" panose="02040503050406030204" pitchFamily="18" charset="0"/>
                          </a:rPr>
                          <m:t>=1</m:t>
                        </m:r>
                      </m:sub>
                      <m:sup>
                        <m:r>
                          <a:rPr lang="en-US" altLang="zh-TW" sz="2000" b="0" i="1" smtClean="0">
                            <a:solidFill>
                              <a:schemeClr val="tx1"/>
                            </a:solidFill>
                            <a:latin typeface="Cambria Math" panose="02040503050406030204" pitchFamily="18" charset="0"/>
                          </a:rPr>
                          <m:t>𝑁</m:t>
                        </m:r>
                      </m:sup>
                      <m:e>
                        <m:sSup>
                          <m:sSupPr>
                            <m:ctrlPr>
                              <a:rPr lang="en-US" altLang="zh-TW" sz="2000" b="0" i="1" smtClean="0">
                                <a:solidFill>
                                  <a:schemeClr val="tx1"/>
                                </a:solidFill>
                                <a:latin typeface="Cambria Math" panose="02040503050406030204" pitchFamily="18" charset="0"/>
                              </a:rPr>
                            </m:ctrlPr>
                          </m:sSupPr>
                          <m:e>
                            <m:r>
                              <a:rPr lang="en-US" altLang="zh-TW" sz="2000" b="0" i="1" smtClean="0">
                                <a:solidFill>
                                  <a:schemeClr val="tx1"/>
                                </a:solidFill>
                                <a:latin typeface="Cambria Math" panose="02040503050406030204" pitchFamily="18" charset="0"/>
                              </a:rPr>
                              <m:t> (</m:t>
                            </m:r>
                            <m:sSub>
                              <m:sSubPr>
                                <m:ctrlPr>
                                  <a:rPr lang="en-US" altLang="zh-TW" sz="2000" b="0" i="1" smtClean="0">
                                    <a:solidFill>
                                      <a:srgbClr val="00B050"/>
                                    </a:solidFill>
                                    <a:latin typeface="Cambria Math" panose="02040503050406030204" pitchFamily="18" charset="0"/>
                                  </a:rPr>
                                </m:ctrlPr>
                              </m:sSubPr>
                              <m:e>
                                <m:sSub>
                                  <m:sSubPr>
                                    <m:ctrlPr>
                                      <a:rPr lang="en-US" altLang="zh-TW" sz="2000" i="1">
                                        <a:solidFill>
                                          <a:srgbClr val="00B050"/>
                                        </a:solidFill>
                                        <a:latin typeface="Cambria Math" panose="02040503050406030204" pitchFamily="18" charset="0"/>
                                      </a:rPr>
                                    </m:ctrlPr>
                                  </m:sSubPr>
                                  <m:e>
                                    <m:r>
                                      <a:rPr lang="en-US" altLang="zh-TW" sz="2000" i="1">
                                        <a:solidFill>
                                          <a:srgbClr val="00B050"/>
                                        </a:solidFill>
                                        <a:latin typeface="Cambria Math" panose="02040503050406030204" pitchFamily="18" charset="0"/>
                                      </a:rPr>
                                      <m:t>𝑦</m:t>
                                    </m:r>
                                  </m:e>
                                  <m:sub>
                                    <m:r>
                                      <a:rPr lang="en-US" altLang="zh-TW" sz="2000" i="1">
                                        <a:solidFill>
                                          <a:srgbClr val="00B050"/>
                                        </a:solidFill>
                                        <a:latin typeface="Cambria Math" panose="02040503050406030204" pitchFamily="18" charset="0"/>
                                      </a:rPr>
                                      <m:t>𝑖</m:t>
                                    </m:r>
                                  </m:sub>
                                </m:sSub>
                                <m:r>
                                  <a:rPr lang="en-US" altLang="zh-TW" sz="2000" b="0" i="1" smtClean="0">
                                    <a:solidFill>
                                      <a:srgbClr val="00B050"/>
                                    </a:solidFill>
                                    <a:latin typeface="Cambria Math" panose="02040503050406030204" pitchFamily="18" charset="0"/>
                                  </a:rPr>
                                  <m:t>−</m:t>
                                </m:r>
                                <m:acc>
                                  <m:accPr>
                                    <m:chr m:val="̂"/>
                                    <m:ctrlPr>
                                      <a:rPr lang="en-US" altLang="zh-TW" sz="2000" b="0" i="1" smtClean="0">
                                        <a:solidFill>
                                          <a:srgbClr val="00B050"/>
                                        </a:solidFill>
                                        <a:latin typeface="Cambria Math" panose="02040503050406030204" pitchFamily="18" charset="0"/>
                                      </a:rPr>
                                    </m:ctrlPr>
                                  </m:accPr>
                                  <m:e>
                                    <m:r>
                                      <a:rPr lang="en-US" altLang="zh-TW" sz="2000" b="0" i="1" smtClean="0">
                                        <a:solidFill>
                                          <a:srgbClr val="00B050"/>
                                        </a:solidFill>
                                        <a:latin typeface="Cambria Math" panose="02040503050406030204" pitchFamily="18" charset="0"/>
                                      </a:rPr>
                                      <m:t>𝑦</m:t>
                                    </m:r>
                                  </m:e>
                                </m:acc>
                              </m:e>
                              <m:sub>
                                <m:r>
                                  <a:rPr lang="en-US" altLang="zh-TW" sz="2000" b="0" i="1" smtClean="0">
                                    <a:solidFill>
                                      <a:srgbClr val="00B050"/>
                                    </a:solidFill>
                                    <a:latin typeface="Cambria Math" panose="02040503050406030204" pitchFamily="18" charset="0"/>
                                  </a:rPr>
                                  <m:t>𝑖</m:t>
                                </m:r>
                              </m:sub>
                            </m:sSub>
                            <m:r>
                              <a:rPr lang="en-US" altLang="zh-TW" sz="2000" b="0" i="1" smtClean="0">
                                <a:solidFill>
                                  <a:schemeClr val="tx1"/>
                                </a:solidFill>
                                <a:latin typeface="Cambria Math" panose="02040503050406030204" pitchFamily="18" charset="0"/>
                              </a:rPr>
                              <m:t> )</m:t>
                            </m:r>
                          </m:e>
                          <m:sup>
                            <m:r>
                              <a:rPr lang="en-US" altLang="zh-TW" sz="2000" b="0" i="1" smtClean="0">
                                <a:solidFill>
                                  <a:schemeClr val="tx1"/>
                                </a:solidFill>
                                <a:latin typeface="Cambria Math" panose="02040503050406030204" pitchFamily="18" charset="0"/>
                              </a:rPr>
                              <m:t>2 </m:t>
                            </m:r>
                          </m:sup>
                        </m:sSup>
                      </m:e>
                    </m:nary>
                    <m:r>
                      <a:rPr lang="en-US" altLang="zh-TW" sz="2000" b="0" i="0" smtClean="0">
                        <a:solidFill>
                          <a:schemeClr val="tx1"/>
                        </a:solidFill>
                        <a:latin typeface="Cambria Math" panose="02040503050406030204" pitchFamily="18" charset="0"/>
                      </a:rPr>
                      <m:t>=</m:t>
                    </m:r>
                  </m:oMath>
                </a14:m>
                <a:r>
                  <a:rPr lang="en-US" altLang="zh-TW" sz="2000" dirty="0">
                    <a:solidFill>
                      <a:schemeClr val="tx1"/>
                    </a:solidFill>
                  </a:rPr>
                  <a:t> </a:t>
                </a:r>
                <a14:m>
                  <m:oMath xmlns:m="http://schemas.openxmlformats.org/officeDocument/2006/math">
                    <m:f>
                      <m:fPr>
                        <m:ctrlPr>
                          <a:rPr lang="en-US" altLang="zh-TW" sz="2000" i="1" smtClean="0">
                            <a:solidFill>
                              <a:schemeClr val="tx1"/>
                            </a:solidFill>
                            <a:latin typeface="Cambria Math" panose="02040503050406030204" pitchFamily="18" charset="0"/>
                          </a:rPr>
                        </m:ctrlPr>
                      </m:fPr>
                      <m:num>
                        <m:r>
                          <a:rPr lang="en-US" altLang="zh-TW" sz="2000" i="1">
                            <a:solidFill>
                              <a:schemeClr val="tx1"/>
                            </a:solidFill>
                            <a:latin typeface="Cambria Math" panose="02040503050406030204" pitchFamily="18" charset="0"/>
                          </a:rPr>
                          <m:t>1</m:t>
                        </m:r>
                      </m:num>
                      <m:den>
                        <m:r>
                          <a:rPr lang="en-US" altLang="zh-TW" sz="2000" i="1">
                            <a:solidFill>
                              <a:schemeClr val="tx1"/>
                            </a:solidFill>
                            <a:latin typeface="Cambria Math" panose="02040503050406030204" pitchFamily="18" charset="0"/>
                          </a:rPr>
                          <m:t>𝑁</m:t>
                        </m:r>
                      </m:den>
                    </m:f>
                    <m:nary>
                      <m:naryPr>
                        <m:chr m:val="∑"/>
                        <m:ctrlPr>
                          <a:rPr lang="en-US" altLang="zh-TW" sz="2000" i="1">
                            <a:solidFill>
                              <a:schemeClr val="tx1"/>
                            </a:solidFill>
                            <a:latin typeface="Cambria Math" panose="02040503050406030204" pitchFamily="18" charset="0"/>
                          </a:rPr>
                        </m:ctrlPr>
                      </m:naryPr>
                      <m:sub>
                        <m:r>
                          <m:rPr>
                            <m:brk m:alnAt="23"/>
                          </m:rPr>
                          <a:rPr lang="en-US" altLang="zh-TW" sz="2000" i="1">
                            <a:solidFill>
                              <a:schemeClr val="tx1"/>
                            </a:solidFill>
                            <a:latin typeface="Cambria Math" panose="02040503050406030204" pitchFamily="18" charset="0"/>
                          </a:rPr>
                          <m:t>𝑖</m:t>
                        </m:r>
                        <m:r>
                          <a:rPr lang="en-US" altLang="zh-TW" sz="2000" i="1">
                            <a:solidFill>
                              <a:schemeClr val="tx1"/>
                            </a:solidFill>
                            <a:latin typeface="Cambria Math" panose="02040503050406030204" pitchFamily="18" charset="0"/>
                          </a:rPr>
                          <m:t>=1</m:t>
                        </m:r>
                      </m:sub>
                      <m:sup>
                        <m:r>
                          <a:rPr lang="en-US" altLang="zh-TW" sz="2000" i="1">
                            <a:solidFill>
                              <a:schemeClr val="tx1"/>
                            </a:solidFill>
                            <a:latin typeface="Cambria Math" panose="02040503050406030204" pitchFamily="18" charset="0"/>
                          </a:rPr>
                          <m:t>𝑁</m:t>
                        </m:r>
                      </m:sup>
                      <m:e>
                        <m:sSup>
                          <m:sSupPr>
                            <m:ctrlPr>
                              <a:rPr lang="en-US" altLang="zh-TW" sz="2000" i="1">
                                <a:solidFill>
                                  <a:schemeClr val="tx1"/>
                                </a:solidFill>
                                <a:latin typeface="Cambria Math" panose="02040503050406030204" pitchFamily="18" charset="0"/>
                              </a:rPr>
                            </m:ctrlPr>
                          </m:sSupPr>
                          <m:e>
                            <m:r>
                              <a:rPr lang="en-US" altLang="zh-TW" sz="2000" i="1">
                                <a:solidFill>
                                  <a:schemeClr val="tx1"/>
                                </a:solidFill>
                                <a:latin typeface="Cambria Math" panose="02040503050406030204" pitchFamily="18" charset="0"/>
                              </a:rPr>
                              <m:t>(</m:t>
                            </m:r>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panose="02040503050406030204" pitchFamily="18" charset="0"/>
                                  </a:rPr>
                                  <m:t>𝑦</m:t>
                                </m:r>
                              </m:e>
                              <m:sub>
                                <m:r>
                                  <a:rPr lang="en-US" altLang="zh-TW" sz="2000" i="1">
                                    <a:solidFill>
                                      <a:schemeClr val="tx1"/>
                                    </a:solidFill>
                                    <a:latin typeface="Cambria Math" panose="02040503050406030204" pitchFamily="18" charset="0"/>
                                  </a:rPr>
                                  <m:t>𝑖</m:t>
                                </m:r>
                              </m:sub>
                            </m:sSub>
                            <m:r>
                              <a:rPr lang="en-US" altLang="zh-TW" sz="2000" i="1">
                                <a:solidFill>
                                  <a:schemeClr val="tx1"/>
                                </a:solidFill>
                                <a:latin typeface="Cambria Math" panose="02040503050406030204" pitchFamily="18" charset="0"/>
                              </a:rPr>
                              <m:t>−(</m:t>
                            </m:r>
                            <m:r>
                              <a:rPr lang="en-US" altLang="zh-TW" sz="2000" i="1" smtClean="0">
                                <a:solidFill>
                                  <a:srgbClr val="00B0F0"/>
                                </a:solidFill>
                                <a:latin typeface="Cambria Math" panose="02040503050406030204" pitchFamily="18" charset="0"/>
                              </a:rPr>
                              <m:t>𝑎</m:t>
                            </m:r>
                            <m:r>
                              <a:rPr lang="en-US" altLang="zh-TW" sz="2000" i="1" smtClean="0">
                                <a:solidFill>
                                  <a:srgbClr val="00B0F0"/>
                                </a:solidFill>
                                <a:latin typeface="Cambria Math" panose="02040503050406030204" pitchFamily="18" charset="0"/>
                              </a:rPr>
                              <m:t>+</m:t>
                            </m:r>
                            <m:r>
                              <a:rPr lang="en-US" altLang="zh-TW" sz="2000" i="1" smtClean="0">
                                <a:solidFill>
                                  <a:srgbClr val="00B0F0"/>
                                </a:solidFill>
                                <a:latin typeface="Cambria Math" panose="02040503050406030204" pitchFamily="18" charset="0"/>
                              </a:rPr>
                              <m:t>𝑏</m:t>
                            </m:r>
                            <m:sSub>
                              <m:sSubPr>
                                <m:ctrlPr>
                                  <a:rPr lang="en-US" altLang="zh-TW" sz="2000" i="1">
                                    <a:solidFill>
                                      <a:srgbClr val="00B0F0"/>
                                    </a:solidFill>
                                    <a:latin typeface="Cambria Math" panose="02040503050406030204" pitchFamily="18" charset="0"/>
                                  </a:rPr>
                                </m:ctrlPr>
                              </m:sSubPr>
                              <m:e>
                                <m:r>
                                  <a:rPr lang="en-US" altLang="zh-TW" sz="2000" i="1">
                                    <a:solidFill>
                                      <a:srgbClr val="00B0F0"/>
                                    </a:solidFill>
                                    <a:latin typeface="Cambria Math" panose="02040503050406030204" pitchFamily="18" charset="0"/>
                                  </a:rPr>
                                  <m:t>𝑥</m:t>
                                </m:r>
                              </m:e>
                              <m:sub>
                                <m:r>
                                  <a:rPr lang="en-US" altLang="zh-TW" sz="2000" i="1">
                                    <a:solidFill>
                                      <a:srgbClr val="00B0F0"/>
                                    </a:solidFill>
                                    <a:latin typeface="Cambria Math" panose="02040503050406030204" pitchFamily="18" charset="0"/>
                                  </a:rPr>
                                  <m:t>𝑖</m:t>
                                </m:r>
                              </m:sub>
                            </m:sSub>
                            <m:r>
                              <a:rPr lang="en-US" altLang="zh-TW" sz="2000" i="1">
                                <a:solidFill>
                                  <a:schemeClr val="tx1"/>
                                </a:solidFill>
                                <a:latin typeface="Cambria Math" panose="02040503050406030204" pitchFamily="18" charset="0"/>
                              </a:rPr>
                              <m:t>))</m:t>
                            </m:r>
                          </m:e>
                          <m:sup>
                            <m:r>
                              <a:rPr lang="en-US" altLang="zh-TW" sz="2000" i="1">
                                <a:solidFill>
                                  <a:schemeClr val="tx1"/>
                                </a:solidFill>
                                <a:latin typeface="Cambria Math" panose="02040503050406030204" pitchFamily="18" charset="0"/>
                              </a:rPr>
                              <m:t>2</m:t>
                            </m:r>
                          </m:sup>
                        </m:sSup>
                      </m:e>
                    </m:nary>
                  </m:oMath>
                </a14:m>
                <a:r>
                  <a:rPr lang="en-US" altLang="zh-TW" sz="2000" dirty="0">
                    <a:solidFill>
                      <a:schemeClr val="tx1"/>
                    </a:solidFill>
                  </a:rPr>
                  <a:t>  </a:t>
                </a:r>
                <a:r>
                  <a:rPr lang="en-US" altLang="zh-TW" sz="2000" dirty="0">
                    <a:solidFill>
                      <a:schemeClr val="tx1"/>
                    </a:solidFill>
                    <a:latin typeface="Cambria Math" panose="02040503050406030204" pitchFamily="18" charset="0"/>
                  </a:rPr>
                  <a:t>=</a:t>
                </a:r>
                <a14:m>
                  <m:oMath xmlns:m="http://schemas.openxmlformats.org/officeDocument/2006/math">
                    <m:f>
                      <m:fPr>
                        <m:ctrlPr>
                          <a:rPr lang="en-US" altLang="zh-TW" sz="2000" i="1">
                            <a:solidFill>
                              <a:schemeClr val="tx1"/>
                            </a:solidFill>
                            <a:latin typeface="Cambria Math" panose="02040503050406030204" pitchFamily="18" charset="0"/>
                          </a:rPr>
                        </m:ctrlPr>
                      </m:fPr>
                      <m:num>
                        <m:r>
                          <a:rPr lang="en-US" altLang="zh-TW" sz="2000" i="1">
                            <a:solidFill>
                              <a:schemeClr val="tx1"/>
                            </a:solidFill>
                            <a:latin typeface="Cambria Math" panose="02040503050406030204" pitchFamily="18" charset="0"/>
                          </a:rPr>
                          <m:t>1</m:t>
                        </m:r>
                      </m:num>
                      <m:den>
                        <m:r>
                          <a:rPr lang="en-US" altLang="zh-TW" sz="2000" i="1">
                            <a:solidFill>
                              <a:schemeClr val="tx1"/>
                            </a:solidFill>
                            <a:latin typeface="Cambria Math" panose="02040503050406030204" pitchFamily="18" charset="0"/>
                          </a:rPr>
                          <m:t>𝑁</m:t>
                        </m:r>
                      </m:den>
                    </m:f>
                    <m:nary>
                      <m:naryPr>
                        <m:chr m:val="∑"/>
                        <m:ctrlPr>
                          <a:rPr lang="en-US" altLang="zh-TW" sz="2000" i="1">
                            <a:solidFill>
                              <a:schemeClr val="tx1"/>
                            </a:solidFill>
                            <a:latin typeface="Cambria Math" panose="02040503050406030204" pitchFamily="18" charset="0"/>
                          </a:rPr>
                        </m:ctrlPr>
                      </m:naryPr>
                      <m:sub>
                        <m:r>
                          <m:rPr>
                            <m:brk m:alnAt="23"/>
                          </m:rPr>
                          <a:rPr lang="en-US" altLang="zh-TW" sz="2000" i="1">
                            <a:solidFill>
                              <a:schemeClr val="tx1"/>
                            </a:solidFill>
                            <a:latin typeface="Cambria Math" panose="02040503050406030204" pitchFamily="18" charset="0"/>
                          </a:rPr>
                          <m:t>𝑖</m:t>
                        </m:r>
                        <m:r>
                          <a:rPr lang="en-US" altLang="zh-TW" sz="2000" i="1">
                            <a:solidFill>
                              <a:schemeClr val="tx1"/>
                            </a:solidFill>
                            <a:latin typeface="Cambria Math" panose="02040503050406030204" pitchFamily="18" charset="0"/>
                          </a:rPr>
                          <m:t>=1</m:t>
                        </m:r>
                      </m:sub>
                      <m:sup>
                        <m:r>
                          <a:rPr lang="en-US" altLang="zh-TW" sz="2000" i="1">
                            <a:solidFill>
                              <a:schemeClr val="tx1"/>
                            </a:solidFill>
                            <a:latin typeface="Cambria Math" panose="02040503050406030204" pitchFamily="18" charset="0"/>
                          </a:rPr>
                          <m:t>𝑁</m:t>
                        </m:r>
                      </m:sup>
                      <m:e>
                        <m:sSup>
                          <m:sSupPr>
                            <m:ctrlPr>
                              <a:rPr lang="en-US" altLang="zh-TW" sz="2000" i="1">
                                <a:solidFill>
                                  <a:schemeClr val="tx1"/>
                                </a:solidFill>
                                <a:latin typeface="Cambria Math" panose="02040503050406030204" pitchFamily="18" charset="0"/>
                              </a:rPr>
                            </m:ctrlPr>
                          </m:sSupPr>
                          <m:e>
                            <m:r>
                              <a:rPr lang="en-US" altLang="zh-TW" sz="2000" i="1">
                                <a:solidFill>
                                  <a:schemeClr val="tx1"/>
                                </a:solidFill>
                                <a:latin typeface="Cambria Math" panose="02040503050406030204" pitchFamily="18" charset="0"/>
                              </a:rPr>
                              <m:t>(</m:t>
                            </m:r>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panose="02040503050406030204" pitchFamily="18" charset="0"/>
                                  </a:rPr>
                                  <m:t>𝑦</m:t>
                                </m:r>
                              </m:e>
                              <m:sub>
                                <m:r>
                                  <a:rPr lang="en-US" altLang="zh-TW" sz="2000" i="1">
                                    <a:solidFill>
                                      <a:schemeClr val="tx1"/>
                                    </a:solidFill>
                                    <a:latin typeface="Cambria Math" panose="02040503050406030204" pitchFamily="18" charset="0"/>
                                  </a:rPr>
                                  <m:t>𝑖</m:t>
                                </m:r>
                              </m:sub>
                            </m:sSub>
                            <m:r>
                              <a:rPr lang="en-US" altLang="zh-TW" sz="2000" i="1">
                                <a:solidFill>
                                  <a:schemeClr val="tx1"/>
                                </a:solidFill>
                                <a:latin typeface="Cambria Math" panose="02040503050406030204" pitchFamily="18" charset="0"/>
                              </a:rPr>
                              <m:t>−</m:t>
                            </m:r>
                            <m:r>
                              <a:rPr lang="en-US" altLang="zh-TW" sz="2000" i="1">
                                <a:solidFill>
                                  <a:schemeClr val="tx1"/>
                                </a:solidFill>
                                <a:latin typeface="Cambria Math" panose="02040503050406030204" pitchFamily="18" charset="0"/>
                              </a:rPr>
                              <m:t>𝑎</m:t>
                            </m:r>
                            <m:r>
                              <a:rPr lang="en-US" altLang="zh-TW" sz="2000" i="1">
                                <a:solidFill>
                                  <a:schemeClr val="tx1"/>
                                </a:solidFill>
                                <a:latin typeface="Cambria Math" panose="02040503050406030204" pitchFamily="18" charset="0"/>
                              </a:rPr>
                              <m:t>−</m:t>
                            </m:r>
                            <m:r>
                              <a:rPr lang="en-US" altLang="zh-TW" sz="2000" i="1">
                                <a:solidFill>
                                  <a:schemeClr val="tx1"/>
                                </a:solidFill>
                                <a:latin typeface="Cambria Math" panose="02040503050406030204" pitchFamily="18" charset="0"/>
                              </a:rPr>
                              <m:t>𝑏</m:t>
                            </m:r>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panose="02040503050406030204" pitchFamily="18" charset="0"/>
                                  </a:rPr>
                                  <m:t>𝑥</m:t>
                                </m:r>
                              </m:e>
                              <m:sub>
                                <m:r>
                                  <a:rPr lang="en-US" altLang="zh-TW" sz="2000" i="1">
                                    <a:solidFill>
                                      <a:schemeClr val="tx1"/>
                                    </a:solidFill>
                                    <a:latin typeface="Cambria Math" panose="02040503050406030204" pitchFamily="18" charset="0"/>
                                  </a:rPr>
                                  <m:t>𝑖</m:t>
                                </m:r>
                              </m:sub>
                            </m:sSub>
                            <m:r>
                              <a:rPr lang="en-US" altLang="zh-TW" sz="2000" i="1">
                                <a:solidFill>
                                  <a:schemeClr val="tx1"/>
                                </a:solidFill>
                                <a:latin typeface="Cambria Math" panose="02040503050406030204" pitchFamily="18" charset="0"/>
                              </a:rPr>
                              <m:t>)</m:t>
                            </m:r>
                          </m:e>
                          <m:sup>
                            <m:r>
                              <a:rPr lang="en-US" altLang="zh-TW" sz="2000" i="1">
                                <a:solidFill>
                                  <a:schemeClr val="tx1"/>
                                </a:solidFill>
                                <a:latin typeface="Cambria Math" panose="02040503050406030204" pitchFamily="18" charset="0"/>
                              </a:rPr>
                              <m:t>2</m:t>
                            </m:r>
                          </m:sup>
                        </m:sSup>
                      </m:e>
                    </m:nary>
                  </m:oMath>
                </a14:m>
                <a:endParaRPr lang="zh-TW" altLang="en-US" sz="2000" dirty="0">
                  <a:solidFill>
                    <a:schemeClr val="tx1"/>
                  </a:solidFill>
                </a:endParaRPr>
              </a:p>
            </p:txBody>
          </p:sp>
        </mc:Choice>
        <mc:Fallback xmlns="">
          <p:sp>
            <p:nvSpPr>
              <p:cNvPr id="17" name="文字方塊 16">
                <a:extLst>
                  <a:ext uri="{FF2B5EF4-FFF2-40B4-BE49-F238E27FC236}">
                    <a16:creationId xmlns:a16="http://schemas.microsoft.com/office/drawing/2014/main" id="{A8BCD467-BDDB-9473-17D0-84F6D7ED41D9}"/>
                  </a:ext>
                </a:extLst>
              </p:cNvPr>
              <p:cNvSpPr txBox="1">
                <a:spLocks noRot="1" noChangeAspect="1" noMove="1" noResize="1" noEditPoints="1" noAdjustHandles="1" noChangeArrowheads="1" noChangeShapeType="1" noTextEdit="1"/>
              </p:cNvSpPr>
              <p:nvPr/>
            </p:nvSpPr>
            <p:spPr>
              <a:xfrm>
                <a:off x="106864" y="1057801"/>
                <a:ext cx="5731764" cy="869212"/>
              </a:xfrm>
              <a:prstGeom prst="rect">
                <a:avLst/>
              </a:prstGeom>
              <a:blipFill>
                <a:blip r:embed="rId2"/>
                <a:stretch>
                  <a:fillRect l="-2766" t="-54930" b="-823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92876547-59DD-4D17-41EE-79BB8B40D6F3}"/>
                  </a:ext>
                </a:extLst>
              </p:cNvPr>
              <p:cNvSpPr txBox="1"/>
              <p:nvPr/>
            </p:nvSpPr>
            <p:spPr>
              <a:xfrm>
                <a:off x="106864" y="2293774"/>
                <a:ext cx="5417999" cy="1359924"/>
              </a:xfrm>
              <a:prstGeom prst="rect">
                <a:avLst/>
              </a:prstGeom>
              <a:noFill/>
            </p:spPr>
            <p:txBody>
              <a:bodyPr wrap="square" lIns="0" tIns="0" rIns="0" bIns="0" rtlCol="0">
                <a:spAutoFit/>
              </a:bodyPr>
              <a:lstStyle/>
              <a:p>
                <a14:m>
                  <m:oMath xmlns:m="http://schemas.openxmlformats.org/officeDocument/2006/math">
                    <m:f>
                      <m:fPr>
                        <m:ctrlPr>
                          <a:rPr lang="en-US" altLang="zh-TW" sz="2000" b="0" i="1" smtClean="0">
                            <a:solidFill>
                              <a:srgbClr val="7030A0"/>
                            </a:solidFill>
                            <a:latin typeface="Cambria Math" panose="02040503050406030204" pitchFamily="18" charset="0"/>
                          </a:rPr>
                        </m:ctrlPr>
                      </m:fPr>
                      <m:num>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𝑀𝑆𝐸</m:t>
                        </m:r>
                      </m:num>
                      <m:den>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𝑎</m:t>
                        </m:r>
                      </m:den>
                    </m:f>
                    <m:r>
                      <a:rPr lang="en-US" altLang="zh-TW" sz="2000" b="0" i="0" smtClean="0">
                        <a:solidFill>
                          <a:srgbClr val="7030A0"/>
                        </a:solidFill>
                        <a:latin typeface="Cambria Math" panose="02040503050406030204" pitchFamily="18" charset="0"/>
                      </a:rPr>
                      <m:t>=</m:t>
                    </m:r>
                    <m:f>
                      <m:fPr>
                        <m:ctrlPr>
                          <a:rPr lang="en-US" altLang="zh-TW" sz="2000" i="1">
                            <a:solidFill>
                              <a:srgbClr val="7030A0"/>
                            </a:solidFill>
                            <a:latin typeface="Cambria Math" panose="02040503050406030204" pitchFamily="18" charset="0"/>
                          </a:rPr>
                        </m:ctrlPr>
                      </m:fPr>
                      <m:num>
                        <m:r>
                          <a:rPr lang="zh-TW" altLang="en-US" sz="2000" i="1">
                            <a:solidFill>
                              <a:srgbClr val="7030A0"/>
                            </a:solidFill>
                            <a:latin typeface="Cambria Math" panose="02040503050406030204" pitchFamily="18" charset="0"/>
                          </a:rPr>
                          <m:t>𝛿</m:t>
                        </m:r>
                        <m:r>
                          <a:rPr lang="en-US" altLang="zh-TW" sz="2000" i="1">
                            <a:solidFill>
                              <a:srgbClr val="7030A0"/>
                            </a:solidFill>
                            <a:latin typeface="Cambria Math" panose="02040503050406030204" pitchFamily="18" charset="0"/>
                          </a:rPr>
                          <m:t>𝑀𝑆𝐸</m:t>
                        </m:r>
                      </m:num>
                      <m:den>
                        <m:r>
                          <a:rPr lang="zh-TW" altLang="en-US" sz="2000" i="1">
                            <a:solidFill>
                              <a:srgbClr val="7030A0"/>
                            </a:solidFill>
                            <a:latin typeface="Cambria Math" panose="02040503050406030204" pitchFamily="18" charset="0"/>
                          </a:rPr>
                          <m:t>𝛿</m:t>
                        </m:r>
                        <m:sSub>
                          <m:sSubPr>
                            <m:ctrlPr>
                              <a:rPr lang="en-US" altLang="zh-TW" sz="2000" i="1">
                                <a:solidFill>
                                  <a:srgbClr val="7030A0"/>
                                </a:solidFill>
                                <a:latin typeface="Cambria Math" panose="02040503050406030204" pitchFamily="18" charset="0"/>
                              </a:rPr>
                            </m:ctrlPr>
                          </m:sSubPr>
                          <m:e>
                            <m:acc>
                              <m:accPr>
                                <m:chr m:val="̂"/>
                                <m:ctrlPr>
                                  <a:rPr lang="en-US" altLang="zh-TW" sz="2000" i="1">
                                    <a:solidFill>
                                      <a:srgbClr val="7030A0"/>
                                    </a:solidFill>
                                    <a:latin typeface="Cambria Math" panose="02040503050406030204" pitchFamily="18" charset="0"/>
                                  </a:rPr>
                                </m:ctrlPr>
                              </m:accPr>
                              <m:e>
                                <m:r>
                                  <a:rPr lang="en-US" altLang="zh-TW" sz="2000" i="1">
                                    <a:solidFill>
                                      <a:srgbClr val="7030A0"/>
                                    </a:solidFill>
                                    <a:latin typeface="Cambria Math" panose="02040503050406030204" pitchFamily="18" charset="0"/>
                                  </a:rPr>
                                  <m:t>𝑦</m:t>
                                </m:r>
                              </m:e>
                            </m:acc>
                          </m:e>
                          <m:sub>
                            <m:r>
                              <a:rPr lang="en-US" altLang="zh-TW" sz="2000" i="1">
                                <a:solidFill>
                                  <a:srgbClr val="7030A0"/>
                                </a:solidFill>
                                <a:latin typeface="Cambria Math" panose="02040503050406030204" pitchFamily="18" charset="0"/>
                              </a:rPr>
                              <m:t>𝑖</m:t>
                            </m:r>
                          </m:sub>
                        </m:sSub>
                      </m:den>
                    </m:f>
                    <m:r>
                      <a:rPr lang="en-US" altLang="zh-TW" sz="2000" i="1" smtClean="0">
                        <a:solidFill>
                          <a:srgbClr val="7030A0"/>
                        </a:solidFill>
                        <a:latin typeface="Cambria Math" panose="02040503050406030204" pitchFamily="18" charset="0"/>
                        <a:ea typeface="Cambria Math" panose="02040503050406030204" pitchFamily="18" charset="0"/>
                      </a:rPr>
                      <m:t>∙</m:t>
                    </m:r>
                    <m:f>
                      <m:fPr>
                        <m:ctrlPr>
                          <a:rPr lang="en-US" altLang="zh-TW" sz="2000" i="1">
                            <a:solidFill>
                              <a:srgbClr val="7030A0"/>
                            </a:solidFill>
                            <a:latin typeface="Cambria Math" panose="02040503050406030204" pitchFamily="18" charset="0"/>
                          </a:rPr>
                        </m:ctrlPr>
                      </m:fPr>
                      <m:num>
                        <m:r>
                          <a:rPr lang="zh-TW" altLang="en-US" sz="2000" i="1">
                            <a:solidFill>
                              <a:srgbClr val="7030A0"/>
                            </a:solidFill>
                            <a:latin typeface="Cambria Math" panose="02040503050406030204" pitchFamily="18" charset="0"/>
                          </a:rPr>
                          <m:t>𝛿</m:t>
                        </m:r>
                        <m:sSub>
                          <m:sSubPr>
                            <m:ctrlPr>
                              <a:rPr lang="en-US" altLang="zh-TW" sz="2000" i="1" smtClean="0">
                                <a:solidFill>
                                  <a:srgbClr val="7030A0"/>
                                </a:solidFill>
                                <a:latin typeface="Cambria Math" panose="02040503050406030204" pitchFamily="18" charset="0"/>
                              </a:rPr>
                            </m:ctrlPr>
                          </m:sSubPr>
                          <m:e>
                            <m:acc>
                              <m:accPr>
                                <m:chr m:val="̂"/>
                                <m:ctrlPr>
                                  <a:rPr lang="en-US" altLang="zh-TW" sz="2000" b="0" i="1" smtClean="0">
                                    <a:solidFill>
                                      <a:srgbClr val="7030A0"/>
                                    </a:solidFill>
                                    <a:latin typeface="Cambria Math" panose="02040503050406030204" pitchFamily="18" charset="0"/>
                                  </a:rPr>
                                </m:ctrlPr>
                              </m:accPr>
                              <m:e>
                                <m:r>
                                  <a:rPr lang="en-US" altLang="zh-TW" sz="2000" b="0" i="1" smtClean="0">
                                    <a:solidFill>
                                      <a:srgbClr val="7030A0"/>
                                    </a:solidFill>
                                    <a:latin typeface="Cambria Math" panose="02040503050406030204" pitchFamily="18" charset="0"/>
                                  </a:rPr>
                                  <m:t>𝑦</m:t>
                                </m:r>
                              </m:e>
                            </m:acc>
                          </m:e>
                          <m:sub>
                            <m:r>
                              <a:rPr lang="en-US" altLang="zh-TW" sz="2000" b="0" i="1" smtClean="0">
                                <a:solidFill>
                                  <a:srgbClr val="7030A0"/>
                                </a:solidFill>
                                <a:latin typeface="Cambria Math" panose="02040503050406030204" pitchFamily="18" charset="0"/>
                              </a:rPr>
                              <m:t>𝑖</m:t>
                            </m:r>
                          </m:sub>
                        </m:sSub>
                      </m:num>
                      <m:den>
                        <m:r>
                          <a:rPr lang="zh-TW" altLang="en-US" sz="2000" i="1">
                            <a:solidFill>
                              <a:srgbClr val="7030A0"/>
                            </a:solidFill>
                            <a:latin typeface="Cambria Math" panose="02040503050406030204" pitchFamily="18" charset="0"/>
                          </a:rPr>
                          <m:t>𝛿</m:t>
                        </m:r>
                        <m:r>
                          <a:rPr lang="en-US" altLang="zh-TW" sz="2000" i="1">
                            <a:solidFill>
                              <a:srgbClr val="7030A0"/>
                            </a:solidFill>
                            <a:latin typeface="Cambria Math" panose="02040503050406030204" pitchFamily="18" charset="0"/>
                          </a:rPr>
                          <m:t>𝑎</m:t>
                        </m:r>
                      </m:den>
                    </m:f>
                    <m:r>
                      <a:rPr lang="en-US" altLang="zh-TW" sz="2000">
                        <a:solidFill>
                          <a:srgbClr val="7030A0"/>
                        </a:solidFill>
                        <a:latin typeface="Cambria Math" panose="02040503050406030204" pitchFamily="18" charset="0"/>
                      </a:rPr>
                      <m:t>=</m:t>
                    </m:r>
                  </m:oMath>
                </a14:m>
                <a:r>
                  <a:rPr lang="en-US" altLang="zh-TW" sz="2000" dirty="0">
                    <a:solidFill>
                      <a:srgbClr val="7030A0"/>
                    </a:solidFill>
                  </a:rPr>
                  <a:t> </a:t>
                </a:r>
                <a14:m>
                  <m:oMath xmlns:m="http://schemas.openxmlformats.org/officeDocument/2006/math">
                    <m:f>
                      <m:fPr>
                        <m:ctrlPr>
                          <a:rPr lang="en-US" altLang="zh-TW" sz="2000" i="1">
                            <a:solidFill>
                              <a:srgbClr val="7030A0"/>
                            </a:solidFill>
                            <a:latin typeface="Cambria Math" panose="02040503050406030204" pitchFamily="18" charset="0"/>
                          </a:rPr>
                        </m:ctrlPr>
                      </m:fPr>
                      <m:num>
                        <m:r>
                          <a:rPr lang="en-US" altLang="zh-TW" sz="2000" i="1">
                            <a:solidFill>
                              <a:srgbClr val="7030A0"/>
                            </a:solidFill>
                            <a:latin typeface="Cambria Math" panose="02040503050406030204" pitchFamily="18" charset="0"/>
                          </a:rPr>
                          <m:t>1</m:t>
                        </m:r>
                      </m:num>
                      <m:den>
                        <m:r>
                          <a:rPr lang="en-US" altLang="zh-TW" sz="2000" i="1">
                            <a:solidFill>
                              <a:srgbClr val="7030A0"/>
                            </a:solidFill>
                            <a:latin typeface="Cambria Math" panose="02040503050406030204" pitchFamily="18" charset="0"/>
                          </a:rPr>
                          <m:t>𝑁</m:t>
                        </m:r>
                      </m:den>
                    </m:f>
                    <m:nary>
                      <m:naryPr>
                        <m:chr m:val="∑"/>
                        <m:ctrlPr>
                          <a:rPr lang="en-US" altLang="zh-TW" sz="2000" i="1">
                            <a:solidFill>
                              <a:srgbClr val="7030A0"/>
                            </a:solidFill>
                            <a:latin typeface="Cambria Math" panose="02040503050406030204" pitchFamily="18" charset="0"/>
                          </a:rPr>
                        </m:ctrlPr>
                      </m:naryPr>
                      <m:sub>
                        <m:r>
                          <m:rPr>
                            <m:brk m:alnAt="23"/>
                          </m:rPr>
                          <a:rPr lang="en-US" altLang="zh-TW" sz="2000" i="1">
                            <a:solidFill>
                              <a:srgbClr val="7030A0"/>
                            </a:solidFill>
                            <a:latin typeface="Cambria Math" panose="02040503050406030204" pitchFamily="18" charset="0"/>
                          </a:rPr>
                          <m:t>𝑖</m:t>
                        </m:r>
                        <m:r>
                          <a:rPr lang="en-US" altLang="zh-TW" sz="2000" i="1">
                            <a:solidFill>
                              <a:srgbClr val="7030A0"/>
                            </a:solidFill>
                            <a:latin typeface="Cambria Math" panose="02040503050406030204" pitchFamily="18" charset="0"/>
                          </a:rPr>
                          <m:t>=1</m:t>
                        </m:r>
                      </m:sub>
                      <m:sup>
                        <m:r>
                          <a:rPr lang="en-US" altLang="zh-TW" sz="2000" i="1">
                            <a:solidFill>
                              <a:srgbClr val="7030A0"/>
                            </a:solidFill>
                            <a:latin typeface="Cambria Math" panose="02040503050406030204" pitchFamily="18" charset="0"/>
                          </a:rPr>
                          <m:t>𝑁</m:t>
                        </m:r>
                      </m:sup>
                      <m:e>
                        <m:r>
                          <a:rPr lang="en-US" altLang="zh-TW" sz="2000" b="0" i="1" smtClean="0">
                            <a:solidFill>
                              <a:srgbClr val="7030A0"/>
                            </a:solidFill>
                            <a:latin typeface="Cambria Math" panose="02040503050406030204" pitchFamily="18" charset="0"/>
                          </a:rPr>
                          <m:t>2</m:t>
                        </m:r>
                        <m:d>
                          <m:dPr>
                            <m:ctrlPr>
                              <a:rPr lang="en-US" altLang="zh-TW" sz="2000" i="1">
                                <a:solidFill>
                                  <a:srgbClr val="7030A0"/>
                                </a:solidFill>
                                <a:latin typeface="Cambria Math" panose="02040503050406030204" pitchFamily="18" charset="0"/>
                              </a:rPr>
                            </m:ctrlPr>
                          </m:dPr>
                          <m:e>
                            <m:sSub>
                              <m:sSubPr>
                                <m:ctrlPr>
                                  <a:rPr lang="en-US" altLang="zh-TW" sz="2000" i="1">
                                    <a:solidFill>
                                      <a:srgbClr val="7030A0"/>
                                    </a:solidFill>
                                    <a:latin typeface="Cambria Math" panose="02040503050406030204" pitchFamily="18" charset="0"/>
                                  </a:rPr>
                                </m:ctrlPr>
                              </m:sSubPr>
                              <m:e>
                                <m:r>
                                  <a:rPr lang="en-US" altLang="zh-TW" sz="2000" i="1">
                                    <a:solidFill>
                                      <a:srgbClr val="7030A0"/>
                                    </a:solidFill>
                                    <a:latin typeface="Cambria Math" panose="02040503050406030204" pitchFamily="18" charset="0"/>
                                  </a:rPr>
                                  <m:t>𝑦</m:t>
                                </m:r>
                              </m:e>
                              <m:sub>
                                <m:r>
                                  <a:rPr lang="en-US" altLang="zh-TW" sz="2000" i="1">
                                    <a:solidFill>
                                      <a:srgbClr val="7030A0"/>
                                    </a:solidFill>
                                    <a:latin typeface="Cambria Math" panose="02040503050406030204" pitchFamily="18" charset="0"/>
                                  </a:rPr>
                                  <m:t>𝑖</m:t>
                                </m:r>
                              </m:sub>
                            </m:sSub>
                            <m:r>
                              <a:rPr lang="en-US" altLang="zh-TW" sz="2000" i="1">
                                <a:solidFill>
                                  <a:srgbClr val="7030A0"/>
                                </a:solidFill>
                                <a:latin typeface="Cambria Math" panose="02040503050406030204" pitchFamily="18" charset="0"/>
                              </a:rPr>
                              <m:t>−</m:t>
                            </m:r>
                            <m:r>
                              <a:rPr lang="en-US" altLang="zh-TW" sz="2000" i="1">
                                <a:solidFill>
                                  <a:srgbClr val="7030A0"/>
                                </a:solidFill>
                                <a:latin typeface="Cambria Math" panose="02040503050406030204" pitchFamily="18" charset="0"/>
                              </a:rPr>
                              <m:t>𝑎</m:t>
                            </m:r>
                            <m:r>
                              <a:rPr lang="en-US" altLang="zh-TW" sz="2000" i="1">
                                <a:solidFill>
                                  <a:srgbClr val="7030A0"/>
                                </a:solidFill>
                                <a:latin typeface="Cambria Math" panose="02040503050406030204" pitchFamily="18" charset="0"/>
                              </a:rPr>
                              <m:t>−</m:t>
                            </m:r>
                            <m:r>
                              <a:rPr lang="en-US" altLang="zh-TW" sz="2000" i="1">
                                <a:solidFill>
                                  <a:srgbClr val="7030A0"/>
                                </a:solidFill>
                                <a:latin typeface="Cambria Math" panose="02040503050406030204" pitchFamily="18" charset="0"/>
                              </a:rPr>
                              <m:t>𝑏</m:t>
                            </m:r>
                            <m:sSub>
                              <m:sSubPr>
                                <m:ctrlPr>
                                  <a:rPr lang="en-US" altLang="zh-TW" sz="2000" i="1">
                                    <a:solidFill>
                                      <a:srgbClr val="7030A0"/>
                                    </a:solidFill>
                                    <a:latin typeface="Cambria Math" panose="02040503050406030204" pitchFamily="18" charset="0"/>
                                  </a:rPr>
                                </m:ctrlPr>
                              </m:sSubPr>
                              <m:e>
                                <m:r>
                                  <a:rPr lang="en-US" altLang="zh-TW" sz="2000" i="1">
                                    <a:solidFill>
                                      <a:srgbClr val="7030A0"/>
                                    </a:solidFill>
                                    <a:latin typeface="Cambria Math" panose="02040503050406030204" pitchFamily="18" charset="0"/>
                                  </a:rPr>
                                  <m:t>𝑥</m:t>
                                </m:r>
                              </m:e>
                              <m:sub>
                                <m:r>
                                  <a:rPr lang="en-US" altLang="zh-TW" sz="2000" i="1">
                                    <a:solidFill>
                                      <a:srgbClr val="7030A0"/>
                                    </a:solidFill>
                                    <a:latin typeface="Cambria Math" panose="02040503050406030204" pitchFamily="18" charset="0"/>
                                  </a:rPr>
                                  <m:t>𝑖</m:t>
                                </m:r>
                              </m:sub>
                            </m:sSub>
                          </m:e>
                        </m:d>
                        <m:d>
                          <m:dPr>
                            <m:ctrlPr>
                              <a:rPr lang="en-US" altLang="zh-TW" sz="2000" b="0" i="1" smtClean="0">
                                <a:solidFill>
                                  <a:srgbClr val="7030A0"/>
                                </a:solidFill>
                                <a:latin typeface="Cambria Math" panose="02040503050406030204" pitchFamily="18" charset="0"/>
                              </a:rPr>
                            </m:ctrlPr>
                          </m:dPr>
                          <m:e>
                            <m:r>
                              <a:rPr lang="en-US" altLang="zh-TW" sz="2000" b="0" i="1" smtClean="0">
                                <a:solidFill>
                                  <a:srgbClr val="7030A0"/>
                                </a:solidFill>
                                <a:latin typeface="Cambria Math" panose="02040503050406030204" pitchFamily="18" charset="0"/>
                              </a:rPr>
                              <m:t>−1</m:t>
                            </m:r>
                          </m:e>
                        </m:d>
                      </m:e>
                    </m:nary>
                  </m:oMath>
                </a14:m>
                <a:endParaRPr lang="en-US" altLang="zh-TW" sz="2000" i="1" dirty="0">
                  <a:solidFill>
                    <a:srgbClr val="7030A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000" b="0" i="1" smtClean="0">
                          <a:solidFill>
                            <a:srgbClr val="7030A0"/>
                          </a:solidFill>
                          <a:latin typeface="Cambria Math" panose="02040503050406030204" pitchFamily="18" charset="0"/>
                        </a:rPr>
                        <m:t>=</m:t>
                      </m:r>
                      <m:f>
                        <m:fPr>
                          <m:ctrlPr>
                            <a:rPr lang="en-US" altLang="zh-TW" sz="2000" i="1">
                              <a:solidFill>
                                <a:srgbClr val="7030A0"/>
                              </a:solidFill>
                              <a:latin typeface="Cambria Math" panose="02040503050406030204" pitchFamily="18" charset="0"/>
                            </a:rPr>
                          </m:ctrlPr>
                        </m:fPr>
                        <m:num>
                          <m:r>
                            <a:rPr lang="en-US" altLang="zh-TW" sz="2000" b="0" i="1" smtClean="0">
                              <a:solidFill>
                                <a:srgbClr val="7030A0"/>
                              </a:solidFill>
                              <a:latin typeface="Cambria Math" panose="02040503050406030204" pitchFamily="18" charset="0"/>
                            </a:rPr>
                            <m:t>−2</m:t>
                          </m:r>
                        </m:num>
                        <m:den>
                          <m:r>
                            <a:rPr lang="en-US" altLang="zh-TW" sz="2000" i="1">
                              <a:solidFill>
                                <a:srgbClr val="7030A0"/>
                              </a:solidFill>
                              <a:latin typeface="Cambria Math" panose="02040503050406030204" pitchFamily="18" charset="0"/>
                            </a:rPr>
                            <m:t>𝑁</m:t>
                          </m:r>
                        </m:den>
                      </m:f>
                      <m:nary>
                        <m:naryPr>
                          <m:chr m:val="∑"/>
                          <m:ctrlPr>
                            <a:rPr lang="en-US" altLang="zh-TW" sz="2000" i="1">
                              <a:solidFill>
                                <a:srgbClr val="7030A0"/>
                              </a:solidFill>
                              <a:latin typeface="Cambria Math" panose="02040503050406030204" pitchFamily="18" charset="0"/>
                            </a:rPr>
                          </m:ctrlPr>
                        </m:naryPr>
                        <m:sub>
                          <m:r>
                            <m:rPr>
                              <m:brk m:alnAt="23"/>
                            </m:rPr>
                            <a:rPr lang="en-US" altLang="zh-TW" sz="2000" i="1">
                              <a:solidFill>
                                <a:srgbClr val="7030A0"/>
                              </a:solidFill>
                              <a:latin typeface="Cambria Math" panose="02040503050406030204" pitchFamily="18" charset="0"/>
                            </a:rPr>
                            <m:t>𝑖</m:t>
                          </m:r>
                          <m:r>
                            <a:rPr lang="en-US" altLang="zh-TW" sz="2000" i="1">
                              <a:solidFill>
                                <a:srgbClr val="7030A0"/>
                              </a:solidFill>
                              <a:latin typeface="Cambria Math" panose="02040503050406030204" pitchFamily="18" charset="0"/>
                            </a:rPr>
                            <m:t>=1</m:t>
                          </m:r>
                        </m:sub>
                        <m:sup>
                          <m:r>
                            <a:rPr lang="en-US" altLang="zh-TW" sz="2000" i="1">
                              <a:solidFill>
                                <a:srgbClr val="7030A0"/>
                              </a:solidFill>
                              <a:latin typeface="Cambria Math" panose="02040503050406030204" pitchFamily="18" charset="0"/>
                            </a:rPr>
                            <m:t>𝑁</m:t>
                          </m:r>
                        </m:sup>
                        <m:e>
                          <m:r>
                            <a:rPr lang="en-US" altLang="zh-TW" sz="2000" b="0" i="1" smtClean="0">
                              <a:solidFill>
                                <a:srgbClr val="7030A0"/>
                              </a:solidFill>
                              <a:latin typeface="Cambria Math" panose="02040503050406030204" pitchFamily="18" charset="0"/>
                            </a:rPr>
                            <m:t>(</m:t>
                          </m:r>
                          <m:sSub>
                            <m:sSubPr>
                              <m:ctrlPr>
                                <a:rPr lang="en-US" altLang="zh-TW" sz="2000" i="1">
                                  <a:solidFill>
                                    <a:srgbClr val="7030A0"/>
                                  </a:solidFill>
                                  <a:latin typeface="Cambria Math" panose="02040503050406030204" pitchFamily="18" charset="0"/>
                                </a:rPr>
                              </m:ctrlPr>
                            </m:sSubPr>
                            <m:e>
                              <m:sSub>
                                <m:sSubPr>
                                  <m:ctrlPr>
                                    <a:rPr lang="en-US" altLang="zh-TW" sz="2000" i="1">
                                      <a:solidFill>
                                        <a:srgbClr val="7030A0"/>
                                      </a:solidFill>
                                      <a:latin typeface="Cambria Math" panose="02040503050406030204" pitchFamily="18" charset="0"/>
                                    </a:rPr>
                                  </m:ctrlPr>
                                </m:sSubPr>
                                <m:e>
                                  <m:r>
                                    <a:rPr lang="en-US" altLang="zh-TW" sz="2000" i="1">
                                      <a:solidFill>
                                        <a:srgbClr val="7030A0"/>
                                      </a:solidFill>
                                      <a:latin typeface="Cambria Math" panose="02040503050406030204" pitchFamily="18" charset="0"/>
                                    </a:rPr>
                                    <m:t>𝑦</m:t>
                                  </m:r>
                                </m:e>
                                <m:sub>
                                  <m:r>
                                    <a:rPr lang="en-US" altLang="zh-TW" sz="2000" i="1">
                                      <a:solidFill>
                                        <a:srgbClr val="7030A0"/>
                                      </a:solidFill>
                                      <a:latin typeface="Cambria Math" panose="02040503050406030204" pitchFamily="18" charset="0"/>
                                    </a:rPr>
                                    <m:t>𝑖</m:t>
                                  </m:r>
                                </m:sub>
                              </m:sSub>
                              <m:r>
                                <a:rPr lang="en-US" altLang="zh-TW" sz="2000" i="1">
                                  <a:solidFill>
                                    <a:srgbClr val="7030A0"/>
                                  </a:solidFill>
                                  <a:latin typeface="Cambria Math" panose="02040503050406030204" pitchFamily="18" charset="0"/>
                                </a:rPr>
                                <m:t>−</m:t>
                              </m:r>
                              <m:acc>
                                <m:accPr>
                                  <m:chr m:val="̂"/>
                                  <m:ctrlPr>
                                    <a:rPr lang="en-US" altLang="zh-TW" sz="2000" i="1">
                                      <a:solidFill>
                                        <a:srgbClr val="7030A0"/>
                                      </a:solidFill>
                                      <a:latin typeface="Cambria Math" panose="02040503050406030204" pitchFamily="18" charset="0"/>
                                    </a:rPr>
                                  </m:ctrlPr>
                                </m:accPr>
                                <m:e>
                                  <m:r>
                                    <a:rPr lang="en-US" altLang="zh-TW" sz="2000" i="1">
                                      <a:solidFill>
                                        <a:srgbClr val="7030A0"/>
                                      </a:solidFill>
                                      <a:latin typeface="Cambria Math" panose="02040503050406030204" pitchFamily="18" charset="0"/>
                                    </a:rPr>
                                    <m:t>𝑦</m:t>
                                  </m:r>
                                </m:e>
                              </m:acc>
                            </m:e>
                            <m:sub>
                              <m:r>
                                <a:rPr lang="en-US" altLang="zh-TW" sz="2000" i="1">
                                  <a:solidFill>
                                    <a:srgbClr val="7030A0"/>
                                  </a:solidFill>
                                  <a:latin typeface="Cambria Math" panose="02040503050406030204" pitchFamily="18" charset="0"/>
                                </a:rPr>
                                <m:t>𝑖</m:t>
                              </m:r>
                            </m:sub>
                          </m:sSub>
                          <m:r>
                            <a:rPr lang="en-US" altLang="zh-TW" sz="2000" b="0" i="1" smtClean="0">
                              <a:solidFill>
                                <a:srgbClr val="7030A0"/>
                              </a:solidFill>
                              <a:latin typeface="Cambria Math" panose="02040503050406030204" pitchFamily="18" charset="0"/>
                            </a:rPr>
                            <m:t>)</m:t>
                          </m:r>
                          <m:r>
                            <a:rPr lang="en-US" altLang="zh-TW" sz="2000" i="1" smtClean="0">
                              <a:solidFill>
                                <a:srgbClr val="7030A0"/>
                              </a:solidFill>
                              <a:latin typeface="Cambria Math" panose="02040503050406030204" pitchFamily="18" charset="0"/>
                            </a:rPr>
                            <m:t> </m:t>
                          </m:r>
                        </m:e>
                      </m:nary>
                    </m:oMath>
                  </m:oMathPara>
                </a14:m>
                <a:endParaRPr lang="zh-TW" altLang="en-US" sz="2000" dirty="0">
                  <a:solidFill>
                    <a:srgbClr val="7030A0"/>
                  </a:solidFill>
                </a:endParaRPr>
              </a:p>
            </p:txBody>
          </p:sp>
        </mc:Choice>
        <mc:Fallback xmlns="">
          <p:sp>
            <p:nvSpPr>
              <p:cNvPr id="21" name="文字方塊 20">
                <a:extLst>
                  <a:ext uri="{FF2B5EF4-FFF2-40B4-BE49-F238E27FC236}">
                    <a16:creationId xmlns:a16="http://schemas.microsoft.com/office/drawing/2014/main" id="{92876547-59DD-4D17-41EE-79BB8B40D6F3}"/>
                  </a:ext>
                </a:extLst>
              </p:cNvPr>
              <p:cNvSpPr txBox="1">
                <a:spLocks noRot="1" noChangeAspect="1" noMove="1" noResize="1" noEditPoints="1" noAdjustHandles="1" noChangeArrowheads="1" noChangeShapeType="1" noTextEdit="1"/>
              </p:cNvSpPr>
              <p:nvPr/>
            </p:nvSpPr>
            <p:spPr>
              <a:xfrm>
                <a:off x="106864" y="2293774"/>
                <a:ext cx="5417999" cy="1359924"/>
              </a:xfrm>
              <a:prstGeom prst="rect">
                <a:avLst/>
              </a:prstGeom>
              <a:blipFill>
                <a:blip r:embed="rId3"/>
                <a:stretch>
                  <a:fillRect l="-1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3542D740-B152-F38F-23FC-7A0A397EBF47}"/>
                  </a:ext>
                </a:extLst>
              </p:cNvPr>
              <p:cNvSpPr txBox="1"/>
              <p:nvPr/>
            </p:nvSpPr>
            <p:spPr>
              <a:xfrm>
                <a:off x="106864" y="3879632"/>
                <a:ext cx="5579909" cy="1359924"/>
              </a:xfrm>
              <a:prstGeom prst="rect">
                <a:avLst/>
              </a:prstGeom>
              <a:noFill/>
            </p:spPr>
            <p:txBody>
              <a:bodyPr wrap="square" lIns="0" tIns="0" rIns="0" bIns="0" rtlCol="0">
                <a:spAutoFit/>
              </a:bodyPr>
              <a:lstStyle/>
              <a:p>
                <a14:m>
                  <m:oMath xmlns:m="http://schemas.openxmlformats.org/officeDocument/2006/math">
                    <m:f>
                      <m:fPr>
                        <m:ctrlPr>
                          <a:rPr lang="en-US" altLang="zh-TW" sz="2000" b="0" i="1" smtClean="0">
                            <a:solidFill>
                              <a:srgbClr val="7030A0"/>
                            </a:solidFill>
                            <a:latin typeface="Cambria Math" panose="02040503050406030204" pitchFamily="18" charset="0"/>
                          </a:rPr>
                        </m:ctrlPr>
                      </m:fPr>
                      <m:num>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𝑀𝑆𝐸</m:t>
                        </m:r>
                      </m:num>
                      <m:den>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𝑏</m:t>
                        </m:r>
                      </m:den>
                    </m:f>
                    <m:r>
                      <a:rPr lang="en-US" altLang="zh-TW" sz="2000" b="0" i="0" smtClean="0">
                        <a:solidFill>
                          <a:srgbClr val="7030A0"/>
                        </a:solidFill>
                        <a:latin typeface="Cambria Math" panose="02040503050406030204" pitchFamily="18" charset="0"/>
                      </a:rPr>
                      <m:t>=</m:t>
                    </m:r>
                    <m:f>
                      <m:fPr>
                        <m:ctrlPr>
                          <a:rPr lang="en-US" altLang="zh-TW" sz="2000" i="1">
                            <a:solidFill>
                              <a:srgbClr val="7030A0"/>
                            </a:solidFill>
                            <a:latin typeface="Cambria Math" panose="02040503050406030204" pitchFamily="18" charset="0"/>
                          </a:rPr>
                        </m:ctrlPr>
                      </m:fPr>
                      <m:num>
                        <m:r>
                          <a:rPr lang="zh-TW" altLang="en-US" sz="2000" i="1">
                            <a:solidFill>
                              <a:srgbClr val="7030A0"/>
                            </a:solidFill>
                            <a:latin typeface="Cambria Math" panose="02040503050406030204" pitchFamily="18" charset="0"/>
                          </a:rPr>
                          <m:t>𝛿</m:t>
                        </m:r>
                        <m:r>
                          <a:rPr lang="en-US" altLang="zh-TW" sz="2000" i="1">
                            <a:solidFill>
                              <a:srgbClr val="7030A0"/>
                            </a:solidFill>
                            <a:latin typeface="Cambria Math" panose="02040503050406030204" pitchFamily="18" charset="0"/>
                          </a:rPr>
                          <m:t>𝑀𝑆𝐸</m:t>
                        </m:r>
                      </m:num>
                      <m:den>
                        <m:r>
                          <a:rPr lang="zh-TW" altLang="en-US" sz="2000" i="1">
                            <a:solidFill>
                              <a:srgbClr val="7030A0"/>
                            </a:solidFill>
                            <a:latin typeface="Cambria Math" panose="02040503050406030204" pitchFamily="18" charset="0"/>
                          </a:rPr>
                          <m:t>𝛿</m:t>
                        </m:r>
                        <m:sSub>
                          <m:sSubPr>
                            <m:ctrlPr>
                              <a:rPr lang="en-US" altLang="zh-TW" sz="2000" i="1">
                                <a:solidFill>
                                  <a:srgbClr val="7030A0"/>
                                </a:solidFill>
                                <a:latin typeface="Cambria Math" panose="02040503050406030204" pitchFamily="18" charset="0"/>
                              </a:rPr>
                            </m:ctrlPr>
                          </m:sSubPr>
                          <m:e>
                            <m:acc>
                              <m:accPr>
                                <m:chr m:val="̂"/>
                                <m:ctrlPr>
                                  <a:rPr lang="en-US" altLang="zh-TW" sz="2000" i="1">
                                    <a:solidFill>
                                      <a:srgbClr val="7030A0"/>
                                    </a:solidFill>
                                    <a:latin typeface="Cambria Math" panose="02040503050406030204" pitchFamily="18" charset="0"/>
                                  </a:rPr>
                                </m:ctrlPr>
                              </m:accPr>
                              <m:e>
                                <m:r>
                                  <a:rPr lang="en-US" altLang="zh-TW" sz="2000" i="1">
                                    <a:solidFill>
                                      <a:srgbClr val="7030A0"/>
                                    </a:solidFill>
                                    <a:latin typeface="Cambria Math" panose="02040503050406030204" pitchFamily="18" charset="0"/>
                                  </a:rPr>
                                  <m:t>𝑦</m:t>
                                </m:r>
                              </m:e>
                            </m:acc>
                          </m:e>
                          <m:sub>
                            <m:r>
                              <a:rPr lang="en-US" altLang="zh-TW" sz="2000" i="1">
                                <a:solidFill>
                                  <a:srgbClr val="7030A0"/>
                                </a:solidFill>
                                <a:latin typeface="Cambria Math" panose="02040503050406030204" pitchFamily="18" charset="0"/>
                              </a:rPr>
                              <m:t>𝑖</m:t>
                            </m:r>
                          </m:sub>
                        </m:sSub>
                      </m:den>
                    </m:f>
                    <m:r>
                      <a:rPr lang="en-US" altLang="zh-TW" sz="2000" i="1" smtClean="0">
                        <a:solidFill>
                          <a:srgbClr val="7030A0"/>
                        </a:solidFill>
                        <a:latin typeface="Cambria Math" panose="02040503050406030204" pitchFamily="18" charset="0"/>
                        <a:ea typeface="Cambria Math" panose="02040503050406030204" pitchFamily="18" charset="0"/>
                      </a:rPr>
                      <m:t>∙</m:t>
                    </m:r>
                    <m:f>
                      <m:fPr>
                        <m:ctrlPr>
                          <a:rPr lang="en-US" altLang="zh-TW" sz="2000" i="1">
                            <a:solidFill>
                              <a:srgbClr val="7030A0"/>
                            </a:solidFill>
                            <a:latin typeface="Cambria Math" panose="02040503050406030204" pitchFamily="18" charset="0"/>
                          </a:rPr>
                        </m:ctrlPr>
                      </m:fPr>
                      <m:num>
                        <m:r>
                          <a:rPr lang="zh-TW" altLang="en-US" sz="2000" i="1">
                            <a:solidFill>
                              <a:srgbClr val="7030A0"/>
                            </a:solidFill>
                            <a:latin typeface="Cambria Math" panose="02040503050406030204" pitchFamily="18" charset="0"/>
                          </a:rPr>
                          <m:t>𝛿</m:t>
                        </m:r>
                        <m:sSub>
                          <m:sSubPr>
                            <m:ctrlPr>
                              <a:rPr lang="en-US" altLang="zh-TW" sz="2000" i="1" smtClean="0">
                                <a:solidFill>
                                  <a:srgbClr val="7030A0"/>
                                </a:solidFill>
                                <a:latin typeface="Cambria Math" panose="02040503050406030204" pitchFamily="18" charset="0"/>
                              </a:rPr>
                            </m:ctrlPr>
                          </m:sSubPr>
                          <m:e>
                            <m:acc>
                              <m:accPr>
                                <m:chr m:val="̂"/>
                                <m:ctrlPr>
                                  <a:rPr lang="en-US" altLang="zh-TW" sz="2000" b="0" i="1" smtClean="0">
                                    <a:solidFill>
                                      <a:srgbClr val="7030A0"/>
                                    </a:solidFill>
                                    <a:latin typeface="Cambria Math" panose="02040503050406030204" pitchFamily="18" charset="0"/>
                                  </a:rPr>
                                </m:ctrlPr>
                              </m:accPr>
                              <m:e>
                                <m:r>
                                  <a:rPr lang="en-US" altLang="zh-TW" sz="2000" b="0" i="1" smtClean="0">
                                    <a:solidFill>
                                      <a:srgbClr val="7030A0"/>
                                    </a:solidFill>
                                    <a:latin typeface="Cambria Math" panose="02040503050406030204" pitchFamily="18" charset="0"/>
                                  </a:rPr>
                                  <m:t>𝑦</m:t>
                                </m:r>
                              </m:e>
                            </m:acc>
                          </m:e>
                          <m:sub>
                            <m:r>
                              <a:rPr lang="en-US" altLang="zh-TW" sz="2000" b="0" i="1" smtClean="0">
                                <a:solidFill>
                                  <a:srgbClr val="7030A0"/>
                                </a:solidFill>
                                <a:latin typeface="Cambria Math" panose="02040503050406030204" pitchFamily="18" charset="0"/>
                              </a:rPr>
                              <m:t>𝑖</m:t>
                            </m:r>
                          </m:sub>
                        </m:sSub>
                      </m:num>
                      <m:den>
                        <m:r>
                          <a:rPr lang="zh-TW" altLang="en-US" sz="2000" i="1">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𝑏</m:t>
                        </m:r>
                      </m:den>
                    </m:f>
                    <m:r>
                      <a:rPr lang="en-US" altLang="zh-TW" sz="2000">
                        <a:solidFill>
                          <a:srgbClr val="7030A0"/>
                        </a:solidFill>
                        <a:latin typeface="Cambria Math" panose="02040503050406030204" pitchFamily="18" charset="0"/>
                      </a:rPr>
                      <m:t>=</m:t>
                    </m:r>
                  </m:oMath>
                </a14:m>
                <a:r>
                  <a:rPr lang="en-US" altLang="zh-TW" sz="2000" dirty="0">
                    <a:solidFill>
                      <a:srgbClr val="7030A0"/>
                    </a:solidFill>
                  </a:rPr>
                  <a:t> </a:t>
                </a:r>
                <a14:m>
                  <m:oMath xmlns:m="http://schemas.openxmlformats.org/officeDocument/2006/math">
                    <m:f>
                      <m:fPr>
                        <m:ctrlPr>
                          <a:rPr lang="en-US" altLang="zh-TW" sz="2000" i="1">
                            <a:solidFill>
                              <a:srgbClr val="7030A0"/>
                            </a:solidFill>
                            <a:latin typeface="Cambria Math" panose="02040503050406030204" pitchFamily="18" charset="0"/>
                          </a:rPr>
                        </m:ctrlPr>
                      </m:fPr>
                      <m:num>
                        <m:r>
                          <a:rPr lang="en-US" altLang="zh-TW" sz="2000" i="1">
                            <a:solidFill>
                              <a:srgbClr val="7030A0"/>
                            </a:solidFill>
                            <a:latin typeface="Cambria Math" panose="02040503050406030204" pitchFamily="18" charset="0"/>
                          </a:rPr>
                          <m:t>1</m:t>
                        </m:r>
                      </m:num>
                      <m:den>
                        <m:r>
                          <a:rPr lang="en-US" altLang="zh-TW" sz="2000" i="1">
                            <a:solidFill>
                              <a:srgbClr val="7030A0"/>
                            </a:solidFill>
                            <a:latin typeface="Cambria Math" panose="02040503050406030204" pitchFamily="18" charset="0"/>
                          </a:rPr>
                          <m:t>𝑁</m:t>
                        </m:r>
                      </m:den>
                    </m:f>
                    <m:nary>
                      <m:naryPr>
                        <m:chr m:val="∑"/>
                        <m:ctrlPr>
                          <a:rPr lang="en-US" altLang="zh-TW" sz="2000" i="1">
                            <a:solidFill>
                              <a:srgbClr val="7030A0"/>
                            </a:solidFill>
                            <a:latin typeface="Cambria Math" panose="02040503050406030204" pitchFamily="18" charset="0"/>
                          </a:rPr>
                        </m:ctrlPr>
                      </m:naryPr>
                      <m:sub>
                        <m:r>
                          <m:rPr>
                            <m:brk m:alnAt="23"/>
                          </m:rPr>
                          <a:rPr lang="en-US" altLang="zh-TW" sz="2000" i="1">
                            <a:solidFill>
                              <a:srgbClr val="7030A0"/>
                            </a:solidFill>
                            <a:latin typeface="Cambria Math" panose="02040503050406030204" pitchFamily="18" charset="0"/>
                          </a:rPr>
                          <m:t>𝑖</m:t>
                        </m:r>
                        <m:r>
                          <a:rPr lang="en-US" altLang="zh-TW" sz="2000" i="1">
                            <a:solidFill>
                              <a:srgbClr val="7030A0"/>
                            </a:solidFill>
                            <a:latin typeface="Cambria Math" panose="02040503050406030204" pitchFamily="18" charset="0"/>
                          </a:rPr>
                          <m:t>=1</m:t>
                        </m:r>
                      </m:sub>
                      <m:sup>
                        <m:r>
                          <a:rPr lang="en-US" altLang="zh-TW" sz="2000" i="1">
                            <a:solidFill>
                              <a:srgbClr val="7030A0"/>
                            </a:solidFill>
                            <a:latin typeface="Cambria Math" panose="02040503050406030204" pitchFamily="18" charset="0"/>
                          </a:rPr>
                          <m:t>𝑁</m:t>
                        </m:r>
                      </m:sup>
                      <m:e>
                        <m:r>
                          <a:rPr lang="en-US" altLang="zh-TW" sz="2000" b="0" i="1" smtClean="0">
                            <a:solidFill>
                              <a:srgbClr val="7030A0"/>
                            </a:solidFill>
                            <a:latin typeface="Cambria Math" panose="02040503050406030204" pitchFamily="18" charset="0"/>
                          </a:rPr>
                          <m:t>2</m:t>
                        </m:r>
                        <m:d>
                          <m:dPr>
                            <m:ctrlPr>
                              <a:rPr lang="en-US" altLang="zh-TW" sz="2000" i="1">
                                <a:solidFill>
                                  <a:srgbClr val="7030A0"/>
                                </a:solidFill>
                                <a:latin typeface="Cambria Math" panose="02040503050406030204" pitchFamily="18" charset="0"/>
                              </a:rPr>
                            </m:ctrlPr>
                          </m:dPr>
                          <m:e>
                            <m:sSub>
                              <m:sSubPr>
                                <m:ctrlPr>
                                  <a:rPr lang="en-US" altLang="zh-TW" sz="2000" i="1">
                                    <a:solidFill>
                                      <a:srgbClr val="7030A0"/>
                                    </a:solidFill>
                                    <a:latin typeface="Cambria Math" panose="02040503050406030204" pitchFamily="18" charset="0"/>
                                  </a:rPr>
                                </m:ctrlPr>
                              </m:sSubPr>
                              <m:e>
                                <m:r>
                                  <a:rPr lang="en-US" altLang="zh-TW" sz="2000" i="1">
                                    <a:solidFill>
                                      <a:srgbClr val="7030A0"/>
                                    </a:solidFill>
                                    <a:latin typeface="Cambria Math" panose="02040503050406030204" pitchFamily="18" charset="0"/>
                                  </a:rPr>
                                  <m:t>𝑦</m:t>
                                </m:r>
                              </m:e>
                              <m:sub>
                                <m:r>
                                  <a:rPr lang="en-US" altLang="zh-TW" sz="2000" i="1">
                                    <a:solidFill>
                                      <a:srgbClr val="7030A0"/>
                                    </a:solidFill>
                                    <a:latin typeface="Cambria Math" panose="02040503050406030204" pitchFamily="18" charset="0"/>
                                  </a:rPr>
                                  <m:t>𝑖</m:t>
                                </m:r>
                              </m:sub>
                            </m:sSub>
                            <m:r>
                              <a:rPr lang="en-US" altLang="zh-TW" sz="2000" i="1">
                                <a:solidFill>
                                  <a:srgbClr val="7030A0"/>
                                </a:solidFill>
                                <a:latin typeface="Cambria Math" panose="02040503050406030204" pitchFamily="18" charset="0"/>
                              </a:rPr>
                              <m:t>−</m:t>
                            </m:r>
                            <m:r>
                              <a:rPr lang="en-US" altLang="zh-TW" sz="2000" i="1">
                                <a:solidFill>
                                  <a:srgbClr val="7030A0"/>
                                </a:solidFill>
                                <a:latin typeface="Cambria Math" panose="02040503050406030204" pitchFamily="18" charset="0"/>
                              </a:rPr>
                              <m:t>𝑎</m:t>
                            </m:r>
                            <m:r>
                              <a:rPr lang="en-US" altLang="zh-TW" sz="2000" i="1">
                                <a:solidFill>
                                  <a:srgbClr val="7030A0"/>
                                </a:solidFill>
                                <a:latin typeface="Cambria Math" panose="02040503050406030204" pitchFamily="18" charset="0"/>
                              </a:rPr>
                              <m:t>−</m:t>
                            </m:r>
                            <m:r>
                              <a:rPr lang="en-US" altLang="zh-TW" sz="2000" i="1">
                                <a:solidFill>
                                  <a:srgbClr val="7030A0"/>
                                </a:solidFill>
                                <a:latin typeface="Cambria Math" panose="02040503050406030204" pitchFamily="18" charset="0"/>
                              </a:rPr>
                              <m:t>𝑏</m:t>
                            </m:r>
                            <m:sSub>
                              <m:sSubPr>
                                <m:ctrlPr>
                                  <a:rPr lang="en-US" altLang="zh-TW" sz="2000" i="1">
                                    <a:solidFill>
                                      <a:srgbClr val="7030A0"/>
                                    </a:solidFill>
                                    <a:latin typeface="Cambria Math" panose="02040503050406030204" pitchFamily="18" charset="0"/>
                                  </a:rPr>
                                </m:ctrlPr>
                              </m:sSubPr>
                              <m:e>
                                <m:r>
                                  <a:rPr lang="en-US" altLang="zh-TW" sz="2000" i="1">
                                    <a:solidFill>
                                      <a:srgbClr val="7030A0"/>
                                    </a:solidFill>
                                    <a:latin typeface="Cambria Math" panose="02040503050406030204" pitchFamily="18" charset="0"/>
                                  </a:rPr>
                                  <m:t>𝑥</m:t>
                                </m:r>
                              </m:e>
                              <m:sub>
                                <m:r>
                                  <a:rPr lang="en-US" altLang="zh-TW" sz="2000" i="1">
                                    <a:solidFill>
                                      <a:srgbClr val="7030A0"/>
                                    </a:solidFill>
                                    <a:latin typeface="Cambria Math" panose="02040503050406030204" pitchFamily="18" charset="0"/>
                                  </a:rPr>
                                  <m:t>𝑖</m:t>
                                </m:r>
                              </m:sub>
                            </m:sSub>
                          </m:e>
                        </m:d>
                        <m:d>
                          <m:dPr>
                            <m:ctrlPr>
                              <a:rPr lang="en-US" altLang="zh-TW" sz="2000" b="0" i="1" smtClean="0">
                                <a:solidFill>
                                  <a:srgbClr val="7030A0"/>
                                </a:solidFill>
                                <a:latin typeface="Cambria Math" panose="02040503050406030204" pitchFamily="18" charset="0"/>
                              </a:rPr>
                            </m:ctrlPr>
                          </m:dPr>
                          <m:e>
                            <m:r>
                              <a:rPr lang="en-US" altLang="zh-TW" sz="2000" b="0" i="1" smtClean="0">
                                <a:solidFill>
                                  <a:srgbClr val="7030A0"/>
                                </a:solidFill>
                                <a:latin typeface="Cambria Math" panose="02040503050406030204" pitchFamily="18" charset="0"/>
                              </a:rPr>
                              <m:t>−</m:t>
                            </m:r>
                            <m:sSub>
                              <m:sSubPr>
                                <m:ctrlPr>
                                  <a:rPr lang="en-US" altLang="zh-TW" sz="2000" b="0" i="1" smtClean="0">
                                    <a:solidFill>
                                      <a:srgbClr val="7030A0"/>
                                    </a:solidFill>
                                    <a:latin typeface="Cambria Math" panose="02040503050406030204" pitchFamily="18" charset="0"/>
                                  </a:rPr>
                                </m:ctrlPr>
                              </m:sSubPr>
                              <m:e>
                                <m:r>
                                  <a:rPr lang="en-US" altLang="zh-TW" sz="2000" b="0" i="1" smtClean="0">
                                    <a:solidFill>
                                      <a:srgbClr val="7030A0"/>
                                    </a:solidFill>
                                    <a:latin typeface="Cambria Math" panose="02040503050406030204" pitchFamily="18" charset="0"/>
                                  </a:rPr>
                                  <m:t>𝑥</m:t>
                                </m:r>
                              </m:e>
                              <m:sub>
                                <m:r>
                                  <a:rPr lang="en-US" altLang="zh-TW" sz="2000" b="0" i="1" smtClean="0">
                                    <a:solidFill>
                                      <a:srgbClr val="7030A0"/>
                                    </a:solidFill>
                                    <a:latin typeface="Cambria Math" panose="02040503050406030204" pitchFamily="18" charset="0"/>
                                  </a:rPr>
                                  <m:t>𝑖</m:t>
                                </m:r>
                              </m:sub>
                            </m:sSub>
                          </m:e>
                        </m:d>
                      </m:e>
                    </m:nary>
                  </m:oMath>
                </a14:m>
                <a:endParaRPr lang="en-US" altLang="zh-TW" sz="2000" i="1" dirty="0">
                  <a:solidFill>
                    <a:srgbClr val="7030A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000" b="0" i="1" smtClean="0">
                          <a:solidFill>
                            <a:srgbClr val="7030A0"/>
                          </a:solidFill>
                          <a:latin typeface="Cambria Math" panose="02040503050406030204" pitchFamily="18" charset="0"/>
                        </a:rPr>
                        <m:t>=</m:t>
                      </m:r>
                      <m:f>
                        <m:fPr>
                          <m:ctrlPr>
                            <a:rPr lang="en-US" altLang="zh-TW" sz="2000" i="1">
                              <a:solidFill>
                                <a:srgbClr val="7030A0"/>
                              </a:solidFill>
                              <a:latin typeface="Cambria Math" panose="02040503050406030204" pitchFamily="18" charset="0"/>
                            </a:rPr>
                          </m:ctrlPr>
                        </m:fPr>
                        <m:num>
                          <m:r>
                            <a:rPr lang="en-US" altLang="zh-TW" sz="2000" b="0" i="1" smtClean="0">
                              <a:solidFill>
                                <a:srgbClr val="7030A0"/>
                              </a:solidFill>
                              <a:latin typeface="Cambria Math" panose="02040503050406030204" pitchFamily="18" charset="0"/>
                            </a:rPr>
                            <m:t>−2</m:t>
                          </m:r>
                        </m:num>
                        <m:den>
                          <m:r>
                            <a:rPr lang="en-US" altLang="zh-TW" sz="2000" i="1">
                              <a:solidFill>
                                <a:srgbClr val="7030A0"/>
                              </a:solidFill>
                              <a:latin typeface="Cambria Math" panose="02040503050406030204" pitchFamily="18" charset="0"/>
                            </a:rPr>
                            <m:t>𝑁</m:t>
                          </m:r>
                        </m:den>
                      </m:f>
                      <m:nary>
                        <m:naryPr>
                          <m:chr m:val="∑"/>
                          <m:ctrlPr>
                            <a:rPr lang="en-US" altLang="zh-TW" sz="2000" i="1">
                              <a:solidFill>
                                <a:srgbClr val="7030A0"/>
                              </a:solidFill>
                              <a:latin typeface="Cambria Math" panose="02040503050406030204" pitchFamily="18" charset="0"/>
                            </a:rPr>
                          </m:ctrlPr>
                        </m:naryPr>
                        <m:sub>
                          <m:r>
                            <m:rPr>
                              <m:brk m:alnAt="23"/>
                            </m:rPr>
                            <a:rPr lang="en-US" altLang="zh-TW" sz="2000" i="1">
                              <a:solidFill>
                                <a:srgbClr val="7030A0"/>
                              </a:solidFill>
                              <a:latin typeface="Cambria Math" panose="02040503050406030204" pitchFamily="18" charset="0"/>
                            </a:rPr>
                            <m:t>𝑖</m:t>
                          </m:r>
                          <m:r>
                            <a:rPr lang="en-US" altLang="zh-TW" sz="2000" i="1">
                              <a:solidFill>
                                <a:srgbClr val="7030A0"/>
                              </a:solidFill>
                              <a:latin typeface="Cambria Math" panose="02040503050406030204" pitchFamily="18" charset="0"/>
                            </a:rPr>
                            <m:t>=1</m:t>
                          </m:r>
                        </m:sub>
                        <m:sup>
                          <m:r>
                            <a:rPr lang="en-US" altLang="zh-TW" sz="2000" i="1">
                              <a:solidFill>
                                <a:srgbClr val="7030A0"/>
                              </a:solidFill>
                              <a:latin typeface="Cambria Math" panose="02040503050406030204" pitchFamily="18" charset="0"/>
                            </a:rPr>
                            <m:t>𝑁</m:t>
                          </m:r>
                        </m:sup>
                        <m:e>
                          <m:sSub>
                            <m:sSubPr>
                              <m:ctrlPr>
                                <a:rPr lang="en-US" altLang="zh-TW" sz="2000" i="1" smtClean="0">
                                  <a:solidFill>
                                    <a:srgbClr val="7030A0"/>
                                  </a:solidFill>
                                  <a:latin typeface="Cambria Math" panose="02040503050406030204" pitchFamily="18" charset="0"/>
                                </a:rPr>
                              </m:ctrlPr>
                            </m:sSubPr>
                            <m:e>
                              <m:r>
                                <a:rPr lang="en-US" altLang="zh-TW" sz="2000" b="0" i="1" smtClean="0">
                                  <a:solidFill>
                                    <a:srgbClr val="7030A0"/>
                                  </a:solidFill>
                                  <a:latin typeface="Cambria Math" panose="02040503050406030204" pitchFamily="18" charset="0"/>
                                </a:rPr>
                                <m:t>𝑥</m:t>
                              </m:r>
                            </m:e>
                            <m:sub>
                              <m:r>
                                <a:rPr lang="en-US" altLang="zh-TW" sz="2000" b="0" i="1" smtClean="0">
                                  <a:solidFill>
                                    <a:srgbClr val="7030A0"/>
                                  </a:solidFill>
                                  <a:latin typeface="Cambria Math" panose="02040503050406030204" pitchFamily="18" charset="0"/>
                                </a:rPr>
                                <m:t>𝑖</m:t>
                              </m:r>
                            </m:sub>
                          </m:sSub>
                          <m:r>
                            <a:rPr lang="en-US" altLang="zh-TW" sz="2000" b="0" i="1" smtClean="0">
                              <a:solidFill>
                                <a:srgbClr val="7030A0"/>
                              </a:solidFill>
                              <a:latin typeface="Cambria Math" panose="02040503050406030204" pitchFamily="18" charset="0"/>
                            </a:rPr>
                            <m:t>(</m:t>
                          </m:r>
                          <m:sSub>
                            <m:sSubPr>
                              <m:ctrlPr>
                                <a:rPr lang="en-US" altLang="zh-TW" sz="2000" i="1">
                                  <a:solidFill>
                                    <a:srgbClr val="7030A0"/>
                                  </a:solidFill>
                                  <a:latin typeface="Cambria Math" panose="02040503050406030204" pitchFamily="18" charset="0"/>
                                </a:rPr>
                              </m:ctrlPr>
                            </m:sSubPr>
                            <m:e>
                              <m:sSub>
                                <m:sSubPr>
                                  <m:ctrlPr>
                                    <a:rPr lang="en-US" altLang="zh-TW" sz="2000" i="1">
                                      <a:solidFill>
                                        <a:srgbClr val="7030A0"/>
                                      </a:solidFill>
                                      <a:latin typeface="Cambria Math" panose="02040503050406030204" pitchFamily="18" charset="0"/>
                                    </a:rPr>
                                  </m:ctrlPr>
                                </m:sSubPr>
                                <m:e>
                                  <m:r>
                                    <a:rPr lang="en-US" altLang="zh-TW" sz="2000" i="1">
                                      <a:solidFill>
                                        <a:srgbClr val="7030A0"/>
                                      </a:solidFill>
                                      <a:latin typeface="Cambria Math" panose="02040503050406030204" pitchFamily="18" charset="0"/>
                                    </a:rPr>
                                    <m:t>𝑦</m:t>
                                  </m:r>
                                </m:e>
                                <m:sub>
                                  <m:r>
                                    <a:rPr lang="en-US" altLang="zh-TW" sz="2000" i="1">
                                      <a:solidFill>
                                        <a:srgbClr val="7030A0"/>
                                      </a:solidFill>
                                      <a:latin typeface="Cambria Math" panose="02040503050406030204" pitchFamily="18" charset="0"/>
                                    </a:rPr>
                                    <m:t>𝑖</m:t>
                                  </m:r>
                                </m:sub>
                              </m:sSub>
                              <m:r>
                                <a:rPr lang="en-US" altLang="zh-TW" sz="2000" i="1">
                                  <a:solidFill>
                                    <a:srgbClr val="7030A0"/>
                                  </a:solidFill>
                                  <a:latin typeface="Cambria Math" panose="02040503050406030204" pitchFamily="18" charset="0"/>
                                </a:rPr>
                                <m:t>−</m:t>
                              </m:r>
                              <m:acc>
                                <m:accPr>
                                  <m:chr m:val="̂"/>
                                  <m:ctrlPr>
                                    <a:rPr lang="en-US" altLang="zh-TW" sz="2000" i="1">
                                      <a:solidFill>
                                        <a:srgbClr val="7030A0"/>
                                      </a:solidFill>
                                      <a:latin typeface="Cambria Math" panose="02040503050406030204" pitchFamily="18" charset="0"/>
                                    </a:rPr>
                                  </m:ctrlPr>
                                </m:accPr>
                                <m:e>
                                  <m:r>
                                    <a:rPr lang="en-US" altLang="zh-TW" sz="2000" i="1">
                                      <a:solidFill>
                                        <a:srgbClr val="7030A0"/>
                                      </a:solidFill>
                                      <a:latin typeface="Cambria Math" panose="02040503050406030204" pitchFamily="18" charset="0"/>
                                    </a:rPr>
                                    <m:t>𝑦</m:t>
                                  </m:r>
                                </m:e>
                              </m:acc>
                            </m:e>
                            <m:sub>
                              <m:r>
                                <a:rPr lang="en-US" altLang="zh-TW" sz="2000" i="1">
                                  <a:solidFill>
                                    <a:srgbClr val="7030A0"/>
                                  </a:solidFill>
                                  <a:latin typeface="Cambria Math" panose="02040503050406030204" pitchFamily="18" charset="0"/>
                                </a:rPr>
                                <m:t>𝑖</m:t>
                              </m:r>
                            </m:sub>
                          </m:sSub>
                          <m:r>
                            <a:rPr lang="en-US" altLang="zh-TW" sz="2000" b="0" i="1" smtClean="0">
                              <a:solidFill>
                                <a:srgbClr val="7030A0"/>
                              </a:solidFill>
                              <a:latin typeface="Cambria Math" panose="02040503050406030204" pitchFamily="18" charset="0"/>
                            </a:rPr>
                            <m:t>)</m:t>
                          </m:r>
                          <m:r>
                            <a:rPr lang="en-US" altLang="zh-TW" sz="2000" i="1" smtClean="0">
                              <a:solidFill>
                                <a:srgbClr val="7030A0"/>
                              </a:solidFill>
                              <a:latin typeface="Cambria Math" panose="02040503050406030204" pitchFamily="18" charset="0"/>
                            </a:rPr>
                            <m:t> </m:t>
                          </m:r>
                        </m:e>
                      </m:nary>
                    </m:oMath>
                  </m:oMathPara>
                </a14:m>
                <a:endParaRPr lang="zh-TW" altLang="en-US" sz="2000" dirty="0">
                  <a:solidFill>
                    <a:schemeClr val="accent5">
                      <a:lumMod val="50000"/>
                    </a:schemeClr>
                  </a:solidFill>
                </a:endParaRPr>
              </a:p>
            </p:txBody>
          </p:sp>
        </mc:Choice>
        <mc:Fallback xmlns="">
          <p:sp>
            <p:nvSpPr>
              <p:cNvPr id="22" name="文字方塊 21">
                <a:extLst>
                  <a:ext uri="{FF2B5EF4-FFF2-40B4-BE49-F238E27FC236}">
                    <a16:creationId xmlns:a16="http://schemas.microsoft.com/office/drawing/2014/main" id="{3542D740-B152-F38F-23FC-7A0A397EBF47}"/>
                  </a:ext>
                </a:extLst>
              </p:cNvPr>
              <p:cNvSpPr txBox="1">
                <a:spLocks noRot="1" noChangeAspect="1" noMove="1" noResize="1" noEditPoints="1" noAdjustHandles="1" noChangeArrowheads="1" noChangeShapeType="1" noTextEdit="1"/>
              </p:cNvSpPr>
              <p:nvPr/>
            </p:nvSpPr>
            <p:spPr>
              <a:xfrm>
                <a:off x="106864" y="3879632"/>
                <a:ext cx="5579909" cy="1359924"/>
              </a:xfrm>
              <a:prstGeom prst="rect">
                <a:avLst/>
              </a:prstGeom>
              <a:blipFill>
                <a:blip r:embed="rId4"/>
                <a:stretch>
                  <a:fillRect l="-1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40CA1960-57B0-4AD9-564D-1E87615564E7}"/>
                  </a:ext>
                </a:extLst>
              </p:cNvPr>
              <p:cNvSpPr txBox="1"/>
              <p:nvPr/>
            </p:nvSpPr>
            <p:spPr>
              <a:xfrm>
                <a:off x="447642" y="5465491"/>
                <a:ext cx="2153707" cy="58516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000" b="0" i="1" smtClean="0">
                          <a:solidFill>
                            <a:srgbClr val="FF0000"/>
                          </a:solidFill>
                          <a:latin typeface="Cambria Math" panose="02040503050406030204" pitchFamily="18" charset="0"/>
                        </a:rPr>
                        <m:t>𝑎</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𝑎</m:t>
                      </m:r>
                      <m:r>
                        <a:rPr lang="en-US" altLang="zh-TW" sz="2000" b="0" i="1" smtClean="0">
                          <a:solidFill>
                            <a:srgbClr val="FF0000"/>
                          </a:solidFill>
                          <a:latin typeface="Cambria Math" panose="02040503050406030204" pitchFamily="18" charset="0"/>
                        </a:rPr>
                        <m:t>−</m:t>
                      </m:r>
                      <m:r>
                        <a:rPr lang="zh-TW" altLang="en-US" sz="2000" b="0" i="1" smtClean="0">
                          <a:solidFill>
                            <a:srgbClr val="FF0000"/>
                          </a:solidFill>
                          <a:latin typeface="Cambria Math" panose="02040503050406030204" pitchFamily="18" charset="0"/>
                        </a:rPr>
                        <m:t>𝜀</m:t>
                      </m:r>
                      <m:f>
                        <m:fPr>
                          <m:ctrlPr>
                            <a:rPr lang="en-US" altLang="zh-TW" sz="2000" i="1">
                              <a:solidFill>
                                <a:srgbClr val="FF0000"/>
                              </a:solidFill>
                              <a:latin typeface="Cambria Math" panose="02040503050406030204" pitchFamily="18" charset="0"/>
                            </a:rPr>
                          </m:ctrlPr>
                        </m:fPr>
                        <m:num>
                          <m:r>
                            <a:rPr lang="zh-TW" altLang="en-US" sz="2000" i="1">
                              <a:solidFill>
                                <a:srgbClr val="FF0000"/>
                              </a:solidFill>
                              <a:latin typeface="Cambria Math" panose="02040503050406030204" pitchFamily="18" charset="0"/>
                            </a:rPr>
                            <m:t>𝛿</m:t>
                          </m:r>
                          <m:r>
                            <a:rPr lang="en-US" altLang="zh-TW" sz="2000" i="1">
                              <a:solidFill>
                                <a:srgbClr val="FF0000"/>
                              </a:solidFill>
                              <a:latin typeface="Cambria Math" panose="02040503050406030204" pitchFamily="18" charset="0"/>
                            </a:rPr>
                            <m:t>𝑀𝑆𝐸</m:t>
                          </m:r>
                        </m:num>
                        <m:den>
                          <m:r>
                            <a:rPr lang="zh-TW" altLang="en-US" sz="2000" i="1">
                              <a:solidFill>
                                <a:srgbClr val="FF0000"/>
                              </a:solidFill>
                              <a:latin typeface="Cambria Math" panose="02040503050406030204" pitchFamily="18" charset="0"/>
                            </a:rPr>
                            <m:t>𝛿</m:t>
                          </m:r>
                          <m:r>
                            <a:rPr lang="en-US" altLang="zh-TW" sz="2000" b="0" i="1" smtClean="0">
                              <a:solidFill>
                                <a:srgbClr val="FF0000"/>
                              </a:solidFill>
                              <a:latin typeface="Cambria Math" panose="02040503050406030204" pitchFamily="18" charset="0"/>
                            </a:rPr>
                            <m:t>𝑎</m:t>
                          </m:r>
                        </m:den>
                      </m:f>
                    </m:oMath>
                  </m:oMathPara>
                </a14:m>
                <a:endParaRPr lang="zh-TW" altLang="en-US" sz="2000" dirty="0">
                  <a:solidFill>
                    <a:srgbClr val="FF0000"/>
                  </a:solidFill>
                </a:endParaRPr>
              </a:p>
            </p:txBody>
          </p:sp>
        </mc:Choice>
        <mc:Fallback xmlns="">
          <p:sp>
            <p:nvSpPr>
              <p:cNvPr id="23" name="文字方塊 22">
                <a:extLst>
                  <a:ext uri="{FF2B5EF4-FFF2-40B4-BE49-F238E27FC236}">
                    <a16:creationId xmlns:a16="http://schemas.microsoft.com/office/drawing/2014/main" id="{40CA1960-57B0-4AD9-564D-1E87615564E7}"/>
                  </a:ext>
                </a:extLst>
              </p:cNvPr>
              <p:cNvSpPr txBox="1">
                <a:spLocks noRot="1" noChangeAspect="1" noMove="1" noResize="1" noEditPoints="1" noAdjustHandles="1" noChangeArrowheads="1" noChangeShapeType="1" noTextEdit="1"/>
              </p:cNvSpPr>
              <p:nvPr/>
            </p:nvSpPr>
            <p:spPr>
              <a:xfrm>
                <a:off x="447642" y="5465491"/>
                <a:ext cx="2153707" cy="58516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97A2D1BD-E14A-F644-0073-DAC97517F744}"/>
                  </a:ext>
                </a:extLst>
              </p:cNvPr>
              <p:cNvSpPr txBox="1"/>
              <p:nvPr/>
            </p:nvSpPr>
            <p:spPr>
              <a:xfrm>
                <a:off x="3027881" y="5507619"/>
                <a:ext cx="2153707" cy="58516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000" b="0" i="1" smtClean="0">
                          <a:solidFill>
                            <a:srgbClr val="FF0000"/>
                          </a:solidFill>
                          <a:latin typeface="Cambria Math" panose="02040503050406030204" pitchFamily="18" charset="0"/>
                        </a:rPr>
                        <m:t>𝑏</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𝑏</m:t>
                      </m:r>
                      <m:r>
                        <a:rPr lang="en-US" altLang="zh-TW" sz="2000" b="0" i="1" smtClean="0">
                          <a:solidFill>
                            <a:srgbClr val="FF0000"/>
                          </a:solidFill>
                          <a:latin typeface="Cambria Math" panose="02040503050406030204" pitchFamily="18" charset="0"/>
                        </a:rPr>
                        <m:t>−</m:t>
                      </m:r>
                      <m:r>
                        <a:rPr lang="zh-TW" altLang="en-US" sz="2000" b="0" i="1" smtClean="0">
                          <a:solidFill>
                            <a:srgbClr val="FF0000"/>
                          </a:solidFill>
                          <a:latin typeface="Cambria Math" panose="02040503050406030204" pitchFamily="18" charset="0"/>
                        </a:rPr>
                        <m:t>𝜀</m:t>
                      </m:r>
                      <m:f>
                        <m:fPr>
                          <m:ctrlPr>
                            <a:rPr lang="en-US" altLang="zh-TW" sz="2000" i="1">
                              <a:solidFill>
                                <a:srgbClr val="FF0000"/>
                              </a:solidFill>
                              <a:latin typeface="Cambria Math" panose="02040503050406030204" pitchFamily="18" charset="0"/>
                            </a:rPr>
                          </m:ctrlPr>
                        </m:fPr>
                        <m:num>
                          <m:r>
                            <a:rPr lang="zh-TW" altLang="en-US" sz="2000" i="1">
                              <a:solidFill>
                                <a:srgbClr val="FF0000"/>
                              </a:solidFill>
                              <a:latin typeface="Cambria Math" panose="02040503050406030204" pitchFamily="18" charset="0"/>
                            </a:rPr>
                            <m:t>𝛿</m:t>
                          </m:r>
                          <m:r>
                            <a:rPr lang="en-US" altLang="zh-TW" sz="2000" i="1">
                              <a:solidFill>
                                <a:srgbClr val="FF0000"/>
                              </a:solidFill>
                              <a:latin typeface="Cambria Math" panose="02040503050406030204" pitchFamily="18" charset="0"/>
                            </a:rPr>
                            <m:t>𝑀𝑆𝐸</m:t>
                          </m:r>
                        </m:num>
                        <m:den>
                          <m:r>
                            <a:rPr lang="zh-TW" altLang="en-US" sz="2000" i="1">
                              <a:solidFill>
                                <a:srgbClr val="FF0000"/>
                              </a:solidFill>
                              <a:latin typeface="Cambria Math" panose="02040503050406030204" pitchFamily="18" charset="0"/>
                            </a:rPr>
                            <m:t>𝛿</m:t>
                          </m:r>
                          <m:r>
                            <a:rPr lang="en-US" altLang="zh-TW" sz="2000" b="0" i="1" smtClean="0">
                              <a:solidFill>
                                <a:srgbClr val="FF0000"/>
                              </a:solidFill>
                              <a:latin typeface="Cambria Math" panose="02040503050406030204" pitchFamily="18" charset="0"/>
                            </a:rPr>
                            <m:t>𝑏</m:t>
                          </m:r>
                        </m:den>
                      </m:f>
                    </m:oMath>
                  </m:oMathPara>
                </a14:m>
                <a:endParaRPr lang="zh-TW" altLang="en-US" sz="2000" dirty="0">
                  <a:solidFill>
                    <a:srgbClr val="FF0000"/>
                  </a:solidFill>
                </a:endParaRPr>
              </a:p>
            </p:txBody>
          </p:sp>
        </mc:Choice>
        <mc:Fallback xmlns="">
          <p:sp>
            <p:nvSpPr>
              <p:cNvPr id="24" name="文字方塊 23">
                <a:extLst>
                  <a:ext uri="{FF2B5EF4-FFF2-40B4-BE49-F238E27FC236}">
                    <a16:creationId xmlns:a16="http://schemas.microsoft.com/office/drawing/2014/main" id="{97A2D1BD-E14A-F644-0073-DAC97517F744}"/>
                  </a:ext>
                </a:extLst>
              </p:cNvPr>
              <p:cNvSpPr txBox="1">
                <a:spLocks noRot="1" noChangeAspect="1" noMove="1" noResize="1" noEditPoints="1" noAdjustHandles="1" noChangeArrowheads="1" noChangeShapeType="1" noTextEdit="1"/>
              </p:cNvSpPr>
              <p:nvPr/>
            </p:nvSpPr>
            <p:spPr>
              <a:xfrm>
                <a:off x="3027881" y="5507619"/>
                <a:ext cx="2153707" cy="585160"/>
              </a:xfrm>
              <a:prstGeom prst="rect">
                <a:avLst/>
              </a:prstGeom>
              <a:blipFill>
                <a:blip r:embed="rId6"/>
                <a:stretch>
                  <a:fillRect/>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C2905843-7C41-63E0-3A0D-33C002A50793}"/>
              </a:ext>
            </a:extLst>
          </p:cNvPr>
          <p:cNvSpPr txBox="1"/>
          <p:nvPr/>
        </p:nvSpPr>
        <p:spPr>
          <a:xfrm>
            <a:off x="6096000" y="6338758"/>
            <a:ext cx="5989136" cy="461665"/>
          </a:xfrm>
          <a:prstGeom prst="rect">
            <a:avLst/>
          </a:prstGeom>
          <a:solidFill>
            <a:schemeClr val="accent6">
              <a:lumMod val="40000"/>
              <a:lumOff val="60000"/>
            </a:schemeClr>
          </a:solidFill>
        </p:spPr>
        <p:txBody>
          <a:bodyPr wrap="square">
            <a:spAutoFit/>
          </a:bodyPr>
          <a:lstStyle/>
          <a:p>
            <a:r>
              <a:rPr lang="en-US" altLang="zh-TW" sz="1200" dirty="0"/>
              <a:t>[-0.35482446] [0.39158424]</a:t>
            </a:r>
          </a:p>
          <a:p>
            <a:r>
              <a:rPr lang="en-US" altLang="zh-TW" sz="1200" dirty="0"/>
              <a:t>[2.01703298] [2.97302273]</a:t>
            </a:r>
            <a:endParaRPr lang="zh-TW" altLang="en-US" sz="1200" dirty="0"/>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39B3F142-C20B-1A90-30D6-1F6B2D54F5DB}"/>
                  </a:ext>
                </a:extLst>
              </p:cNvPr>
              <p:cNvSpPr txBox="1"/>
              <p:nvPr/>
            </p:nvSpPr>
            <p:spPr>
              <a:xfrm>
                <a:off x="1524495" y="258867"/>
                <a:ext cx="2545825" cy="615553"/>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000" b="0" i="1" smtClean="0">
                          <a:solidFill>
                            <a:schemeClr val="tx1"/>
                          </a:solidFill>
                          <a:latin typeface="Cambria Math" panose="02040503050406030204" pitchFamily="18" charset="0"/>
                        </a:rPr>
                        <m:t>𝑦</m:t>
                      </m:r>
                      <m:r>
                        <a:rPr lang="pt-BR" altLang="zh-TW" sz="4000" i="1" smtClean="0">
                          <a:latin typeface="Cambria Math" panose="02040503050406030204" pitchFamily="18" charset="0"/>
                        </a:rPr>
                        <m:t>=</m:t>
                      </m:r>
                      <m:r>
                        <a:rPr lang="en-US" altLang="zh-TW" sz="4000" b="0" i="1" smtClean="0">
                          <a:latin typeface="Cambria Math" panose="02040503050406030204" pitchFamily="18" charset="0"/>
                        </a:rPr>
                        <m:t>2+3</m:t>
                      </m:r>
                      <m:r>
                        <a:rPr lang="en-US" altLang="zh-TW" sz="4000" b="0" i="1" smtClean="0">
                          <a:latin typeface="Cambria Math" panose="02040503050406030204" pitchFamily="18" charset="0"/>
                        </a:rPr>
                        <m:t>𝑥</m:t>
                      </m:r>
                    </m:oMath>
                  </m:oMathPara>
                </a14:m>
                <a:endParaRPr lang="zh-TW" altLang="en-US" sz="4000" dirty="0"/>
              </a:p>
            </p:txBody>
          </p:sp>
        </mc:Choice>
        <mc:Fallback xmlns="">
          <p:sp>
            <p:nvSpPr>
              <p:cNvPr id="28" name="文字方塊 27">
                <a:extLst>
                  <a:ext uri="{FF2B5EF4-FFF2-40B4-BE49-F238E27FC236}">
                    <a16:creationId xmlns:a16="http://schemas.microsoft.com/office/drawing/2014/main" id="{39B3F142-C20B-1A90-30D6-1F6B2D54F5DB}"/>
                  </a:ext>
                </a:extLst>
              </p:cNvPr>
              <p:cNvSpPr txBox="1">
                <a:spLocks noRot="1" noChangeAspect="1" noMove="1" noResize="1" noEditPoints="1" noAdjustHandles="1" noChangeArrowheads="1" noChangeShapeType="1" noTextEdit="1"/>
              </p:cNvSpPr>
              <p:nvPr/>
            </p:nvSpPr>
            <p:spPr>
              <a:xfrm>
                <a:off x="1524495" y="258867"/>
                <a:ext cx="2545825" cy="615553"/>
              </a:xfrm>
              <a:prstGeom prst="rect">
                <a:avLst/>
              </a:prstGeom>
              <a:blipFill>
                <a:blip r:embed="rId7"/>
                <a:stretch>
                  <a:fillRect/>
                </a:stretch>
              </a:blipFill>
              <a:ln>
                <a:noFill/>
              </a:ln>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A27C02B0-CE9B-104C-734E-C2DD67FC175D}"/>
              </a:ext>
            </a:extLst>
          </p:cNvPr>
          <p:cNvSpPr txBox="1"/>
          <p:nvPr/>
        </p:nvSpPr>
        <p:spPr>
          <a:xfrm>
            <a:off x="6067332" y="141341"/>
            <a:ext cx="6124668" cy="6124754"/>
          </a:xfrm>
          <a:prstGeom prst="rect">
            <a:avLst/>
          </a:prstGeom>
          <a:solidFill>
            <a:schemeClr val="accent5">
              <a:lumMod val="20000"/>
              <a:lumOff val="80000"/>
            </a:schemeClr>
          </a:solidFill>
        </p:spPr>
        <p:txBody>
          <a:bodyPr wrap="square">
            <a:spAutoFit/>
          </a:bodyPr>
          <a:lstStyle/>
          <a:p>
            <a:r>
              <a:rPr lang="en-US" altLang="zh-TW" sz="1400" dirty="0"/>
              <a:t>import </a:t>
            </a:r>
            <a:r>
              <a:rPr lang="en-US" altLang="zh-TW" sz="1400" dirty="0" err="1"/>
              <a:t>numpy</a:t>
            </a:r>
            <a:r>
              <a:rPr lang="en-US" altLang="zh-TW" sz="1400" dirty="0"/>
              <a:t> as np</a:t>
            </a:r>
          </a:p>
          <a:p>
            <a:endParaRPr lang="en-US" altLang="zh-TW" sz="1400" dirty="0"/>
          </a:p>
          <a:p>
            <a:r>
              <a:rPr lang="en-US" altLang="zh-TW" sz="1400" dirty="0" err="1"/>
              <a:t>np.random.seed</a:t>
            </a:r>
            <a:r>
              <a:rPr lang="en-US" altLang="zh-TW" sz="1400" dirty="0"/>
              <a:t>(123)</a:t>
            </a:r>
          </a:p>
          <a:p>
            <a:r>
              <a:rPr lang="en-US" altLang="zh-TW" sz="1400" dirty="0" err="1"/>
              <a:t>n_train</a:t>
            </a:r>
            <a:r>
              <a:rPr lang="en-US" altLang="zh-TW" sz="1400" dirty="0"/>
              <a:t> = 100</a:t>
            </a:r>
          </a:p>
          <a:p>
            <a:r>
              <a:rPr lang="en-US" altLang="zh-TW" sz="1400" dirty="0" err="1"/>
              <a:t>x_train</a:t>
            </a:r>
            <a:r>
              <a:rPr lang="en-US" altLang="zh-TW" sz="1400" dirty="0"/>
              <a:t> = </a:t>
            </a:r>
            <a:r>
              <a:rPr lang="en-US" altLang="zh-TW" sz="1400" dirty="0" err="1"/>
              <a:t>np.random.rand</a:t>
            </a:r>
            <a:r>
              <a:rPr lang="en-US" altLang="zh-TW" sz="1400" dirty="0"/>
              <a:t>(</a:t>
            </a:r>
            <a:r>
              <a:rPr lang="en-US" altLang="zh-TW" sz="1400" dirty="0" err="1"/>
              <a:t>n_train</a:t>
            </a:r>
            <a:r>
              <a:rPr lang="en-US" altLang="zh-TW" sz="1400" dirty="0"/>
              <a:t>, 1)</a:t>
            </a:r>
          </a:p>
          <a:p>
            <a:r>
              <a:rPr lang="en-US" altLang="zh-TW" sz="1400" dirty="0" err="1"/>
              <a:t>y_train</a:t>
            </a:r>
            <a:r>
              <a:rPr lang="en-US" altLang="zh-TW" sz="1400" dirty="0"/>
              <a:t> = 2 + 3 * </a:t>
            </a:r>
            <a:r>
              <a:rPr lang="en-US" altLang="zh-TW" sz="1400" dirty="0" err="1"/>
              <a:t>x_train</a:t>
            </a:r>
            <a:r>
              <a:rPr lang="en-US" altLang="zh-TW" sz="1400" dirty="0"/>
              <a:t> + .1 * </a:t>
            </a:r>
            <a:r>
              <a:rPr lang="en-US" altLang="zh-TW" sz="1400" dirty="0" err="1"/>
              <a:t>np.random.randn</a:t>
            </a:r>
            <a:r>
              <a:rPr lang="en-US" altLang="zh-TW" sz="1400" dirty="0"/>
              <a:t>(</a:t>
            </a:r>
            <a:r>
              <a:rPr lang="en-US" altLang="zh-TW" sz="1400" dirty="0" err="1"/>
              <a:t>n_train</a:t>
            </a:r>
            <a:r>
              <a:rPr lang="en-US" altLang="zh-TW" sz="1400" dirty="0"/>
              <a:t>, 1)</a:t>
            </a:r>
          </a:p>
          <a:p>
            <a:endParaRPr lang="en-US" altLang="zh-TW" sz="1400" dirty="0"/>
          </a:p>
          <a:p>
            <a:r>
              <a:rPr lang="en-US" altLang="zh-TW" sz="1400" dirty="0"/>
              <a:t>a = </a:t>
            </a:r>
            <a:r>
              <a:rPr lang="en-US" altLang="zh-TW" sz="1400" dirty="0" err="1"/>
              <a:t>np.random.randn</a:t>
            </a:r>
            <a:r>
              <a:rPr lang="en-US" altLang="zh-TW" sz="1400" dirty="0"/>
              <a:t>(1)</a:t>
            </a:r>
          </a:p>
          <a:p>
            <a:r>
              <a:rPr lang="en-US" altLang="zh-TW" sz="1400" dirty="0"/>
              <a:t>b = </a:t>
            </a:r>
            <a:r>
              <a:rPr lang="en-US" altLang="zh-TW" sz="1400" dirty="0" err="1"/>
              <a:t>np.random.randn</a:t>
            </a:r>
            <a:r>
              <a:rPr lang="en-US" altLang="zh-TW" sz="1400" dirty="0"/>
              <a:t>(1)</a:t>
            </a:r>
          </a:p>
          <a:p>
            <a:endParaRPr lang="en-US" altLang="zh-TW" sz="1400" dirty="0"/>
          </a:p>
          <a:p>
            <a:r>
              <a:rPr lang="en-US" altLang="zh-TW" sz="1400" dirty="0"/>
              <a:t>print(a, b)</a:t>
            </a:r>
          </a:p>
          <a:p>
            <a:endParaRPr lang="en-US" altLang="zh-TW" sz="1400" dirty="0"/>
          </a:p>
          <a:p>
            <a:r>
              <a:rPr lang="en-US" altLang="zh-TW" sz="1400" dirty="0" err="1"/>
              <a:t>lr</a:t>
            </a:r>
            <a:r>
              <a:rPr lang="en-US" altLang="zh-TW" sz="1400" dirty="0"/>
              <a:t> = 1e-1</a:t>
            </a:r>
          </a:p>
          <a:p>
            <a:r>
              <a:rPr lang="en-US" altLang="zh-TW" sz="1400" dirty="0" err="1"/>
              <a:t>n_epochs</a:t>
            </a:r>
            <a:r>
              <a:rPr lang="en-US" altLang="zh-TW" sz="1400" dirty="0"/>
              <a:t> = 1000</a:t>
            </a:r>
          </a:p>
          <a:p>
            <a:endParaRPr lang="en-US" altLang="zh-TW" sz="1400" dirty="0"/>
          </a:p>
          <a:p>
            <a:r>
              <a:rPr lang="en-US" altLang="zh-TW" sz="1400" dirty="0"/>
              <a:t>for epoch in range(</a:t>
            </a:r>
            <a:r>
              <a:rPr lang="en-US" altLang="zh-TW" sz="1400" dirty="0" err="1"/>
              <a:t>n_epochs</a:t>
            </a:r>
            <a:r>
              <a:rPr lang="en-US" altLang="zh-TW" sz="1400" dirty="0"/>
              <a:t>):</a:t>
            </a:r>
          </a:p>
          <a:p>
            <a:r>
              <a:rPr lang="en-US" altLang="zh-TW" sz="1400" dirty="0"/>
              <a:t>    </a:t>
            </a:r>
            <a:r>
              <a:rPr lang="en-US" altLang="zh-TW" sz="1400" dirty="0" err="1">
                <a:solidFill>
                  <a:srgbClr val="0070C0"/>
                </a:solidFill>
              </a:rPr>
              <a:t>yhat</a:t>
            </a:r>
            <a:r>
              <a:rPr lang="en-US" altLang="zh-TW" sz="1400" dirty="0">
                <a:solidFill>
                  <a:srgbClr val="0070C0"/>
                </a:solidFill>
              </a:rPr>
              <a:t> = a + b * </a:t>
            </a:r>
            <a:r>
              <a:rPr lang="en-US" altLang="zh-TW" sz="1400" dirty="0" err="1">
                <a:solidFill>
                  <a:srgbClr val="0070C0"/>
                </a:solidFill>
              </a:rPr>
              <a:t>x_train</a:t>
            </a:r>
            <a:endParaRPr lang="en-US" altLang="zh-TW" sz="1400" dirty="0">
              <a:solidFill>
                <a:srgbClr val="0070C0"/>
              </a:solidFill>
            </a:endParaRPr>
          </a:p>
          <a:p>
            <a:r>
              <a:rPr lang="en-US" altLang="zh-TW" sz="1400" dirty="0">
                <a:solidFill>
                  <a:srgbClr val="FF0000"/>
                </a:solidFill>
              </a:rPr>
              <a:t>    </a:t>
            </a:r>
            <a:r>
              <a:rPr lang="en-US" altLang="zh-TW" sz="1400" dirty="0">
                <a:solidFill>
                  <a:srgbClr val="00B050"/>
                </a:solidFill>
              </a:rPr>
              <a:t>error = (</a:t>
            </a:r>
            <a:r>
              <a:rPr lang="en-US" altLang="zh-TW" sz="1400" dirty="0" err="1">
                <a:solidFill>
                  <a:srgbClr val="00B050"/>
                </a:solidFill>
              </a:rPr>
              <a:t>y_train</a:t>
            </a:r>
            <a:r>
              <a:rPr lang="en-US" altLang="zh-TW" sz="1400" dirty="0">
                <a:solidFill>
                  <a:srgbClr val="00B050"/>
                </a:solidFill>
              </a:rPr>
              <a:t> - </a:t>
            </a:r>
            <a:r>
              <a:rPr lang="en-US" altLang="zh-TW" sz="1400" dirty="0" err="1">
                <a:solidFill>
                  <a:srgbClr val="00B050"/>
                </a:solidFill>
              </a:rPr>
              <a:t>yhat</a:t>
            </a:r>
            <a:r>
              <a:rPr lang="en-US" altLang="zh-TW" sz="1400" dirty="0">
                <a:solidFill>
                  <a:srgbClr val="00B050"/>
                </a:solidFill>
              </a:rPr>
              <a:t>)</a:t>
            </a:r>
          </a:p>
          <a:p>
            <a:r>
              <a:rPr lang="en-US" altLang="zh-TW" sz="1400" dirty="0">
                <a:solidFill>
                  <a:srgbClr val="FF0000"/>
                </a:solidFill>
              </a:rPr>
              <a:t>    loss = (error ** 2).mean()</a:t>
            </a:r>
          </a:p>
          <a:p>
            <a:endParaRPr lang="en-US" altLang="zh-TW" sz="1400" dirty="0"/>
          </a:p>
          <a:p>
            <a:r>
              <a:rPr lang="en-US" altLang="zh-TW" sz="1400" dirty="0">
                <a:solidFill>
                  <a:srgbClr val="7030A0"/>
                </a:solidFill>
              </a:rPr>
              <a:t>    </a:t>
            </a:r>
            <a:r>
              <a:rPr lang="en-US" altLang="zh-TW" sz="1400" dirty="0" err="1">
                <a:solidFill>
                  <a:srgbClr val="7030A0"/>
                </a:solidFill>
              </a:rPr>
              <a:t>a_grad</a:t>
            </a:r>
            <a:r>
              <a:rPr lang="en-US" altLang="zh-TW" sz="1400" dirty="0">
                <a:solidFill>
                  <a:srgbClr val="7030A0"/>
                </a:solidFill>
              </a:rPr>
              <a:t> = -2 * </a:t>
            </a:r>
            <a:r>
              <a:rPr lang="en-US" altLang="zh-TW" sz="1400" dirty="0" err="1">
                <a:solidFill>
                  <a:srgbClr val="7030A0"/>
                </a:solidFill>
              </a:rPr>
              <a:t>error.mean</a:t>
            </a:r>
            <a:r>
              <a:rPr lang="en-US" altLang="zh-TW" sz="1400" dirty="0">
                <a:solidFill>
                  <a:srgbClr val="7030A0"/>
                </a:solidFill>
              </a:rPr>
              <a:t>()</a:t>
            </a:r>
          </a:p>
          <a:p>
            <a:r>
              <a:rPr lang="en-US" altLang="zh-TW" sz="1400" dirty="0">
                <a:solidFill>
                  <a:srgbClr val="7030A0"/>
                </a:solidFill>
              </a:rPr>
              <a:t>    </a:t>
            </a:r>
            <a:r>
              <a:rPr lang="en-US" altLang="zh-TW" sz="1400" dirty="0" err="1">
                <a:solidFill>
                  <a:srgbClr val="7030A0"/>
                </a:solidFill>
              </a:rPr>
              <a:t>b_grad</a:t>
            </a:r>
            <a:r>
              <a:rPr lang="en-US" altLang="zh-TW" sz="1400" dirty="0">
                <a:solidFill>
                  <a:srgbClr val="7030A0"/>
                </a:solidFill>
              </a:rPr>
              <a:t> = -2 * (</a:t>
            </a:r>
            <a:r>
              <a:rPr lang="en-US" altLang="zh-TW" sz="1400" dirty="0" err="1">
                <a:solidFill>
                  <a:srgbClr val="7030A0"/>
                </a:solidFill>
              </a:rPr>
              <a:t>x_train</a:t>
            </a:r>
            <a:r>
              <a:rPr lang="en-US" altLang="zh-TW" sz="1400" dirty="0">
                <a:solidFill>
                  <a:srgbClr val="7030A0"/>
                </a:solidFill>
              </a:rPr>
              <a:t> * error).mean()</a:t>
            </a:r>
          </a:p>
          <a:p>
            <a:endParaRPr lang="en-US" altLang="zh-TW" sz="1400" dirty="0"/>
          </a:p>
          <a:p>
            <a:r>
              <a:rPr lang="en-US" altLang="zh-TW" sz="1400" dirty="0">
                <a:solidFill>
                  <a:srgbClr val="FF0000"/>
                </a:solidFill>
              </a:rPr>
              <a:t>    a = a - </a:t>
            </a:r>
            <a:r>
              <a:rPr lang="en-US" altLang="zh-TW" sz="1400" dirty="0" err="1">
                <a:solidFill>
                  <a:srgbClr val="FF0000"/>
                </a:solidFill>
              </a:rPr>
              <a:t>lr</a:t>
            </a:r>
            <a:r>
              <a:rPr lang="en-US" altLang="zh-TW" sz="1400" dirty="0">
                <a:solidFill>
                  <a:srgbClr val="FF0000"/>
                </a:solidFill>
              </a:rPr>
              <a:t> * </a:t>
            </a:r>
            <a:r>
              <a:rPr lang="en-US" altLang="zh-TW" sz="1400" dirty="0" err="1">
                <a:solidFill>
                  <a:srgbClr val="FF0000"/>
                </a:solidFill>
              </a:rPr>
              <a:t>a_grad</a:t>
            </a:r>
            <a:endParaRPr lang="en-US" altLang="zh-TW" sz="1400" dirty="0">
              <a:solidFill>
                <a:srgbClr val="FF0000"/>
              </a:solidFill>
            </a:endParaRPr>
          </a:p>
          <a:p>
            <a:r>
              <a:rPr lang="en-US" altLang="zh-TW" sz="1400" dirty="0">
                <a:solidFill>
                  <a:srgbClr val="FF0000"/>
                </a:solidFill>
              </a:rPr>
              <a:t>    b = b - </a:t>
            </a:r>
            <a:r>
              <a:rPr lang="en-US" altLang="zh-TW" sz="1400" dirty="0" err="1">
                <a:solidFill>
                  <a:srgbClr val="FF0000"/>
                </a:solidFill>
              </a:rPr>
              <a:t>lr</a:t>
            </a:r>
            <a:r>
              <a:rPr lang="en-US" altLang="zh-TW" sz="1400" dirty="0">
                <a:solidFill>
                  <a:srgbClr val="FF0000"/>
                </a:solidFill>
              </a:rPr>
              <a:t> * </a:t>
            </a:r>
            <a:r>
              <a:rPr lang="en-US" altLang="zh-TW" sz="1400" dirty="0" err="1">
                <a:solidFill>
                  <a:srgbClr val="FF0000"/>
                </a:solidFill>
              </a:rPr>
              <a:t>b_grad</a:t>
            </a:r>
            <a:endParaRPr lang="en-US" altLang="zh-TW" sz="1400" dirty="0">
              <a:solidFill>
                <a:srgbClr val="FF0000"/>
              </a:solidFill>
            </a:endParaRPr>
          </a:p>
          <a:p>
            <a:endParaRPr lang="en-US" altLang="zh-TW" sz="1400" dirty="0"/>
          </a:p>
          <a:p>
            <a:r>
              <a:rPr lang="en-US" altLang="zh-TW" sz="1400" dirty="0"/>
              <a:t>print(a, b)</a:t>
            </a:r>
            <a:endParaRPr lang="zh-TW" altLang="en-US" sz="1400" dirty="0"/>
          </a:p>
        </p:txBody>
      </p:sp>
    </p:spTree>
    <p:extLst>
      <p:ext uri="{BB962C8B-B14F-4D97-AF65-F5344CB8AC3E}">
        <p14:creationId xmlns:p14="http://schemas.microsoft.com/office/powerpoint/2010/main" val="41731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421F3457-C4A2-D93E-0180-C7BF26BCBFEE}"/>
                  </a:ext>
                </a:extLst>
              </p:cNvPr>
              <p:cNvSpPr>
                <a:spLocks noGrp="1"/>
              </p:cNvSpPr>
              <p:nvPr>
                <p:ph type="ctrTitle"/>
              </p:nvPr>
            </p:nvSpPr>
            <p:spPr>
              <a:xfrm>
                <a:off x="1524000" y="1122363"/>
                <a:ext cx="9144000" cy="1059522"/>
              </a:xfrm>
            </p:spPr>
            <p:txBody>
              <a:bodyPr/>
              <a:lstStyle/>
              <a:p>
                <a:pPr/>
                <a14:m>
                  <m:oMathPara xmlns:m="http://schemas.openxmlformats.org/officeDocument/2006/math">
                    <m:oMathParaPr>
                      <m:jc m:val="centerGroup"/>
                    </m:oMathParaPr>
                    <m:oMath xmlns:m="http://schemas.openxmlformats.org/officeDocument/2006/math">
                      <m:r>
                        <m:rPr>
                          <m:sty m:val="p"/>
                        </m:rPr>
                        <a:rPr lang="en-US" altLang="zh-TW" smtClean="0">
                          <a:latin typeface="Cambria Math" panose="02040503050406030204" pitchFamily="18" charset="0"/>
                        </a:rPr>
                        <m:t>L</m:t>
                      </m:r>
                      <m:r>
                        <m:rPr>
                          <m:sty m:val="p"/>
                        </m:rPr>
                        <a:rPr lang="en-US" altLang="zh-TW" b="0" i="0" smtClean="0">
                          <a:latin typeface="Cambria Math" panose="02040503050406030204" pitchFamily="18" charset="0"/>
                        </a:rPr>
                        <m:t>earning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by</m:t>
                      </m:r>
                      <m:r>
                        <a:rPr lang="en-US" altLang="zh-TW" b="0" i="0" smtClean="0">
                          <a:latin typeface="Cambria Math" panose="02040503050406030204" pitchFamily="18" charset="0"/>
                        </a:rPr>
                        <m:t> </m:t>
                      </m:r>
                      <m:r>
                        <m:rPr>
                          <m:sty m:val="p"/>
                        </m:rPr>
                        <a:rPr lang="en-US" altLang="zh-TW" sz="6000" b="0" i="0" smtClean="0">
                          <a:latin typeface="Cambria Math" panose="02040503050406030204" pitchFamily="18" charset="0"/>
                        </a:rPr>
                        <m:t>Pytorch</m:t>
                      </m:r>
                    </m:oMath>
                  </m:oMathPara>
                </a14:m>
                <a:endParaRPr lang="zh-TW" altLang="en-US" dirty="0"/>
              </a:p>
            </p:txBody>
          </p:sp>
        </mc:Choice>
        <mc:Fallback xmlns="">
          <p:sp>
            <p:nvSpPr>
              <p:cNvPr id="2" name="標題 1">
                <a:extLst>
                  <a:ext uri="{FF2B5EF4-FFF2-40B4-BE49-F238E27FC236}">
                    <a16:creationId xmlns:a16="http://schemas.microsoft.com/office/drawing/2014/main" id="{421F3457-C4A2-D93E-0180-C7BF26BCBFEE}"/>
                  </a:ext>
                </a:extLst>
              </p:cNvPr>
              <p:cNvSpPr>
                <a:spLocks noGrp="1" noRot="1" noChangeAspect="1" noMove="1" noResize="1" noEditPoints="1" noAdjustHandles="1" noChangeArrowheads="1" noChangeShapeType="1" noTextEdit="1"/>
              </p:cNvSpPr>
              <p:nvPr>
                <p:ph type="ctrTitle"/>
              </p:nvPr>
            </p:nvSpPr>
            <p:spPr>
              <a:xfrm>
                <a:off x="1524000" y="1122363"/>
                <a:ext cx="9144000" cy="1059522"/>
              </a:xfrm>
              <a:blipFill>
                <a:blip r:embed="rId2"/>
                <a:stretch>
                  <a:fillRect/>
                </a:stretch>
              </a:blipFill>
            </p:spPr>
            <p:txBody>
              <a:bodyPr/>
              <a:lstStyle/>
              <a:p>
                <a:r>
                  <a:rPr lang="zh-TW" altLang="en-US">
                    <a:noFill/>
                  </a:rPr>
                  <a:t> </a:t>
                </a:r>
              </a:p>
            </p:txBody>
          </p:sp>
        </mc:Fallback>
      </mc:AlternateContent>
      <p:sp>
        <p:nvSpPr>
          <p:cNvPr id="3" name="副標題 2">
            <a:extLst>
              <a:ext uri="{FF2B5EF4-FFF2-40B4-BE49-F238E27FC236}">
                <a16:creationId xmlns:a16="http://schemas.microsoft.com/office/drawing/2014/main" id="{48A544E5-53D8-F3B5-832A-C5416B07A281}"/>
              </a:ext>
            </a:extLst>
          </p:cNvPr>
          <p:cNvSpPr>
            <a:spLocks noGrp="1"/>
          </p:cNvSpPr>
          <p:nvPr>
            <p:ph type="subTitle" idx="1"/>
          </p:nvPr>
        </p:nvSpPr>
        <p:spPr>
          <a:xfrm>
            <a:off x="1524000" y="2489703"/>
            <a:ext cx="9144000" cy="3245934"/>
          </a:xfrm>
        </p:spPr>
        <p:txBody>
          <a:bodyPr>
            <a:normAutofit fontScale="85000" lnSpcReduction="20000"/>
          </a:bodyPr>
          <a:lstStyle/>
          <a:p>
            <a:r>
              <a:rPr lang="en-US" altLang="zh-TW" b="1" i="0" dirty="0" err="1">
                <a:solidFill>
                  <a:srgbClr val="292929"/>
                </a:solidFill>
                <a:effectLst/>
                <a:latin typeface="sohne"/>
                <a:hlinkClick r:id="rId3" action="ppaction://hlinksldjump"/>
              </a:rPr>
              <a:t>Autograd</a:t>
            </a:r>
            <a:endParaRPr lang="en-US" altLang="zh-TW" b="1" i="0" dirty="0">
              <a:solidFill>
                <a:srgbClr val="292929"/>
              </a:solidFill>
              <a:effectLst/>
              <a:latin typeface="sohne"/>
            </a:endParaRPr>
          </a:p>
          <a:p>
            <a:r>
              <a:rPr lang="en-US" altLang="zh-TW" b="1" i="0" dirty="0">
                <a:solidFill>
                  <a:srgbClr val="292929"/>
                </a:solidFill>
                <a:effectLst/>
                <a:latin typeface="sohne"/>
              </a:rPr>
              <a:t>Optimizer</a:t>
            </a:r>
          </a:p>
          <a:p>
            <a:r>
              <a:rPr lang="en-US" altLang="zh-TW" b="1" i="0" dirty="0">
                <a:solidFill>
                  <a:srgbClr val="292929"/>
                </a:solidFill>
                <a:effectLst/>
                <a:latin typeface="sohne"/>
              </a:rPr>
              <a:t>Loss</a:t>
            </a:r>
          </a:p>
          <a:p>
            <a:r>
              <a:rPr lang="en-US" altLang="zh-TW" b="1" i="0" dirty="0">
                <a:solidFill>
                  <a:srgbClr val="292929"/>
                </a:solidFill>
                <a:effectLst/>
                <a:latin typeface="sohne"/>
              </a:rPr>
              <a:t>Model</a:t>
            </a:r>
          </a:p>
          <a:p>
            <a:r>
              <a:rPr lang="en-US" altLang="zh-TW" b="1" i="0" dirty="0" err="1">
                <a:solidFill>
                  <a:srgbClr val="292929"/>
                </a:solidFill>
                <a:effectLst/>
                <a:latin typeface="source-serif-pro"/>
              </a:rPr>
              <a:t>PyTorch’s</a:t>
            </a:r>
            <a:r>
              <a:rPr lang="en-US" altLang="zh-TW" b="1" i="0" dirty="0">
                <a:solidFill>
                  <a:srgbClr val="292929"/>
                </a:solidFill>
                <a:effectLst/>
                <a:latin typeface="source-serif-pro"/>
              </a:rPr>
              <a:t> </a:t>
            </a:r>
            <a:r>
              <a:rPr lang="en-US" altLang="zh-TW" b="1" u="sng" dirty="0">
                <a:latin typeface="source-serif-pro"/>
              </a:rPr>
              <a:t>Linear </a:t>
            </a:r>
            <a:r>
              <a:rPr lang="en-US" altLang="zh-TW" b="1" i="0" dirty="0">
                <a:solidFill>
                  <a:srgbClr val="292929"/>
                </a:solidFill>
                <a:effectLst/>
                <a:latin typeface="source-serif-pro"/>
              </a:rPr>
              <a:t>model</a:t>
            </a:r>
          </a:p>
          <a:p>
            <a:r>
              <a:rPr lang="en-US" altLang="zh-TW" b="1" i="0" dirty="0">
                <a:solidFill>
                  <a:srgbClr val="292929"/>
                </a:solidFill>
                <a:effectLst/>
                <a:latin typeface="sohne"/>
              </a:rPr>
              <a:t>Dataset</a:t>
            </a:r>
          </a:p>
          <a:p>
            <a:r>
              <a:rPr lang="en-US" altLang="zh-TW" b="1" i="0" dirty="0" err="1">
                <a:solidFill>
                  <a:srgbClr val="292929"/>
                </a:solidFill>
                <a:effectLst/>
                <a:latin typeface="sohne"/>
              </a:rPr>
              <a:t>DataLoader</a:t>
            </a:r>
            <a:endParaRPr lang="en-US" altLang="zh-TW" b="1" i="0" dirty="0">
              <a:solidFill>
                <a:srgbClr val="292929"/>
              </a:solidFill>
              <a:effectLst/>
              <a:latin typeface="sohne"/>
            </a:endParaRPr>
          </a:p>
          <a:p>
            <a:r>
              <a:rPr lang="en-US" altLang="zh-TW" b="1" i="0" dirty="0">
                <a:solidFill>
                  <a:srgbClr val="292929"/>
                </a:solidFill>
                <a:effectLst/>
                <a:latin typeface="sohne"/>
              </a:rPr>
              <a:t>Random Split</a:t>
            </a:r>
          </a:p>
          <a:p>
            <a:r>
              <a:rPr lang="en-US" altLang="zh-TW" b="1" i="0" dirty="0">
                <a:solidFill>
                  <a:srgbClr val="292929"/>
                </a:solidFill>
                <a:effectLst/>
                <a:latin typeface="sohne"/>
              </a:rPr>
              <a:t>Evaluation</a:t>
            </a:r>
          </a:p>
          <a:p>
            <a:endParaRPr lang="en-US" altLang="zh-TW" b="1" i="0" dirty="0">
              <a:solidFill>
                <a:srgbClr val="292929"/>
              </a:solidFill>
              <a:effectLst/>
              <a:latin typeface="sohne"/>
            </a:endParaRPr>
          </a:p>
          <a:p>
            <a:endParaRPr lang="en-US" altLang="zh-TW" b="1" i="0" dirty="0">
              <a:solidFill>
                <a:srgbClr val="292929"/>
              </a:solidFill>
              <a:effectLst/>
              <a:latin typeface="sohne"/>
            </a:endParaRPr>
          </a:p>
          <a:p>
            <a:endParaRPr lang="en-US" altLang="zh-TW" b="1" i="0" dirty="0">
              <a:solidFill>
                <a:srgbClr val="292929"/>
              </a:solidFill>
              <a:effectLst/>
              <a:latin typeface="sohne"/>
            </a:endParaRPr>
          </a:p>
          <a:p>
            <a:endParaRPr lang="en-US" altLang="zh-TW" b="1" i="0" dirty="0">
              <a:solidFill>
                <a:srgbClr val="292929"/>
              </a:solidFill>
              <a:effectLst/>
              <a:latin typeface="sohne"/>
            </a:endParaRPr>
          </a:p>
          <a:p>
            <a:endParaRPr lang="zh-TW" altLang="en-US" dirty="0"/>
          </a:p>
        </p:txBody>
      </p:sp>
    </p:spTree>
    <p:extLst>
      <p:ext uri="{BB962C8B-B14F-4D97-AF65-F5344CB8AC3E}">
        <p14:creationId xmlns:p14="http://schemas.microsoft.com/office/powerpoint/2010/main" val="2573105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字方塊 26">
            <a:extLst>
              <a:ext uri="{FF2B5EF4-FFF2-40B4-BE49-F238E27FC236}">
                <a16:creationId xmlns:a16="http://schemas.microsoft.com/office/drawing/2014/main" id="{FACE04CE-8AC8-6DC0-37FD-47F5AD34E71E}"/>
              </a:ext>
            </a:extLst>
          </p:cNvPr>
          <p:cNvSpPr txBox="1"/>
          <p:nvPr/>
        </p:nvSpPr>
        <p:spPr>
          <a:xfrm>
            <a:off x="0" y="0"/>
            <a:ext cx="6001781" cy="6771084"/>
          </a:xfrm>
          <a:prstGeom prst="rect">
            <a:avLst/>
          </a:prstGeom>
          <a:solidFill>
            <a:schemeClr val="accent5">
              <a:lumMod val="20000"/>
              <a:lumOff val="80000"/>
            </a:schemeClr>
          </a:solidFill>
        </p:spPr>
        <p:txBody>
          <a:bodyPr wrap="square">
            <a:spAutoFit/>
          </a:bodyPr>
          <a:lstStyle/>
          <a:p>
            <a:r>
              <a:rPr lang="en-US" altLang="zh-TW" sz="1400" dirty="0"/>
              <a:t>import torch</a:t>
            </a:r>
          </a:p>
          <a:p>
            <a:endParaRPr lang="en-US" altLang="zh-TW" sz="1400" dirty="0"/>
          </a:p>
          <a:p>
            <a:r>
              <a:rPr lang="en-US" altLang="zh-TW" sz="1400" dirty="0" err="1"/>
              <a:t>n_data</a:t>
            </a:r>
            <a:r>
              <a:rPr lang="en-US" altLang="zh-TW" sz="1400" dirty="0"/>
              <a:t> = 100</a:t>
            </a:r>
          </a:p>
          <a:p>
            <a:r>
              <a:rPr lang="en-US" altLang="zh-TW" sz="1400" dirty="0" err="1"/>
              <a:t>x_train</a:t>
            </a:r>
            <a:r>
              <a:rPr lang="en-US" altLang="zh-TW" sz="1400" dirty="0"/>
              <a:t> = </a:t>
            </a:r>
            <a:r>
              <a:rPr lang="en-US" altLang="zh-TW" sz="1400" dirty="0" err="1"/>
              <a:t>torch.rand</a:t>
            </a:r>
            <a:r>
              <a:rPr lang="en-US" altLang="zh-TW" sz="1400" dirty="0"/>
              <a:t>(</a:t>
            </a:r>
            <a:r>
              <a:rPr lang="en-US" altLang="zh-TW" sz="1400" dirty="0" err="1"/>
              <a:t>n_data</a:t>
            </a:r>
            <a:r>
              <a:rPr lang="en-US" altLang="zh-TW" sz="1400" dirty="0"/>
              <a:t> , 1)</a:t>
            </a:r>
          </a:p>
          <a:p>
            <a:r>
              <a:rPr lang="en-US" altLang="zh-TW" sz="1400" dirty="0" err="1"/>
              <a:t>y_train</a:t>
            </a:r>
            <a:r>
              <a:rPr lang="en-US" altLang="zh-TW" sz="1400" dirty="0"/>
              <a:t> = 2 + 3 * </a:t>
            </a:r>
            <a:r>
              <a:rPr lang="en-US" altLang="zh-TW" sz="1400" dirty="0" err="1"/>
              <a:t>x_train</a:t>
            </a:r>
            <a:r>
              <a:rPr lang="en-US" altLang="zh-TW" sz="1400" dirty="0"/>
              <a:t> + .1 * </a:t>
            </a:r>
            <a:r>
              <a:rPr lang="en-US" altLang="zh-TW" sz="1400" dirty="0" err="1"/>
              <a:t>torch.randn</a:t>
            </a:r>
            <a:r>
              <a:rPr lang="en-US" altLang="zh-TW" sz="1400" dirty="0"/>
              <a:t>(</a:t>
            </a:r>
            <a:r>
              <a:rPr lang="en-US" altLang="zh-TW" sz="1400" dirty="0" err="1"/>
              <a:t>n_data</a:t>
            </a:r>
            <a:r>
              <a:rPr lang="en-US" altLang="zh-TW" sz="1400" dirty="0"/>
              <a:t> , 1)</a:t>
            </a:r>
          </a:p>
          <a:p>
            <a:endParaRPr lang="en-US" altLang="zh-TW" sz="1400" dirty="0"/>
          </a:p>
          <a:p>
            <a:r>
              <a:rPr lang="en-US" altLang="zh-TW" sz="1400" dirty="0"/>
              <a:t>device = '</a:t>
            </a:r>
            <a:r>
              <a:rPr lang="en-US" altLang="zh-TW" sz="1400" dirty="0" err="1"/>
              <a:t>cuda</a:t>
            </a:r>
            <a:r>
              <a:rPr lang="en-US" altLang="zh-TW" sz="1400" dirty="0"/>
              <a:t>' if </a:t>
            </a:r>
            <a:r>
              <a:rPr lang="en-US" altLang="zh-TW" sz="1400" dirty="0" err="1"/>
              <a:t>torch.cuda.is_available</a:t>
            </a:r>
            <a:r>
              <a:rPr lang="en-US" altLang="zh-TW" sz="1400" dirty="0"/>
              <a:t>() else '</a:t>
            </a:r>
            <a:r>
              <a:rPr lang="en-US" altLang="zh-TW" sz="1400" dirty="0" err="1"/>
              <a:t>cpu</a:t>
            </a:r>
            <a:r>
              <a:rPr lang="en-US" altLang="zh-TW" sz="1400" dirty="0"/>
              <a:t>'</a:t>
            </a:r>
          </a:p>
          <a:p>
            <a:r>
              <a:rPr lang="en-US" altLang="zh-TW" sz="1400" dirty="0"/>
              <a:t>x_train.to(device)</a:t>
            </a:r>
          </a:p>
          <a:p>
            <a:r>
              <a:rPr lang="en-US" altLang="zh-TW" sz="1400" dirty="0"/>
              <a:t>y_train.to(device)</a:t>
            </a:r>
          </a:p>
          <a:p>
            <a:endParaRPr lang="en-US" altLang="zh-TW" sz="1400" dirty="0"/>
          </a:p>
          <a:p>
            <a:r>
              <a:rPr lang="en-US" altLang="zh-TW" sz="1400" dirty="0"/>
              <a:t>a = </a:t>
            </a:r>
            <a:r>
              <a:rPr lang="en-US" altLang="zh-TW" sz="1400" dirty="0" err="1"/>
              <a:t>torch.randn</a:t>
            </a:r>
            <a:r>
              <a:rPr lang="en-US" altLang="zh-TW" sz="1400" dirty="0"/>
              <a:t>(1, </a:t>
            </a:r>
            <a:r>
              <a:rPr lang="en-US" altLang="zh-TW" sz="1400" dirty="0" err="1"/>
              <a:t>requires_grad</a:t>
            </a:r>
            <a:r>
              <a:rPr lang="en-US" altLang="zh-TW" sz="1400" dirty="0"/>
              <a:t>=True, </a:t>
            </a:r>
            <a:r>
              <a:rPr lang="en-US" altLang="zh-TW" sz="1400" dirty="0" err="1"/>
              <a:t>dtype</a:t>
            </a:r>
            <a:r>
              <a:rPr lang="en-US" altLang="zh-TW" sz="1400" dirty="0"/>
              <a:t>=</a:t>
            </a:r>
            <a:r>
              <a:rPr lang="en-US" altLang="zh-TW" sz="1400" dirty="0" err="1"/>
              <a:t>torch.float</a:t>
            </a:r>
            <a:r>
              <a:rPr lang="en-US" altLang="zh-TW" sz="1400" dirty="0"/>
              <a:t>, device=device)</a:t>
            </a:r>
          </a:p>
          <a:p>
            <a:r>
              <a:rPr lang="en-US" altLang="zh-TW" sz="1400" dirty="0"/>
              <a:t>b = </a:t>
            </a:r>
            <a:r>
              <a:rPr lang="en-US" altLang="zh-TW" sz="1400" dirty="0" err="1"/>
              <a:t>torch.randn</a:t>
            </a:r>
            <a:r>
              <a:rPr lang="en-US" altLang="zh-TW" sz="1400" dirty="0"/>
              <a:t>(1, </a:t>
            </a:r>
            <a:r>
              <a:rPr lang="en-US" altLang="zh-TW" sz="1400" dirty="0" err="1"/>
              <a:t>requires_grad</a:t>
            </a:r>
            <a:r>
              <a:rPr lang="en-US" altLang="zh-TW" sz="1400" dirty="0"/>
              <a:t>=True, </a:t>
            </a:r>
            <a:r>
              <a:rPr lang="en-US" altLang="zh-TW" sz="1400" dirty="0" err="1"/>
              <a:t>dtype</a:t>
            </a:r>
            <a:r>
              <a:rPr lang="en-US" altLang="zh-TW" sz="1400" dirty="0"/>
              <a:t>=</a:t>
            </a:r>
            <a:r>
              <a:rPr lang="en-US" altLang="zh-TW" sz="1400" dirty="0" err="1"/>
              <a:t>torch.float</a:t>
            </a:r>
            <a:r>
              <a:rPr lang="en-US" altLang="zh-TW" sz="1400" dirty="0"/>
              <a:t>, device=device)</a:t>
            </a:r>
          </a:p>
          <a:p>
            <a:endParaRPr lang="en-US" altLang="zh-TW" sz="1400" dirty="0"/>
          </a:p>
          <a:p>
            <a:r>
              <a:rPr lang="en-US" altLang="zh-TW" sz="1400" dirty="0" err="1"/>
              <a:t>lr</a:t>
            </a:r>
            <a:r>
              <a:rPr lang="en-US" altLang="zh-TW" sz="1400" dirty="0"/>
              <a:t> = 1e-1</a:t>
            </a:r>
          </a:p>
          <a:p>
            <a:r>
              <a:rPr lang="en-US" altLang="zh-TW" sz="1400" dirty="0" err="1"/>
              <a:t>n_epochs</a:t>
            </a:r>
            <a:r>
              <a:rPr lang="en-US" altLang="zh-TW" sz="1400" dirty="0"/>
              <a:t> = 1000</a:t>
            </a:r>
          </a:p>
          <a:p>
            <a:endParaRPr lang="en-US" altLang="zh-TW" sz="1400" dirty="0"/>
          </a:p>
          <a:p>
            <a:r>
              <a:rPr lang="en-US" altLang="zh-TW" sz="1400" dirty="0"/>
              <a:t>for epoch in range(</a:t>
            </a:r>
            <a:r>
              <a:rPr lang="en-US" altLang="zh-TW" sz="1400" dirty="0" err="1"/>
              <a:t>n_epochs</a:t>
            </a:r>
            <a:r>
              <a:rPr lang="en-US" altLang="zh-TW" sz="1400" dirty="0"/>
              <a:t>):</a:t>
            </a:r>
          </a:p>
          <a:p>
            <a:r>
              <a:rPr lang="en-US" altLang="zh-TW" sz="1400" dirty="0"/>
              <a:t>    </a:t>
            </a:r>
            <a:r>
              <a:rPr lang="en-US" altLang="zh-TW" sz="1400" dirty="0" err="1"/>
              <a:t>yhat</a:t>
            </a:r>
            <a:r>
              <a:rPr lang="en-US" altLang="zh-TW" sz="1400" dirty="0"/>
              <a:t> = a + b * </a:t>
            </a:r>
            <a:r>
              <a:rPr lang="en-US" altLang="zh-TW" sz="1400" dirty="0" err="1"/>
              <a:t>x_train</a:t>
            </a:r>
            <a:endParaRPr lang="en-US" altLang="zh-TW" sz="1400" dirty="0"/>
          </a:p>
          <a:p>
            <a:r>
              <a:rPr lang="en-US" altLang="zh-TW" sz="1400" dirty="0"/>
              <a:t>    error = </a:t>
            </a:r>
            <a:r>
              <a:rPr lang="en-US" altLang="zh-TW" sz="1400" dirty="0" err="1"/>
              <a:t>y_train</a:t>
            </a:r>
            <a:r>
              <a:rPr lang="en-US" altLang="zh-TW" sz="1400" dirty="0"/>
              <a:t> - </a:t>
            </a:r>
            <a:r>
              <a:rPr lang="en-US" altLang="zh-TW" sz="1400" dirty="0" err="1"/>
              <a:t>yhat</a:t>
            </a:r>
            <a:endParaRPr lang="en-US" altLang="zh-TW" sz="1400" dirty="0"/>
          </a:p>
          <a:p>
            <a:r>
              <a:rPr lang="en-US" altLang="zh-TW" sz="1400" dirty="0"/>
              <a:t>    loss = (error ** 2).mean()</a:t>
            </a:r>
          </a:p>
          <a:p>
            <a:endParaRPr lang="en-US" altLang="zh-TW" sz="1400" dirty="0"/>
          </a:p>
          <a:p>
            <a:r>
              <a:rPr lang="en-US" altLang="zh-TW" sz="1400" dirty="0">
                <a:solidFill>
                  <a:srgbClr val="FF0000"/>
                </a:solidFill>
              </a:rPr>
              <a:t>    </a:t>
            </a:r>
            <a:r>
              <a:rPr lang="en-US" altLang="zh-TW" sz="1400" dirty="0" err="1">
                <a:solidFill>
                  <a:srgbClr val="FF0000"/>
                </a:solidFill>
              </a:rPr>
              <a:t>loss.backward</a:t>
            </a:r>
            <a:r>
              <a:rPr lang="en-US" altLang="zh-TW" sz="1400" dirty="0">
                <a:solidFill>
                  <a:srgbClr val="FF0000"/>
                </a:solidFill>
              </a:rPr>
              <a:t>()</a:t>
            </a:r>
          </a:p>
          <a:p>
            <a:endParaRPr lang="en-US" altLang="zh-TW" sz="1400" dirty="0">
              <a:solidFill>
                <a:srgbClr val="FF0000"/>
              </a:solidFill>
            </a:endParaRPr>
          </a:p>
          <a:p>
            <a:r>
              <a:rPr lang="en-US" altLang="zh-TW" sz="1400" dirty="0">
                <a:solidFill>
                  <a:srgbClr val="FF0000"/>
                </a:solidFill>
              </a:rPr>
              <a:t>    with </a:t>
            </a:r>
            <a:r>
              <a:rPr lang="en-US" altLang="zh-TW" sz="1400" dirty="0" err="1">
                <a:solidFill>
                  <a:srgbClr val="FF0000"/>
                </a:solidFill>
              </a:rPr>
              <a:t>torch.no_grad</a:t>
            </a:r>
            <a:r>
              <a:rPr lang="en-US" altLang="zh-TW" sz="1400" dirty="0">
                <a:solidFill>
                  <a:srgbClr val="FF0000"/>
                </a:solidFill>
              </a:rPr>
              <a:t>():</a:t>
            </a:r>
          </a:p>
          <a:p>
            <a:r>
              <a:rPr lang="en-US" altLang="zh-TW" sz="1400" dirty="0">
                <a:solidFill>
                  <a:srgbClr val="FF0000"/>
                </a:solidFill>
              </a:rPr>
              <a:t>        a -= </a:t>
            </a:r>
            <a:r>
              <a:rPr lang="en-US" altLang="zh-TW" sz="1400" dirty="0" err="1">
                <a:solidFill>
                  <a:srgbClr val="FF0000"/>
                </a:solidFill>
              </a:rPr>
              <a:t>lr</a:t>
            </a:r>
            <a:r>
              <a:rPr lang="en-US" altLang="zh-TW" sz="1400" dirty="0">
                <a:solidFill>
                  <a:srgbClr val="FF0000"/>
                </a:solidFill>
              </a:rPr>
              <a:t> * </a:t>
            </a:r>
            <a:r>
              <a:rPr lang="en-US" altLang="zh-TW" sz="1400" dirty="0" err="1">
                <a:solidFill>
                  <a:srgbClr val="FF0000"/>
                </a:solidFill>
              </a:rPr>
              <a:t>a.grad</a:t>
            </a:r>
            <a:endParaRPr lang="en-US" altLang="zh-TW" sz="1400" dirty="0">
              <a:solidFill>
                <a:srgbClr val="FF0000"/>
              </a:solidFill>
            </a:endParaRPr>
          </a:p>
          <a:p>
            <a:r>
              <a:rPr lang="en-US" altLang="zh-TW" sz="1400" dirty="0">
                <a:solidFill>
                  <a:srgbClr val="FF0000"/>
                </a:solidFill>
              </a:rPr>
              <a:t>        b -= </a:t>
            </a:r>
            <a:r>
              <a:rPr lang="en-US" altLang="zh-TW" sz="1400" dirty="0" err="1">
                <a:solidFill>
                  <a:srgbClr val="FF0000"/>
                </a:solidFill>
              </a:rPr>
              <a:t>lr</a:t>
            </a:r>
            <a:r>
              <a:rPr lang="en-US" altLang="zh-TW" sz="1400" dirty="0">
                <a:solidFill>
                  <a:srgbClr val="FF0000"/>
                </a:solidFill>
              </a:rPr>
              <a:t> * </a:t>
            </a:r>
            <a:r>
              <a:rPr lang="en-US" altLang="zh-TW" sz="1400" dirty="0" err="1">
                <a:solidFill>
                  <a:srgbClr val="FF0000"/>
                </a:solidFill>
              </a:rPr>
              <a:t>b.grad</a:t>
            </a:r>
            <a:endParaRPr lang="en-US" altLang="zh-TW" sz="1400" dirty="0">
              <a:solidFill>
                <a:srgbClr val="FF0000"/>
              </a:solidFill>
            </a:endParaRPr>
          </a:p>
          <a:p>
            <a:endParaRPr lang="en-US" altLang="zh-TW" sz="1400" dirty="0"/>
          </a:p>
          <a:p>
            <a:r>
              <a:rPr lang="en-US" altLang="zh-TW" sz="1400" dirty="0">
                <a:solidFill>
                  <a:srgbClr val="FF0000"/>
                </a:solidFill>
              </a:rPr>
              <a:t>    </a:t>
            </a:r>
            <a:r>
              <a:rPr lang="en-US" altLang="zh-TW" sz="1400" dirty="0" err="1">
                <a:solidFill>
                  <a:srgbClr val="FF0000"/>
                </a:solidFill>
              </a:rPr>
              <a:t>a.grad.zero</a:t>
            </a:r>
            <a:r>
              <a:rPr lang="en-US" altLang="zh-TW" sz="1400" dirty="0">
                <a:solidFill>
                  <a:srgbClr val="FF0000"/>
                </a:solidFill>
              </a:rPr>
              <a:t>_()</a:t>
            </a:r>
          </a:p>
          <a:p>
            <a:r>
              <a:rPr lang="en-US" altLang="zh-TW" sz="1400" dirty="0">
                <a:solidFill>
                  <a:srgbClr val="FF0000"/>
                </a:solidFill>
              </a:rPr>
              <a:t>    </a:t>
            </a:r>
            <a:r>
              <a:rPr lang="en-US" altLang="zh-TW" sz="1400" dirty="0" err="1">
                <a:solidFill>
                  <a:srgbClr val="FF0000"/>
                </a:solidFill>
              </a:rPr>
              <a:t>b.grad.zero</a:t>
            </a:r>
            <a:r>
              <a:rPr lang="en-US" altLang="zh-TW" sz="1400" dirty="0">
                <a:solidFill>
                  <a:srgbClr val="FF0000"/>
                </a:solidFill>
              </a:rPr>
              <a:t>_()</a:t>
            </a:r>
          </a:p>
          <a:p>
            <a:endParaRPr lang="en-US" altLang="zh-TW" sz="1400" dirty="0"/>
          </a:p>
          <a:p>
            <a:r>
              <a:rPr lang="en-US" altLang="zh-TW" sz="1400" dirty="0"/>
              <a:t>print(a, b)</a:t>
            </a:r>
          </a:p>
        </p:txBody>
      </p:sp>
      <p:sp>
        <p:nvSpPr>
          <p:cNvPr id="25" name="文字方塊 24">
            <a:extLst>
              <a:ext uri="{FF2B5EF4-FFF2-40B4-BE49-F238E27FC236}">
                <a16:creationId xmlns:a16="http://schemas.microsoft.com/office/drawing/2014/main" id="{C2905843-7C41-63E0-3A0D-33C002A50793}"/>
              </a:ext>
            </a:extLst>
          </p:cNvPr>
          <p:cNvSpPr txBox="1"/>
          <p:nvPr/>
        </p:nvSpPr>
        <p:spPr>
          <a:xfrm>
            <a:off x="1116016" y="6494085"/>
            <a:ext cx="4885765" cy="276999"/>
          </a:xfrm>
          <a:prstGeom prst="rect">
            <a:avLst/>
          </a:prstGeom>
          <a:solidFill>
            <a:schemeClr val="accent6">
              <a:lumMod val="40000"/>
              <a:lumOff val="60000"/>
            </a:schemeClr>
          </a:solidFill>
        </p:spPr>
        <p:txBody>
          <a:bodyPr wrap="square">
            <a:spAutoFit/>
          </a:bodyPr>
          <a:lstStyle/>
          <a:p>
            <a:r>
              <a:rPr lang="zh-TW" altLang="en-US" sz="1200" dirty="0"/>
              <a:t>tensor([1.9493], requires_grad=True) tensor([3.0931], requires_grad=True)</a:t>
            </a:r>
          </a:p>
        </p:txBody>
      </p:sp>
      <p:sp>
        <p:nvSpPr>
          <p:cNvPr id="4" name="文字方塊 3">
            <a:extLst>
              <a:ext uri="{FF2B5EF4-FFF2-40B4-BE49-F238E27FC236}">
                <a16:creationId xmlns:a16="http://schemas.microsoft.com/office/drawing/2014/main" id="{94258AD9-F368-87CF-AB56-49F4A0D9DFD1}"/>
              </a:ext>
            </a:extLst>
          </p:cNvPr>
          <p:cNvSpPr txBox="1"/>
          <p:nvPr/>
        </p:nvSpPr>
        <p:spPr>
          <a:xfrm>
            <a:off x="6190221" y="-1"/>
            <a:ext cx="6001782" cy="6340197"/>
          </a:xfrm>
          <a:prstGeom prst="rect">
            <a:avLst/>
          </a:prstGeom>
          <a:solidFill>
            <a:schemeClr val="accent5">
              <a:lumMod val="20000"/>
              <a:lumOff val="80000"/>
            </a:schemeClr>
          </a:solidFill>
        </p:spPr>
        <p:txBody>
          <a:bodyPr wrap="square">
            <a:spAutoFit/>
          </a:bodyPr>
          <a:lstStyle/>
          <a:p>
            <a:r>
              <a:rPr lang="en-US" altLang="zh-TW" sz="1400" dirty="0"/>
              <a:t>import torch</a:t>
            </a:r>
          </a:p>
          <a:p>
            <a:r>
              <a:rPr lang="en-US" altLang="zh-TW" sz="1400" dirty="0">
                <a:solidFill>
                  <a:srgbClr val="FF0000"/>
                </a:solidFill>
              </a:rPr>
              <a:t>import </a:t>
            </a:r>
            <a:r>
              <a:rPr lang="en-US" altLang="zh-TW" sz="1400" dirty="0" err="1">
                <a:solidFill>
                  <a:srgbClr val="FF0000"/>
                </a:solidFill>
              </a:rPr>
              <a:t>torch.optim</a:t>
            </a:r>
            <a:r>
              <a:rPr lang="en-US" altLang="zh-TW" sz="1400" dirty="0">
                <a:solidFill>
                  <a:srgbClr val="FF0000"/>
                </a:solidFill>
              </a:rPr>
              <a:t> as </a:t>
            </a:r>
            <a:r>
              <a:rPr lang="en-US" altLang="zh-TW" sz="1400" dirty="0" err="1">
                <a:solidFill>
                  <a:srgbClr val="FF0000"/>
                </a:solidFill>
              </a:rPr>
              <a:t>optim</a:t>
            </a:r>
            <a:endParaRPr lang="en-US" altLang="zh-TW" sz="1400" dirty="0">
              <a:solidFill>
                <a:srgbClr val="FF0000"/>
              </a:solidFill>
            </a:endParaRPr>
          </a:p>
          <a:p>
            <a:r>
              <a:rPr lang="en-US" altLang="zh-TW" sz="1400" dirty="0">
                <a:solidFill>
                  <a:srgbClr val="0070C0"/>
                </a:solidFill>
              </a:rPr>
              <a:t>import </a:t>
            </a:r>
            <a:r>
              <a:rPr lang="en-US" altLang="zh-TW" sz="1400" dirty="0" err="1">
                <a:solidFill>
                  <a:srgbClr val="0070C0"/>
                </a:solidFill>
              </a:rPr>
              <a:t>torch.nn</a:t>
            </a:r>
            <a:r>
              <a:rPr lang="en-US" altLang="zh-TW" sz="1400" dirty="0">
                <a:solidFill>
                  <a:srgbClr val="0070C0"/>
                </a:solidFill>
              </a:rPr>
              <a:t> as </a:t>
            </a:r>
            <a:r>
              <a:rPr lang="en-US" altLang="zh-TW" sz="1400" dirty="0" err="1">
                <a:solidFill>
                  <a:srgbClr val="0070C0"/>
                </a:solidFill>
              </a:rPr>
              <a:t>nn</a:t>
            </a:r>
            <a:endParaRPr lang="en-US" altLang="zh-TW" sz="1400" dirty="0">
              <a:solidFill>
                <a:srgbClr val="0070C0"/>
              </a:solidFill>
            </a:endParaRPr>
          </a:p>
          <a:p>
            <a:endParaRPr lang="en-US" altLang="zh-TW" sz="1400" dirty="0"/>
          </a:p>
          <a:p>
            <a:r>
              <a:rPr lang="en-US" altLang="zh-TW" sz="1400" dirty="0" err="1"/>
              <a:t>n_data</a:t>
            </a:r>
            <a:r>
              <a:rPr lang="en-US" altLang="zh-TW" sz="1400" dirty="0"/>
              <a:t> = 100</a:t>
            </a:r>
          </a:p>
          <a:p>
            <a:r>
              <a:rPr lang="en-US" altLang="zh-TW" sz="1400" dirty="0" err="1"/>
              <a:t>x_train</a:t>
            </a:r>
            <a:r>
              <a:rPr lang="en-US" altLang="zh-TW" sz="1400" dirty="0"/>
              <a:t> = </a:t>
            </a:r>
            <a:r>
              <a:rPr lang="en-US" altLang="zh-TW" sz="1400" dirty="0" err="1"/>
              <a:t>torch.rand</a:t>
            </a:r>
            <a:r>
              <a:rPr lang="en-US" altLang="zh-TW" sz="1400" dirty="0"/>
              <a:t>(</a:t>
            </a:r>
            <a:r>
              <a:rPr lang="en-US" altLang="zh-TW" sz="1400" dirty="0" err="1"/>
              <a:t>n_data</a:t>
            </a:r>
            <a:r>
              <a:rPr lang="en-US" altLang="zh-TW" sz="1400" dirty="0"/>
              <a:t> , 1)</a:t>
            </a:r>
          </a:p>
          <a:p>
            <a:r>
              <a:rPr lang="en-US" altLang="zh-TW" sz="1400" dirty="0" err="1"/>
              <a:t>y_train</a:t>
            </a:r>
            <a:r>
              <a:rPr lang="en-US" altLang="zh-TW" sz="1400" dirty="0"/>
              <a:t> = 2 + 3 * </a:t>
            </a:r>
            <a:r>
              <a:rPr lang="en-US" altLang="zh-TW" sz="1400" dirty="0" err="1"/>
              <a:t>x_train</a:t>
            </a:r>
            <a:r>
              <a:rPr lang="en-US" altLang="zh-TW" sz="1400" dirty="0"/>
              <a:t> + .1 * </a:t>
            </a:r>
            <a:r>
              <a:rPr lang="en-US" altLang="zh-TW" sz="1400" dirty="0" err="1"/>
              <a:t>torch.randn</a:t>
            </a:r>
            <a:r>
              <a:rPr lang="en-US" altLang="zh-TW" sz="1400" dirty="0"/>
              <a:t>(</a:t>
            </a:r>
            <a:r>
              <a:rPr lang="en-US" altLang="zh-TW" sz="1400" dirty="0" err="1"/>
              <a:t>n_data</a:t>
            </a:r>
            <a:r>
              <a:rPr lang="en-US" altLang="zh-TW" sz="1400" dirty="0"/>
              <a:t> , 1)</a:t>
            </a:r>
          </a:p>
          <a:p>
            <a:endParaRPr lang="en-US" altLang="zh-TW" sz="1400" dirty="0"/>
          </a:p>
          <a:p>
            <a:r>
              <a:rPr lang="en-US" altLang="zh-TW" sz="1400" dirty="0"/>
              <a:t>device = '</a:t>
            </a:r>
            <a:r>
              <a:rPr lang="en-US" altLang="zh-TW" sz="1400" dirty="0" err="1"/>
              <a:t>cuda</a:t>
            </a:r>
            <a:r>
              <a:rPr lang="en-US" altLang="zh-TW" sz="1400" dirty="0"/>
              <a:t>' if </a:t>
            </a:r>
            <a:r>
              <a:rPr lang="en-US" altLang="zh-TW" sz="1400" dirty="0" err="1"/>
              <a:t>torch.cuda.is_available</a:t>
            </a:r>
            <a:r>
              <a:rPr lang="en-US" altLang="zh-TW" sz="1400" dirty="0"/>
              <a:t>() else '</a:t>
            </a:r>
            <a:r>
              <a:rPr lang="en-US" altLang="zh-TW" sz="1400" dirty="0" err="1"/>
              <a:t>cpu</a:t>
            </a:r>
            <a:r>
              <a:rPr lang="en-US" altLang="zh-TW" sz="1400" dirty="0"/>
              <a:t>'</a:t>
            </a:r>
          </a:p>
          <a:p>
            <a:r>
              <a:rPr lang="en-US" altLang="zh-TW" sz="1400" dirty="0"/>
              <a:t>x_train.to(device)</a:t>
            </a:r>
          </a:p>
          <a:p>
            <a:r>
              <a:rPr lang="en-US" altLang="zh-TW" sz="1400" dirty="0"/>
              <a:t>y_train.to(device)</a:t>
            </a:r>
          </a:p>
          <a:p>
            <a:endParaRPr lang="en-US" altLang="zh-TW" sz="1400" dirty="0"/>
          </a:p>
          <a:p>
            <a:r>
              <a:rPr lang="en-US" altLang="zh-TW" sz="1400" dirty="0"/>
              <a:t>a = </a:t>
            </a:r>
            <a:r>
              <a:rPr lang="en-US" altLang="zh-TW" sz="1400" dirty="0" err="1"/>
              <a:t>torch.randn</a:t>
            </a:r>
            <a:r>
              <a:rPr lang="en-US" altLang="zh-TW" sz="1400" dirty="0"/>
              <a:t>(1, </a:t>
            </a:r>
            <a:r>
              <a:rPr lang="en-US" altLang="zh-TW" sz="1400" dirty="0" err="1"/>
              <a:t>requires_grad</a:t>
            </a:r>
            <a:r>
              <a:rPr lang="en-US" altLang="zh-TW" sz="1400" dirty="0"/>
              <a:t>=True, </a:t>
            </a:r>
            <a:r>
              <a:rPr lang="en-US" altLang="zh-TW" sz="1400" dirty="0" err="1"/>
              <a:t>dtype</a:t>
            </a:r>
            <a:r>
              <a:rPr lang="en-US" altLang="zh-TW" sz="1400" dirty="0"/>
              <a:t>=</a:t>
            </a:r>
            <a:r>
              <a:rPr lang="en-US" altLang="zh-TW" sz="1400" dirty="0" err="1"/>
              <a:t>torch.float</a:t>
            </a:r>
            <a:r>
              <a:rPr lang="en-US" altLang="zh-TW" sz="1400" dirty="0"/>
              <a:t>, device=device)</a:t>
            </a:r>
          </a:p>
          <a:p>
            <a:r>
              <a:rPr lang="en-US" altLang="zh-TW" sz="1400" dirty="0"/>
              <a:t>b = </a:t>
            </a:r>
            <a:r>
              <a:rPr lang="en-US" altLang="zh-TW" sz="1400" dirty="0" err="1"/>
              <a:t>torch.randn</a:t>
            </a:r>
            <a:r>
              <a:rPr lang="en-US" altLang="zh-TW" sz="1400" dirty="0"/>
              <a:t>(1, </a:t>
            </a:r>
            <a:r>
              <a:rPr lang="en-US" altLang="zh-TW" sz="1400" dirty="0" err="1"/>
              <a:t>requires_grad</a:t>
            </a:r>
            <a:r>
              <a:rPr lang="en-US" altLang="zh-TW" sz="1400" dirty="0"/>
              <a:t>=True, </a:t>
            </a:r>
            <a:r>
              <a:rPr lang="en-US" altLang="zh-TW" sz="1400" dirty="0" err="1"/>
              <a:t>dtype</a:t>
            </a:r>
            <a:r>
              <a:rPr lang="en-US" altLang="zh-TW" sz="1400" dirty="0"/>
              <a:t>=</a:t>
            </a:r>
            <a:r>
              <a:rPr lang="en-US" altLang="zh-TW" sz="1400" dirty="0" err="1"/>
              <a:t>torch.float</a:t>
            </a:r>
            <a:r>
              <a:rPr lang="en-US" altLang="zh-TW" sz="1400" dirty="0"/>
              <a:t>, device=device)</a:t>
            </a:r>
          </a:p>
          <a:p>
            <a:endParaRPr lang="en-US" altLang="zh-TW" sz="1400" dirty="0"/>
          </a:p>
          <a:p>
            <a:r>
              <a:rPr lang="en-US" altLang="zh-TW" sz="1400" dirty="0" err="1"/>
              <a:t>lr</a:t>
            </a:r>
            <a:r>
              <a:rPr lang="en-US" altLang="zh-TW" sz="1400" dirty="0"/>
              <a:t> = 1e-1</a:t>
            </a:r>
          </a:p>
          <a:p>
            <a:r>
              <a:rPr lang="en-US" altLang="zh-TW" sz="1400" dirty="0" err="1"/>
              <a:t>n_epochs</a:t>
            </a:r>
            <a:r>
              <a:rPr lang="en-US" altLang="zh-TW" sz="1400" dirty="0"/>
              <a:t> = 1000</a:t>
            </a:r>
          </a:p>
          <a:p>
            <a:r>
              <a:rPr lang="en-US" altLang="zh-TW" sz="1400" dirty="0">
                <a:solidFill>
                  <a:srgbClr val="FF0000"/>
                </a:solidFill>
              </a:rPr>
              <a:t>optimizer = </a:t>
            </a:r>
            <a:r>
              <a:rPr lang="en-US" altLang="zh-TW" sz="1400" dirty="0" err="1">
                <a:solidFill>
                  <a:srgbClr val="FF0000"/>
                </a:solidFill>
              </a:rPr>
              <a:t>optim.SGD</a:t>
            </a:r>
            <a:r>
              <a:rPr lang="en-US" altLang="zh-TW" sz="1400" dirty="0">
                <a:solidFill>
                  <a:srgbClr val="FF0000"/>
                </a:solidFill>
              </a:rPr>
              <a:t>([a, b], </a:t>
            </a:r>
            <a:r>
              <a:rPr lang="en-US" altLang="zh-TW" sz="1400" dirty="0" err="1">
                <a:solidFill>
                  <a:srgbClr val="FF0000"/>
                </a:solidFill>
              </a:rPr>
              <a:t>lr</a:t>
            </a:r>
            <a:r>
              <a:rPr lang="en-US" altLang="zh-TW" sz="1400" dirty="0">
                <a:solidFill>
                  <a:srgbClr val="FF0000"/>
                </a:solidFill>
              </a:rPr>
              <a:t>=</a:t>
            </a:r>
            <a:r>
              <a:rPr lang="en-US" altLang="zh-TW" sz="1400" dirty="0" err="1">
                <a:solidFill>
                  <a:srgbClr val="FF0000"/>
                </a:solidFill>
              </a:rPr>
              <a:t>lr</a:t>
            </a:r>
            <a:r>
              <a:rPr lang="en-US" altLang="zh-TW" sz="1400" dirty="0">
                <a:solidFill>
                  <a:srgbClr val="FF0000"/>
                </a:solidFill>
              </a:rPr>
              <a:t>)</a:t>
            </a:r>
          </a:p>
          <a:p>
            <a:r>
              <a:rPr lang="en-US" altLang="zh-TW" sz="1400" dirty="0" err="1">
                <a:solidFill>
                  <a:srgbClr val="0070C0"/>
                </a:solidFill>
              </a:rPr>
              <a:t>loss_fn</a:t>
            </a:r>
            <a:r>
              <a:rPr lang="en-US" altLang="zh-TW" sz="1400" dirty="0">
                <a:solidFill>
                  <a:srgbClr val="0070C0"/>
                </a:solidFill>
              </a:rPr>
              <a:t> = </a:t>
            </a:r>
            <a:r>
              <a:rPr lang="en-US" altLang="zh-TW" sz="1400" dirty="0" err="1">
                <a:solidFill>
                  <a:srgbClr val="0070C0"/>
                </a:solidFill>
              </a:rPr>
              <a:t>nn.MSELoss</a:t>
            </a:r>
            <a:r>
              <a:rPr lang="en-US" altLang="zh-TW" sz="1400" dirty="0">
                <a:solidFill>
                  <a:srgbClr val="0070C0"/>
                </a:solidFill>
              </a:rPr>
              <a:t>(reduction='mean')</a:t>
            </a:r>
          </a:p>
          <a:p>
            <a:endParaRPr lang="en-US" altLang="zh-TW" sz="1400" dirty="0"/>
          </a:p>
          <a:p>
            <a:r>
              <a:rPr lang="en-US" altLang="zh-TW" sz="1400" dirty="0"/>
              <a:t>for epoch in range(</a:t>
            </a:r>
            <a:r>
              <a:rPr lang="en-US" altLang="zh-TW" sz="1400" dirty="0" err="1"/>
              <a:t>n_epochs</a:t>
            </a:r>
            <a:r>
              <a:rPr lang="en-US" altLang="zh-TW" sz="1400" dirty="0"/>
              <a:t>):</a:t>
            </a:r>
          </a:p>
          <a:p>
            <a:r>
              <a:rPr lang="en-US" altLang="zh-TW" sz="1400" dirty="0"/>
              <a:t>    </a:t>
            </a:r>
            <a:r>
              <a:rPr lang="en-US" altLang="zh-TW" sz="1400" dirty="0" err="1"/>
              <a:t>yhat</a:t>
            </a:r>
            <a:r>
              <a:rPr lang="en-US" altLang="zh-TW" sz="1400" dirty="0"/>
              <a:t> = a + b * </a:t>
            </a:r>
            <a:r>
              <a:rPr lang="en-US" altLang="zh-TW" sz="1400" dirty="0" err="1"/>
              <a:t>x_train</a:t>
            </a:r>
            <a:endParaRPr lang="en-US" altLang="zh-TW" sz="1400" dirty="0"/>
          </a:p>
          <a:p>
            <a:endParaRPr lang="en-US" altLang="zh-TW" sz="1400" dirty="0">
              <a:solidFill>
                <a:srgbClr val="FF0000"/>
              </a:solidFill>
            </a:endParaRPr>
          </a:p>
          <a:p>
            <a:r>
              <a:rPr lang="en-US" altLang="zh-TW" sz="1400" dirty="0">
                <a:solidFill>
                  <a:srgbClr val="0070C0"/>
                </a:solidFill>
              </a:rPr>
              <a:t>    loss = </a:t>
            </a:r>
            <a:r>
              <a:rPr lang="en-US" altLang="zh-TW" sz="1400" dirty="0" err="1">
                <a:solidFill>
                  <a:srgbClr val="0070C0"/>
                </a:solidFill>
              </a:rPr>
              <a:t>loss_fn</a:t>
            </a:r>
            <a:r>
              <a:rPr lang="en-US" altLang="zh-TW" sz="1400" dirty="0">
                <a:solidFill>
                  <a:srgbClr val="0070C0"/>
                </a:solidFill>
              </a:rPr>
              <a:t>(</a:t>
            </a:r>
            <a:r>
              <a:rPr lang="en-US" altLang="zh-TW" sz="1400" dirty="0" err="1">
                <a:solidFill>
                  <a:srgbClr val="0070C0"/>
                </a:solidFill>
              </a:rPr>
              <a:t>y_train</a:t>
            </a:r>
            <a:r>
              <a:rPr lang="en-US" altLang="zh-TW" sz="1400" dirty="0">
                <a:solidFill>
                  <a:srgbClr val="0070C0"/>
                </a:solidFill>
              </a:rPr>
              <a:t>, </a:t>
            </a:r>
            <a:r>
              <a:rPr lang="en-US" altLang="zh-TW" sz="1400" dirty="0" err="1">
                <a:solidFill>
                  <a:srgbClr val="0070C0"/>
                </a:solidFill>
              </a:rPr>
              <a:t>yhat</a:t>
            </a:r>
            <a:r>
              <a:rPr lang="en-US" altLang="zh-TW" sz="1400" dirty="0">
                <a:solidFill>
                  <a:srgbClr val="0070C0"/>
                </a:solidFill>
              </a:rPr>
              <a:t>)</a:t>
            </a:r>
          </a:p>
          <a:p>
            <a:r>
              <a:rPr lang="en-US" altLang="zh-TW" sz="1400" dirty="0"/>
              <a:t>    </a:t>
            </a:r>
            <a:r>
              <a:rPr lang="en-US" altLang="zh-TW" sz="1400" dirty="0" err="1"/>
              <a:t>loss.backward</a:t>
            </a:r>
            <a:r>
              <a:rPr lang="en-US" altLang="zh-TW" sz="1400" dirty="0"/>
              <a:t>()</a:t>
            </a:r>
          </a:p>
          <a:p>
            <a:r>
              <a:rPr lang="en-US" altLang="zh-TW" sz="1400" dirty="0"/>
              <a:t>    </a:t>
            </a:r>
            <a:r>
              <a:rPr lang="en-US" altLang="zh-TW" sz="1400" dirty="0" err="1">
                <a:solidFill>
                  <a:srgbClr val="FF0000"/>
                </a:solidFill>
              </a:rPr>
              <a:t>optimizer.step</a:t>
            </a:r>
            <a:r>
              <a:rPr lang="en-US" altLang="zh-TW" sz="1400" dirty="0">
                <a:solidFill>
                  <a:srgbClr val="FF0000"/>
                </a:solidFill>
              </a:rPr>
              <a:t>()</a:t>
            </a:r>
          </a:p>
          <a:p>
            <a:r>
              <a:rPr lang="en-US" altLang="zh-TW" sz="1400" dirty="0">
                <a:solidFill>
                  <a:srgbClr val="FF0000"/>
                </a:solidFill>
              </a:rPr>
              <a:t>    </a:t>
            </a:r>
            <a:r>
              <a:rPr lang="en-US" altLang="zh-TW" sz="1400" dirty="0" err="1">
                <a:solidFill>
                  <a:srgbClr val="FF0000"/>
                </a:solidFill>
              </a:rPr>
              <a:t>optimizer.zero_grad</a:t>
            </a:r>
            <a:r>
              <a:rPr lang="en-US" altLang="zh-TW" sz="1400" dirty="0">
                <a:solidFill>
                  <a:srgbClr val="FF0000"/>
                </a:solidFill>
              </a:rPr>
              <a:t>()</a:t>
            </a:r>
          </a:p>
          <a:p>
            <a:endParaRPr lang="en-US" altLang="zh-TW" sz="1400" dirty="0"/>
          </a:p>
          <a:p>
            <a:r>
              <a:rPr lang="en-US" altLang="zh-TW" sz="1400" dirty="0"/>
              <a:t>print(a, b)</a:t>
            </a:r>
          </a:p>
        </p:txBody>
      </p:sp>
      <p:sp>
        <p:nvSpPr>
          <p:cNvPr id="5" name="文字方塊 4">
            <a:extLst>
              <a:ext uri="{FF2B5EF4-FFF2-40B4-BE49-F238E27FC236}">
                <a16:creationId xmlns:a16="http://schemas.microsoft.com/office/drawing/2014/main" id="{5EFF5263-52D9-18B7-A6CE-B04CA052DE8E}"/>
              </a:ext>
            </a:extLst>
          </p:cNvPr>
          <p:cNvSpPr txBox="1"/>
          <p:nvPr/>
        </p:nvSpPr>
        <p:spPr>
          <a:xfrm>
            <a:off x="6190221" y="6402951"/>
            <a:ext cx="6001779" cy="276999"/>
          </a:xfrm>
          <a:prstGeom prst="rect">
            <a:avLst/>
          </a:prstGeom>
          <a:solidFill>
            <a:schemeClr val="accent6">
              <a:lumMod val="40000"/>
              <a:lumOff val="60000"/>
            </a:schemeClr>
          </a:solidFill>
        </p:spPr>
        <p:txBody>
          <a:bodyPr wrap="square">
            <a:spAutoFit/>
          </a:bodyPr>
          <a:lstStyle/>
          <a:p>
            <a:r>
              <a:rPr lang="en-US" altLang="zh-TW" sz="1200" dirty="0"/>
              <a:t>tensor([1.9653], </a:t>
            </a:r>
            <a:r>
              <a:rPr lang="en-US" altLang="zh-TW" sz="1200" dirty="0" err="1"/>
              <a:t>requires_grad</a:t>
            </a:r>
            <a:r>
              <a:rPr lang="en-US" altLang="zh-TW" sz="1200" dirty="0"/>
              <a:t>=True) tensor([3.0438], </a:t>
            </a:r>
            <a:r>
              <a:rPr lang="en-US" altLang="zh-TW" sz="1200" dirty="0" err="1"/>
              <a:t>requires_grad</a:t>
            </a:r>
            <a:r>
              <a:rPr lang="en-US" altLang="zh-TW" sz="1200" dirty="0"/>
              <a:t>=True)</a:t>
            </a:r>
            <a:endParaRPr lang="zh-TW" altLang="en-US" sz="1200" dirty="0"/>
          </a:p>
        </p:txBody>
      </p:sp>
      <p:sp>
        <p:nvSpPr>
          <p:cNvPr id="3" name="文字方塊 2">
            <a:extLst>
              <a:ext uri="{FF2B5EF4-FFF2-40B4-BE49-F238E27FC236}">
                <a16:creationId xmlns:a16="http://schemas.microsoft.com/office/drawing/2014/main" id="{AE3CE8D1-D19F-14BB-6799-15026546B2AC}"/>
              </a:ext>
            </a:extLst>
          </p:cNvPr>
          <p:cNvSpPr txBox="1"/>
          <p:nvPr/>
        </p:nvSpPr>
        <p:spPr>
          <a:xfrm>
            <a:off x="3212956" y="5084140"/>
            <a:ext cx="1573306" cy="369332"/>
          </a:xfrm>
          <a:prstGeom prst="rect">
            <a:avLst/>
          </a:prstGeom>
          <a:noFill/>
        </p:spPr>
        <p:txBody>
          <a:bodyPr wrap="square">
            <a:spAutoFit/>
          </a:bodyPr>
          <a:lstStyle/>
          <a:p>
            <a:r>
              <a:rPr lang="en-US" altLang="zh-TW" b="1" i="0" dirty="0" err="1">
                <a:solidFill>
                  <a:srgbClr val="FF0000"/>
                </a:solidFill>
                <a:effectLst/>
                <a:latin typeface="sohne"/>
              </a:rPr>
              <a:t>Autograd</a:t>
            </a:r>
            <a:endParaRPr lang="en-US" altLang="zh-TW" b="1" i="0" dirty="0">
              <a:solidFill>
                <a:srgbClr val="FF0000"/>
              </a:solidFill>
              <a:effectLst/>
              <a:latin typeface="sohne"/>
            </a:endParaRPr>
          </a:p>
        </p:txBody>
      </p:sp>
      <p:sp>
        <p:nvSpPr>
          <p:cNvPr id="7" name="文字方塊 6">
            <a:extLst>
              <a:ext uri="{FF2B5EF4-FFF2-40B4-BE49-F238E27FC236}">
                <a16:creationId xmlns:a16="http://schemas.microsoft.com/office/drawing/2014/main" id="{2941A03D-16A8-5004-6A33-2612F66D0831}"/>
              </a:ext>
            </a:extLst>
          </p:cNvPr>
          <p:cNvSpPr txBox="1"/>
          <p:nvPr/>
        </p:nvSpPr>
        <p:spPr>
          <a:xfrm>
            <a:off x="10242177" y="4432158"/>
            <a:ext cx="1751709" cy="369332"/>
          </a:xfrm>
          <a:prstGeom prst="rect">
            <a:avLst/>
          </a:prstGeom>
          <a:noFill/>
        </p:spPr>
        <p:txBody>
          <a:bodyPr wrap="square">
            <a:spAutoFit/>
          </a:bodyPr>
          <a:lstStyle/>
          <a:p>
            <a:r>
              <a:rPr lang="en-US" altLang="zh-TW" b="1" i="0" dirty="0">
                <a:solidFill>
                  <a:srgbClr val="FF0000"/>
                </a:solidFill>
                <a:effectLst/>
                <a:latin typeface="sohne"/>
              </a:rPr>
              <a:t>Optimizer</a:t>
            </a:r>
          </a:p>
        </p:txBody>
      </p:sp>
      <p:sp>
        <p:nvSpPr>
          <p:cNvPr id="9" name="文字方塊 8">
            <a:extLst>
              <a:ext uri="{FF2B5EF4-FFF2-40B4-BE49-F238E27FC236}">
                <a16:creationId xmlns:a16="http://schemas.microsoft.com/office/drawing/2014/main" id="{29827701-4545-4D40-17F1-34EAA4B7CB76}"/>
              </a:ext>
            </a:extLst>
          </p:cNvPr>
          <p:cNvSpPr txBox="1"/>
          <p:nvPr/>
        </p:nvSpPr>
        <p:spPr>
          <a:xfrm>
            <a:off x="10313894" y="4899474"/>
            <a:ext cx="1143000" cy="369332"/>
          </a:xfrm>
          <a:prstGeom prst="rect">
            <a:avLst/>
          </a:prstGeom>
          <a:noFill/>
        </p:spPr>
        <p:txBody>
          <a:bodyPr wrap="square">
            <a:spAutoFit/>
          </a:bodyPr>
          <a:lstStyle/>
          <a:p>
            <a:r>
              <a:rPr lang="en-US" altLang="zh-TW" b="1" i="0" dirty="0">
                <a:solidFill>
                  <a:schemeClr val="accent1"/>
                </a:solidFill>
                <a:effectLst/>
                <a:latin typeface="sohne"/>
              </a:rPr>
              <a:t>Loss</a:t>
            </a:r>
          </a:p>
        </p:txBody>
      </p:sp>
    </p:spTree>
    <p:extLst>
      <p:ext uri="{BB962C8B-B14F-4D97-AF65-F5344CB8AC3E}">
        <p14:creationId xmlns:p14="http://schemas.microsoft.com/office/powerpoint/2010/main" val="3890651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字方塊 26">
            <a:extLst>
              <a:ext uri="{FF2B5EF4-FFF2-40B4-BE49-F238E27FC236}">
                <a16:creationId xmlns:a16="http://schemas.microsoft.com/office/drawing/2014/main" id="{FACE04CE-8AC8-6DC0-37FD-47F5AD34E71E}"/>
              </a:ext>
            </a:extLst>
          </p:cNvPr>
          <p:cNvSpPr txBox="1"/>
          <p:nvPr/>
        </p:nvSpPr>
        <p:spPr>
          <a:xfrm>
            <a:off x="0" y="0"/>
            <a:ext cx="6096000" cy="6247864"/>
          </a:xfrm>
          <a:prstGeom prst="rect">
            <a:avLst/>
          </a:prstGeom>
          <a:solidFill>
            <a:schemeClr val="accent5">
              <a:lumMod val="20000"/>
              <a:lumOff val="80000"/>
            </a:schemeClr>
          </a:solidFill>
        </p:spPr>
        <p:txBody>
          <a:bodyPr wrap="square">
            <a:spAutoFit/>
          </a:bodyPr>
          <a:lstStyle/>
          <a:p>
            <a:r>
              <a:rPr lang="en-US" altLang="zh-TW" sz="1000" dirty="0"/>
              <a:t>import torch</a:t>
            </a:r>
          </a:p>
          <a:p>
            <a:r>
              <a:rPr lang="en-US" altLang="zh-TW" sz="1000" dirty="0"/>
              <a:t>import </a:t>
            </a:r>
            <a:r>
              <a:rPr lang="en-US" altLang="zh-TW" sz="1000" dirty="0" err="1"/>
              <a:t>torch.optim</a:t>
            </a:r>
            <a:r>
              <a:rPr lang="en-US" altLang="zh-TW" sz="1000" dirty="0"/>
              <a:t> as </a:t>
            </a:r>
            <a:r>
              <a:rPr lang="en-US" altLang="zh-TW" sz="1000" dirty="0" err="1"/>
              <a:t>optim</a:t>
            </a:r>
            <a:endParaRPr lang="en-US" altLang="zh-TW" sz="1000" dirty="0"/>
          </a:p>
          <a:p>
            <a:r>
              <a:rPr lang="en-US" altLang="zh-TW" sz="1000" dirty="0"/>
              <a:t>import </a:t>
            </a:r>
            <a:r>
              <a:rPr lang="en-US" altLang="zh-TW" sz="1000" dirty="0" err="1"/>
              <a:t>torch.nn</a:t>
            </a:r>
            <a:r>
              <a:rPr lang="en-US" altLang="zh-TW" sz="1000" dirty="0"/>
              <a:t> as </a:t>
            </a:r>
            <a:r>
              <a:rPr lang="en-US" altLang="zh-TW" sz="1000" dirty="0" err="1"/>
              <a:t>nn</a:t>
            </a:r>
            <a:endParaRPr lang="en-US" altLang="zh-TW" sz="1000" dirty="0"/>
          </a:p>
          <a:p>
            <a:endParaRPr lang="en-US" altLang="zh-TW" sz="1000" dirty="0"/>
          </a:p>
          <a:p>
            <a:r>
              <a:rPr lang="en-US" altLang="zh-TW" sz="1000" dirty="0">
                <a:solidFill>
                  <a:srgbClr val="FF0000"/>
                </a:solidFill>
              </a:rPr>
              <a:t>class </a:t>
            </a:r>
            <a:r>
              <a:rPr lang="en-US" altLang="zh-TW" sz="1000" dirty="0" err="1">
                <a:solidFill>
                  <a:srgbClr val="FF0000"/>
                </a:solidFill>
              </a:rPr>
              <a:t>ManualLinearRegression</a:t>
            </a:r>
            <a:r>
              <a:rPr lang="en-US" altLang="zh-TW" sz="1000" dirty="0">
                <a:solidFill>
                  <a:srgbClr val="FF0000"/>
                </a:solidFill>
              </a:rPr>
              <a:t>(</a:t>
            </a:r>
            <a:r>
              <a:rPr lang="en-US" altLang="zh-TW" sz="1000" dirty="0" err="1">
                <a:solidFill>
                  <a:srgbClr val="FF0000"/>
                </a:solidFill>
              </a:rPr>
              <a:t>nn.Module</a:t>
            </a:r>
            <a:r>
              <a:rPr lang="en-US" altLang="zh-TW" sz="1000" dirty="0">
                <a:solidFill>
                  <a:srgbClr val="FF0000"/>
                </a:solidFill>
              </a:rPr>
              <a:t>):</a:t>
            </a:r>
          </a:p>
          <a:p>
            <a:r>
              <a:rPr lang="en-US" altLang="zh-TW" sz="1000" dirty="0">
                <a:solidFill>
                  <a:srgbClr val="FF0000"/>
                </a:solidFill>
              </a:rPr>
              <a:t>    def __</a:t>
            </a:r>
            <a:r>
              <a:rPr lang="en-US" altLang="zh-TW" sz="1000" dirty="0" err="1">
                <a:solidFill>
                  <a:srgbClr val="FF0000"/>
                </a:solidFill>
              </a:rPr>
              <a:t>init</a:t>
            </a:r>
            <a:r>
              <a:rPr lang="en-US" altLang="zh-TW" sz="1000" dirty="0">
                <a:solidFill>
                  <a:srgbClr val="FF0000"/>
                </a:solidFill>
              </a:rPr>
              <a:t>__(self):</a:t>
            </a:r>
          </a:p>
          <a:p>
            <a:r>
              <a:rPr lang="en-US" altLang="zh-TW" sz="1000" dirty="0">
                <a:solidFill>
                  <a:srgbClr val="FF0000"/>
                </a:solidFill>
              </a:rPr>
              <a:t>        super().__</a:t>
            </a:r>
            <a:r>
              <a:rPr lang="en-US" altLang="zh-TW" sz="1000" dirty="0" err="1">
                <a:solidFill>
                  <a:srgbClr val="FF0000"/>
                </a:solidFill>
              </a:rPr>
              <a:t>init</a:t>
            </a:r>
            <a:r>
              <a:rPr lang="en-US" altLang="zh-TW" sz="1000" dirty="0">
                <a:solidFill>
                  <a:srgbClr val="FF0000"/>
                </a:solidFill>
              </a:rPr>
              <a:t>__()</a:t>
            </a:r>
          </a:p>
          <a:p>
            <a:r>
              <a:rPr lang="en-US" altLang="zh-TW" sz="1000" dirty="0">
                <a:solidFill>
                  <a:srgbClr val="FF0000"/>
                </a:solidFill>
              </a:rPr>
              <a:t>        </a:t>
            </a:r>
            <a:r>
              <a:rPr lang="en-US" altLang="zh-TW" sz="1000" dirty="0" err="1">
                <a:solidFill>
                  <a:srgbClr val="FF0000"/>
                </a:solidFill>
              </a:rPr>
              <a:t>self.a</a:t>
            </a:r>
            <a:r>
              <a:rPr lang="en-US" altLang="zh-TW" sz="1000" dirty="0">
                <a:solidFill>
                  <a:srgbClr val="FF0000"/>
                </a:solidFill>
              </a:rPr>
              <a:t> = </a:t>
            </a:r>
            <a:r>
              <a:rPr lang="en-US" altLang="zh-TW" sz="1000" dirty="0" err="1">
                <a:solidFill>
                  <a:srgbClr val="FF0000"/>
                </a:solidFill>
              </a:rPr>
              <a:t>nn.Parameter</a:t>
            </a:r>
            <a:r>
              <a:rPr lang="en-US" altLang="zh-TW" sz="1000" dirty="0">
                <a:solidFill>
                  <a:srgbClr val="FF0000"/>
                </a:solidFill>
              </a:rPr>
              <a:t>(</a:t>
            </a:r>
            <a:r>
              <a:rPr lang="en-US" altLang="zh-TW" sz="1000" dirty="0" err="1">
                <a:solidFill>
                  <a:srgbClr val="FF0000"/>
                </a:solidFill>
              </a:rPr>
              <a:t>torch.randn</a:t>
            </a:r>
            <a:r>
              <a:rPr lang="en-US" altLang="zh-TW" sz="1000" dirty="0">
                <a:solidFill>
                  <a:srgbClr val="FF0000"/>
                </a:solidFill>
              </a:rPr>
              <a:t>(1, </a:t>
            </a:r>
            <a:r>
              <a:rPr lang="en-US" altLang="zh-TW" sz="1000" dirty="0" err="1">
                <a:solidFill>
                  <a:srgbClr val="FF0000"/>
                </a:solidFill>
              </a:rPr>
              <a:t>requires_grad</a:t>
            </a:r>
            <a:r>
              <a:rPr lang="en-US" altLang="zh-TW" sz="1000" dirty="0">
                <a:solidFill>
                  <a:srgbClr val="FF0000"/>
                </a:solidFill>
              </a:rPr>
              <a:t>=True, </a:t>
            </a:r>
            <a:r>
              <a:rPr lang="en-US" altLang="zh-TW" sz="1000" dirty="0" err="1">
                <a:solidFill>
                  <a:srgbClr val="FF0000"/>
                </a:solidFill>
              </a:rPr>
              <a:t>dtype</a:t>
            </a:r>
            <a:r>
              <a:rPr lang="en-US" altLang="zh-TW" sz="1000" dirty="0">
                <a:solidFill>
                  <a:srgbClr val="FF0000"/>
                </a:solidFill>
              </a:rPr>
              <a:t>=</a:t>
            </a:r>
            <a:r>
              <a:rPr lang="en-US" altLang="zh-TW" sz="1000" dirty="0" err="1">
                <a:solidFill>
                  <a:srgbClr val="FF0000"/>
                </a:solidFill>
              </a:rPr>
              <a:t>torch.float</a:t>
            </a:r>
            <a:r>
              <a:rPr lang="en-US" altLang="zh-TW" sz="1000" dirty="0">
                <a:solidFill>
                  <a:srgbClr val="FF0000"/>
                </a:solidFill>
              </a:rPr>
              <a:t>))</a:t>
            </a:r>
          </a:p>
          <a:p>
            <a:r>
              <a:rPr lang="en-US" altLang="zh-TW" sz="1000" dirty="0">
                <a:solidFill>
                  <a:srgbClr val="FF0000"/>
                </a:solidFill>
              </a:rPr>
              <a:t>        </a:t>
            </a:r>
            <a:r>
              <a:rPr lang="en-US" altLang="zh-TW" sz="1000" dirty="0" err="1">
                <a:solidFill>
                  <a:srgbClr val="FF0000"/>
                </a:solidFill>
              </a:rPr>
              <a:t>self.b</a:t>
            </a:r>
            <a:r>
              <a:rPr lang="en-US" altLang="zh-TW" sz="1000" dirty="0">
                <a:solidFill>
                  <a:srgbClr val="FF0000"/>
                </a:solidFill>
              </a:rPr>
              <a:t> = </a:t>
            </a:r>
            <a:r>
              <a:rPr lang="en-US" altLang="zh-TW" sz="1000" dirty="0" err="1">
                <a:solidFill>
                  <a:srgbClr val="FF0000"/>
                </a:solidFill>
              </a:rPr>
              <a:t>nn.Parameter</a:t>
            </a:r>
            <a:r>
              <a:rPr lang="en-US" altLang="zh-TW" sz="1000" dirty="0">
                <a:solidFill>
                  <a:srgbClr val="FF0000"/>
                </a:solidFill>
              </a:rPr>
              <a:t>(</a:t>
            </a:r>
            <a:r>
              <a:rPr lang="en-US" altLang="zh-TW" sz="1000" dirty="0" err="1">
                <a:solidFill>
                  <a:srgbClr val="FF0000"/>
                </a:solidFill>
              </a:rPr>
              <a:t>torch.randn</a:t>
            </a:r>
            <a:r>
              <a:rPr lang="en-US" altLang="zh-TW" sz="1000" dirty="0">
                <a:solidFill>
                  <a:srgbClr val="FF0000"/>
                </a:solidFill>
              </a:rPr>
              <a:t>(1, </a:t>
            </a:r>
            <a:r>
              <a:rPr lang="en-US" altLang="zh-TW" sz="1000" dirty="0" err="1">
                <a:solidFill>
                  <a:srgbClr val="FF0000"/>
                </a:solidFill>
              </a:rPr>
              <a:t>requires_grad</a:t>
            </a:r>
            <a:r>
              <a:rPr lang="en-US" altLang="zh-TW" sz="1000" dirty="0">
                <a:solidFill>
                  <a:srgbClr val="FF0000"/>
                </a:solidFill>
              </a:rPr>
              <a:t>=True, </a:t>
            </a:r>
            <a:r>
              <a:rPr lang="en-US" altLang="zh-TW" sz="1000" dirty="0" err="1">
                <a:solidFill>
                  <a:srgbClr val="FF0000"/>
                </a:solidFill>
              </a:rPr>
              <a:t>dtype</a:t>
            </a:r>
            <a:r>
              <a:rPr lang="en-US" altLang="zh-TW" sz="1000" dirty="0">
                <a:solidFill>
                  <a:srgbClr val="FF0000"/>
                </a:solidFill>
              </a:rPr>
              <a:t>=</a:t>
            </a:r>
            <a:r>
              <a:rPr lang="en-US" altLang="zh-TW" sz="1000" dirty="0" err="1">
                <a:solidFill>
                  <a:srgbClr val="FF0000"/>
                </a:solidFill>
              </a:rPr>
              <a:t>torch.float</a:t>
            </a:r>
            <a:r>
              <a:rPr lang="en-US" altLang="zh-TW" sz="1000" dirty="0">
                <a:solidFill>
                  <a:srgbClr val="FF0000"/>
                </a:solidFill>
              </a:rPr>
              <a:t>))</a:t>
            </a:r>
          </a:p>
          <a:p>
            <a:endParaRPr lang="en-US" altLang="zh-TW" sz="1000" dirty="0">
              <a:solidFill>
                <a:srgbClr val="FF0000"/>
              </a:solidFill>
            </a:endParaRPr>
          </a:p>
          <a:p>
            <a:r>
              <a:rPr lang="en-US" altLang="zh-TW" sz="1000" dirty="0">
                <a:solidFill>
                  <a:srgbClr val="FF0000"/>
                </a:solidFill>
              </a:rPr>
              <a:t>    def forward(self, x):</a:t>
            </a:r>
          </a:p>
          <a:p>
            <a:r>
              <a:rPr lang="en-US" altLang="zh-TW" sz="1000" dirty="0">
                <a:solidFill>
                  <a:srgbClr val="FF0000"/>
                </a:solidFill>
              </a:rPr>
              <a:t>        # Computes the outputs / predictions</a:t>
            </a:r>
          </a:p>
          <a:p>
            <a:r>
              <a:rPr lang="en-US" altLang="zh-TW" sz="1000" dirty="0">
                <a:solidFill>
                  <a:srgbClr val="FF0000"/>
                </a:solidFill>
              </a:rPr>
              <a:t>        return </a:t>
            </a:r>
            <a:r>
              <a:rPr lang="en-US" altLang="zh-TW" sz="1000" dirty="0" err="1">
                <a:solidFill>
                  <a:srgbClr val="FF0000"/>
                </a:solidFill>
              </a:rPr>
              <a:t>self.a</a:t>
            </a:r>
            <a:r>
              <a:rPr lang="en-US" altLang="zh-TW" sz="1000" dirty="0">
                <a:solidFill>
                  <a:srgbClr val="FF0000"/>
                </a:solidFill>
              </a:rPr>
              <a:t> + </a:t>
            </a:r>
            <a:r>
              <a:rPr lang="en-US" altLang="zh-TW" sz="1000" dirty="0" err="1">
                <a:solidFill>
                  <a:srgbClr val="FF0000"/>
                </a:solidFill>
              </a:rPr>
              <a:t>self.b</a:t>
            </a:r>
            <a:r>
              <a:rPr lang="en-US" altLang="zh-TW" sz="1000" dirty="0">
                <a:solidFill>
                  <a:srgbClr val="FF0000"/>
                </a:solidFill>
              </a:rPr>
              <a:t> * x</a:t>
            </a:r>
          </a:p>
          <a:p>
            <a:endParaRPr lang="en-US" altLang="zh-TW" sz="1000" dirty="0"/>
          </a:p>
          <a:p>
            <a:r>
              <a:rPr lang="en-US" altLang="zh-TW" sz="1000" dirty="0" err="1"/>
              <a:t>n_data</a:t>
            </a:r>
            <a:r>
              <a:rPr lang="en-US" altLang="zh-TW" sz="1000" dirty="0"/>
              <a:t> = 100</a:t>
            </a:r>
          </a:p>
          <a:p>
            <a:r>
              <a:rPr lang="en-US" altLang="zh-TW" sz="1000" dirty="0" err="1"/>
              <a:t>x_train</a:t>
            </a:r>
            <a:r>
              <a:rPr lang="en-US" altLang="zh-TW" sz="1000" dirty="0"/>
              <a:t> = </a:t>
            </a:r>
            <a:r>
              <a:rPr lang="en-US" altLang="zh-TW" sz="1000" dirty="0" err="1"/>
              <a:t>torch.rand</a:t>
            </a:r>
            <a:r>
              <a:rPr lang="en-US" altLang="zh-TW" sz="1000" dirty="0"/>
              <a:t>(</a:t>
            </a:r>
            <a:r>
              <a:rPr lang="en-US" altLang="zh-TW" sz="1000" dirty="0" err="1"/>
              <a:t>n_data</a:t>
            </a:r>
            <a:r>
              <a:rPr lang="en-US" altLang="zh-TW" sz="1000" dirty="0"/>
              <a:t>, 1)</a:t>
            </a:r>
          </a:p>
          <a:p>
            <a:r>
              <a:rPr lang="en-US" altLang="zh-TW" sz="1000" dirty="0" err="1"/>
              <a:t>y_train</a:t>
            </a:r>
            <a:r>
              <a:rPr lang="en-US" altLang="zh-TW" sz="1000" dirty="0"/>
              <a:t> = 2 + 3 * </a:t>
            </a:r>
            <a:r>
              <a:rPr lang="en-US" altLang="zh-TW" sz="1000" dirty="0" err="1"/>
              <a:t>x_train</a:t>
            </a:r>
            <a:r>
              <a:rPr lang="en-US" altLang="zh-TW" sz="1000" dirty="0"/>
              <a:t> + .1 * </a:t>
            </a:r>
            <a:r>
              <a:rPr lang="en-US" altLang="zh-TW" sz="1000" dirty="0" err="1"/>
              <a:t>torch.randn</a:t>
            </a:r>
            <a:r>
              <a:rPr lang="en-US" altLang="zh-TW" sz="1000" dirty="0"/>
              <a:t>(</a:t>
            </a:r>
            <a:r>
              <a:rPr lang="en-US" altLang="zh-TW" sz="1000" dirty="0" err="1"/>
              <a:t>n_data</a:t>
            </a:r>
            <a:r>
              <a:rPr lang="en-US" altLang="zh-TW" sz="1000" dirty="0"/>
              <a:t>, 1)</a:t>
            </a:r>
          </a:p>
          <a:p>
            <a:endParaRPr lang="en-US" altLang="zh-TW" sz="1000" dirty="0"/>
          </a:p>
          <a:p>
            <a:r>
              <a:rPr lang="en-US" altLang="zh-TW" sz="1000" dirty="0"/>
              <a:t>device = '</a:t>
            </a:r>
            <a:r>
              <a:rPr lang="en-US" altLang="zh-TW" sz="1000" dirty="0" err="1"/>
              <a:t>cuda</a:t>
            </a:r>
            <a:r>
              <a:rPr lang="en-US" altLang="zh-TW" sz="1000" dirty="0"/>
              <a:t>' if </a:t>
            </a:r>
            <a:r>
              <a:rPr lang="en-US" altLang="zh-TW" sz="1000" dirty="0" err="1"/>
              <a:t>torch.cuda.is_available</a:t>
            </a:r>
            <a:r>
              <a:rPr lang="en-US" altLang="zh-TW" sz="1000" dirty="0"/>
              <a:t>() else '</a:t>
            </a:r>
            <a:r>
              <a:rPr lang="en-US" altLang="zh-TW" sz="1000" dirty="0" err="1"/>
              <a:t>cpu</a:t>
            </a:r>
            <a:r>
              <a:rPr lang="en-US" altLang="zh-TW" sz="1000" dirty="0"/>
              <a:t>'</a:t>
            </a:r>
          </a:p>
          <a:p>
            <a:r>
              <a:rPr lang="en-US" altLang="zh-TW" sz="1000" dirty="0"/>
              <a:t>x_train.to(device)</a:t>
            </a:r>
          </a:p>
          <a:p>
            <a:r>
              <a:rPr lang="en-US" altLang="zh-TW" sz="1000" dirty="0"/>
              <a:t>y_train.to(device)</a:t>
            </a:r>
          </a:p>
          <a:p>
            <a:endParaRPr lang="en-US" altLang="zh-TW" sz="1000" dirty="0"/>
          </a:p>
          <a:p>
            <a:r>
              <a:rPr lang="en-US" altLang="zh-TW" sz="1000" dirty="0">
                <a:solidFill>
                  <a:srgbClr val="FF0000"/>
                </a:solidFill>
              </a:rPr>
              <a:t>model = </a:t>
            </a:r>
            <a:r>
              <a:rPr lang="en-US" altLang="zh-TW" sz="1000" dirty="0" err="1">
                <a:solidFill>
                  <a:srgbClr val="FF0000"/>
                </a:solidFill>
              </a:rPr>
              <a:t>ManualLinearRegression</a:t>
            </a:r>
            <a:r>
              <a:rPr lang="en-US" altLang="zh-TW" sz="1000" dirty="0">
                <a:solidFill>
                  <a:srgbClr val="FF0000"/>
                </a:solidFill>
              </a:rPr>
              <a:t>().to(device)</a:t>
            </a:r>
          </a:p>
          <a:p>
            <a:r>
              <a:rPr lang="en-US" altLang="zh-TW" sz="1000" dirty="0"/>
              <a:t># We can also inspect its parameters using its </a:t>
            </a:r>
            <a:r>
              <a:rPr lang="en-US" altLang="zh-TW" sz="1000" dirty="0" err="1"/>
              <a:t>state_dict</a:t>
            </a:r>
            <a:endParaRPr lang="en-US" altLang="zh-TW" sz="1000" dirty="0"/>
          </a:p>
          <a:p>
            <a:r>
              <a:rPr lang="en-US" altLang="zh-TW" sz="1000" dirty="0">
                <a:solidFill>
                  <a:schemeClr val="accent6">
                    <a:lumMod val="50000"/>
                  </a:schemeClr>
                </a:solidFill>
              </a:rPr>
              <a:t>print(</a:t>
            </a:r>
            <a:r>
              <a:rPr lang="en-US" altLang="zh-TW" sz="1000" dirty="0" err="1">
                <a:solidFill>
                  <a:schemeClr val="accent6">
                    <a:lumMod val="50000"/>
                  </a:schemeClr>
                </a:solidFill>
              </a:rPr>
              <a:t>model.state_dict</a:t>
            </a:r>
            <a:r>
              <a:rPr lang="en-US" altLang="zh-TW" sz="1000" dirty="0">
                <a:solidFill>
                  <a:schemeClr val="accent6">
                    <a:lumMod val="50000"/>
                  </a:schemeClr>
                </a:solidFill>
              </a:rPr>
              <a:t>())</a:t>
            </a:r>
          </a:p>
          <a:p>
            <a:r>
              <a:rPr lang="en-US" altLang="zh-TW" sz="1000" dirty="0" err="1"/>
              <a:t>lr</a:t>
            </a:r>
            <a:r>
              <a:rPr lang="en-US" altLang="zh-TW" sz="1000" dirty="0"/>
              <a:t> = 1e-1</a:t>
            </a:r>
          </a:p>
          <a:p>
            <a:r>
              <a:rPr lang="en-US" altLang="zh-TW" sz="1000" dirty="0" err="1"/>
              <a:t>n_epochs</a:t>
            </a:r>
            <a:r>
              <a:rPr lang="en-US" altLang="zh-TW" sz="1000" dirty="0"/>
              <a:t> = 1000</a:t>
            </a:r>
          </a:p>
          <a:p>
            <a:r>
              <a:rPr lang="en-US" altLang="zh-TW" sz="1000" dirty="0" err="1"/>
              <a:t>loss_fn</a:t>
            </a:r>
            <a:r>
              <a:rPr lang="en-US" altLang="zh-TW" sz="1000" dirty="0"/>
              <a:t> = </a:t>
            </a:r>
            <a:r>
              <a:rPr lang="en-US" altLang="zh-TW" sz="1000" dirty="0" err="1"/>
              <a:t>nn.MSELoss</a:t>
            </a:r>
            <a:r>
              <a:rPr lang="en-US" altLang="zh-TW" sz="1000" dirty="0"/>
              <a:t>(reduction='mean')</a:t>
            </a:r>
          </a:p>
          <a:p>
            <a:r>
              <a:rPr lang="en-US" altLang="zh-TW" sz="1000" dirty="0">
                <a:solidFill>
                  <a:srgbClr val="FF0000"/>
                </a:solidFill>
              </a:rPr>
              <a:t>optimizer = </a:t>
            </a:r>
            <a:r>
              <a:rPr lang="en-US" altLang="zh-TW" sz="1000" dirty="0" err="1">
                <a:solidFill>
                  <a:srgbClr val="FF0000"/>
                </a:solidFill>
              </a:rPr>
              <a:t>optim.SGD</a:t>
            </a:r>
            <a:r>
              <a:rPr lang="en-US" altLang="zh-TW" sz="1000" dirty="0">
                <a:solidFill>
                  <a:srgbClr val="FF0000"/>
                </a:solidFill>
              </a:rPr>
              <a:t>(</a:t>
            </a:r>
            <a:r>
              <a:rPr lang="en-US" altLang="zh-TW" sz="1000" dirty="0" err="1">
                <a:solidFill>
                  <a:srgbClr val="FF0000"/>
                </a:solidFill>
              </a:rPr>
              <a:t>model.parameters</a:t>
            </a:r>
            <a:r>
              <a:rPr lang="en-US" altLang="zh-TW" sz="1000" dirty="0">
                <a:solidFill>
                  <a:srgbClr val="FF0000"/>
                </a:solidFill>
              </a:rPr>
              <a:t>(), </a:t>
            </a:r>
            <a:r>
              <a:rPr lang="en-US" altLang="zh-TW" sz="1000" dirty="0" err="1">
                <a:solidFill>
                  <a:srgbClr val="FF0000"/>
                </a:solidFill>
              </a:rPr>
              <a:t>lr</a:t>
            </a:r>
            <a:r>
              <a:rPr lang="en-US" altLang="zh-TW" sz="1000" dirty="0">
                <a:solidFill>
                  <a:srgbClr val="FF0000"/>
                </a:solidFill>
              </a:rPr>
              <a:t>=</a:t>
            </a:r>
            <a:r>
              <a:rPr lang="en-US" altLang="zh-TW" sz="1000" dirty="0" err="1">
                <a:solidFill>
                  <a:srgbClr val="FF0000"/>
                </a:solidFill>
              </a:rPr>
              <a:t>lr</a:t>
            </a:r>
            <a:r>
              <a:rPr lang="en-US" altLang="zh-TW" sz="1000" dirty="0">
                <a:solidFill>
                  <a:srgbClr val="FF0000"/>
                </a:solidFill>
              </a:rPr>
              <a:t>)</a:t>
            </a:r>
          </a:p>
          <a:p>
            <a:endParaRPr lang="en-US" altLang="zh-TW" sz="1000" dirty="0">
              <a:solidFill>
                <a:srgbClr val="FF0000"/>
              </a:solidFill>
            </a:endParaRPr>
          </a:p>
          <a:p>
            <a:r>
              <a:rPr lang="en-US" altLang="zh-TW" sz="1000" dirty="0"/>
              <a:t>for epoch in range(</a:t>
            </a:r>
            <a:r>
              <a:rPr lang="en-US" altLang="zh-TW" sz="1000" dirty="0" err="1"/>
              <a:t>n_epochs</a:t>
            </a:r>
            <a:r>
              <a:rPr lang="en-US" altLang="zh-TW" sz="1000" dirty="0"/>
              <a:t>):</a:t>
            </a:r>
          </a:p>
          <a:p>
            <a:r>
              <a:rPr lang="en-US" altLang="zh-TW" sz="1000" dirty="0">
                <a:solidFill>
                  <a:srgbClr val="FF0000"/>
                </a:solidFill>
              </a:rPr>
              <a:t>    </a:t>
            </a:r>
            <a:r>
              <a:rPr lang="en-US" altLang="zh-TW" sz="1000" dirty="0" err="1">
                <a:solidFill>
                  <a:srgbClr val="FF0000"/>
                </a:solidFill>
              </a:rPr>
              <a:t>model.train</a:t>
            </a:r>
            <a:r>
              <a:rPr lang="en-US" altLang="zh-TW" sz="1000" dirty="0">
                <a:solidFill>
                  <a:srgbClr val="FF0000"/>
                </a:solidFill>
              </a:rPr>
              <a:t>()</a:t>
            </a:r>
          </a:p>
          <a:p>
            <a:r>
              <a:rPr lang="en-US" altLang="zh-TW" sz="1000" dirty="0">
                <a:solidFill>
                  <a:srgbClr val="FF0000"/>
                </a:solidFill>
              </a:rPr>
              <a:t>    </a:t>
            </a:r>
            <a:r>
              <a:rPr lang="en-US" altLang="zh-TW" sz="1000" dirty="0" err="1">
                <a:solidFill>
                  <a:srgbClr val="FF0000"/>
                </a:solidFill>
              </a:rPr>
              <a:t>yhat</a:t>
            </a:r>
            <a:r>
              <a:rPr lang="en-US" altLang="zh-TW" sz="1000" dirty="0">
                <a:solidFill>
                  <a:srgbClr val="FF0000"/>
                </a:solidFill>
              </a:rPr>
              <a:t> = model(</a:t>
            </a:r>
            <a:r>
              <a:rPr lang="en-US" altLang="zh-TW" sz="1000" dirty="0" err="1">
                <a:solidFill>
                  <a:srgbClr val="FF0000"/>
                </a:solidFill>
              </a:rPr>
              <a:t>x_train</a:t>
            </a:r>
            <a:r>
              <a:rPr lang="en-US" altLang="zh-TW" sz="1000" dirty="0">
                <a:solidFill>
                  <a:srgbClr val="FF0000"/>
                </a:solidFill>
              </a:rPr>
              <a:t>)</a:t>
            </a:r>
          </a:p>
          <a:p>
            <a:endParaRPr lang="en-US" altLang="zh-TW" sz="1000" dirty="0"/>
          </a:p>
          <a:p>
            <a:r>
              <a:rPr lang="en-US" altLang="zh-TW" sz="1000" dirty="0"/>
              <a:t>    loss = </a:t>
            </a:r>
            <a:r>
              <a:rPr lang="en-US" altLang="zh-TW" sz="1000" dirty="0" err="1"/>
              <a:t>loss_fn</a:t>
            </a:r>
            <a:r>
              <a:rPr lang="en-US" altLang="zh-TW" sz="1000" dirty="0"/>
              <a:t>(</a:t>
            </a:r>
            <a:r>
              <a:rPr lang="en-US" altLang="zh-TW" sz="1000" dirty="0" err="1"/>
              <a:t>y_train</a:t>
            </a:r>
            <a:r>
              <a:rPr lang="en-US" altLang="zh-TW" sz="1000" dirty="0"/>
              <a:t>, </a:t>
            </a:r>
            <a:r>
              <a:rPr lang="en-US" altLang="zh-TW" sz="1000" dirty="0" err="1"/>
              <a:t>yhat</a:t>
            </a:r>
            <a:r>
              <a:rPr lang="en-US" altLang="zh-TW" sz="1000" dirty="0"/>
              <a:t>)</a:t>
            </a:r>
          </a:p>
          <a:p>
            <a:r>
              <a:rPr lang="en-US" altLang="zh-TW" sz="1000" dirty="0"/>
              <a:t>    </a:t>
            </a:r>
            <a:r>
              <a:rPr lang="en-US" altLang="zh-TW" sz="1000" dirty="0" err="1"/>
              <a:t>loss.backward</a:t>
            </a:r>
            <a:r>
              <a:rPr lang="en-US" altLang="zh-TW" sz="1000" dirty="0"/>
              <a:t>()</a:t>
            </a:r>
          </a:p>
          <a:p>
            <a:r>
              <a:rPr lang="en-US" altLang="zh-TW" sz="1000" dirty="0"/>
              <a:t>    </a:t>
            </a:r>
            <a:r>
              <a:rPr lang="en-US" altLang="zh-TW" sz="1000" dirty="0" err="1"/>
              <a:t>optimizer.step</a:t>
            </a:r>
            <a:r>
              <a:rPr lang="en-US" altLang="zh-TW" sz="1000" dirty="0"/>
              <a:t>()</a:t>
            </a:r>
          </a:p>
          <a:p>
            <a:r>
              <a:rPr lang="en-US" altLang="zh-TW" sz="1000" dirty="0"/>
              <a:t>    </a:t>
            </a:r>
            <a:r>
              <a:rPr lang="en-US" altLang="zh-TW" sz="1000" dirty="0" err="1"/>
              <a:t>optimizer.zero_grad</a:t>
            </a:r>
            <a:r>
              <a:rPr lang="en-US" altLang="zh-TW" sz="1000" dirty="0"/>
              <a:t>()</a:t>
            </a:r>
          </a:p>
          <a:p>
            <a:endParaRPr lang="en-US" altLang="zh-TW" sz="1000" dirty="0"/>
          </a:p>
          <a:p>
            <a:r>
              <a:rPr lang="en-US" altLang="zh-TW" sz="1000" dirty="0"/>
              <a:t>print(</a:t>
            </a:r>
            <a:r>
              <a:rPr lang="en-US" altLang="zh-TW" sz="1000" dirty="0" err="1"/>
              <a:t>model.state_dict</a:t>
            </a:r>
            <a:r>
              <a:rPr lang="en-US" altLang="zh-TW" sz="1000" dirty="0"/>
              <a:t>())</a:t>
            </a:r>
          </a:p>
        </p:txBody>
      </p:sp>
      <p:sp>
        <p:nvSpPr>
          <p:cNvPr id="4" name="文字方塊 3">
            <a:extLst>
              <a:ext uri="{FF2B5EF4-FFF2-40B4-BE49-F238E27FC236}">
                <a16:creationId xmlns:a16="http://schemas.microsoft.com/office/drawing/2014/main" id="{94258AD9-F368-87CF-AB56-49F4A0D9DFD1}"/>
              </a:ext>
            </a:extLst>
          </p:cNvPr>
          <p:cNvSpPr txBox="1"/>
          <p:nvPr/>
        </p:nvSpPr>
        <p:spPr>
          <a:xfrm>
            <a:off x="6190218" y="0"/>
            <a:ext cx="6001782" cy="6555641"/>
          </a:xfrm>
          <a:prstGeom prst="rect">
            <a:avLst/>
          </a:prstGeom>
          <a:solidFill>
            <a:schemeClr val="accent5">
              <a:lumMod val="20000"/>
              <a:lumOff val="80000"/>
            </a:schemeClr>
          </a:solidFill>
        </p:spPr>
        <p:txBody>
          <a:bodyPr wrap="square">
            <a:spAutoFit/>
          </a:bodyPr>
          <a:lstStyle/>
          <a:p>
            <a:r>
              <a:rPr lang="en-US" altLang="zh-TW" sz="1000" dirty="0"/>
              <a:t>import torch</a:t>
            </a:r>
          </a:p>
          <a:p>
            <a:r>
              <a:rPr lang="en-US" altLang="zh-TW" sz="1000" dirty="0"/>
              <a:t>import </a:t>
            </a:r>
            <a:r>
              <a:rPr lang="en-US" altLang="zh-TW" sz="1000" dirty="0" err="1"/>
              <a:t>torch.optim</a:t>
            </a:r>
            <a:r>
              <a:rPr lang="en-US" altLang="zh-TW" sz="1000" dirty="0"/>
              <a:t> as </a:t>
            </a:r>
            <a:r>
              <a:rPr lang="en-US" altLang="zh-TW" sz="1000" dirty="0" err="1"/>
              <a:t>optim</a:t>
            </a:r>
            <a:endParaRPr lang="en-US" altLang="zh-TW" sz="1000" dirty="0"/>
          </a:p>
          <a:p>
            <a:r>
              <a:rPr lang="en-US" altLang="zh-TW" sz="1000" dirty="0"/>
              <a:t>import </a:t>
            </a:r>
            <a:r>
              <a:rPr lang="en-US" altLang="zh-TW" sz="1000" dirty="0" err="1"/>
              <a:t>torch.nn</a:t>
            </a:r>
            <a:r>
              <a:rPr lang="en-US" altLang="zh-TW" sz="1000" dirty="0"/>
              <a:t> as </a:t>
            </a:r>
            <a:r>
              <a:rPr lang="en-US" altLang="zh-TW" sz="1000" dirty="0" err="1"/>
              <a:t>nn</a:t>
            </a:r>
            <a:endParaRPr lang="en-US" altLang="zh-TW" sz="1000" dirty="0"/>
          </a:p>
          <a:p>
            <a:endParaRPr lang="en-US" altLang="zh-TW" sz="1000" dirty="0"/>
          </a:p>
          <a:p>
            <a:r>
              <a:rPr lang="en-US" altLang="zh-TW" sz="1000" dirty="0"/>
              <a:t>class </a:t>
            </a:r>
            <a:r>
              <a:rPr lang="en-US" altLang="zh-TW" sz="1000" dirty="0" err="1"/>
              <a:t>LayerLinearRegression</a:t>
            </a:r>
            <a:r>
              <a:rPr lang="en-US" altLang="zh-TW" sz="1000" dirty="0"/>
              <a:t>(</a:t>
            </a:r>
            <a:r>
              <a:rPr lang="en-US" altLang="zh-TW" sz="1000" dirty="0" err="1"/>
              <a:t>nn.Module</a:t>
            </a:r>
            <a:r>
              <a:rPr lang="en-US" altLang="zh-TW" sz="1000" dirty="0"/>
              <a:t>):</a:t>
            </a:r>
          </a:p>
          <a:p>
            <a:r>
              <a:rPr lang="en-US" altLang="zh-TW" sz="1000" dirty="0"/>
              <a:t>    def __</a:t>
            </a:r>
            <a:r>
              <a:rPr lang="en-US" altLang="zh-TW" sz="1000" dirty="0" err="1"/>
              <a:t>init</a:t>
            </a:r>
            <a:r>
              <a:rPr lang="en-US" altLang="zh-TW" sz="1000" dirty="0"/>
              <a:t>__(self):</a:t>
            </a:r>
          </a:p>
          <a:p>
            <a:r>
              <a:rPr lang="en-US" altLang="zh-TW" sz="1000" dirty="0"/>
              <a:t>        super().__</a:t>
            </a:r>
            <a:r>
              <a:rPr lang="en-US" altLang="zh-TW" sz="1000" dirty="0" err="1"/>
              <a:t>init</a:t>
            </a:r>
            <a:r>
              <a:rPr lang="en-US" altLang="zh-TW" sz="1000" dirty="0"/>
              <a:t>__()</a:t>
            </a:r>
          </a:p>
          <a:p>
            <a:r>
              <a:rPr lang="en-US" altLang="zh-TW" sz="1000" dirty="0"/>
              <a:t>        # Instead of our custom parameters, we use a Linear layer with single input and single output</a:t>
            </a:r>
          </a:p>
          <a:p>
            <a:r>
              <a:rPr lang="en-US" altLang="zh-TW" sz="1000" dirty="0">
                <a:solidFill>
                  <a:srgbClr val="FF0000"/>
                </a:solidFill>
              </a:rPr>
              <a:t>        </a:t>
            </a:r>
            <a:r>
              <a:rPr lang="en-US" altLang="zh-TW" sz="1000" dirty="0" err="1">
                <a:solidFill>
                  <a:srgbClr val="FF0000"/>
                </a:solidFill>
              </a:rPr>
              <a:t>self.linear</a:t>
            </a:r>
            <a:r>
              <a:rPr lang="en-US" altLang="zh-TW" sz="1000" dirty="0">
                <a:solidFill>
                  <a:srgbClr val="FF0000"/>
                </a:solidFill>
              </a:rPr>
              <a:t> = </a:t>
            </a:r>
            <a:r>
              <a:rPr lang="en-US" altLang="zh-TW" sz="1000" dirty="0" err="1">
                <a:solidFill>
                  <a:srgbClr val="FF0000"/>
                </a:solidFill>
              </a:rPr>
              <a:t>nn.Linear</a:t>
            </a:r>
            <a:r>
              <a:rPr lang="en-US" altLang="zh-TW" sz="1000" dirty="0">
                <a:solidFill>
                  <a:srgbClr val="FF0000"/>
                </a:solidFill>
              </a:rPr>
              <a:t>(1, 1, bias=2)</a:t>
            </a:r>
          </a:p>
          <a:p>
            <a:endParaRPr lang="en-US" altLang="zh-TW" sz="1000" dirty="0"/>
          </a:p>
          <a:p>
            <a:r>
              <a:rPr lang="en-US" altLang="zh-TW" sz="1000" dirty="0"/>
              <a:t>    def forward(self, x):</a:t>
            </a:r>
          </a:p>
          <a:p>
            <a:r>
              <a:rPr lang="en-US" altLang="zh-TW" sz="1000" dirty="0"/>
              <a:t>        # Now it only takes a call to the layer to make predictions</a:t>
            </a:r>
          </a:p>
          <a:p>
            <a:r>
              <a:rPr lang="en-US" altLang="zh-TW" sz="1000" dirty="0"/>
              <a:t>        return </a:t>
            </a:r>
            <a:r>
              <a:rPr lang="en-US" altLang="zh-TW" sz="1000" dirty="0" err="1"/>
              <a:t>self.linear</a:t>
            </a:r>
            <a:r>
              <a:rPr lang="en-US" altLang="zh-TW" sz="1000" dirty="0"/>
              <a:t>(x)</a:t>
            </a:r>
          </a:p>
          <a:p>
            <a:endParaRPr lang="en-US" altLang="zh-TW" sz="1000" dirty="0"/>
          </a:p>
          <a:p>
            <a:r>
              <a:rPr lang="en-US" altLang="zh-TW" sz="1000" dirty="0" err="1"/>
              <a:t>n_data</a:t>
            </a:r>
            <a:r>
              <a:rPr lang="en-US" altLang="zh-TW" sz="1000" dirty="0"/>
              <a:t> = 100</a:t>
            </a:r>
          </a:p>
          <a:p>
            <a:r>
              <a:rPr lang="en-US" altLang="zh-TW" sz="1000" dirty="0" err="1"/>
              <a:t>x_train</a:t>
            </a:r>
            <a:r>
              <a:rPr lang="en-US" altLang="zh-TW" sz="1000" dirty="0"/>
              <a:t> = </a:t>
            </a:r>
            <a:r>
              <a:rPr lang="en-US" altLang="zh-TW" sz="1000" dirty="0" err="1"/>
              <a:t>torch.rand</a:t>
            </a:r>
            <a:r>
              <a:rPr lang="en-US" altLang="zh-TW" sz="1000" dirty="0"/>
              <a:t>(</a:t>
            </a:r>
            <a:r>
              <a:rPr lang="en-US" altLang="zh-TW" sz="1000" dirty="0" err="1"/>
              <a:t>n_data</a:t>
            </a:r>
            <a:r>
              <a:rPr lang="en-US" altLang="zh-TW" sz="1000" dirty="0"/>
              <a:t> , 1)</a:t>
            </a:r>
          </a:p>
          <a:p>
            <a:r>
              <a:rPr lang="en-US" altLang="zh-TW" sz="1000" dirty="0" err="1"/>
              <a:t>y_train</a:t>
            </a:r>
            <a:r>
              <a:rPr lang="en-US" altLang="zh-TW" sz="1000" dirty="0"/>
              <a:t> = 2 + 3 * </a:t>
            </a:r>
            <a:r>
              <a:rPr lang="en-US" altLang="zh-TW" sz="1000" dirty="0" err="1"/>
              <a:t>x_train</a:t>
            </a:r>
            <a:r>
              <a:rPr lang="en-US" altLang="zh-TW" sz="1000" dirty="0"/>
              <a:t> + .1 * </a:t>
            </a:r>
            <a:r>
              <a:rPr lang="en-US" altLang="zh-TW" sz="1000" dirty="0" err="1"/>
              <a:t>torch.randn</a:t>
            </a:r>
            <a:r>
              <a:rPr lang="en-US" altLang="zh-TW" sz="1000" dirty="0"/>
              <a:t>(</a:t>
            </a:r>
            <a:r>
              <a:rPr lang="en-US" altLang="zh-TW" sz="1000" dirty="0" err="1"/>
              <a:t>n_data</a:t>
            </a:r>
            <a:r>
              <a:rPr lang="en-US" altLang="zh-TW" sz="1000" dirty="0"/>
              <a:t> , 1)</a:t>
            </a:r>
          </a:p>
          <a:p>
            <a:endParaRPr lang="en-US" altLang="zh-TW" sz="1000" dirty="0"/>
          </a:p>
          <a:p>
            <a:r>
              <a:rPr lang="en-US" altLang="zh-TW" sz="1000" dirty="0"/>
              <a:t>device = '</a:t>
            </a:r>
            <a:r>
              <a:rPr lang="en-US" altLang="zh-TW" sz="1000" dirty="0" err="1"/>
              <a:t>cuda</a:t>
            </a:r>
            <a:r>
              <a:rPr lang="en-US" altLang="zh-TW" sz="1000" dirty="0"/>
              <a:t>' if </a:t>
            </a:r>
            <a:r>
              <a:rPr lang="en-US" altLang="zh-TW" sz="1000" dirty="0" err="1"/>
              <a:t>torch.cuda.is_available</a:t>
            </a:r>
            <a:r>
              <a:rPr lang="en-US" altLang="zh-TW" sz="1000" dirty="0"/>
              <a:t>() else '</a:t>
            </a:r>
            <a:r>
              <a:rPr lang="en-US" altLang="zh-TW" sz="1000" dirty="0" err="1"/>
              <a:t>cpu</a:t>
            </a:r>
            <a:r>
              <a:rPr lang="en-US" altLang="zh-TW" sz="1000" dirty="0"/>
              <a:t>'</a:t>
            </a:r>
          </a:p>
          <a:p>
            <a:r>
              <a:rPr lang="en-US" altLang="zh-TW" sz="1000" dirty="0"/>
              <a:t>x_train.to(device)</a:t>
            </a:r>
          </a:p>
          <a:p>
            <a:r>
              <a:rPr lang="en-US" altLang="zh-TW" sz="1000" dirty="0"/>
              <a:t>y_train.to(device)</a:t>
            </a:r>
          </a:p>
          <a:p>
            <a:endParaRPr lang="en-US" altLang="zh-TW" sz="1000" dirty="0"/>
          </a:p>
          <a:p>
            <a:r>
              <a:rPr lang="en-US" altLang="zh-TW" sz="1000" dirty="0"/>
              <a:t>model = </a:t>
            </a:r>
            <a:r>
              <a:rPr lang="en-US" altLang="zh-TW" sz="1000" dirty="0" err="1"/>
              <a:t>LayerLinearRegression</a:t>
            </a:r>
            <a:r>
              <a:rPr lang="en-US" altLang="zh-TW" sz="1000" dirty="0"/>
              <a:t>().to(device)</a:t>
            </a:r>
          </a:p>
          <a:p>
            <a:r>
              <a:rPr lang="en-US" altLang="zh-TW" sz="1000" dirty="0"/>
              <a:t># We can also inspect its parameters using its </a:t>
            </a:r>
            <a:r>
              <a:rPr lang="en-US" altLang="zh-TW" sz="1000" dirty="0" err="1"/>
              <a:t>state_dict</a:t>
            </a:r>
            <a:endParaRPr lang="en-US" altLang="zh-TW" sz="1000" dirty="0"/>
          </a:p>
          <a:p>
            <a:r>
              <a:rPr lang="en-US" altLang="zh-TW" sz="1000" dirty="0"/>
              <a:t>print(</a:t>
            </a:r>
            <a:r>
              <a:rPr lang="en-US" altLang="zh-TW" sz="1000" dirty="0" err="1"/>
              <a:t>model.state_dict</a:t>
            </a:r>
            <a:r>
              <a:rPr lang="en-US" altLang="zh-TW" sz="1000" dirty="0"/>
              <a:t>())</a:t>
            </a:r>
          </a:p>
          <a:p>
            <a:endParaRPr lang="en-US" altLang="zh-TW" sz="1000" dirty="0"/>
          </a:p>
          <a:p>
            <a:r>
              <a:rPr lang="en-US" altLang="zh-TW" sz="1000" dirty="0" err="1"/>
              <a:t>lr</a:t>
            </a:r>
            <a:r>
              <a:rPr lang="en-US" altLang="zh-TW" sz="1000" dirty="0"/>
              <a:t> = 1e-1</a:t>
            </a:r>
          </a:p>
          <a:p>
            <a:r>
              <a:rPr lang="en-US" altLang="zh-TW" sz="1000" dirty="0" err="1"/>
              <a:t>n_epochs</a:t>
            </a:r>
            <a:r>
              <a:rPr lang="en-US" altLang="zh-TW" sz="1000" dirty="0"/>
              <a:t> = 1000</a:t>
            </a:r>
          </a:p>
          <a:p>
            <a:r>
              <a:rPr lang="en-US" altLang="zh-TW" sz="1000" dirty="0" err="1"/>
              <a:t>loss_fn</a:t>
            </a:r>
            <a:r>
              <a:rPr lang="en-US" altLang="zh-TW" sz="1000" dirty="0"/>
              <a:t> = </a:t>
            </a:r>
            <a:r>
              <a:rPr lang="en-US" altLang="zh-TW" sz="1000" dirty="0" err="1"/>
              <a:t>nn.MSELoss</a:t>
            </a:r>
            <a:r>
              <a:rPr lang="en-US" altLang="zh-TW" sz="1000" dirty="0"/>
              <a:t>(reduction='mean')</a:t>
            </a:r>
          </a:p>
          <a:p>
            <a:r>
              <a:rPr lang="en-US" altLang="zh-TW" sz="1000" dirty="0"/>
              <a:t>optimizer = </a:t>
            </a:r>
            <a:r>
              <a:rPr lang="en-US" altLang="zh-TW" sz="1000" dirty="0" err="1"/>
              <a:t>optim.SGD</a:t>
            </a:r>
            <a:r>
              <a:rPr lang="en-US" altLang="zh-TW" sz="1000" dirty="0"/>
              <a:t>(</a:t>
            </a:r>
            <a:r>
              <a:rPr lang="en-US" altLang="zh-TW" sz="1000" dirty="0" err="1"/>
              <a:t>model.parameters</a:t>
            </a:r>
            <a:r>
              <a:rPr lang="en-US" altLang="zh-TW" sz="1000" dirty="0"/>
              <a:t>(), </a:t>
            </a:r>
            <a:r>
              <a:rPr lang="en-US" altLang="zh-TW" sz="1000" dirty="0" err="1"/>
              <a:t>lr</a:t>
            </a:r>
            <a:r>
              <a:rPr lang="en-US" altLang="zh-TW" sz="1000" dirty="0"/>
              <a:t>=</a:t>
            </a:r>
            <a:r>
              <a:rPr lang="en-US" altLang="zh-TW" sz="1000" dirty="0" err="1"/>
              <a:t>lr</a:t>
            </a:r>
            <a:r>
              <a:rPr lang="en-US" altLang="zh-TW" sz="1000" dirty="0"/>
              <a:t>)</a:t>
            </a:r>
          </a:p>
          <a:p>
            <a:endParaRPr lang="en-US" altLang="zh-TW" sz="1000" dirty="0"/>
          </a:p>
          <a:p>
            <a:r>
              <a:rPr lang="en-US" altLang="zh-TW" sz="1000" dirty="0"/>
              <a:t>for epoch in range(</a:t>
            </a:r>
            <a:r>
              <a:rPr lang="en-US" altLang="zh-TW" sz="1000" dirty="0" err="1"/>
              <a:t>n_epochs</a:t>
            </a:r>
            <a:r>
              <a:rPr lang="en-US" altLang="zh-TW" sz="1000" dirty="0"/>
              <a:t>):</a:t>
            </a:r>
          </a:p>
          <a:p>
            <a:r>
              <a:rPr lang="en-US" altLang="zh-TW" sz="1000" dirty="0"/>
              <a:t>    </a:t>
            </a:r>
            <a:r>
              <a:rPr lang="en-US" altLang="zh-TW" sz="1000" dirty="0" err="1"/>
              <a:t>model.train</a:t>
            </a:r>
            <a:r>
              <a:rPr lang="en-US" altLang="zh-TW" sz="1000" dirty="0"/>
              <a:t>()</a:t>
            </a:r>
          </a:p>
          <a:p>
            <a:r>
              <a:rPr lang="en-US" altLang="zh-TW" sz="1000" dirty="0"/>
              <a:t>    </a:t>
            </a:r>
            <a:r>
              <a:rPr lang="en-US" altLang="zh-TW" sz="1000" dirty="0" err="1"/>
              <a:t>yhat</a:t>
            </a:r>
            <a:r>
              <a:rPr lang="en-US" altLang="zh-TW" sz="1000" dirty="0"/>
              <a:t> = model(</a:t>
            </a:r>
            <a:r>
              <a:rPr lang="en-US" altLang="zh-TW" sz="1000" dirty="0" err="1"/>
              <a:t>x_train</a:t>
            </a:r>
            <a:r>
              <a:rPr lang="en-US" altLang="zh-TW" sz="1000" dirty="0"/>
              <a:t>)</a:t>
            </a:r>
          </a:p>
          <a:p>
            <a:endParaRPr lang="en-US" altLang="zh-TW" sz="1000" dirty="0"/>
          </a:p>
          <a:p>
            <a:r>
              <a:rPr lang="en-US" altLang="zh-TW" sz="1000" dirty="0"/>
              <a:t>    loss = </a:t>
            </a:r>
            <a:r>
              <a:rPr lang="en-US" altLang="zh-TW" sz="1000" dirty="0" err="1"/>
              <a:t>loss_fn</a:t>
            </a:r>
            <a:r>
              <a:rPr lang="en-US" altLang="zh-TW" sz="1000" dirty="0"/>
              <a:t>(</a:t>
            </a:r>
            <a:r>
              <a:rPr lang="en-US" altLang="zh-TW" sz="1000" dirty="0" err="1"/>
              <a:t>y_train</a:t>
            </a:r>
            <a:r>
              <a:rPr lang="en-US" altLang="zh-TW" sz="1000" dirty="0"/>
              <a:t>, </a:t>
            </a:r>
            <a:r>
              <a:rPr lang="en-US" altLang="zh-TW" sz="1000" dirty="0" err="1"/>
              <a:t>yhat</a:t>
            </a:r>
            <a:r>
              <a:rPr lang="en-US" altLang="zh-TW" sz="1000" dirty="0"/>
              <a:t>)</a:t>
            </a:r>
          </a:p>
          <a:p>
            <a:r>
              <a:rPr lang="en-US" altLang="zh-TW" sz="1000" dirty="0"/>
              <a:t>    </a:t>
            </a:r>
            <a:r>
              <a:rPr lang="en-US" altLang="zh-TW" sz="1000" dirty="0" err="1"/>
              <a:t>loss.backward</a:t>
            </a:r>
            <a:r>
              <a:rPr lang="en-US" altLang="zh-TW" sz="1000" dirty="0"/>
              <a:t>()</a:t>
            </a:r>
          </a:p>
          <a:p>
            <a:r>
              <a:rPr lang="en-US" altLang="zh-TW" sz="1000" dirty="0"/>
              <a:t>    </a:t>
            </a:r>
            <a:r>
              <a:rPr lang="en-US" altLang="zh-TW" sz="1000" dirty="0" err="1"/>
              <a:t>optimizer.step</a:t>
            </a:r>
            <a:r>
              <a:rPr lang="en-US" altLang="zh-TW" sz="1000" dirty="0"/>
              <a:t>()</a:t>
            </a:r>
          </a:p>
          <a:p>
            <a:r>
              <a:rPr lang="en-US" altLang="zh-TW" sz="1000" dirty="0"/>
              <a:t>    </a:t>
            </a:r>
            <a:r>
              <a:rPr lang="en-US" altLang="zh-TW" sz="1000" dirty="0" err="1"/>
              <a:t>optimizer.zero_grad</a:t>
            </a:r>
            <a:r>
              <a:rPr lang="en-US" altLang="zh-TW" sz="1000" dirty="0"/>
              <a:t>()</a:t>
            </a:r>
          </a:p>
          <a:p>
            <a:endParaRPr lang="en-US" altLang="zh-TW" sz="1000" dirty="0"/>
          </a:p>
          <a:p>
            <a:r>
              <a:rPr lang="en-US" altLang="zh-TW" sz="1000" dirty="0"/>
              <a:t>print(</a:t>
            </a:r>
            <a:r>
              <a:rPr lang="en-US" altLang="zh-TW" sz="1000" dirty="0" err="1"/>
              <a:t>model.state_dict</a:t>
            </a:r>
            <a:r>
              <a:rPr lang="en-US" altLang="zh-TW" sz="1000" dirty="0"/>
              <a:t>())</a:t>
            </a:r>
          </a:p>
        </p:txBody>
      </p:sp>
      <p:sp>
        <p:nvSpPr>
          <p:cNvPr id="5" name="文字方塊 4">
            <a:extLst>
              <a:ext uri="{FF2B5EF4-FFF2-40B4-BE49-F238E27FC236}">
                <a16:creationId xmlns:a16="http://schemas.microsoft.com/office/drawing/2014/main" id="{5EFF5263-52D9-18B7-A6CE-B04CA052DE8E}"/>
              </a:ext>
            </a:extLst>
          </p:cNvPr>
          <p:cNvSpPr txBox="1"/>
          <p:nvPr/>
        </p:nvSpPr>
        <p:spPr>
          <a:xfrm>
            <a:off x="53432" y="6313036"/>
            <a:ext cx="5989136" cy="461665"/>
          </a:xfrm>
          <a:prstGeom prst="rect">
            <a:avLst/>
          </a:prstGeom>
          <a:solidFill>
            <a:schemeClr val="accent6">
              <a:lumMod val="40000"/>
              <a:lumOff val="60000"/>
            </a:schemeClr>
          </a:solidFill>
        </p:spPr>
        <p:txBody>
          <a:bodyPr wrap="square">
            <a:spAutoFit/>
          </a:bodyPr>
          <a:lstStyle/>
          <a:p>
            <a:r>
              <a:rPr lang="en-US" altLang="zh-TW" sz="1200" dirty="0" err="1"/>
              <a:t>OrderedDict</a:t>
            </a:r>
            <a:r>
              <a:rPr lang="en-US" altLang="zh-TW" sz="1200" dirty="0"/>
              <a:t>([('a', tensor([-0.3904])), ('b', tensor([-0.7202]))])</a:t>
            </a:r>
          </a:p>
          <a:p>
            <a:r>
              <a:rPr lang="en-US" altLang="zh-TW" sz="1200" dirty="0" err="1"/>
              <a:t>OrderedDict</a:t>
            </a:r>
            <a:r>
              <a:rPr lang="en-US" altLang="zh-TW" sz="1200" dirty="0"/>
              <a:t>([('a', tensor([2.0275])), ('b', tensor([2.9945]))])</a:t>
            </a:r>
            <a:endParaRPr lang="zh-TW" altLang="en-US" sz="1200" dirty="0"/>
          </a:p>
        </p:txBody>
      </p:sp>
      <p:sp>
        <p:nvSpPr>
          <p:cNvPr id="7" name="文字方塊 6">
            <a:extLst>
              <a:ext uri="{FF2B5EF4-FFF2-40B4-BE49-F238E27FC236}">
                <a16:creationId xmlns:a16="http://schemas.microsoft.com/office/drawing/2014/main" id="{60574554-1CD8-1B49-4B82-994D37B8F201}"/>
              </a:ext>
            </a:extLst>
          </p:cNvPr>
          <p:cNvSpPr txBox="1"/>
          <p:nvPr/>
        </p:nvSpPr>
        <p:spPr>
          <a:xfrm>
            <a:off x="6149434" y="6356516"/>
            <a:ext cx="5989136" cy="461665"/>
          </a:xfrm>
          <a:prstGeom prst="rect">
            <a:avLst/>
          </a:prstGeom>
          <a:solidFill>
            <a:schemeClr val="accent6">
              <a:lumMod val="40000"/>
              <a:lumOff val="60000"/>
            </a:schemeClr>
          </a:solidFill>
        </p:spPr>
        <p:txBody>
          <a:bodyPr wrap="square">
            <a:spAutoFit/>
          </a:bodyPr>
          <a:lstStyle/>
          <a:p>
            <a:r>
              <a:rPr lang="en-US" altLang="zh-TW" sz="1200" dirty="0" err="1"/>
              <a:t>OrderedDict</a:t>
            </a:r>
            <a:r>
              <a:rPr lang="en-US" altLang="zh-TW" sz="1200" dirty="0"/>
              <a:t>([('</a:t>
            </a:r>
            <a:r>
              <a:rPr lang="en-US" altLang="zh-TW" sz="1200" dirty="0" err="1"/>
              <a:t>linear.weight</a:t>
            </a:r>
            <a:r>
              <a:rPr lang="en-US" altLang="zh-TW" sz="1200" dirty="0"/>
              <a:t>', tensor([[0.6458]])), ('</a:t>
            </a:r>
            <a:r>
              <a:rPr lang="en-US" altLang="zh-TW" sz="1200" dirty="0" err="1"/>
              <a:t>linear.bias</a:t>
            </a:r>
            <a:r>
              <a:rPr lang="en-US" altLang="zh-TW" sz="1200" dirty="0"/>
              <a:t>', tensor([0.0704]))])</a:t>
            </a:r>
          </a:p>
          <a:p>
            <a:r>
              <a:rPr lang="en-US" altLang="zh-TW" sz="1200" dirty="0" err="1"/>
              <a:t>OrderedDict</a:t>
            </a:r>
            <a:r>
              <a:rPr lang="en-US" altLang="zh-TW" sz="1200" dirty="0"/>
              <a:t>([('</a:t>
            </a:r>
            <a:r>
              <a:rPr lang="en-US" altLang="zh-TW" sz="1200" dirty="0" err="1"/>
              <a:t>linear.weight</a:t>
            </a:r>
            <a:r>
              <a:rPr lang="en-US" altLang="zh-TW" sz="1200" dirty="0"/>
              <a:t>', tensor([[2.9943]])), ('</a:t>
            </a:r>
            <a:r>
              <a:rPr lang="en-US" altLang="zh-TW" sz="1200" dirty="0" err="1"/>
              <a:t>linear.bias</a:t>
            </a:r>
            <a:r>
              <a:rPr lang="en-US" altLang="zh-TW" sz="1200" dirty="0"/>
              <a:t>', tensor([2.0173]))])</a:t>
            </a:r>
            <a:endParaRPr lang="zh-TW" altLang="en-US" sz="1200" dirty="0"/>
          </a:p>
        </p:txBody>
      </p:sp>
      <p:grpSp>
        <p:nvGrpSpPr>
          <p:cNvPr id="3" name="群組 2">
            <a:extLst>
              <a:ext uri="{FF2B5EF4-FFF2-40B4-BE49-F238E27FC236}">
                <a16:creationId xmlns:a16="http://schemas.microsoft.com/office/drawing/2014/main" id="{3B9ED686-C7C9-44A9-A001-560D223D6F0C}"/>
              </a:ext>
            </a:extLst>
          </p:cNvPr>
          <p:cNvGrpSpPr/>
          <p:nvPr/>
        </p:nvGrpSpPr>
        <p:grpSpPr>
          <a:xfrm>
            <a:off x="9479545" y="1987898"/>
            <a:ext cx="2659025" cy="1568102"/>
            <a:chOff x="9562333" y="1954031"/>
            <a:chExt cx="2659025" cy="1568102"/>
          </a:xfrm>
        </p:grpSpPr>
        <p:cxnSp>
          <p:nvCxnSpPr>
            <p:cNvPr id="24" name="直線單箭頭接點 23">
              <a:extLst>
                <a:ext uri="{FF2B5EF4-FFF2-40B4-BE49-F238E27FC236}">
                  <a16:creationId xmlns:a16="http://schemas.microsoft.com/office/drawing/2014/main" id="{E0F0AC44-F9A5-48B0-BD7B-28A86517D022}"/>
                </a:ext>
              </a:extLst>
            </p:cNvPr>
            <p:cNvCxnSpPr>
              <a:cxnSpLocks/>
              <a:stCxn id="25" idx="6"/>
            </p:cNvCxnSpPr>
            <p:nvPr/>
          </p:nvCxnSpPr>
          <p:spPr>
            <a:xfrm>
              <a:off x="11244795" y="2602695"/>
              <a:ext cx="4320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橢圓 24">
              <a:extLst>
                <a:ext uri="{FF2B5EF4-FFF2-40B4-BE49-F238E27FC236}">
                  <a16:creationId xmlns:a16="http://schemas.microsoft.com/office/drawing/2014/main" id="{FB6C6196-8FFE-45C3-A792-AE0D4D9E7849}"/>
                </a:ext>
              </a:extLst>
            </p:cNvPr>
            <p:cNvSpPr/>
            <p:nvPr/>
          </p:nvSpPr>
          <p:spPr>
            <a:xfrm>
              <a:off x="10884795" y="242269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26" name="直線單箭頭接點 25">
              <a:extLst>
                <a:ext uri="{FF2B5EF4-FFF2-40B4-BE49-F238E27FC236}">
                  <a16:creationId xmlns:a16="http://schemas.microsoft.com/office/drawing/2014/main" id="{C47EB0E4-5CBC-4613-A0B1-4174033CD36D}"/>
                </a:ext>
              </a:extLst>
            </p:cNvPr>
            <p:cNvCxnSpPr>
              <a:cxnSpLocks/>
              <a:endCxn id="25" idx="2"/>
            </p:cNvCxnSpPr>
            <p:nvPr/>
          </p:nvCxnSpPr>
          <p:spPr>
            <a:xfrm>
              <a:off x="10100026" y="2602695"/>
              <a:ext cx="784769" cy="0"/>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B86E358-7208-4A31-915C-F3962114A199}"/>
                    </a:ext>
                  </a:extLst>
                </p:cNvPr>
                <p:cNvSpPr txBox="1"/>
                <p:nvPr/>
              </p:nvSpPr>
              <p:spPr>
                <a:xfrm>
                  <a:off x="10674883" y="3029690"/>
                  <a:ext cx="867610"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rgbClr val="FF0000"/>
                            </a:solidFill>
                            <a:latin typeface="Cambria Math" panose="02040503050406030204" pitchFamily="18" charset="0"/>
                          </a:rPr>
                          <m:t>𝑏𝑖𝑎𝑠</m:t>
                        </m:r>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28" name="文字方塊 27">
                  <a:extLst>
                    <a:ext uri="{FF2B5EF4-FFF2-40B4-BE49-F238E27FC236}">
                      <a16:creationId xmlns:a16="http://schemas.microsoft.com/office/drawing/2014/main" id="{4B86E358-7208-4A31-915C-F3962114A199}"/>
                    </a:ext>
                  </a:extLst>
                </p:cNvPr>
                <p:cNvSpPr txBox="1">
                  <a:spLocks noRot="1" noChangeAspect="1" noMove="1" noResize="1" noEditPoints="1" noAdjustHandles="1" noChangeArrowheads="1" noChangeShapeType="1" noTextEdit="1"/>
                </p:cNvSpPr>
                <p:nvPr/>
              </p:nvSpPr>
              <p:spPr>
                <a:xfrm>
                  <a:off x="10674883" y="3029690"/>
                  <a:ext cx="867610" cy="492443"/>
                </a:xfrm>
                <a:prstGeom prst="rect">
                  <a:avLst/>
                </a:prstGeom>
                <a:blipFill>
                  <a:blip r:embed="rId2"/>
                  <a:stretch>
                    <a:fillRect/>
                  </a:stretch>
                </a:blipFill>
              </p:spPr>
              <p:txBody>
                <a:bodyPr/>
                <a:lstStyle/>
                <a:p>
                  <a:r>
                    <a:rPr lang="zh-TW" altLang="en-US">
                      <a:noFill/>
                    </a:rPr>
                    <a:t> </a:t>
                  </a:r>
                </a:p>
              </p:txBody>
            </p:sp>
          </mc:Fallback>
        </mc:AlternateContent>
        <p:cxnSp>
          <p:nvCxnSpPr>
            <p:cNvPr id="29" name="直線單箭頭接點 28">
              <a:extLst>
                <a:ext uri="{FF2B5EF4-FFF2-40B4-BE49-F238E27FC236}">
                  <a16:creationId xmlns:a16="http://schemas.microsoft.com/office/drawing/2014/main" id="{1F738A87-A645-404F-A4AA-B9DCE7DDC3E5}"/>
                </a:ext>
              </a:extLst>
            </p:cNvPr>
            <p:cNvCxnSpPr>
              <a:cxnSpLocks/>
              <a:endCxn id="25" idx="4"/>
            </p:cNvCxnSpPr>
            <p:nvPr/>
          </p:nvCxnSpPr>
          <p:spPr>
            <a:xfrm flipV="1">
              <a:off x="11064795" y="2782695"/>
              <a:ext cx="0" cy="266106"/>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3B9C81F-E05D-4004-BC4B-97C1FF2B87F1}"/>
                    </a:ext>
                  </a:extLst>
                </p:cNvPr>
                <p:cNvSpPr txBox="1"/>
                <p:nvPr/>
              </p:nvSpPr>
              <p:spPr>
                <a:xfrm>
                  <a:off x="9562333" y="2233750"/>
                  <a:ext cx="484492"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sz="3200" b="0" i="1" smtClean="0">
                                <a:solidFill>
                                  <a:schemeClr val="tx1"/>
                                </a:solidFill>
                                <a:latin typeface="Cambria Math" panose="02040503050406030204" pitchFamily="18" charset="0"/>
                              </a:rPr>
                            </m:ctrlPr>
                          </m:sSubPr>
                          <m:e>
                            <m:r>
                              <a:rPr lang="en-US" altLang="zh-TW" sz="3200" b="0" i="1" smtClean="0">
                                <a:solidFill>
                                  <a:schemeClr val="tx1"/>
                                </a:solidFill>
                                <a:latin typeface="Cambria Math" panose="02040503050406030204" pitchFamily="18" charset="0"/>
                              </a:rPr>
                              <m:t>𝑥</m:t>
                            </m:r>
                          </m:e>
                          <m:sub>
                            <m:r>
                              <a:rPr lang="en-US" altLang="zh-TW" sz="3200" b="0" i="1" smtClean="0">
                                <a:solidFill>
                                  <a:schemeClr val="tx1"/>
                                </a:solidFill>
                                <a:latin typeface="Cambria Math" panose="02040503050406030204" pitchFamily="18" charset="0"/>
                              </a:rPr>
                              <m:t>1</m:t>
                            </m:r>
                          </m:sub>
                        </m:sSub>
                      </m:oMath>
                    </m:oMathPara>
                  </a14:m>
                  <a:endParaRPr lang="en-US" altLang="zh-TW" sz="3200" b="0" i="1" dirty="0">
                    <a:solidFill>
                      <a:schemeClr val="tx1"/>
                    </a:solidFill>
                    <a:latin typeface="Cambria Math" panose="02040503050406030204" pitchFamily="18" charset="0"/>
                  </a:endParaRPr>
                </a:p>
              </p:txBody>
            </p:sp>
          </mc:Choice>
          <mc:Fallback xmlns="">
            <p:sp>
              <p:nvSpPr>
                <p:cNvPr id="31" name="文字方塊 30">
                  <a:extLst>
                    <a:ext uri="{FF2B5EF4-FFF2-40B4-BE49-F238E27FC236}">
                      <a16:creationId xmlns:a16="http://schemas.microsoft.com/office/drawing/2014/main" id="{73B9C81F-E05D-4004-BC4B-97C1FF2B87F1}"/>
                    </a:ext>
                  </a:extLst>
                </p:cNvPr>
                <p:cNvSpPr txBox="1">
                  <a:spLocks noRot="1" noChangeAspect="1" noMove="1" noResize="1" noEditPoints="1" noAdjustHandles="1" noChangeArrowheads="1" noChangeShapeType="1" noTextEdit="1"/>
                </p:cNvSpPr>
                <p:nvPr/>
              </p:nvSpPr>
              <p:spPr>
                <a:xfrm>
                  <a:off x="9562333" y="2233750"/>
                  <a:ext cx="484492" cy="49244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D1788497-33C5-4348-9BE3-721800B44BD4}"/>
                    </a:ext>
                  </a:extLst>
                </p:cNvPr>
                <p:cNvSpPr txBox="1"/>
                <p:nvPr/>
              </p:nvSpPr>
              <p:spPr>
                <a:xfrm>
                  <a:off x="10212494" y="1954031"/>
                  <a:ext cx="559833"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sz="3200" b="0" i="1" smtClean="0">
                                <a:solidFill>
                                  <a:schemeClr val="tx1"/>
                                </a:solidFill>
                                <a:latin typeface="Cambria Math" panose="02040503050406030204" pitchFamily="18" charset="0"/>
                              </a:rPr>
                            </m:ctrlPr>
                          </m:sSubPr>
                          <m:e>
                            <m:r>
                              <a:rPr lang="en-US" altLang="zh-TW" sz="3200" b="0" i="1" smtClean="0">
                                <a:solidFill>
                                  <a:schemeClr val="tx1"/>
                                </a:solidFill>
                                <a:latin typeface="Cambria Math" panose="02040503050406030204" pitchFamily="18" charset="0"/>
                              </a:rPr>
                              <m:t>𝑤</m:t>
                            </m:r>
                          </m:e>
                          <m:sub>
                            <m:r>
                              <a:rPr lang="en-US" altLang="zh-TW" sz="3200" b="0" i="1" smtClean="0">
                                <a:solidFill>
                                  <a:schemeClr val="tx1"/>
                                </a:solidFill>
                                <a:latin typeface="Cambria Math" panose="02040503050406030204" pitchFamily="18" charset="0"/>
                              </a:rPr>
                              <m:t>1</m:t>
                            </m:r>
                          </m:sub>
                        </m:sSub>
                      </m:oMath>
                    </m:oMathPara>
                  </a14:m>
                  <a:endParaRPr lang="en-US" altLang="zh-TW" sz="3200" b="0" i="1" dirty="0">
                    <a:solidFill>
                      <a:schemeClr val="tx1"/>
                    </a:solidFill>
                    <a:latin typeface="Cambria Math" panose="02040503050406030204" pitchFamily="18" charset="0"/>
                  </a:endParaRPr>
                </a:p>
              </p:txBody>
            </p:sp>
          </mc:Choice>
          <mc:Fallback xmlns="">
            <p:sp>
              <p:nvSpPr>
                <p:cNvPr id="32" name="文字方塊 31">
                  <a:extLst>
                    <a:ext uri="{FF2B5EF4-FFF2-40B4-BE49-F238E27FC236}">
                      <a16:creationId xmlns:a16="http://schemas.microsoft.com/office/drawing/2014/main" id="{D1788497-33C5-4348-9BE3-721800B44BD4}"/>
                    </a:ext>
                  </a:extLst>
                </p:cNvPr>
                <p:cNvSpPr txBox="1">
                  <a:spLocks noRot="1" noChangeAspect="1" noMove="1" noResize="1" noEditPoints="1" noAdjustHandles="1" noChangeArrowheads="1" noChangeShapeType="1" noTextEdit="1"/>
                </p:cNvSpPr>
                <p:nvPr/>
              </p:nvSpPr>
              <p:spPr>
                <a:xfrm>
                  <a:off x="10212494" y="1954031"/>
                  <a:ext cx="559833" cy="49244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D5CC68D3-37A0-452E-AF97-04AD25614DDA}"/>
                    </a:ext>
                  </a:extLst>
                </p:cNvPr>
                <p:cNvSpPr txBox="1"/>
                <p:nvPr/>
              </p:nvSpPr>
              <p:spPr>
                <a:xfrm>
                  <a:off x="11734109" y="2290252"/>
                  <a:ext cx="487249"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sz="3200" b="0" i="1" smtClean="0">
                                <a:solidFill>
                                  <a:schemeClr val="tx1"/>
                                </a:solidFill>
                                <a:latin typeface="Cambria Math" panose="02040503050406030204" pitchFamily="18" charset="0"/>
                              </a:rPr>
                            </m:ctrlPr>
                          </m:sSubPr>
                          <m:e>
                            <m:r>
                              <a:rPr lang="en-US" altLang="zh-TW" sz="3200" b="0" i="1" smtClean="0">
                                <a:solidFill>
                                  <a:schemeClr val="tx1"/>
                                </a:solidFill>
                                <a:latin typeface="Cambria Math" panose="02040503050406030204" pitchFamily="18" charset="0"/>
                              </a:rPr>
                              <m:t>𝑦</m:t>
                            </m:r>
                          </m:e>
                          <m:sub>
                            <m:r>
                              <a:rPr lang="en-US" altLang="zh-TW" sz="3200" b="0" i="1" smtClean="0">
                                <a:solidFill>
                                  <a:schemeClr val="tx1"/>
                                </a:solidFill>
                                <a:latin typeface="Cambria Math" panose="02040503050406030204" pitchFamily="18" charset="0"/>
                              </a:rPr>
                              <m:t>1</m:t>
                            </m:r>
                          </m:sub>
                        </m:sSub>
                      </m:oMath>
                    </m:oMathPara>
                  </a14:m>
                  <a:endParaRPr lang="en-US" altLang="zh-TW" sz="3200" b="0" i="1" dirty="0">
                    <a:solidFill>
                      <a:schemeClr val="tx1"/>
                    </a:solidFill>
                    <a:latin typeface="Cambria Math" panose="02040503050406030204" pitchFamily="18" charset="0"/>
                  </a:endParaRPr>
                </a:p>
              </p:txBody>
            </p:sp>
          </mc:Choice>
          <mc:Fallback xmlns="">
            <p:sp>
              <p:nvSpPr>
                <p:cNvPr id="33" name="文字方塊 32">
                  <a:extLst>
                    <a:ext uri="{FF2B5EF4-FFF2-40B4-BE49-F238E27FC236}">
                      <a16:creationId xmlns:a16="http://schemas.microsoft.com/office/drawing/2014/main" id="{D5CC68D3-37A0-452E-AF97-04AD25614DDA}"/>
                    </a:ext>
                  </a:extLst>
                </p:cNvPr>
                <p:cNvSpPr txBox="1">
                  <a:spLocks noRot="1" noChangeAspect="1" noMove="1" noResize="1" noEditPoints="1" noAdjustHandles="1" noChangeArrowheads="1" noChangeShapeType="1" noTextEdit="1"/>
                </p:cNvSpPr>
                <p:nvPr/>
              </p:nvSpPr>
              <p:spPr>
                <a:xfrm>
                  <a:off x="11734109" y="2290252"/>
                  <a:ext cx="487249" cy="492443"/>
                </a:xfrm>
                <a:prstGeom prst="rect">
                  <a:avLst/>
                </a:prstGeom>
                <a:blipFill>
                  <a:blip r:embed="rId5"/>
                  <a:stretch>
                    <a:fillRect/>
                  </a:stretch>
                </a:blipFill>
              </p:spPr>
              <p:txBody>
                <a:bodyPr/>
                <a:lstStyle/>
                <a:p>
                  <a:r>
                    <a:rPr lang="zh-TW" altLang="en-US">
                      <a:noFill/>
                    </a:rPr>
                    <a:t> </a:t>
                  </a:r>
                </a:p>
              </p:txBody>
            </p:sp>
          </mc:Fallback>
        </mc:AlternateContent>
      </p:grpSp>
      <p:sp>
        <p:nvSpPr>
          <p:cNvPr id="6" name="文字方塊 5">
            <a:extLst>
              <a:ext uri="{FF2B5EF4-FFF2-40B4-BE49-F238E27FC236}">
                <a16:creationId xmlns:a16="http://schemas.microsoft.com/office/drawing/2014/main" id="{81031468-15AC-36F6-1BE4-FA48DF18F881}"/>
              </a:ext>
            </a:extLst>
          </p:cNvPr>
          <p:cNvSpPr txBox="1"/>
          <p:nvPr/>
        </p:nvSpPr>
        <p:spPr>
          <a:xfrm>
            <a:off x="4491318" y="2816562"/>
            <a:ext cx="1416424" cy="369332"/>
          </a:xfrm>
          <a:prstGeom prst="rect">
            <a:avLst/>
          </a:prstGeom>
          <a:noFill/>
        </p:spPr>
        <p:txBody>
          <a:bodyPr wrap="square">
            <a:spAutoFit/>
          </a:bodyPr>
          <a:lstStyle/>
          <a:p>
            <a:r>
              <a:rPr lang="en-US" altLang="zh-TW" b="1" i="0" dirty="0">
                <a:solidFill>
                  <a:srgbClr val="FF0000"/>
                </a:solidFill>
                <a:effectLst/>
                <a:latin typeface="sohne"/>
              </a:rPr>
              <a:t>Model</a:t>
            </a:r>
          </a:p>
        </p:txBody>
      </p:sp>
    </p:spTree>
    <p:extLst>
      <p:ext uri="{BB962C8B-B14F-4D97-AF65-F5344CB8AC3E}">
        <p14:creationId xmlns:p14="http://schemas.microsoft.com/office/powerpoint/2010/main" val="1693766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4258AD9-F368-87CF-AB56-49F4A0D9DFD1}"/>
              </a:ext>
            </a:extLst>
          </p:cNvPr>
          <p:cNvSpPr txBox="1"/>
          <p:nvPr/>
        </p:nvSpPr>
        <p:spPr>
          <a:xfrm>
            <a:off x="6190218" y="0"/>
            <a:ext cx="6001782" cy="5078313"/>
          </a:xfrm>
          <a:prstGeom prst="rect">
            <a:avLst/>
          </a:prstGeom>
          <a:solidFill>
            <a:schemeClr val="accent5">
              <a:lumMod val="20000"/>
              <a:lumOff val="80000"/>
            </a:schemeClr>
          </a:solidFill>
        </p:spPr>
        <p:txBody>
          <a:bodyPr wrap="square">
            <a:spAutoFit/>
          </a:bodyPr>
          <a:lstStyle/>
          <a:p>
            <a:r>
              <a:rPr lang="en-US" altLang="zh-TW" sz="1200" dirty="0" err="1"/>
              <a:t>n_data</a:t>
            </a:r>
            <a:r>
              <a:rPr lang="en-US" altLang="zh-TW" sz="1200" dirty="0"/>
              <a:t> = 100</a:t>
            </a:r>
          </a:p>
          <a:p>
            <a:r>
              <a:rPr lang="en-US" altLang="zh-TW" sz="1200" dirty="0" err="1"/>
              <a:t>x_train</a:t>
            </a:r>
            <a:r>
              <a:rPr lang="en-US" altLang="zh-TW" sz="1200" dirty="0"/>
              <a:t> = </a:t>
            </a:r>
            <a:r>
              <a:rPr lang="en-US" altLang="zh-TW" sz="1200" dirty="0" err="1"/>
              <a:t>torch.rand</a:t>
            </a:r>
            <a:r>
              <a:rPr lang="en-US" altLang="zh-TW" sz="1200" dirty="0"/>
              <a:t>(</a:t>
            </a:r>
            <a:r>
              <a:rPr lang="en-US" altLang="zh-TW" sz="1200" dirty="0" err="1"/>
              <a:t>n_data</a:t>
            </a:r>
            <a:r>
              <a:rPr lang="en-US" altLang="zh-TW" sz="1200" dirty="0"/>
              <a:t>, 1)</a:t>
            </a:r>
          </a:p>
          <a:p>
            <a:r>
              <a:rPr lang="en-US" altLang="zh-TW" sz="1200" dirty="0" err="1"/>
              <a:t>y_train</a:t>
            </a:r>
            <a:r>
              <a:rPr lang="en-US" altLang="zh-TW" sz="1200" dirty="0"/>
              <a:t> = 2 + 3 * </a:t>
            </a:r>
            <a:r>
              <a:rPr lang="en-US" altLang="zh-TW" sz="1200" dirty="0" err="1"/>
              <a:t>x_train</a:t>
            </a:r>
            <a:r>
              <a:rPr lang="en-US" altLang="zh-TW" sz="1200" dirty="0"/>
              <a:t> + .1 * </a:t>
            </a:r>
            <a:r>
              <a:rPr lang="en-US" altLang="zh-TW" sz="1200" dirty="0" err="1"/>
              <a:t>torch.randn</a:t>
            </a:r>
            <a:r>
              <a:rPr lang="en-US" altLang="zh-TW" sz="1200" dirty="0"/>
              <a:t>(</a:t>
            </a:r>
            <a:r>
              <a:rPr lang="en-US" altLang="zh-TW" sz="1200" dirty="0" err="1"/>
              <a:t>n_data</a:t>
            </a:r>
            <a:r>
              <a:rPr lang="en-US" altLang="zh-TW" sz="1200" dirty="0"/>
              <a:t>, 1)</a:t>
            </a:r>
          </a:p>
          <a:p>
            <a:endParaRPr lang="en-US" altLang="zh-TW" sz="1200" dirty="0"/>
          </a:p>
          <a:p>
            <a:r>
              <a:rPr lang="en-US" altLang="zh-TW" sz="1200" dirty="0"/>
              <a:t>device = '</a:t>
            </a:r>
            <a:r>
              <a:rPr lang="en-US" altLang="zh-TW" sz="1200" dirty="0" err="1"/>
              <a:t>cuda</a:t>
            </a:r>
            <a:r>
              <a:rPr lang="en-US" altLang="zh-TW" sz="1200" dirty="0"/>
              <a:t>' if </a:t>
            </a:r>
            <a:r>
              <a:rPr lang="en-US" altLang="zh-TW" sz="1200" dirty="0" err="1"/>
              <a:t>torch.cuda.is_available</a:t>
            </a:r>
            <a:r>
              <a:rPr lang="en-US" altLang="zh-TW" sz="1200" dirty="0"/>
              <a:t>() else '</a:t>
            </a:r>
            <a:r>
              <a:rPr lang="en-US" altLang="zh-TW" sz="1200" dirty="0" err="1"/>
              <a:t>cpu</a:t>
            </a:r>
            <a:r>
              <a:rPr lang="en-US" altLang="zh-TW" sz="1200" dirty="0"/>
              <a:t>'</a:t>
            </a:r>
          </a:p>
          <a:p>
            <a:r>
              <a:rPr lang="en-US" altLang="zh-TW" sz="1200" dirty="0"/>
              <a:t>x_train.to(device)</a:t>
            </a:r>
          </a:p>
          <a:p>
            <a:r>
              <a:rPr lang="en-US" altLang="zh-TW" sz="1200" dirty="0"/>
              <a:t>y_train.to(device)</a:t>
            </a:r>
          </a:p>
          <a:p>
            <a:endParaRPr lang="en-US" altLang="zh-TW" sz="1200" dirty="0"/>
          </a:p>
          <a:p>
            <a:r>
              <a:rPr lang="en-US" altLang="zh-TW" sz="1200" dirty="0"/>
              <a:t>model = </a:t>
            </a:r>
            <a:r>
              <a:rPr lang="en-US" altLang="zh-TW" sz="1200" dirty="0" err="1"/>
              <a:t>LayerLinearRegression</a:t>
            </a:r>
            <a:r>
              <a:rPr lang="en-US" altLang="zh-TW" sz="1200" dirty="0"/>
              <a:t>().to(device)</a:t>
            </a:r>
          </a:p>
          <a:p>
            <a:r>
              <a:rPr lang="en-US" altLang="zh-TW" sz="1200" dirty="0"/>
              <a:t># We can also inspect its parameters using its </a:t>
            </a:r>
            <a:r>
              <a:rPr lang="en-US" altLang="zh-TW" sz="1200" dirty="0" err="1"/>
              <a:t>state_dict</a:t>
            </a:r>
            <a:endParaRPr lang="en-US" altLang="zh-TW" sz="1200" dirty="0"/>
          </a:p>
          <a:p>
            <a:r>
              <a:rPr lang="en-US" altLang="zh-TW" sz="1200" dirty="0"/>
              <a:t>print(</a:t>
            </a:r>
            <a:r>
              <a:rPr lang="en-US" altLang="zh-TW" sz="1200" dirty="0" err="1"/>
              <a:t>model.state_dict</a:t>
            </a:r>
            <a:r>
              <a:rPr lang="en-US" altLang="zh-TW" sz="1200" dirty="0"/>
              <a:t>())</a:t>
            </a:r>
          </a:p>
          <a:p>
            <a:endParaRPr lang="en-US" altLang="zh-TW" sz="1200" dirty="0"/>
          </a:p>
          <a:p>
            <a:r>
              <a:rPr lang="en-US" altLang="zh-TW" sz="1200" dirty="0" err="1"/>
              <a:t>lr</a:t>
            </a:r>
            <a:r>
              <a:rPr lang="en-US" altLang="zh-TW" sz="1200" dirty="0"/>
              <a:t> = 1e-1</a:t>
            </a:r>
          </a:p>
          <a:p>
            <a:r>
              <a:rPr lang="en-US" altLang="zh-TW" sz="1200" dirty="0" err="1"/>
              <a:t>n_epochs</a:t>
            </a:r>
            <a:r>
              <a:rPr lang="en-US" altLang="zh-TW" sz="1200" dirty="0"/>
              <a:t> = 1000</a:t>
            </a:r>
          </a:p>
          <a:p>
            <a:r>
              <a:rPr lang="en-US" altLang="zh-TW" sz="1200" dirty="0" err="1"/>
              <a:t>loss_fn</a:t>
            </a:r>
            <a:r>
              <a:rPr lang="en-US" altLang="zh-TW" sz="1200" dirty="0"/>
              <a:t> = </a:t>
            </a:r>
            <a:r>
              <a:rPr lang="en-US" altLang="zh-TW" sz="1200" dirty="0" err="1"/>
              <a:t>nn.MSELoss</a:t>
            </a:r>
            <a:r>
              <a:rPr lang="en-US" altLang="zh-TW" sz="1200" dirty="0"/>
              <a:t>(reduction='mean')</a:t>
            </a:r>
          </a:p>
          <a:p>
            <a:r>
              <a:rPr lang="en-US" altLang="zh-TW" sz="1200" dirty="0"/>
              <a:t>optimizer = </a:t>
            </a:r>
            <a:r>
              <a:rPr lang="en-US" altLang="zh-TW" sz="1200" dirty="0" err="1"/>
              <a:t>optim.SGD</a:t>
            </a:r>
            <a:r>
              <a:rPr lang="en-US" altLang="zh-TW" sz="1200" dirty="0"/>
              <a:t>(</a:t>
            </a:r>
            <a:r>
              <a:rPr lang="en-US" altLang="zh-TW" sz="1200" dirty="0" err="1"/>
              <a:t>model.parameters</a:t>
            </a:r>
            <a:r>
              <a:rPr lang="en-US" altLang="zh-TW" sz="1200" dirty="0"/>
              <a:t>(), </a:t>
            </a:r>
            <a:r>
              <a:rPr lang="en-US" altLang="zh-TW" sz="1200" dirty="0" err="1"/>
              <a:t>lr</a:t>
            </a:r>
            <a:r>
              <a:rPr lang="en-US" altLang="zh-TW" sz="1200" dirty="0"/>
              <a:t>=</a:t>
            </a:r>
            <a:r>
              <a:rPr lang="en-US" altLang="zh-TW" sz="1200" dirty="0" err="1"/>
              <a:t>lr</a:t>
            </a:r>
            <a:r>
              <a:rPr lang="en-US" altLang="zh-TW" sz="1200" dirty="0"/>
              <a:t>)</a:t>
            </a:r>
          </a:p>
          <a:p>
            <a:endParaRPr lang="en-US" altLang="zh-TW" sz="1200" dirty="0"/>
          </a:p>
          <a:p>
            <a:endParaRPr lang="en-US" altLang="zh-TW" sz="1200" dirty="0"/>
          </a:p>
          <a:p>
            <a:r>
              <a:rPr lang="en-US" altLang="zh-TW" sz="1200" dirty="0"/>
              <a:t># Creates the </a:t>
            </a:r>
            <a:r>
              <a:rPr lang="en-US" altLang="zh-TW" sz="1200" dirty="0" err="1"/>
              <a:t>train_step</a:t>
            </a:r>
            <a:r>
              <a:rPr lang="en-US" altLang="zh-TW" sz="1200" dirty="0"/>
              <a:t> function for our model, loss function and optimizer</a:t>
            </a:r>
          </a:p>
          <a:p>
            <a:r>
              <a:rPr lang="en-US" altLang="zh-TW" sz="1200" dirty="0" err="1">
                <a:solidFill>
                  <a:srgbClr val="FF0000"/>
                </a:solidFill>
              </a:rPr>
              <a:t>train_step</a:t>
            </a:r>
            <a:r>
              <a:rPr lang="en-US" altLang="zh-TW" sz="1200" dirty="0">
                <a:solidFill>
                  <a:srgbClr val="FF0000"/>
                </a:solidFill>
              </a:rPr>
              <a:t> = </a:t>
            </a:r>
            <a:r>
              <a:rPr lang="en-US" altLang="zh-TW" sz="1200" dirty="0" err="1">
                <a:solidFill>
                  <a:srgbClr val="FF0000"/>
                </a:solidFill>
              </a:rPr>
              <a:t>make_train_step</a:t>
            </a:r>
            <a:r>
              <a:rPr lang="en-US" altLang="zh-TW" sz="1200" dirty="0">
                <a:solidFill>
                  <a:srgbClr val="FF0000"/>
                </a:solidFill>
              </a:rPr>
              <a:t>(model, </a:t>
            </a:r>
            <a:r>
              <a:rPr lang="en-US" altLang="zh-TW" sz="1200" dirty="0" err="1">
                <a:solidFill>
                  <a:srgbClr val="FF0000"/>
                </a:solidFill>
              </a:rPr>
              <a:t>loss_fn</a:t>
            </a:r>
            <a:r>
              <a:rPr lang="en-US" altLang="zh-TW" sz="1200" dirty="0">
                <a:solidFill>
                  <a:srgbClr val="FF0000"/>
                </a:solidFill>
              </a:rPr>
              <a:t>, optimizer)</a:t>
            </a:r>
          </a:p>
          <a:p>
            <a:r>
              <a:rPr lang="en-US" altLang="zh-TW" sz="1200" dirty="0">
                <a:solidFill>
                  <a:srgbClr val="FF0000"/>
                </a:solidFill>
              </a:rPr>
              <a:t>losses = []</a:t>
            </a:r>
          </a:p>
          <a:p>
            <a:endParaRPr lang="en-US" altLang="zh-TW" sz="1200" dirty="0"/>
          </a:p>
          <a:p>
            <a:r>
              <a:rPr lang="en-US" altLang="zh-TW" sz="1200" dirty="0"/>
              <a:t>for epoch in range(</a:t>
            </a:r>
            <a:r>
              <a:rPr lang="en-US" altLang="zh-TW" sz="1200" dirty="0" err="1"/>
              <a:t>n_epochs</a:t>
            </a:r>
            <a:r>
              <a:rPr lang="en-US" altLang="zh-TW" sz="1200" dirty="0"/>
              <a:t>):</a:t>
            </a:r>
          </a:p>
          <a:p>
            <a:r>
              <a:rPr lang="en-US" altLang="zh-TW" sz="1200" dirty="0">
                <a:solidFill>
                  <a:srgbClr val="FF0000"/>
                </a:solidFill>
              </a:rPr>
              <a:t>    loss = </a:t>
            </a:r>
            <a:r>
              <a:rPr lang="en-US" altLang="zh-TW" sz="1200" dirty="0" err="1">
                <a:solidFill>
                  <a:srgbClr val="FF0000"/>
                </a:solidFill>
              </a:rPr>
              <a:t>train_step</a:t>
            </a:r>
            <a:r>
              <a:rPr lang="en-US" altLang="zh-TW" sz="1200" dirty="0">
                <a:solidFill>
                  <a:srgbClr val="FF0000"/>
                </a:solidFill>
              </a:rPr>
              <a:t>(</a:t>
            </a:r>
            <a:r>
              <a:rPr lang="en-US" altLang="zh-TW" sz="1200" dirty="0" err="1">
                <a:solidFill>
                  <a:srgbClr val="FF0000"/>
                </a:solidFill>
              </a:rPr>
              <a:t>x_train</a:t>
            </a:r>
            <a:r>
              <a:rPr lang="en-US" altLang="zh-TW" sz="1200" dirty="0">
                <a:solidFill>
                  <a:srgbClr val="FF0000"/>
                </a:solidFill>
              </a:rPr>
              <a:t>, </a:t>
            </a:r>
            <a:r>
              <a:rPr lang="en-US" altLang="zh-TW" sz="1200" dirty="0" err="1">
                <a:solidFill>
                  <a:srgbClr val="FF0000"/>
                </a:solidFill>
              </a:rPr>
              <a:t>y_train</a:t>
            </a:r>
            <a:r>
              <a:rPr lang="en-US" altLang="zh-TW" sz="1200" dirty="0">
                <a:solidFill>
                  <a:srgbClr val="FF0000"/>
                </a:solidFill>
              </a:rPr>
              <a:t>)</a:t>
            </a:r>
          </a:p>
          <a:p>
            <a:r>
              <a:rPr lang="en-US" altLang="zh-TW" sz="1200" dirty="0">
                <a:solidFill>
                  <a:srgbClr val="FF0000"/>
                </a:solidFill>
              </a:rPr>
              <a:t>    </a:t>
            </a:r>
            <a:r>
              <a:rPr lang="en-US" altLang="zh-TW" sz="1200" dirty="0" err="1">
                <a:solidFill>
                  <a:srgbClr val="FF0000"/>
                </a:solidFill>
              </a:rPr>
              <a:t>losses.append</a:t>
            </a:r>
            <a:r>
              <a:rPr lang="en-US" altLang="zh-TW" sz="1200" dirty="0">
                <a:solidFill>
                  <a:srgbClr val="FF0000"/>
                </a:solidFill>
              </a:rPr>
              <a:t>(loss)</a:t>
            </a:r>
          </a:p>
          <a:p>
            <a:endParaRPr lang="en-US" altLang="zh-TW" sz="1200" dirty="0"/>
          </a:p>
          <a:p>
            <a:r>
              <a:rPr lang="en-US" altLang="zh-TW" sz="1200" dirty="0"/>
              <a:t>print(</a:t>
            </a:r>
            <a:r>
              <a:rPr lang="en-US" altLang="zh-TW" sz="1200" dirty="0" err="1"/>
              <a:t>model.state_dict</a:t>
            </a:r>
            <a:r>
              <a:rPr lang="en-US" altLang="zh-TW" sz="1200" dirty="0"/>
              <a:t>())</a:t>
            </a:r>
          </a:p>
        </p:txBody>
      </p:sp>
      <p:sp>
        <p:nvSpPr>
          <p:cNvPr id="5" name="文字方塊 4">
            <a:extLst>
              <a:ext uri="{FF2B5EF4-FFF2-40B4-BE49-F238E27FC236}">
                <a16:creationId xmlns:a16="http://schemas.microsoft.com/office/drawing/2014/main" id="{5EFF5263-52D9-18B7-A6CE-B04CA052DE8E}"/>
              </a:ext>
            </a:extLst>
          </p:cNvPr>
          <p:cNvSpPr txBox="1"/>
          <p:nvPr/>
        </p:nvSpPr>
        <p:spPr>
          <a:xfrm>
            <a:off x="6190218" y="6396335"/>
            <a:ext cx="5989136" cy="461665"/>
          </a:xfrm>
          <a:prstGeom prst="rect">
            <a:avLst/>
          </a:prstGeom>
          <a:solidFill>
            <a:schemeClr val="accent6">
              <a:lumMod val="40000"/>
              <a:lumOff val="60000"/>
            </a:schemeClr>
          </a:solidFill>
        </p:spPr>
        <p:txBody>
          <a:bodyPr wrap="square">
            <a:spAutoFit/>
          </a:bodyPr>
          <a:lstStyle/>
          <a:p>
            <a:r>
              <a:rPr lang="en-US" altLang="zh-TW" sz="1200" dirty="0" err="1"/>
              <a:t>OrderedDict</a:t>
            </a:r>
            <a:r>
              <a:rPr lang="en-US" altLang="zh-TW" sz="1200" dirty="0"/>
              <a:t>([('</a:t>
            </a:r>
            <a:r>
              <a:rPr lang="en-US" altLang="zh-TW" sz="1200" dirty="0" err="1"/>
              <a:t>linear.weight</a:t>
            </a:r>
            <a:r>
              <a:rPr lang="en-US" altLang="zh-TW" sz="1200" dirty="0"/>
              <a:t>', tensor([[-0.6890]])), ('</a:t>
            </a:r>
            <a:r>
              <a:rPr lang="en-US" altLang="zh-TW" sz="1200" dirty="0" err="1"/>
              <a:t>linear.bias</a:t>
            </a:r>
            <a:r>
              <a:rPr lang="en-US" altLang="zh-TW" sz="1200" dirty="0"/>
              <a:t>', tensor([-0.7015]))])</a:t>
            </a:r>
          </a:p>
          <a:p>
            <a:r>
              <a:rPr lang="en-US" altLang="zh-TW" sz="1200" dirty="0" err="1"/>
              <a:t>OrderedDict</a:t>
            </a:r>
            <a:r>
              <a:rPr lang="en-US" altLang="zh-TW" sz="1200" dirty="0"/>
              <a:t>([('</a:t>
            </a:r>
            <a:r>
              <a:rPr lang="en-US" altLang="zh-TW" sz="1200" dirty="0" err="1"/>
              <a:t>linear.weight</a:t>
            </a:r>
            <a:r>
              <a:rPr lang="en-US" altLang="zh-TW" sz="1200" dirty="0"/>
              <a:t>', tensor([[2.9613]])), ('</a:t>
            </a:r>
            <a:r>
              <a:rPr lang="en-US" altLang="zh-TW" sz="1200" dirty="0" err="1"/>
              <a:t>linear.bias</a:t>
            </a:r>
            <a:r>
              <a:rPr lang="en-US" altLang="zh-TW" sz="1200" dirty="0"/>
              <a:t>', tensor([2.0182]))])</a:t>
            </a:r>
            <a:endParaRPr lang="zh-TW" altLang="en-US" sz="1200" dirty="0"/>
          </a:p>
        </p:txBody>
      </p:sp>
      <p:sp>
        <p:nvSpPr>
          <p:cNvPr id="6" name="文字方塊 5">
            <a:extLst>
              <a:ext uri="{FF2B5EF4-FFF2-40B4-BE49-F238E27FC236}">
                <a16:creationId xmlns:a16="http://schemas.microsoft.com/office/drawing/2014/main" id="{35AD5EE5-22C1-F8F3-67E0-45A19BE5B564}"/>
              </a:ext>
            </a:extLst>
          </p:cNvPr>
          <p:cNvSpPr txBox="1"/>
          <p:nvPr/>
        </p:nvSpPr>
        <p:spPr>
          <a:xfrm>
            <a:off x="0" y="0"/>
            <a:ext cx="6001782" cy="5078313"/>
          </a:xfrm>
          <a:prstGeom prst="rect">
            <a:avLst/>
          </a:prstGeom>
          <a:solidFill>
            <a:schemeClr val="accent5">
              <a:lumMod val="20000"/>
              <a:lumOff val="80000"/>
            </a:schemeClr>
          </a:solidFill>
        </p:spPr>
        <p:txBody>
          <a:bodyPr wrap="square">
            <a:spAutoFit/>
          </a:bodyPr>
          <a:lstStyle/>
          <a:p>
            <a:r>
              <a:rPr lang="en-US" altLang="zh-TW" sz="1200" dirty="0"/>
              <a:t>import torch</a:t>
            </a:r>
          </a:p>
          <a:p>
            <a:r>
              <a:rPr lang="en-US" altLang="zh-TW" sz="1200" dirty="0"/>
              <a:t>import </a:t>
            </a:r>
            <a:r>
              <a:rPr lang="en-US" altLang="zh-TW" sz="1200" dirty="0" err="1"/>
              <a:t>torch.optim</a:t>
            </a:r>
            <a:r>
              <a:rPr lang="en-US" altLang="zh-TW" sz="1200" dirty="0"/>
              <a:t> as </a:t>
            </a:r>
            <a:r>
              <a:rPr lang="en-US" altLang="zh-TW" sz="1200" dirty="0" err="1"/>
              <a:t>optim</a:t>
            </a:r>
            <a:endParaRPr lang="en-US" altLang="zh-TW" sz="1200" dirty="0"/>
          </a:p>
          <a:p>
            <a:r>
              <a:rPr lang="en-US" altLang="zh-TW" sz="1200" dirty="0"/>
              <a:t>import </a:t>
            </a:r>
            <a:r>
              <a:rPr lang="en-US" altLang="zh-TW" sz="1200" dirty="0" err="1"/>
              <a:t>torch.nn</a:t>
            </a:r>
            <a:r>
              <a:rPr lang="en-US" altLang="zh-TW" sz="1200" dirty="0"/>
              <a:t> as </a:t>
            </a:r>
            <a:r>
              <a:rPr lang="en-US" altLang="zh-TW" sz="1200" dirty="0" err="1"/>
              <a:t>nn</a:t>
            </a:r>
            <a:endParaRPr lang="en-US" altLang="zh-TW" sz="1200" dirty="0"/>
          </a:p>
          <a:p>
            <a:endParaRPr lang="en-US" altLang="zh-TW" sz="1200" dirty="0"/>
          </a:p>
          <a:p>
            <a:r>
              <a:rPr lang="en-US" altLang="zh-TW" sz="1200" dirty="0"/>
              <a:t>class </a:t>
            </a:r>
            <a:r>
              <a:rPr lang="en-US" altLang="zh-TW" sz="1200" dirty="0" err="1"/>
              <a:t>LayerLinearRegression</a:t>
            </a:r>
            <a:r>
              <a:rPr lang="en-US" altLang="zh-TW" sz="1200" dirty="0"/>
              <a:t>(</a:t>
            </a:r>
            <a:r>
              <a:rPr lang="en-US" altLang="zh-TW" sz="1200" dirty="0" err="1"/>
              <a:t>nn.Module</a:t>
            </a:r>
            <a:r>
              <a:rPr lang="en-US" altLang="zh-TW" sz="1200" dirty="0"/>
              <a:t>):</a:t>
            </a:r>
          </a:p>
          <a:p>
            <a:r>
              <a:rPr lang="en-US" altLang="zh-TW" sz="1200" dirty="0"/>
              <a:t>    def __</a:t>
            </a:r>
            <a:r>
              <a:rPr lang="en-US" altLang="zh-TW" sz="1200" dirty="0" err="1"/>
              <a:t>init</a:t>
            </a:r>
            <a:r>
              <a:rPr lang="en-US" altLang="zh-TW" sz="1200" dirty="0"/>
              <a:t>__(self):</a:t>
            </a:r>
          </a:p>
          <a:p>
            <a:r>
              <a:rPr lang="en-US" altLang="zh-TW" sz="1200" dirty="0"/>
              <a:t>        super().__</a:t>
            </a:r>
            <a:r>
              <a:rPr lang="en-US" altLang="zh-TW" sz="1200" dirty="0" err="1"/>
              <a:t>init</a:t>
            </a:r>
            <a:r>
              <a:rPr lang="en-US" altLang="zh-TW" sz="1200" dirty="0"/>
              <a:t>__()</a:t>
            </a:r>
          </a:p>
          <a:p>
            <a:r>
              <a:rPr lang="en-US" altLang="zh-TW" sz="1200" dirty="0"/>
              <a:t>        </a:t>
            </a:r>
            <a:r>
              <a:rPr lang="en-US" altLang="zh-TW" sz="1200" dirty="0" err="1"/>
              <a:t>self.linear</a:t>
            </a:r>
            <a:r>
              <a:rPr lang="en-US" altLang="zh-TW" sz="1200" dirty="0"/>
              <a:t> = </a:t>
            </a:r>
            <a:r>
              <a:rPr lang="en-US" altLang="zh-TW" sz="1200" dirty="0" err="1"/>
              <a:t>nn.Linear</a:t>
            </a:r>
            <a:r>
              <a:rPr lang="en-US" altLang="zh-TW" sz="1200" dirty="0"/>
              <a:t>(1, 1, bias=2)</a:t>
            </a:r>
          </a:p>
          <a:p>
            <a:endParaRPr lang="en-US" altLang="zh-TW" sz="1200" dirty="0"/>
          </a:p>
          <a:p>
            <a:r>
              <a:rPr lang="en-US" altLang="zh-TW" sz="1200" dirty="0"/>
              <a:t>    def forward(self, x):</a:t>
            </a:r>
          </a:p>
          <a:p>
            <a:r>
              <a:rPr lang="en-US" altLang="zh-TW" sz="1200" dirty="0"/>
              <a:t>        # Now it only takes a call to the layer to make predictions</a:t>
            </a:r>
          </a:p>
          <a:p>
            <a:r>
              <a:rPr lang="en-US" altLang="zh-TW" sz="1200" dirty="0"/>
              <a:t>        return </a:t>
            </a:r>
            <a:r>
              <a:rPr lang="en-US" altLang="zh-TW" sz="1200" dirty="0" err="1"/>
              <a:t>self.linear</a:t>
            </a:r>
            <a:r>
              <a:rPr lang="en-US" altLang="zh-TW" sz="1200" dirty="0"/>
              <a:t>(x)</a:t>
            </a:r>
          </a:p>
          <a:p>
            <a:endParaRPr lang="en-US" altLang="zh-TW" sz="1200" dirty="0"/>
          </a:p>
          <a:p>
            <a:r>
              <a:rPr lang="en-US" altLang="zh-TW" sz="1200" dirty="0">
                <a:solidFill>
                  <a:srgbClr val="FF0000"/>
                </a:solidFill>
              </a:rPr>
              <a:t>def </a:t>
            </a:r>
            <a:r>
              <a:rPr lang="en-US" altLang="zh-TW" sz="1200" dirty="0" err="1">
                <a:solidFill>
                  <a:srgbClr val="FF0000"/>
                </a:solidFill>
              </a:rPr>
              <a:t>make_train_step</a:t>
            </a:r>
            <a:r>
              <a:rPr lang="en-US" altLang="zh-TW" sz="1200" dirty="0">
                <a:solidFill>
                  <a:srgbClr val="FF0000"/>
                </a:solidFill>
              </a:rPr>
              <a:t>(model, </a:t>
            </a:r>
            <a:r>
              <a:rPr lang="en-US" altLang="zh-TW" sz="1200" dirty="0" err="1">
                <a:solidFill>
                  <a:srgbClr val="FF0000"/>
                </a:solidFill>
              </a:rPr>
              <a:t>loss_fn</a:t>
            </a:r>
            <a:r>
              <a:rPr lang="en-US" altLang="zh-TW" sz="1200" dirty="0">
                <a:solidFill>
                  <a:srgbClr val="FF0000"/>
                </a:solidFill>
              </a:rPr>
              <a:t>, optimizer):</a:t>
            </a:r>
          </a:p>
          <a:p>
            <a:r>
              <a:rPr lang="en-US" altLang="zh-TW" sz="1200" dirty="0">
                <a:solidFill>
                  <a:srgbClr val="FF0000"/>
                </a:solidFill>
              </a:rPr>
              <a:t>    # Builds function that performs a step in the train loop</a:t>
            </a:r>
          </a:p>
          <a:p>
            <a:r>
              <a:rPr lang="en-US" altLang="zh-TW" sz="1200" dirty="0">
                <a:solidFill>
                  <a:srgbClr val="FF0000"/>
                </a:solidFill>
              </a:rPr>
              <a:t>    def </a:t>
            </a:r>
            <a:r>
              <a:rPr lang="en-US" altLang="zh-TW" sz="1200" dirty="0" err="1">
                <a:solidFill>
                  <a:srgbClr val="FF0000"/>
                </a:solidFill>
              </a:rPr>
              <a:t>train_step</a:t>
            </a:r>
            <a:r>
              <a:rPr lang="en-US" altLang="zh-TW" sz="1200" dirty="0">
                <a:solidFill>
                  <a:srgbClr val="FF0000"/>
                </a:solidFill>
              </a:rPr>
              <a:t>(x, y):</a:t>
            </a:r>
          </a:p>
          <a:p>
            <a:r>
              <a:rPr lang="en-US" altLang="zh-TW" sz="1200" dirty="0">
                <a:solidFill>
                  <a:srgbClr val="FF0000"/>
                </a:solidFill>
              </a:rPr>
              <a:t>        </a:t>
            </a:r>
            <a:r>
              <a:rPr lang="en-US" altLang="zh-TW" sz="1200" dirty="0" err="1">
                <a:solidFill>
                  <a:srgbClr val="FF0000"/>
                </a:solidFill>
              </a:rPr>
              <a:t>model.train</a:t>
            </a:r>
            <a:r>
              <a:rPr lang="en-US" altLang="zh-TW" sz="1200" dirty="0">
                <a:solidFill>
                  <a:srgbClr val="FF0000"/>
                </a:solidFill>
              </a:rPr>
              <a:t>()</a:t>
            </a:r>
          </a:p>
          <a:p>
            <a:r>
              <a:rPr lang="en-US" altLang="zh-TW" sz="1200" dirty="0">
                <a:solidFill>
                  <a:srgbClr val="FF0000"/>
                </a:solidFill>
              </a:rPr>
              <a:t>        </a:t>
            </a:r>
            <a:r>
              <a:rPr lang="en-US" altLang="zh-TW" sz="1200" dirty="0" err="1">
                <a:solidFill>
                  <a:srgbClr val="FF0000"/>
                </a:solidFill>
              </a:rPr>
              <a:t>yhat</a:t>
            </a:r>
            <a:r>
              <a:rPr lang="en-US" altLang="zh-TW" sz="1200" dirty="0">
                <a:solidFill>
                  <a:srgbClr val="FF0000"/>
                </a:solidFill>
              </a:rPr>
              <a:t> = model(x)</a:t>
            </a:r>
          </a:p>
          <a:p>
            <a:r>
              <a:rPr lang="en-US" altLang="zh-TW" sz="1200" dirty="0">
                <a:solidFill>
                  <a:srgbClr val="FF0000"/>
                </a:solidFill>
              </a:rPr>
              <a:t>        loss = </a:t>
            </a:r>
            <a:r>
              <a:rPr lang="en-US" altLang="zh-TW" sz="1200" dirty="0" err="1">
                <a:solidFill>
                  <a:srgbClr val="FF0000"/>
                </a:solidFill>
              </a:rPr>
              <a:t>loss_fn</a:t>
            </a:r>
            <a:r>
              <a:rPr lang="en-US" altLang="zh-TW" sz="1200" dirty="0">
                <a:solidFill>
                  <a:srgbClr val="FF0000"/>
                </a:solidFill>
              </a:rPr>
              <a:t>(y, </a:t>
            </a:r>
            <a:r>
              <a:rPr lang="en-US" altLang="zh-TW" sz="1200" dirty="0" err="1">
                <a:solidFill>
                  <a:srgbClr val="FF0000"/>
                </a:solidFill>
              </a:rPr>
              <a:t>yhat</a:t>
            </a:r>
            <a:r>
              <a:rPr lang="en-US" altLang="zh-TW" sz="1200" dirty="0">
                <a:solidFill>
                  <a:srgbClr val="FF0000"/>
                </a:solidFill>
              </a:rPr>
              <a:t>)</a:t>
            </a:r>
          </a:p>
          <a:p>
            <a:r>
              <a:rPr lang="en-US" altLang="zh-TW" sz="1200" dirty="0">
                <a:solidFill>
                  <a:srgbClr val="FF0000"/>
                </a:solidFill>
              </a:rPr>
              <a:t>        </a:t>
            </a:r>
            <a:r>
              <a:rPr lang="en-US" altLang="zh-TW" sz="1200" dirty="0" err="1">
                <a:solidFill>
                  <a:srgbClr val="FF0000"/>
                </a:solidFill>
              </a:rPr>
              <a:t>loss.backward</a:t>
            </a:r>
            <a:r>
              <a:rPr lang="en-US" altLang="zh-TW" sz="1200" dirty="0">
                <a:solidFill>
                  <a:srgbClr val="FF0000"/>
                </a:solidFill>
              </a:rPr>
              <a:t>()</a:t>
            </a:r>
          </a:p>
          <a:p>
            <a:r>
              <a:rPr lang="en-US" altLang="zh-TW" sz="1200" dirty="0">
                <a:solidFill>
                  <a:srgbClr val="FF0000"/>
                </a:solidFill>
              </a:rPr>
              <a:t>        </a:t>
            </a:r>
            <a:r>
              <a:rPr lang="en-US" altLang="zh-TW" sz="1200" dirty="0" err="1">
                <a:solidFill>
                  <a:srgbClr val="FF0000"/>
                </a:solidFill>
              </a:rPr>
              <a:t>optimizer.step</a:t>
            </a:r>
            <a:r>
              <a:rPr lang="en-US" altLang="zh-TW" sz="1200" dirty="0">
                <a:solidFill>
                  <a:srgbClr val="FF0000"/>
                </a:solidFill>
              </a:rPr>
              <a:t>()</a:t>
            </a:r>
          </a:p>
          <a:p>
            <a:r>
              <a:rPr lang="en-US" altLang="zh-TW" sz="1200" dirty="0">
                <a:solidFill>
                  <a:srgbClr val="FF0000"/>
                </a:solidFill>
              </a:rPr>
              <a:t>        </a:t>
            </a:r>
            <a:r>
              <a:rPr lang="en-US" altLang="zh-TW" sz="1200" dirty="0" err="1">
                <a:solidFill>
                  <a:srgbClr val="FF0000"/>
                </a:solidFill>
              </a:rPr>
              <a:t>optimizer.zero_grad</a:t>
            </a:r>
            <a:r>
              <a:rPr lang="en-US" altLang="zh-TW" sz="1200" dirty="0">
                <a:solidFill>
                  <a:srgbClr val="FF0000"/>
                </a:solidFill>
              </a:rPr>
              <a:t>()</a:t>
            </a:r>
          </a:p>
          <a:p>
            <a:endParaRPr lang="en-US" altLang="zh-TW" sz="1200" dirty="0">
              <a:solidFill>
                <a:srgbClr val="FF0000"/>
              </a:solidFill>
            </a:endParaRPr>
          </a:p>
          <a:p>
            <a:r>
              <a:rPr lang="en-US" altLang="zh-TW" sz="1200" dirty="0">
                <a:solidFill>
                  <a:srgbClr val="FF0000"/>
                </a:solidFill>
              </a:rPr>
              <a:t>        return </a:t>
            </a:r>
            <a:r>
              <a:rPr lang="en-US" altLang="zh-TW" sz="1200" dirty="0" err="1">
                <a:solidFill>
                  <a:srgbClr val="FF0000"/>
                </a:solidFill>
              </a:rPr>
              <a:t>loss.item</a:t>
            </a:r>
            <a:r>
              <a:rPr lang="en-US" altLang="zh-TW" sz="1200" dirty="0">
                <a:solidFill>
                  <a:srgbClr val="FF0000"/>
                </a:solidFill>
              </a:rPr>
              <a:t>()</a:t>
            </a:r>
          </a:p>
          <a:p>
            <a:endParaRPr lang="en-US" altLang="zh-TW" sz="1200" dirty="0">
              <a:solidFill>
                <a:srgbClr val="FF0000"/>
              </a:solidFill>
            </a:endParaRPr>
          </a:p>
          <a:p>
            <a:r>
              <a:rPr lang="en-US" altLang="zh-TW" sz="1200" dirty="0">
                <a:solidFill>
                  <a:srgbClr val="FF0000"/>
                </a:solidFill>
              </a:rPr>
              <a:t>    # Returns the function that will be called inside the train loop</a:t>
            </a:r>
          </a:p>
          <a:p>
            <a:r>
              <a:rPr lang="en-US" altLang="zh-TW" sz="1200" dirty="0">
                <a:solidFill>
                  <a:srgbClr val="FF0000"/>
                </a:solidFill>
              </a:rPr>
              <a:t>    return </a:t>
            </a:r>
            <a:r>
              <a:rPr lang="en-US" altLang="zh-TW" sz="1200" dirty="0" err="1">
                <a:solidFill>
                  <a:srgbClr val="FF0000"/>
                </a:solidFill>
              </a:rPr>
              <a:t>train_step</a:t>
            </a:r>
            <a:endParaRPr lang="en-US" altLang="zh-TW" sz="1200" dirty="0">
              <a:solidFill>
                <a:srgbClr val="FF0000"/>
              </a:solidFill>
            </a:endParaRPr>
          </a:p>
        </p:txBody>
      </p:sp>
    </p:spTree>
    <p:extLst>
      <p:ext uri="{BB962C8B-B14F-4D97-AF65-F5344CB8AC3E}">
        <p14:creationId xmlns:p14="http://schemas.microsoft.com/office/powerpoint/2010/main" val="2585073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421F3457-C4A2-D93E-0180-C7BF26BCBFEE}"/>
                  </a:ext>
                </a:extLst>
              </p:cNvPr>
              <p:cNvSpPr>
                <a:spLocks noGrp="1"/>
              </p:cNvSpPr>
              <p:nvPr>
                <p:ph type="ctrTitle"/>
              </p:nvPr>
            </p:nvSpPr>
            <p:spPr/>
            <p:txBody>
              <a:bodyPr/>
              <a:lstStyle/>
              <a:p>
                <a:pPr/>
                <a14:m>
                  <m:oMathPara xmlns:m="http://schemas.openxmlformats.org/officeDocument/2006/math">
                    <m:oMathParaPr>
                      <m:jc m:val="centerGroup"/>
                    </m:oMathParaPr>
                    <m:oMath xmlns:m="http://schemas.openxmlformats.org/officeDocument/2006/math">
                      <m:r>
                        <m:rPr>
                          <m:sty m:val="p"/>
                        </m:rPr>
                        <a:rPr lang="en-US" altLang="zh-TW" sz="6000" b="0" i="0" smtClean="0">
                          <a:latin typeface="Cambria Math" panose="02040503050406030204" pitchFamily="18" charset="0"/>
                        </a:rPr>
                        <m:t>Data</m:t>
                      </m:r>
                      <m:r>
                        <a:rPr lang="en-US" altLang="zh-TW" sz="6000" b="0" i="0" smtClean="0">
                          <a:latin typeface="Cambria Math" panose="02040503050406030204" pitchFamily="18" charset="0"/>
                        </a:rPr>
                        <m:t> </m:t>
                      </m:r>
                      <m:r>
                        <m:rPr>
                          <m:sty m:val="p"/>
                        </m:rPr>
                        <a:rPr lang="en-US" altLang="zh-TW" sz="6000" b="0" i="0" smtClean="0">
                          <a:latin typeface="Cambria Math" panose="02040503050406030204" pitchFamily="18" charset="0"/>
                        </a:rPr>
                        <m:t>Generation</m:t>
                      </m:r>
                    </m:oMath>
                  </m:oMathPara>
                </a14:m>
                <a:endParaRPr lang="zh-TW" altLang="en-US" dirty="0"/>
              </a:p>
            </p:txBody>
          </p:sp>
        </mc:Choice>
        <mc:Fallback xmlns="">
          <p:sp>
            <p:nvSpPr>
              <p:cNvPr id="2" name="標題 1">
                <a:extLst>
                  <a:ext uri="{FF2B5EF4-FFF2-40B4-BE49-F238E27FC236}">
                    <a16:creationId xmlns:a16="http://schemas.microsoft.com/office/drawing/2014/main" id="{421F3457-C4A2-D93E-0180-C7BF26BCBFEE}"/>
                  </a:ext>
                </a:extLst>
              </p:cNvPr>
              <p:cNvSpPr>
                <a:spLocks noGrp="1" noRot="1" noChangeAspect="1" noMove="1" noResize="1" noEditPoints="1" noAdjustHandles="1" noChangeArrowheads="1" noChangeShapeType="1" noTextEdit="1"/>
              </p:cNvSpPr>
              <p:nvPr>
                <p:ph type="ctrTitle"/>
              </p:nvPr>
            </p:nvSpPr>
            <p:spPr>
              <a:blipFill>
                <a:blip r:embed="rId2"/>
                <a:stretch>
                  <a:fillRect/>
                </a:stretch>
              </a:blipFill>
            </p:spPr>
            <p:txBody>
              <a:bodyPr/>
              <a:lstStyle/>
              <a:p>
                <a:r>
                  <a:rPr lang="zh-TW" altLang="en-US">
                    <a:noFill/>
                  </a:rPr>
                  <a:t> </a:t>
                </a:r>
              </a:p>
            </p:txBody>
          </p:sp>
        </mc:Fallback>
      </mc:AlternateContent>
      <p:sp>
        <p:nvSpPr>
          <p:cNvPr id="3" name="副標題 2">
            <a:extLst>
              <a:ext uri="{FF2B5EF4-FFF2-40B4-BE49-F238E27FC236}">
                <a16:creationId xmlns:a16="http://schemas.microsoft.com/office/drawing/2014/main" id="{48A544E5-53D8-F3B5-832A-C5416B07A281}"/>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848133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17772873-4890-BFD0-D1E8-DC765BEFCDC4}"/>
                  </a:ext>
                </a:extLst>
              </p:cNvPr>
              <p:cNvSpPr txBox="1"/>
              <p:nvPr/>
            </p:nvSpPr>
            <p:spPr>
              <a:xfrm>
                <a:off x="463165" y="345380"/>
                <a:ext cx="3789499" cy="61555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4000" b="0" i="0" smtClean="0">
                          <a:latin typeface="Cambria Math" panose="02040503050406030204" pitchFamily="18" charset="0"/>
                        </a:rPr>
                        <m:t>Data</m:t>
                      </m:r>
                      <m:r>
                        <a:rPr lang="en-US" altLang="zh-TW" sz="4000" b="0" i="0" smtClean="0">
                          <a:latin typeface="Cambria Math" panose="02040503050406030204" pitchFamily="18" charset="0"/>
                        </a:rPr>
                        <m:t> </m:t>
                      </m:r>
                      <m:r>
                        <m:rPr>
                          <m:sty m:val="p"/>
                        </m:rPr>
                        <a:rPr lang="en-US" altLang="zh-TW" sz="4000" b="0" i="0" smtClean="0">
                          <a:latin typeface="Cambria Math" panose="02040503050406030204" pitchFamily="18" charset="0"/>
                        </a:rPr>
                        <m:t>Generation</m:t>
                      </m:r>
                    </m:oMath>
                  </m:oMathPara>
                </a14:m>
                <a:endParaRPr lang="zh-TW" altLang="en-US" sz="4000" dirty="0"/>
              </a:p>
            </p:txBody>
          </p:sp>
        </mc:Choice>
        <mc:Fallback xmlns="">
          <p:sp>
            <p:nvSpPr>
              <p:cNvPr id="2" name="文字方塊 1">
                <a:extLst>
                  <a:ext uri="{FF2B5EF4-FFF2-40B4-BE49-F238E27FC236}">
                    <a16:creationId xmlns:a16="http://schemas.microsoft.com/office/drawing/2014/main" id="{17772873-4890-BFD0-D1E8-DC765BEFCDC4}"/>
                  </a:ext>
                </a:extLst>
              </p:cNvPr>
              <p:cNvSpPr txBox="1">
                <a:spLocks noRot="1" noChangeAspect="1" noMove="1" noResize="1" noEditPoints="1" noAdjustHandles="1" noChangeArrowheads="1" noChangeShapeType="1" noTextEdit="1"/>
              </p:cNvSpPr>
              <p:nvPr/>
            </p:nvSpPr>
            <p:spPr>
              <a:xfrm>
                <a:off x="463165" y="345380"/>
                <a:ext cx="3789499" cy="615553"/>
              </a:xfrm>
              <a:prstGeom prst="rect">
                <a:avLst/>
              </a:prstGeom>
              <a:blipFill>
                <a:blip r:embed="rId2"/>
                <a:stretch>
                  <a:fillRect/>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4B7BAB2D-C244-7D68-06C3-69B86915A808}"/>
              </a:ext>
            </a:extLst>
          </p:cNvPr>
          <p:cNvSpPr txBox="1"/>
          <p:nvPr/>
        </p:nvSpPr>
        <p:spPr>
          <a:xfrm>
            <a:off x="518583" y="2683985"/>
            <a:ext cx="5699096" cy="3139321"/>
          </a:xfrm>
          <a:prstGeom prst="rect">
            <a:avLst/>
          </a:prstGeom>
          <a:solidFill>
            <a:schemeClr val="accent1">
              <a:lumMod val="20000"/>
              <a:lumOff val="80000"/>
            </a:schemeClr>
          </a:solidFill>
        </p:spPr>
        <p:txBody>
          <a:bodyPr wrap="square">
            <a:spAutoFit/>
          </a:bodyPr>
          <a:lstStyle/>
          <a:p>
            <a:r>
              <a:rPr lang="en-US" altLang="zh-TW" dirty="0"/>
              <a:t>import </a:t>
            </a:r>
            <a:r>
              <a:rPr lang="en-US" altLang="zh-TW" dirty="0" err="1"/>
              <a:t>numpy</a:t>
            </a:r>
            <a:r>
              <a:rPr lang="en-US" altLang="zh-TW" dirty="0"/>
              <a:t> as np</a:t>
            </a:r>
          </a:p>
          <a:p>
            <a:r>
              <a:rPr lang="en-US" altLang="zh-TW" dirty="0"/>
              <a:t>import </a:t>
            </a:r>
            <a:r>
              <a:rPr lang="en-US" altLang="zh-TW" dirty="0" err="1"/>
              <a:t>matplotlib.pyplot</a:t>
            </a:r>
            <a:r>
              <a:rPr lang="en-US" altLang="zh-TW" dirty="0"/>
              <a:t> as </a:t>
            </a:r>
            <a:r>
              <a:rPr lang="en-US" altLang="zh-TW" dirty="0" err="1"/>
              <a:t>plt</a:t>
            </a:r>
            <a:endParaRPr lang="en-US" altLang="zh-TW" dirty="0"/>
          </a:p>
          <a:p>
            <a:endParaRPr lang="en-US" altLang="zh-TW" dirty="0"/>
          </a:p>
          <a:p>
            <a:r>
              <a:rPr lang="en-US" altLang="zh-TW" dirty="0"/>
              <a:t># Data Generation</a:t>
            </a:r>
          </a:p>
          <a:p>
            <a:r>
              <a:rPr lang="en-US" altLang="zh-TW" dirty="0" err="1"/>
              <a:t>np.random.seed</a:t>
            </a:r>
            <a:r>
              <a:rPr lang="en-US" altLang="zh-TW" dirty="0"/>
              <a:t>(1411)</a:t>
            </a:r>
          </a:p>
          <a:p>
            <a:r>
              <a:rPr lang="en-US" altLang="zh-TW" dirty="0"/>
              <a:t>x = </a:t>
            </a:r>
            <a:r>
              <a:rPr lang="en-US" altLang="zh-TW" dirty="0" err="1"/>
              <a:t>np.random.rand</a:t>
            </a:r>
            <a:r>
              <a:rPr lang="en-US" altLang="zh-TW" dirty="0"/>
              <a:t>(100, 1)</a:t>
            </a:r>
          </a:p>
          <a:p>
            <a:r>
              <a:rPr lang="en-US" altLang="zh-TW" dirty="0"/>
              <a:t>y = 2 + 3 * x + .1 * </a:t>
            </a:r>
            <a:r>
              <a:rPr lang="en-US" altLang="zh-TW" dirty="0" err="1"/>
              <a:t>np.random.randn</a:t>
            </a:r>
            <a:r>
              <a:rPr lang="en-US" altLang="zh-TW" dirty="0"/>
              <a:t>(100, 1)</a:t>
            </a:r>
          </a:p>
          <a:p>
            <a:endParaRPr lang="en-US" altLang="zh-TW" dirty="0"/>
          </a:p>
          <a:p>
            <a:r>
              <a:rPr lang="en-US" altLang="zh-TW" dirty="0"/>
              <a:t># plot the data</a:t>
            </a:r>
          </a:p>
          <a:p>
            <a:r>
              <a:rPr lang="en-US" altLang="zh-TW" dirty="0" err="1"/>
              <a:t>plt.plot</a:t>
            </a:r>
            <a:r>
              <a:rPr lang="en-US" altLang="zh-TW" dirty="0"/>
              <a:t>(x, y, '.')</a:t>
            </a:r>
          </a:p>
          <a:p>
            <a:r>
              <a:rPr lang="en-US" altLang="zh-TW" dirty="0" err="1"/>
              <a:t>plt.show</a:t>
            </a:r>
            <a:r>
              <a:rPr lang="en-US" altLang="zh-TW" dirty="0"/>
              <a:t>()</a:t>
            </a:r>
            <a:endParaRPr lang="zh-TW" altLang="en-US" dirty="0"/>
          </a:p>
        </p:txBody>
      </p:sp>
      <p:pic>
        <p:nvPicPr>
          <p:cNvPr id="27" name="圖片 26">
            <a:extLst>
              <a:ext uri="{FF2B5EF4-FFF2-40B4-BE49-F238E27FC236}">
                <a16:creationId xmlns:a16="http://schemas.microsoft.com/office/drawing/2014/main" id="{A213A295-EC2B-9F44-55DF-6F5BB3A419A3}"/>
              </a:ext>
            </a:extLst>
          </p:cNvPr>
          <p:cNvPicPr>
            <a:picLocks noChangeAspect="1"/>
          </p:cNvPicPr>
          <p:nvPr/>
        </p:nvPicPr>
        <p:blipFill>
          <a:blip r:embed="rId3"/>
          <a:stretch>
            <a:fillRect/>
          </a:stretch>
        </p:blipFill>
        <p:spPr>
          <a:xfrm>
            <a:off x="6661260" y="1828801"/>
            <a:ext cx="4866353" cy="4153834"/>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C09578AE-539A-9AF9-E8EE-69B2C2507DBF}"/>
                  </a:ext>
                </a:extLst>
              </p:cNvPr>
              <p:cNvSpPr txBox="1"/>
              <p:nvPr/>
            </p:nvSpPr>
            <p:spPr>
              <a:xfrm>
                <a:off x="1522750" y="1548026"/>
                <a:ext cx="2729914"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𝑦</m:t>
                      </m:r>
                      <m:r>
                        <a:rPr lang="pt-BR" altLang="zh-TW" sz="3200" i="1" smtClean="0">
                          <a:solidFill>
                            <a:schemeClr val="accent5">
                              <a:lumMod val="50000"/>
                            </a:schemeClr>
                          </a:solidFill>
                          <a:latin typeface="Cambria Math" panose="02040503050406030204" pitchFamily="18" charset="0"/>
                        </a:rPr>
                        <m:t>=</m:t>
                      </m:r>
                      <m:r>
                        <a:rPr lang="en-US" altLang="zh-TW" sz="3200" b="0" i="1" smtClean="0">
                          <a:solidFill>
                            <a:schemeClr val="accent5">
                              <a:lumMod val="50000"/>
                            </a:schemeClr>
                          </a:solidFill>
                          <a:latin typeface="Cambria Math" panose="02040503050406030204" pitchFamily="18" charset="0"/>
                        </a:rPr>
                        <m:t>2+3</m:t>
                      </m:r>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m:t>
                      </m:r>
                      <m:r>
                        <a:rPr lang="zh-TW" altLang="en-US" sz="3200" b="0" i="1" smtClean="0">
                          <a:solidFill>
                            <a:schemeClr val="accent5">
                              <a:lumMod val="50000"/>
                            </a:schemeClr>
                          </a:solidFill>
                          <a:latin typeface="Cambria Math" panose="02040503050406030204" pitchFamily="18" charset="0"/>
                        </a:rPr>
                        <m:t>𝜖</m:t>
                      </m:r>
                    </m:oMath>
                  </m:oMathPara>
                </a14:m>
                <a:endParaRPr lang="zh-TW" altLang="en-US" sz="3200" dirty="0">
                  <a:solidFill>
                    <a:schemeClr val="accent5">
                      <a:lumMod val="50000"/>
                    </a:schemeClr>
                  </a:solidFill>
                </a:endParaRPr>
              </a:p>
            </p:txBody>
          </p:sp>
        </mc:Choice>
        <mc:Fallback xmlns="">
          <p:sp>
            <p:nvSpPr>
              <p:cNvPr id="28" name="文字方塊 27">
                <a:extLst>
                  <a:ext uri="{FF2B5EF4-FFF2-40B4-BE49-F238E27FC236}">
                    <a16:creationId xmlns:a16="http://schemas.microsoft.com/office/drawing/2014/main" id="{C09578AE-539A-9AF9-E8EE-69B2C2507DBF}"/>
                  </a:ext>
                </a:extLst>
              </p:cNvPr>
              <p:cNvSpPr txBox="1">
                <a:spLocks noRot="1" noChangeAspect="1" noMove="1" noResize="1" noEditPoints="1" noAdjustHandles="1" noChangeArrowheads="1" noChangeShapeType="1" noTextEdit="1"/>
              </p:cNvSpPr>
              <p:nvPr/>
            </p:nvSpPr>
            <p:spPr>
              <a:xfrm>
                <a:off x="1522750" y="1548026"/>
                <a:ext cx="2729914" cy="492443"/>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84886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17772873-4890-BFD0-D1E8-DC765BEFCDC4}"/>
                  </a:ext>
                </a:extLst>
              </p:cNvPr>
              <p:cNvSpPr txBox="1"/>
              <p:nvPr/>
            </p:nvSpPr>
            <p:spPr>
              <a:xfrm>
                <a:off x="463165" y="345380"/>
                <a:ext cx="3789499" cy="61555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4000" b="0" i="0" smtClean="0">
                          <a:latin typeface="Cambria Math" panose="02040503050406030204" pitchFamily="18" charset="0"/>
                        </a:rPr>
                        <m:t>Data</m:t>
                      </m:r>
                      <m:r>
                        <a:rPr lang="en-US" altLang="zh-TW" sz="4000" b="0" i="0" smtClean="0">
                          <a:latin typeface="Cambria Math" panose="02040503050406030204" pitchFamily="18" charset="0"/>
                        </a:rPr>
                        <m:t> </m:t>
                      </m:r>
                      <m:r>
                        <m:rPr>
                          <m:sty m:val="p"/>
                        </m:rPr>
                        <a:rPr lang="en-US" altLang="zh-TW" sz="4000" b="0" i="0" smtClean="0">
                          <a:latin typeface="Cambria Math" panose="02040503050406030204" pitchFamily="18" charset="0"/>
                        </a:rPr>
                        <m:t>Generation</m:t>
                      </m:r>
                    </m:oMath>
                  </m:oMathPara>
                </a14:m>
                <a:endParaRPr lang="zh-TW" altLang="en-US" sz="4000" dirty="0"/>
              </a:p>
            </p:txBody>
          </p:sp>
        </mc:Choice>
        <mc:Fallback xmlns="">
          <p:sp>
            <p:nvSpPr>
              <p:cNvPr id="2" name="文字方塊 1">
                <a:extLst>
                  <a:ext uri="{FF2B5EF4-FFF2-40B4-BE49-F238E27FC236}">
                    <a16:creationId xmlns:a16="http://schemas.microsoft.com/office/drawing/2014/main" id="{17772873-4890-BFD0-D1E8-DC765BEFCDC4}"/>
                  </a:ext>
                </a:extLst>
              </p:cNvPr>
              <p:cNvSpPr txBox="1">
                <a:spLocks noRot="1" noChangeAspect="1" noMove="1" noResize="1" noEditPoints="1" noAdjustHandles="1" noChangeArrowheads="1" noChangeShapeType="1" noTextEdit="1"/>
              </p:cNvSpPr>
              <p:nvPr/>
            </p:nvSpPr>
            <p:spPr>
              <a:xfrm>
                <a:off x="463165" y="345380"/>
                <a:ext cx="3789499" cy="615553"/>
              </a:xfrm>
              <a:prstGeom prst="rect">
                <a:avLst/>
              </a:prstGeom>
              <a:blipFill>
                <a:blip r:embed="rId2"/>
                <a:stretch>
                  <a:fillRect/>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6592148-32F6-9B58-FC2E-A2C07496F934}"/>
              </a:ext>
            </a:extLst>
          </p:cNvPr>
          <p:cNvSpPr txBox="1"/>
          <p:nvPr/>
        </p:nvSpPr>
        <p:spPr>
          <a:xfrm>
            <a:off x="463165" y="2627562"/>
            <a:ext cx="5492362" cy="3416320"/>
          </a:xfrm>
          <a:prstGeom prst="rect">
            <a:avLst/>
          </a:prstGeom>
          <a:solidFill>
            <a:schemeClr val="accent1">
              <a:lumMod val="20000"/>
              <a:lumOff val="80000"/>
            </a:schemeClr>
          </a:solidFill>
        </p:spPr>
        <p:txBody>
          <a:bodyPr wrap="square">
            <a:spAutoFit/>
          </a:bodyPr>
          <a:lstStyle/>
          <a:p>
            <a:r>
              <a:rPr lang="en-US" altLang="zh-TW" dirty="0"/>
              <a:t>import torch</a:t>
            </a:r>
          </a:p>
          <a:p>
            <a:r>
              <a:rPr lang="en-US" altLang="zh-TW" dirty="0"/>
              <a:t>import </a:t>
            </a:r>
            <a:r>
              <a:rPr lang="en-US" altLang="zh-TW" dirty="0" err="1"/>
              <a:t>matplotlib.pyplot</a:t>
            </a:r>
            <a:r>
              <a:rPr lang="en-US" altLang="zh-TW" dirty="0"/>
              <a:t> as </a:t>
            </a:r>
            <a:r>
              <a:rPr lang="en-US" altLang="zh-TW" dirty="0" err="1"/>
              <a:t>plt</a:t>
            </a:r>
            <a:endParaRPr lang="en-US" altLang="zh-TW" dirty="0"/>
          </a:p>
          <a:p>
            <a:endParaRPr lang="en-US" altLang="zh-TW" dirty="0"/>
          </a:p>
          <a:p>
            <a:r>
              <a:rPr lang="en-US" altLang="zh-TW" dirty="0"/>
              <a:t># Data Generation</a:t>
            </a:r>
          </a:p>
          <a:p>
            <a:r>
              <a:rPr lang="en-US" altLang="zh-TW" dirty="0" err="1"/>
              <a:t>torch.manual_seed</a:t>
            </a:r>
            <a:r>
              <a:rPr lang="en-US" altLang="zh-TW" dirty="0"/>
              <a:t>(1411)</a:t>
            </a:r>
          </a:p>
          <a:p>
            <a:r>
              <a:rPr lang="en-US" altLang="zh-TW" dirty="0"/>
              <a:t>x = </a:t>
            </a:r>
            <a:r>
              <a:rPr lang="en-US" altLang="zh-TW" dirty="0" err="1"/>
              <a:t>torch.rand</a:t>
            </a:r>
            <a:r>
              <a:rPr lang="en-US" altLang="zh-TW" dirty="0"/>
              <a:t>(100,1)</a:t>
            </a:r>
          </a:p>
          <a:p>
            <a:r>
              <a:rPr lang="en-US" altLang="zh-TW" dirty="0"/>
              <a:t>y = 2 + 3 * x + .1 * </a:t>
            </a:r>
            <a:r>
              <a:rPr lang="en-US" altLang="zh-TW" dirty="0" err="1"/>
              <a:t>torch.randn</a:t>
            </a:r>
            <a:r>
              <a:rPr lang="en-US" altLang="zh-TW" dirty="0"/>
              <a:t>(100, 1)</a:t>
            </a:r>
          </a:p>
          <a:p>
            <a:endParaRPr lang="en-US" altLang="zh-TW" dirty="0"/>
          </a:p>
          <a:p>
            <a:r>
              <a:rPr lang="en-US" altLang="zh-TW" dirty="0"/>
              <a:t># plot the data</a:t>
            </a:r>
          </a:p>
          <a:p>
            <a:r>
              <a:rPr lang="en-US" altLang="zh-TW" dirty="0" err="1"/>
              <a:t>plt.title</a:t>
            </a:r>
            <a:r>
              <a:rPr lang="en-US" altLang="zh-TW" dirty="0"/>
              <a:t>('y=2+3x+epsilon')</a:t>
            </a:r>
          </a:p>
          <a:p>
            <a:r>
              <a:rPr lang="en-US" altLang="zh-TW" dirty="0" err="1"/>
              <a:t>plt.plot</a:t>
            </a:r>
            <a:r>
              <a:rPr lang="en-US" altLang="zh-TW" dirty="0"/>
              <a:t>(</a:t>
            </a:r>
            <a:r>
              <a:rPr lang="en-US" altLang="zh-TW" dirty="0" err="1"/>
              <a:t>x.numpy</a:t>
            </a:r>
            <a:r>
              <a:rPr lang="en-US" altLang="zh-TW" dirty="0"/>
              <a:t>(), </a:t>
            </a:r>
            <a:r>
              <a:rPr lang="en-US" altLang="zh-TW" dirty="0" err="1"/>
              <a:t>y.numpy</a:t>
            </a:r>
            <a:r>
              <a:rPr lang="en-US" altLang="zh-TW" dirty="0"/>
              <a:t>(), '.')</a:t>
            </a:r>
          </a:p>
          <a:p>
            <a:r>
              <a:rPr lang="en-US" altLang="zh-TW" dirty="0" err="1"/>
              <a:t>plt.show</a:t>
            </a:r>
            <a:r>
              <a:rPr lang="en-US" altLang="zh-TW" dirty="0"/>
              <a:t>()</a:t>
            </a:r>
          </a:p>
        </p:txBody>
      </p:sp>
      <p:pic>
        <p:nvPicPr>
          <p:cNvPr id="9" name="圖片 8">
            <a:extLst>
              <a:ext uri="{FF2B5EF4-FFF2-40B4-BE49-F238E27FC236}">
                <a16:creationId xmlns:a16="http://schemas.microsoft.com/office/drawing/2014/main" id="{86542447-CC25-0489-2D16-28ADA659673D}"/>
              </a:ext>
            </a:extLst>
          </p:cNvPr>
          <p:cNvPicPr>
            <a:picLocks noChangeAspect="1"/>
          </p:cNvPicPr>
          <p:nvPr/>
        </p:nvPicPr>
        <p:blipFill>
          <a:blip r:embed="rId3"/>
          <a:stretch>
            <a:fillRect/>
          </a:stretch>
        </p:blipFill>
        <p:spPr>
          <a:xfrm>
            <a:off x="6467261" y="1548026"/>
            <a:ext cx="5261574" cy="4491188"/>
          </a:xfrm>
          <a:prstGeom prst="rect">
            <a:avLst/>
          </a:prstGeom>
        </p:spPr>
      </p:pic>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56F841E6-C2D8-E382-2DC1-5D9407FC247E}"/>
                  </a:ext>
                </a:extLst>
              </p:cNvPr>
              <p:cNvSpPr txBox="1"/>
              <p:nvPr/>
            </p:nvSpPr>
            <p:spPr>
              <a:xfrm>
                <a:off x="1522750" y="1548026"/>
                <a:ext cx="2729914"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𝑦</m:t>
                      </m:r>
                      <m:r>
                        <a:rPr lang="pt-BR" altLang="zh-TW" sz="3200" i="1" smtClean="0">
                          <a:solidFill>
                            <a:schemeClr val="accent5">
                              <a:lumMod val="50000"/>
                            </a:schemeClr>
                          </a:solidFill>
                          <a:latin typeface="Cambria Math" panose="02040503050406030204" pitchFamily="18" charset="0"/>
                        </a:rPr>
                        <m:t>=</m:t>
                      </m:r>
                      <m:r>
                        <a:rPr lang="en-US" altLang="zh-TW" sz="3200" b="0" i="1" smtClean="0">
                          <a:solidFill>
                            <a:schemeClr val="accent5">
                              <a:lumMod val="50000"/>
                            </a:schemeClr>
                          </a:solidFill>
                          <a:latin typeface="Cambria Math" panose="02040503050406030204" pitchFamily="18" charset="0"/>
                        </a:rPr>
                        <m:t>2+3</m:t>
                      </m:r>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m:t>
                      </m:r>
                      <m:r>
                        <a:rPr lang="zh-TW" altLang="en-US" sz="3200" b="0" i="1" smtClean="0">
                          <a:solidFill>
                            <a:schemeClr val="accent5">
                              <a:lumMod val="50000"/>
                            </a:schemeClr>
                          </a:solidFill>
                          <a:latin typeface="Cambria Math" panose="02040503050406030204" pitchFamily="18" charset="0"/>
                        </a:rPr>
                        <m:t>𝜖</m:t>
                      </m:r>
                    </m:oMath>
                  </m:oMathPara>
                </a14:m>
                <a:endParaRPr lang="zh-TW" altLang="en-US" sz="3200" dirty="0">
                  <a:solidFill>
                    <a:schemeClr val="accent5">
                      <a:lumMod val="50000"/>
                    </a:schemeClr>
                  </a:solidFill>
                </a:endParaRPr>
              </a:p>
            </p:txBody>
          </p:sp>
        </mc:Choice>
        <mc:Fallback xmlns="">
          <p:sp>
            <p:nvSpPr>
              <p:cNvPr id="12" name="文字方塊 11">
                <a:extLst>
                  <a:ext uri="{FF2B5EF4-FFF2-40B4-BE49-F238E27FC236}">
                    <a16:creationId xmlns:a16="http://schemas.microsoft.com/office/drawing/2014/main" id="{56F841E6-C2D8-E382-2DC1-5D9407FC247E}"/>
                  </a:ext>
                </a:extLst>
              </p:cNvPr>
              <p:cNvSpPr txBox="1">
                <a:spLocks noRot="1" noChangeAspect="1" noMove="1" noResize="1" noEditPoints="1" noAdjustHandles="1" noChangeArrowheads="1" noChangeShapeType="1" noTextEdit="1"/>
              </p:cNvSpPr>
              <p:nvPr/>
            </p:nvSpPr>
            <p:spPr>
              <a:xfrm>
                <a:off x="1522750" y="1548026"/>
                <a:ext cx="2729914" cy="492443"/>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62708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17772873-4890-BFD0-D1E8-DC765BEFCDC4}"/>
                  </a:ext>
                </a:extLst>
              </p:cNvPr>
              <p:cNvSpPr txBox="1"/>
              <p:nvPr/>
            </p:nvSpPr>
            <p:spPr>
              <a:xfrm>
                <a:off x="463165" y="345380"/>
                <a:ext cx="3789499" cy="61555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4000" b="0" i="0" smtClean="0">
                          <a:latin typeface="Cambria Math" panose="02040503050406030204" pitchFamily="18" charset="0"/>
                        </a:rPr>
                        <m:t>Data</m:t>
                      </m:r>
                      <m:r>
                        <a:rPr lang="en-US" altLang="zh-TW" sz="4000" b="0" i="0" smtClean="0">
                          <a:latin typeface="Cambria Math" panose="02040503050406030204" pitchFamily="18" charset="0"/>
                        </a:rPr>
                        <m:t> </m:t>
                      </m:r>
                      <m:r>
                        <m:rPr>
                          <m:sty m:val="p"/>
                        </m:rPr>
                        <a:rPr lang="en-US" altLang="zh-TW" sz="4000" b="0" i="0" smtClean="0">
                          <a:latin typeface="Cambria Math" panose="02040503050406030204" pitchFamily="18" charset="0"/>
                        </a:rPr>
                        <m:t>Generation</m:t>
                      </m:r>
                    </m:oMath>
                  </m:oMathPara>
                </a14:m>
                <a:endParaRPr lang="zh-TW" altLang="en-US" sz="4000" dirty="0"/>
              </a:p>
            </p:txBody>
          </p:sp>
        </mc:Choice>
        <mc:Fallback xmlns="">
          <p:sp>
            <p:nvSpPr>
              <p:cNvPr id="2" name="文字方塊 1">
                <a:extLst>
                  <a:ext uri="{FF2B5EF4-FFF2-40B4-BE49-F238E27FC236}">
                    <a16:creationId xmlns:a16="http://schemas.microsoft.com/office/drawing/2014/main" id="{17772873-4890-BFD0-D1E8-DC765BEFCDC4}"/>
                  </a:ext>
                </a:extLst>
              </p:cNvPr>
              <p:cNvSpPr txBox="1">
                <a:spLocks noRot="1" noChangeAspect="1" noMove="1" noResize="1" noEditPoints="1" noAdjustHandles="1" noChangeArrowheads="1" noChangeShapeType="1" noTextEdit="1"/>
              </p:cNvSpPr>
              <p:nvPr/>
            </p:nvSpPr>
            <p:spPr>
              <a:xfrm>
                <a:off x="463165" y="345380"/>
                <a:ext cx="3789499" cy="615553"/>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CC9F02DF-F4DD-00AD-E422-7C4AE5B8185A}"/>
                  </a:ext>
                </a:extLst>
              </p:cNvPr>
              <p:cNvSpPr txBox="1"/>
              <p:nvPr/>
            </p:nvSpPr>
            <p:spPr>
              <a:xfrm>
                <a:off x="1522750" y="1548026"/>
                <a:ext cx="2729914"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𝑦</m:t>
                      </m:r>
                      <m:r>
                        <a:rPr lang="pt-BR" altLang="zh-TW" sz="3200" i="1" smtClean="0">
                          <a:solidFill>
                            <a:schemeClr val="accent5">
                              <a:lumMod val="50000"/>
                            </a:schemeClr>
                          </a:solidFill>
                          <a:latin typeface="Cambria Math" panose="02040503050406030204" pitchFamily="18" charset="0"/>
                        </a:rPr>
                        <m:t>=</m:t>
                      </m:r>
                      <m:r>
                        <a:rPr lang="en-US" altLang="zh-TW" sz="3200" b="0" i="1" smtClean="0">
                          <a:solidFill>
                            <a:schemeClr val="accent5">
                              <a:lumMod val="50000"/>
                            </a:schemeClr>
                          </a:solidFill>
                          <a:latin typeface="Cambria Math" panose="02040503050406030204" pitchFamily="18" charset="0"/>
                        </a:rPr>
                        <m:t>2+3</m:t>
                      </m:r>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m:t>
                      </m:r>
                      <m:r>
                        <a:rPr lang="zh-TW" altLang="en-US" sz="3200" b="0" i="1" smtClean="0">
                          <a:solidFill>
                            <a:schemeClr val="accent5">
                              <a:lumMod val="50000"/>
                            </a:schemeClr>
                          </a:solidFill>
                          <a:latin typeface="Cambria Math" panose="02040503050406030204" pitchFamily="18" charset="0"/>
                        </a:rPr>
                        <m:t>𝜖</m:t>
                      </m:r>
                    </m:oMath>
                  </m:oMathPara>
                </a14:m>
                <a:endParaRPr lang="zh-TW" altLang="en-US" sz="3200" dirty="0">
                  <a:solidFill>
                    <a:schemeClr val="accent5">
                      <a:lumMod val="50000"/>
                    </a:schemeClr>
                  </a:solidFill>
                </a:endParaRPr>
              </a:p>
            </p:txBody>
          </p:sp>
        </mc:Choice>
        <mc:Fallback xmlns="">
          <p:sp>
            <p:nvSpPr>
              <p:cNvPr id="20" name="文字方塊 19">
                <a:extLst>
                  <a:ext uri="{FF2B5EF4-FFF2-40B4-BE49-F238E27FC236}">
                    <a16:creationId xmlns:a16="http://schemas.microsoft.com/office/drawing/2014/main" id="{CC9F02DF-F4DD-00AD-E422-7C4AE5B8185A}"/>
                  </a:ext>
                </a:extLst>
              </p:cNvPr>
              <p:cNvSpPr txBox="1">
                <a:spLocks noRot="1" noChangeAspect="1" noMove="1" noResize="1" noEditPoints="1" noAdjustHandles="1" noChangeArrowheads="1" noChangeShapeType="1" noTextEdit="1"/>
              </p:cNvSpPr>
              <p:nvPr/>
            </p:nvSpPr>
            <p:spPr>
              <a:xfrm>
                <a:off x="1522750" y="1548026"/>
                <a:ext cx="2729914" cy="492443"/>
              </a:xfrm>
              <a:prstGeom prst="rect">
                <a:avLst/>
              </a:prstGeom>
              <a:blipFill>
                <a:blip r:embed="rId3"/>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43F2556B-BEE7-BFE7-F2B0-4FF46932496C}"/>
              </a:ext>
            </a:extLst>
          </p:cNvPr>
          <p:cNvSpPr txBox="1"/>
          <p:nvPr/>
        </p:nvSpPr>
        <p:spPr>
          <a:xfrm>
            <a:off x="590774" y="2549115"/>
            <a:ext cx="4593865" cy="3139321"/>
          </a:xfrm>
          <a:prstGeom prst="rect">
            <a:avLst/>
          </a:prstGeom>
          <a:solidFill>
            <a:schemeClr val="accent1">
              <a:lumMod val="20000"/>
              <a:lumOff val="80000"/>
            </a:schemeClr>
          </a:solidFill>
        </p:spPr>
        <p:txBody>
          <a:bodyPr wrap="square">
            <a:spAutoFit/>
          </a:bodyPr>
          <a:lstStyle/>
          <a:p>
            <a:r>
              <a:rPr lang="en-US" altLang="zh-TW" dirty="0"/>
              <a:t>import torch</a:t>
            </a:r>
          </a:p>
          <a:p>
            <a:r>
              <a:rPr lang="en-US" altLang="zh-TW" dirty="0"/>
              <a:t>import </a:t>
            </a:r>
            <a:r>
              <a:rPr lang="en-US" altLang="zh-TW" dirty="0" err="1"/>
              <a:t>matplotlib.pyplot</a:t>
            </a:r>
            <a:r>
              <a:rPr lang="en-US" altLang="zh-TW" dirty="0"/>
              <a:t> as </a:t>
            </a:r>
            <a:r>
              <a:rPr lang="en-US" altLang="zh-TW" dirty="0" err="1"/>
              <a:t>plt</a:t>
            </a:r>
            <a:endParaRPr lang="en-US" altLang="zh-TW" dirty="0"/>
          </a:p>
          <a:p>
            <a:endParaRPr lang="en-US" altLang="zh-TW" dirty="0"/>
          </a:p>
          <a:p>
            <a:r>
              <a:rPr lang="en-US" altLang="zh-TW" dirty="0"/>
              <a:t># Data Generation</a:t>
            </a:r>
          </a:p>
          <a:p>
            <a:r>
              <a:rPr lang="en-US" altLang="zh-TW" dirty="0" err="1"/>
              <a:t>torch.manual_seed</a:t>
            </a:r>
            <a:r>
              <a:rPr lang="en-US" altLang="zh-TW" dirty="0"/>
              <a:t>(1411)</a:t>
            </a:r>
          </a:p>
          <a:p>
            <a:r>
              <a:rPr lang="en-US" altLang="zh-TW" dirty="0"/>
              <a:t>x = </a:t>
            </a:r>
            <a:r>
              <a:rPr lang="en-US" altLang="zh-TW" dirty="0" err="1"/>
              <a:t>torch.rand</a:t>
            </a:r>
            <a:r>
              <a:rPr lang="en-US" altLang="zh-TW" dirty="0"/>
              <a:t>(100,1)</a:t>
            </a:r>
          </a:p>
          <a:p>
            <a:r>
              <a:rPr lang="en-US" altLang="zh-TW" dirty="0"/>
              <a:t>y = 2 + 3 * x + .1 * </a:t>
            </a:r>
            <a:r>
              <a:rPr lang="en-US" altLang="zh-TW" dirty="0" err="1"/>
              <a:t>torch.randn</a:t>
            </a:r>
            <a:r>
              <a:rPr lang="en-US" altLang="zh-TW" dirty="0"/>
              <a:t>(100, 1)</a:t>
            </a:r>
          </a:p>
          <a:p>
            <a:endParaRPr lang="en-US" altLang="zh-TW" dirty="0"/>
          </a:p>
          <a:p>
            <a:r>
              <a:rPr lang="en-US" altLang="zh-TW" dirty="0" err="1"/>
              <a:t>torch.set_printoptions</a:t>
            </a:r>
            <a:r>
              <a:rPr lang="en-US" altLang="zh-TW" dirty="0"/>
              <a:t>(precision=2)</a:t>
            </a:r>
          </a:p>
          <a:p>
            <a:r>
              <a:rPr lang="en-US" altLang="zh-TW" dirty="0"/>
              <a:t>z = torch.cat([</a:t>
            </a:r>
            <a:r>
              <a:rPr lang="en-US" altLang="zh-TW" dirty="0" err="1"/>
              <a:t>x,y</a:t>
            </a:r>
            <a:r>
              <a:rPr lang="en-US" altLang="zh-TW" dirty="0"/>
              <a:t>], dim=1)</a:t>
            </a:r>
          </a:p>
          <a:p>
            <a:r>
              <a:rPr lang="en-US" altLang="zh-TW" dirty="0"/>
              <a:t>print(z)</a:t>
            </a:r>
            <a:endParaRPr lang="zh-TW" altLang="en-US" dirty="0"/>
          </a:p>
        </p:txBody>
      </p:sp>
      <p:sp>
        <p:nvSpPr>
          <p:cNvPr id="10" name="文字方塊 9">
            <a:extLst>
              <a:ext uri="{FF2B5EF4-FFF2-40B4-BE49-F238E27FC236}">
                <a16:creationId xmlns:a16="http://schemas.microsoft.com/office/drawing/2014/main" id="{79CD4C76-FAB5-63DB-7F9F-E8204FE48CA6}"/>
              </a:ext>
            </a:extLst>
          </p:cNvPr>
          <p:cNvSpPr txBox="1"/>
          <p:nvPr/>
        </p:nvSpPr>
        <p:spPr>
          <a:xfrm>
            <a:off x="6915645" y="612844"/>
            <a:ext cx="4813190" cy="5632311"/>
          </a:xfrm>
          <a:prstGeom prst="rect">
            <a:avLst/>
          </a:prstGeom>
          <a:noFill/>
          <a:ln>
            <a:solidFill>
              <a:schemeClr val="tx1"/>
            </a:solidFill>
          </a:ln>
        </p:spPr>
        <p:txBody>
          <a:bodyPr wrap="square">
            <a:spAutoFit/>
          </a:bodyPr>
          <a:lstStyle/>
          <a:p>
            <a:r>
              <a:rPr lang="en-US" altLang="zh-TW" dirty="0"/>
              <a:t>tensor([[4.76e-01, 3.53e+00],</a:t>
            </a:r>
          </a:p>
          <a:p>
            <a:r>
              <a:rPr lang="en-US" altLang="zh-TW" dirty="0"/>
              <a:t>        [1.02e-01, 2.33e+00],</a:t>
            </a:r>
          </a:p>
          <a:p>
            <a:r>
              <a:rPr lang="en-US" altLang="zh-TW" dirty="0"/>
              <a:t>        [7.49e-01, 4.17e+00],</a:t>
            </a:r>
          </a:p>
          <a:p>
            <a:r>
              <a:rPr lang="en-US" altLang="zh-TW" dirty="0"/>
              <a:t>        [6.43e-01, 4.08e+00],</a:t>
            </a:r>
          </a:p>
          <a:p>
            <a:r>
              <a:rPr lang="en-US" altLang="zh-TW" dirty="0"/>
              <a:t>        [1.30e-02, 1.87e+00],</a:t>
            </a:r>
          </a:p>
          <a:p>
            <a:r>
              <a:rPr lang="en-US" altLang="zh-TW" dirty="0"/>
              <a:t>        [8.82e-01, 4.59e+00],</a:t>
            </a:r>
          </a:p>
          <a:p>
            <a:r>
              <a:rPr lang="en-US" altLang="zh-TW" dirty="0"/>
              <a:t>        [8.57e-01, 4.49e+00],</a:t>
            </a:r>
          </a:p>
          <a:p>
            <a:r>
              <a:rPr lang="en-US" altLang="zh-TW" dirty="0"/>
              <a:t>        [4.11e-01, 3.22e+00],</a:t>
            </a:r>
          </a:p>
          <a:p>
            <a:r>
              <a:rPr lang="en-US" altLang="zh-TW" dirty="0"/>
              <a:t>        [4.50e-01, 3.19e+00],</a:t>
            </a:r>
          </a:p>
          <a:p>
            <a:r>
              <a:rPr lang="en-US" altLang="zh-TW" dirty="0"/>
              <a:t>        [4.41e-01, 3.30e+00],</a:t>
            </a:r>
          </a:p>
          <a:p>
            <a:r>
              <a:rPr lang="en-US" altLang="zh-TW" dirty="0"/>
              <a:t>        [4.56e-01, 3.30e+00],</a:t>
            </a:r>
          </a:p>
          <a:p>
            <a:r>
              <a:rPr lang="en-US" altLang="zh-TW" dirty="0"/>
              <a:t>        [1.11e-01, 2.39e+00],</a:t>
            </a:r>
          </a:p>
          <a:p>
            <a:r>
              <a:rPr lang="en-US" altLang="zh-TW" dirty="0"/>
              <a:t>        [9.31e-01, 4.93e+00],</a:t>
            </a:r>
          </a:p>
          <a:p>
            <a:r>
              <a:rPr lang="en-US" altLang="zh-TW" dirty="0"/>
              <a:t>        [3.07e-01, 2.81e+00],</a:t>
            </a:r>
          </a:p>
          <a:p>
            <a:r>
              <a:rPr lang="en-US" altLang="zh-TW" dirty="0"/>
              <a:t>        [6.94e-01, 4.07e+00],</a:t>
            </a:r>
          </a:p>
          <a:p>
            <a:r>
              <a:rPr lang="en-US" altLang="zh-TW" dirty="0"/>
              <a:t>        [2.96e-01, 2.98e+00],</a:t>
            </a:r>
          </a:p>
          <a:p>
            <a:r>
              <a:rPr lang="en-US" altLang="zh-TW" dirty="0"/>
              <a:t>        [2.55e-02, 2.18e+00],</a:t>
            </a:r>
          </a:p>
          <a:p>
            <a:r>
              <a:rPr lang="en-US" altLang="zh-TW" dirty="0"/>
              <a:t>        [6.33e-01, 3.89e+00],</a:t>
            </a:r>
          </a:p>
          <a:p>
            <a:r>
              <a:rPr lang="en-US" altLang="zh-TW" dirty="0"/>
              <a:t>        [6.66e-01, 4.13e+00],</a:t>
            </a:r>
          </a:p>
          <a:p>
            <a:r>
              <a:rPr lang="en-US" altLang="zh-TW" dirty="0"/>
              <a:t>         …</a:t>
            </a:r>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60E1EDEB-631C-0D62-36CA-AFFE6B893B0F}"/>
                  </a:ext>
                </a:extLst>
              </p:cNvPr>
              <p:cNvSpPr txBox="1"/>
              <p:nvPr/>
            </p:nvSpPr>
            <p:spPr>
              <a:xfrm>
                <a:off x="7601448" y="99158"/>
                <a:ext cx="1593184" cy="49244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 </m:t>
                      </m:r>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        </m:t>
                      </m:r>
                      <m:r>
                        <a:rPr lang="en-US" altLang="zh-TW" sz="3200" b="0" i="1" smtClean="0">
                          <a:solidFill>
                            <a:schemeClr val="accent5">
                              <a:lumMod val="50000"/>
                            </a:schemeClr>
                          </a:solidFill>
                          <a:latin typeface="Cambria Math" panose="02040503050406030204" pitchFamily="18" charset="0"/>
                        </a:rPr>
                        <m:t>𝑦</m:t>
                      </m:r>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60E1EDEB-631C-0D62-36CA-AFFE6B893B0F}"/>
                  </a:ext>
                </a:extLst>
              </p:cNvPr>
              <p:cNvSpPr txBox="1">
                <a:spLocks noRot="1" noChangeAspect="1" noMove="1" noResize="1" noEditPoints="1" noAdjustHandles="1" noChangeArrowheads="1" noChangeShapeType="1" noTextEdit="1"/>
              </p:cNvSpPr>
              <p:nvPr/>
            </p:nvSpPr>
            <p:spPr>
              <a:xfrm>
                <a:off x="7601448" y="99158"/>
                <a:ext cx="1593184" cy="492443"/>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92294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17772873-4890-BFD0-D1E8-DC765BEFCDC4}"/>
                  </a:ext>
                </a:extLst>
              </p:cNvPr>
              <p:cNvSpPr txBox="1"/>
              <p:nvPr/>
            </p:nvSpPr>
            <p:spPr>
              <a:xfrm>
                <a:off x="263276" y="358588"/>
                <a:ext cx="2551981" cy="1231106"/>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4000" b="0" i="0" smtClean="0">
                          <a:latin typeface="Cambria Math" panose="02040503050406030204" pitchFamily="18" charset="0"/>
                        </a:rPr>
                        <m:t>Data</m:t>
                      </m:r>
                      <m:r>
                        <a:rPr lang="en-US" altLang="zh-TW" sz="4000" b="0" i="0" smtClean="0">
                          <a:latin typeface="Cambria Math" panose="02040503050406030204" pitchFamily="18" charset="0"/>
                        </a:rPr>
                        <m:t> </m:t>
                      </m:r>
                    </m:oMath>
                  </m:oMathPara>
                </a14:m>
                <a:endParaRPr lang="en-US" altLang="zh-TW" sz="40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ltLang="zh-TW" sz="4000" b="0" i="0" smtClean="0">
                          <a:latin typeface="Cambria Math" panose="02040503050406030204" pitchFamily="18" charset="0"/>
                        </a:rPr>
                        <m:t>Generation</m:t>
                      </m:r>
                    </m:oMath>
                  </m:oMathPara>
                </a14:m>
                <a:endParaRPr lang="zh-TW" altLang="en-US" sz="4000" dirty="0"/>
              </a:p>
            </p:txBody>
          </p:sp>
        </mc:Choice>
        <mc:Fallback xmlns="">
          <p:sp>
            <p:nvSpPr>
              <p:cNvPr id="2" name="文字方塊 1">
                <a:extLst>
                  <a:ext uri="{FF2B5EF4-FFF2-40B4-BE49-F238E27FC236}">
                    <a16:creationId xmlns:a16="http://schemas.microsoft.com/office/drawing/2014/main" id="{17772873-4890-BFD0-D1E8-DC765BEFCDC4}"/>
                  </a:ext>
                </a:extLst>
              </p:cNvPr>
              <p:cNvSpPr txBox="1">
                <a:spLocks noRot="1" noChangeAspect="1" noMove="1" noResize="1" noEditPoints="1" noAdjustHandles="1" noChangeArrowheads="1" noChangeShapeType="1" noTextEdit="1"/>
              </p:cNvSpPr>
              <p:nvPr/>
            </p:nvSpPr>
            <p:spPr>
              <a:xfrm>
                <a:off x="263276" y="358588"/>
                <a:ext cx="2551981" cy="1231106"/>
              </a:xfrm>
              <a:prstGeom prst="rect">
                <a:avLst/>
              </a:prstGeom>
              <a:blipFill>
                <a:blip r:embed="rId2"/>
                <a:stretch>
                  <a:fillRect/>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A87148F7-42BF-C06B-005B-FDD607D455C8}"/>
              </a:ext>
            </a:extLst>
          </p:cNvPr>
          <p:cNvSpPr txBox="1"/>
          <p:nvPr/>
        </p:nvSpPr>
        <p:spPr>
          <a:xfrm>
            <a:off x="3173506" y="26895"/>
            <a:ext cx="4325775" cy="6740307"/>
          </a:xfrm>
          <a:prstGeom prst="rect">
            <a:avLst/>
          </a:prstGeom>
          <a:solidFill>
            <a:schemeClr val="accent1">
              <a:lumMod val="20000"/>
              <a:lumOff val="80000"/>
            </a:schemeClr>
          </a:solidFill>
        </p:spPr>
        <p:txBody>
          <a:bodyPr wrap="square">
            <a:spAutoFit/>
          </a:bodyPr>
          <a:lstStyle/>
          <a:p>
            <a:r>
              <a:rPr lang="en-US" altLang="zh-TW" sz="1600" dirty="0"/>
              <a:t>import </a:t>
            </a:r>
            <a:r>
              <a:rPr lang="en-US" altLang="zh-TW" sz="1600" dirty="0" err="1"/>
              <a:t>numpy</a:t>
            </a:r>
            <a:r>
              <a:rPr lang="en-US" altLang="zh-TW" sz="1600" dirty="0"/>
              <a:t> as np</a:t>
            </a:r>
          </a:p>
          <a:p>
            <a:r>
              <a:rPr lang="en-US" altLang="zh-TW" sz="1600" dirty="0"/>
              <a:t>import </a:t>
            </a:r>
            <a:r>
              <a:rPr lang="en-US" altLang="zh-TW" sz="1600" dirty="0" err="1"/>
              <a:t>matplotlib.pyplot</a:t>
            </a:r>
            <a:r>
              <a:rPr lang="en-US" altLang="zh-TW" sz="1600" dirty="0"/>
              <a:t> as </a:t>
            </a:r>
            <a:r>
              <a:rPr lang="en-US" altLang="zh-TW" sz="1600" dirty="0" err="1"/>
              <a:t>plt</a:t>
            </a:r>
            <a:endParaRPr lang="en-US" altLang="zh-TW" sz="1600" dirty="0"/>
          </a:p>
          <a:p>
            <a:r>
              <a:rPr lang="en-US" altLang="zh-TW" sz="1600" dirty="0"/>
              <a:t>Import torch</a:t>
            </a:r>
          </a:p>
          <a:p>
            <a:r>
              <a:rPr lang="en-US" altLang="zh-TW" sz="1600" dirty="0"/>
              <a:t># Data Generation</a:t>
            </a:r>
          </a:p>
          <a:p>
            <a:r>
              <a:rPr lang="en-US" altLang="zh-TW" sz="1600" dirty="0" err="1"/>
              <a:t>np.random.seed</a:t>
            </a:r>
            <a:r>
              <a:rPr lang="en-US" altLang="zh-TW" sz="1600" dirty="0"/>
              <a:t>(42)</a:t>
            </a:r>
          </a:p>
          <a:p>
            <a:r>
              <a:rPr lang="en-US" altLang="zh-TW" sz="1600" dirty="0"/>
              <a:t>x = </a:t>
            </a:r>
            <a:r>
              <a:rPr lang="en-US" altLang="zh-TW" sz="1600" dirty="0" err="1"/>
              <a:t>np.random.rand</a:t>
            </a:r>
            <a:r>
              <a:rPr lang="en-US" altLang="zh-TW" sz="1600" dirty="0"/>
              <a:t>(100, 1)</a:t>
            </a:r>
          </a:p>
          <a:p>
            <a:r>
              <a:rPr lang="en-US" altLang="zh-TW" sz="1600" dirty="0"/>
              <a:t>y = 2 + 3 * x + .1 * </a:t>
            </a:r>
            <a:r>
              <a:rPr lang="en-US" altLang="zh-TW" sz="1600" dirty="0" err="1"/>
              <a:t>np.random.randn</a:t>
            </a:r>
            <a:r>
              <a:rPr lang="en-US" altLang="zh-TW" sz="1600" dirty="0"/>
              <a:t>(100, 1)</a:t>
            </a:r>
          </a:p>
          <a:p>
            <a:r>
              <a:rPr lang="en-US" altLang="zh-TW" sz="1600" dirty="0"/>
              <a:t># Shuffles the indices</a:t>
            </a:r>
          </a:p>
          <a:p>
            <a:r>
              <a:rPr lang="en-US" altLang="zh-TW" sz="1600" dirty="0" err="1"/>
              <a:t>idx</a:t>
            </a:r>
            <a:r>
              <a:rPr lang="en-US" altLang="zh-TW" sz="1600" dirty="0"/>
              <a:t> = </a:t>
            </a:r>
            <a:r>
              <a:rPr lang="en-US" altLang="zh-TW" sz="1600" dirty="0" err="1"/>
              <a:t>np.arange</a:t>
            </a:r>
            <a:r>
              <a:rPr lang="en-US" altLang="zh-TW" sz="1600" dirty="0"/>
              <a:t>(100)</a:t>
            </a:r>
          </a:p>
          <a:p>
            <a:r>
              <a:rPr lang="en-US" altLang="zh-TW" sz="1600" dirty="0" err="1"/>
              <a:t>np.random.shuffle</a:t>
            </a:r>
            <a:r>
              <a:rPr lang="en-US" altLang="zh-TW" sz="1600" dirty="0"/>
              <a:t>(</a:t>
            </a:r>
            <a:r>
              <a:rPr lang="en-US" altLang="zh-TW" sz="1600" dirty="0" err="1"/>
              <a:t>idx</a:t>
            </a:r>
            <a:r>
              <a:rPr lang="en-US" altLang="zh-TW" sz="1600" dirty="0"/>
              <a:t>)</a:t>
            </a:r>
          </a:p>
          <a:p>
            <a:r>
              <a:rPr lang="en-US" altLang="zh-TW" sz="1600" dirty="0"/>
              <a:t># Uses first 80 random indices for train</a:t>
            </a:r>
          </a:p>
          <a:p>
            <a:r>
              <a:rPr lang="en-US" altLang="zh-TW" sz="1600" dirty="0" err="1"/>
              <a:t>train_idx</a:t>
            </a:r>
            <a:r>
              <a:rPr lang="en-US" altLang="zh-TW" sz="1600" dirty="0"/>
              <a:t> = </a:t>
            </a:r>
            <a:r>
              <a:rPr lang="en-US" altLang="zh-TW" sz="1600" dirty="0" err="1"/>
              <a:t>idx</a:t>
            </a:r>
            <a:r>
              <a:rPr lang="en-US" altLang="zh-TW" sz="1600" dirty="0"/>
              <a:t>[:80]</a:t>
            </a:r>
          </a:p>
          <a:p>
            <a:r>
              <a:rPr lang="en-US" altLang="zh-TW" sz="1600" dirty="0"/>
              <a:t># Uses the remaining indices for validation</a:t>
            </a:r>
          </a:p>
          <a:p>
            <a:r>
              <a:rPr lang="en-US" altLang="zh-TW" sz="1600" dirty="0" err="1"/>
              <a:t>val_idx</a:t>
            </a:r>
            <a:r>
              <a:rPr lang="en-US" altLang="zh-TW" sz="1600" dirty="0"/>
              <a:t> = </a:t>
            </a:r>
            <a:r>
              <a:rPr lang="en-US" altLang="zh-TW" sz="1600" dirty="0" err="1"/>
              <a:t>idx</a:t>
            </a:r>
            <a:r>
              <a:rPr lang="en-US" altLang="zh-TW" sz="1600" dirty="0"/>
              <a:t>[80:]</a:t>
            </a:r>
          </a:p>
          <a:p>
            <a:endParaRPr lang="en-US" altLang="zh-TW" sz="1600" dirty="0"/>
          </a:p>
          <a:p>
            <a:r>
              <a:rPr lang="en-US" altLang="zh-TW" sz="1600" dirty="0"/>
              <a:t># Generates train and validation sets</a:t>
            </a:r>
          </a:p>
          <a:p>
            <a:r>
              <a:rPr lang="en-US" altLang="zh-TW" sz="1600" dirty="0" err="1"/>
              <a:t>x_train</a:t>
            </a:r>
            <a:r>
              <a:rPr lang="en-US" altLang="zh-TW" sz="1600" dirty="0"/>
              <a:t>, </a:t>
            </a:r>
            <a:r>
              <a:rPr lang="en-US" altLang="zh-TW" sz="1600" dirty="0" err="1"/>
              <a:t>y_train</a:t>
            </a:r>
            <a:r>
              <a:rPr lang="en-US" altLang="zh-TW" sz="1600" dirty="0"/>
              <a:t> = x[</a:t>
            </a:r>
            <a:r>
              <a:rPr lang="en-US" altLang="zh-TW" sz="1600" dirty="0" err="1"/>
              <a:t>train_idx</a:t>
            </a:r>
            <a:r>
              <a:rPr lang="en-US" altLang="zh-TW" sz="1600" dirty="0"/>
              <a:t>], y[</a:t>
            </a:r>
            <a:r>
              <a:rPr lang="en-US" altLang="zh-TW" sz="1600" dirty="0" err="1"/>
              <a:t>train_idx</a:t>
            </a:r>
            <a:r>
              <a:rPr lang="en-US" altLang="zh-TW" sz="1600" dirty="0"/>
              <a:t>]</a:t>
            </a:r>
          </a:p>
          <a:p>
            <a:r>
              <a:rPr lang="en-US" altLang="zh-TW" sz="1600" dirty="0" err="1"/>
              <a:t>x_val</a:t>
            </a:r>
            <a:r>
              <a:rPr lang="en-US" altLang="zh-TW" sz="1600" dirty="0"/>
              <a:t>, </a:t>
            </a:r>
            <a:r>
              <a:rPr lang="en-US" altLang="zh-TW" sz="1600" dirty="0" err="1"/>
              <a:t>y_val</a:t>
            </a:r>
            <a:r>
              <a:rPr lang="en-US" altLang="zh-TW" sz="1600" dirty="0"/>
              <a:t> = x[</a:t>
            </a:r>
            <a:r>
              <a:rPr lang="en-US" altLang="zh-TW" sz="1600" dirty="0" err="1"/>
              <a:t>val_idx</a:t>
            </a:r>
            <a:r>
              <a:rPr lang="en-US" altLang="zh-TW" sz="1600" dirty="0"/>
              <a:t>], y[</a:t>
            </a:r>
            <a:r>
              <a:rPr lang="en-US" altLang="zh-TW" sz="1600" dirty="0" err="1"/>
              <a:t>val_idx</a:t>
            </a:r>
            <a:r>
              <a:rPr lang="en-US" altLang="zh-TW" sz="1600" dirty="0"/>
              <a:t>]</a:t>
            </a:r>
          </a:p>
          <a:p>
            <a:endParaRPr lang="en-US" altLang="zh-TW" sz="1600" dirty="0"/>
          </a:p>
          <a:p>
            <a:r>
              <a:rPr lang="en-US" altLang="zh-TW" sz="1600" dirty="0"/>
              <a:t># plot the data</a:t>
            </a:r>
          </a:p>
          <a:p>
            <a:r>
              <a:rPr lang="en-US" altLang="zh-TW" sz="1600" dirty="0"/>
              <a:t>fig = </a:t>
            </a:r>
            <a:r>
              <a:rPr lang="en-US" altLang="zh-TW" sz="1600" dirty="0" err="1"/>
              <a:t>plt.figure</a:t>
            </a:r>
            <a:r>
              <a:rPr lang="en-US" altLang="zh-TW" sz="1600" dirty="0"/>
              <a:t>(</a:t>
            </a:r>
            <a:r>
              <a:rPr lang="en-US" altLang="zh-TW" sz="1600" dirty="0" err="1"/>
              <a:t>figsize</a:t>
            </a:r>
            <a:r>
              <a:rPr lang="en-US" altLang="zh-TW" sz="1600" dirty="0"/>
              <a:t>=(6,8))</a:t>
            </a:r>
          </a:p>
          <a:p>
            <a:r>
              <a:rPr lang="en-US" altLang="zh-TW" sz="1600" dirty="0" err="1"/>
              <a:t>plt.subplot</a:t>
            </a:r>
            <a:r>
              <a:rPr lang="en-US" altLang="zh-TW" sz="1600" dirty="0"/>
              <a:t>(2,1,1, title='train')</a:t>
            </a:r>
          </a:p>
          <a:p>
            <a:r>
              <a:rPr lang="en-US" altLang="zh-TW" sz="1600" dirty="0" err="1"/>
              <a:t>plt.plot</a:t>
            </a:r>
            <a:r>
              <a:rPr lang="en-US" altLang="zh-TW" sz="1600" dirty="0"/>
              <a:t>(</a:t>
            </a:r>
            <a:r>
              <a:rPr lang="en-US" altLang="zh-TW" sz="1600" dirty="0" err="1"/>
              <a:t>x_train</a:t>
            </a:r>
            <a:r>
              <a:rPr lang="en-US" altLang="zh-TW" sz="1600" dirty="0"/>
              <a:t>, </a:t>
            </a:r>
            <a:r>
              <a:rPr lang="en-US" altLang="zh-TW" sz="1600" dirty="0" err="1"/>
              <a:t>y_train</a:t>
            </a:r>
            <a:r>
              <a:rPr lang="en-US" altLang="zh-TW" sz="1600" dirty="0"/>
              <a:t>, '.r')</a:t>
            </a:r>
          </a:p>
          <a:p>
            <a:r>
              <a:rPr lang="en-US" altLang="zh-TW" sz="1600" dirty="0" err="1"/>
              <a:t>plt.subplot</a:t>
            </a:r>
            <a:r>
              <a:rPr lang="en-US" altLang="zh-TW" sz="1600" dirty="0"/>
              <a:t>(2,1,2, title='</a:t>
            </a:r>
            <a:r>
              <a:rPr lang="en-US" altLang="zh-TW" sz="1600" dirty="0" err="1"/>
              <a:t>val</a:t>
            </a:r>
            <a:r>
              <a:rPr lang="en-US" altLang="zh-TW" sz="1600" dirty="0"/>
              <a:t>')</a:t>
            </a:r>
          </a:p>
          <a:p>
            <a:r>
              <a:rPr lang="en-US" altLang="zh-TW" sz="1600" dirty="0" err="1"/>
              <a:t>plt.plot</a:t>
            </a:r>
            <a:r>
              <a:rPr lang="en-US" altLang="zh-TW" sz="1600" dirty="0"/>
              <a:t>(</a:t>
            </a:r>
            <a:r>
              <a:rPr lang="en-US" altLang="zh-TW" sz="1600" dirty="0" err="1"/>
              <a:t>x_val</a:t>
            </a:r>
            <a:r>
              <a:rPr lang="en-US" altLang="zh-TW" sz="1600" dirty="0"/>
              <a:t>, </a:t>
            </a:r>
            <a:r>
              <a:rPr lang="en-US" altLang="zh-TW" sz="1600" dirty="0" err="1"/>
              <a:t>y_val</a:t>
            </a:r>
            <a:r>
              <a:rPr lang="en-US" altLang="zh-TW" sz="1600" dirty="0"/>
              <a:t>, '.')</a:t>
            </a:r>
          </a:p>
          <a:p>
            <a:r>
              <a:rPr lang="en-US" altLang="zh-TW" sz="1600" dirty="0" err="1"/>
              <a:t>plt.show</a:t>
            </a:r>
            <a:r>
              <a:rPr lang="en-US" altLang="zh-TW" sz="1600" dirty="0"/>
              <a:t>()</a:t>
            </a:r>
            <a:endParaRPr lang="zh-TW" altLang="en-US" sz="1600" dirty="0"/>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CC9F02DF-F4DD-00AD-E422-7C4AE5B8185A}"/>
                  </a:ext>
                </a:extLst>
              </p:cNvPr>
              <p:cNvSpPr txBox="1"/>
              <p:nvPr/>
            </p:nvSpPr>
            <p:spPr>
              <a:xfrm>
                <a:off x="221194" y="2144374"/>
                <a:ext cx="2729914"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𝑦</m:t>
                      </m:r>
                      <m:r>
                        <a:rPr lang="pt-BR" altLang="zh-TW" sz="3200" i="1" smtClean="0">
                          <a:solidFill>
                            <a:schemeClr val="accent5">
                              <a:lumMod val="50000"/>
                            </a:schemeClr>
                          </a:solidFill>
                          <a:latin typeface="Cambria Math" panose="02040503050406030204" pitchFamily="18" charset="0"/>
                        </a:rPr>
                        <m:t>=</m:t>
                      </m:r>
                      <m:r>
                        <a:rPr lang="en-US" altLang="zh-TW" sz="3200" b="0" i="1" smtClean="0">
                          <a:solidFill>
                            <a:schemeClr val="accent5">
                              <a:lumMod val="50000"/>
                            </a:schemeClr>
                          </a:solidFill>
                          <a:latin typeface="Cambria Math" panose="02040503050406030204" pitchFamily="18" charset="0"/>
                        </a:rPr>
                        <m:t>2+3</m:t>
                      </m:r>
                      <m:r>
                        <a:rPr lang="en-US" altLang="zh-TW" sz="3200" b="0" i="1" smtClean="0">
                          <a:solidFill>
                            <a:schemeClr val="accent5">
                              <a:lumMod val="50000"/>
                            </a:schemeClr>
                          </a:solidFill>
                          <a:latin typeface="Cambria Math" panose="02040503050406030204" pitchFamily="18" charset="0"/>
                        </a:rPr>
                        <m:t>𝑥</m:t>
                      </m:r>
                      <m:r>
                        <a:rPr lang="en-US" altLang="zh-TW" sz="3200" b="0" i="1" smtClean="0">
                          <a:solidFill>
                            <a:schemeClr val="accent5">
                              <a:lumMod val="50000"/>
                            </a:schemeClr>
                          </a:solidFill>
                          <a:latin typeface="Cambria Math" panose="02040503050406030204" pitchFamily="18" charset="0"/>
                        </a:rPr>
                        <m:t>+</m:t>
                      </m:r>
                      <m:r>
                        <a:rPr lang="zh-TW" altLang="en-US" sz="3200" b="0" i="1" smtClean="0">
                          <a:solidFill>
                            <a:schemeClr val="accent5">
                              <a:lumMod val="50000"/>
                            </a:schemeClr>
                          </a:solidFill>
                          <a:latin typeface="Cambria Math" panose="02040503050406030204" pitchFamily="18" charset="0"/>
                        </a:rPr>
                        <m:t>𝜖</m:t>
                      </m:r>
                    </m:oMath>
                  </m:oMathPara>
                </a14:m>
                <a:endParaRPr lang="zh-TW" altLang="en-US" sz="3200" dirty="0">
                  <a:solidFill>
                    <a:schemeClr val="accent5">
                      <a:lumMod val="50000"/>
                    </a:schemeClr>
                  </a:solidFill>
                </a:endParaRPr>
              </a:p>
            </p:txBody>
          </p:sp>
        </mc:Choice>
        <mc:Fallback xmlns="">
          <p:sp>
            <p:nvSpPr>
              <p:cNvPr id="20" name="文字方塊 19">
                <a:extLst>
                  <a:ext uri="{FF2B5EF4-FFF2-40B4-BE49-F238E27FC236}">
                    <a16:creationId xmlns:a16="http://schemas.microsoft.com/office/drawing/2014/main" id="{CC9F02DF-F4DD-00AD-E422-7C4AE5B8185A}"/>
                  </a:ext>
                </a:extLst>
              </p:cNvPr>
              <p:cNvSpPr txBox="1">
                <a:spLocks noRot="1" noChangeAspect="1" noMove="1" noResize="1" noEditPoints="1" noAdjustHandles="1" noChangeArrowheads="1" noChangeShapeType="1" noTextEdit="1"/>
              </p:cNvSpPr>
              <p:nvPr/>
            </p:nvSpPr>
            <p:spPr>
              <a:xfrm>
                <a:off x="221194" y="2144374"/>
                <a:ext cx="2729914" cy="492443"/>
              </a:xfrm>
              <a:prstGeom prst="rect">
                <a:avLst/>
              </a:prstGeom>
              <a:blipFill>
                <a:blip r:embed="rId3"/>
                <a:stretch>
                  <a:fillRect/>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2AA96D9E-47AE-06F6-CA58-661B052CE1A7}"/>
              </a:ext>
            </a:extLst>
          </p:cNvPr>
          <p:cNvPicPr>
            <a:picLocks noChangeAspect="1"/>
          </p:cNvPicPr>
          <p:nvPr/>
        </p:nvPicPr>
        <p:blipFill>
          <a:blip r:embed="rId4"/>
          <a:stretch>
            <a:fillRect/>
          </a:stretch>
        </p:blipFill>
        <p:spPr>
          <a:xfrm>
            <a:off x="7499281" y="0"/>
            <a:ext cx="4756355" cy="6858000"/>
          </a:xfrm>
          <a:prstGeom prst="rect">
            <a:avLst/>
          </a:prstGeom>
        </p:spPr>
      </p:pic>
    </p:spTree>
    <p:extLst>
      <p:ext uri="{BB962C8B-B14F-4D97-AF65-F5344CB8AC3E}">
        <p14:creationId xmlns:p14="http://schemas.microsoft.com/office/powerpoint/2010/main" val="2387967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id="{DF327B15-66D1-1FE1-0B6D-0C4C148219DD}"/>
              </a:ext>
            </a:extLst>
          </p:cNvPr>
          <p:cNvSpPr txBox="1"/>
          <p:nvPr/>
        </p:nvSpPr>
        <p:spPr>
          <a:xfrm>
            <a:off x="5838628" y="27708"/>
            <a:ext cx="6353372" cy="6740307"/>
          </a:xfrm>
          <a:prstGeom prst="rect">
            <a:avLst/>
          </a:prstGeom>
          <a:solidFill>
            <a:schemeClr val="accent1">
              <a:lumMod val="20000"/>
              <a:lumOff val="80000"/>
            </a:schemeClr>
          </a:solidFill>
        </p:spPr>
        <p:txBody>
          <a:bodyPr wrap="square">
            <a:spAutoFit/>
          </a:bodyPr>
          <a:lstStyle/>
          <a:p>
            <a:r>
              <a:rPr lang="en-US" altLang="zh-TW" sz="1600" dirty="0"/>
              <a:t>device = '</a:t>
            </a:r>
            <a:r>
              <a:rPr lang="en-US" altLang="zh-TW" sz="1600" dirty="0" err="1"/>
              <a:t>cuda</a:t>
            </a:r>
            <a:r>
              <a:rPr lang="en-US" altLang="zh-TW" sz="1600" dirty="0"/>
              <a:t>' if </a:t>
            </a:r>
            <a:r>
              <a:rPr lang="en-US" altLang="zh-TW" sz="1600" dirty="0" err="1"/>
              <a:t>torch.cuda.is_available</a:t>
            </a:r>
            <a:r>
              <a:rPr lang="en-US" altLang="zh-TW" sz="1600" dirty="0"/>
              <a:t>() else '</a:t>
            </a:r>
            <a:r>
              <a:rPr lang="en-US" altLang="zh-TW" sz="1600" dirty="0" err="1"/>
              <a:t>cpu</a:t>
            </a:r>
            <a:r>
              <a:rPr lang="en-US" altLang="zh-TW" sz="1600" dirty="0"/>
              <a:t>'</a:t>
            </a:r>
          </a:p>
          <a:p>
            <a:r>
              <a:rPr lang="en-US" altLang="zh-TW" sz="1600" dirty="0" err="1"/>
              <a:t>x_train_tensor</a:t>
            </a:r>
            <a:r>
              <a:rPr lang="en-US" altLang="zh-TW" sz="1600" dirty="0"/>
              <a:t> = </a:t>
            </a:r>
            <a:r>
              <a:rPr lang="en-US" altLang="zh-TW" sz="1600" dirty="0" err="1"/>
              <a:t>torch.from_numpy</a:t>
            </a:r>
            <a:r>
              <a:rPr lang="en-US" altLang="zh-TW" sz="1600" dirty="0"/>
              <a:t>(</a:t>
            </a:r>
            <a:r>
              <a:rPr lang="en-US" altLang="zh-TW" sz="1600" dirty="0" err="1"/>
              <a:t>x_train</a:t>
            </a:r>
            <a:r>
              <a:rPr lang="en-US" altLang="zh-TW" sz="1600" dirty="0"/>
              <a:t>).float().to(device)</a:t>
            </a:r>
          </a:p>
          <a:p>
            <a:r>
              <a:rPr lang="en-US" altLang="zh-TW" sz="1600" dirty="0" err="1"/>
              <a:t>y_train_tensor</a:t>
            </a:r>
            <a:r>
              <a:rPr lang="en-US" altLang="zh-TW" sz="1600" dirty="0"/>
              <a:t> = </a:t>
            </a:r>
            <a:r>
              <a:rPr lang="en-US" altLang="zh-TW" sz="1600" dirty="0" err="1"/>
              <a:t>torch.from_numpy</a:t>
            </a:r>
            <a:r>
              <a:rPr lang="en-US" altLang="zh-TW" sz="1600" dirty="0"/>
              <a:t>(</a:t>
            </a:r>
            <a:r>
              <a:rPr lang="en-US" altLang="zh-TW" sz="1600" dirty="0" err="1"/>
              <a:t>y_train</a:t>
            </a:r>
            <a:r>
              <a:rPr lang="en-US" altLang="zh-TW" sz="1600" dirty="0"/>
              <a:t>).float().to(device)</a:t>
            </a:r>
          </a:p>
          <a:p>
            <a:endParaRPr lang="en-US" altLang="zh-TW" sz="1600" dirty="0"/>
          </a:p>
          <a:p>
            <a:r>
              <a:rPr lang="en-US" altLang="zh-TW" sz="1600" dirty="0" err="1"/>
              <a:t>lr</a:t>
            </a:r>
            <a:r>
              <a:rPr lang="en-US" altLang="zh-TW" sz="1600" dirty="0"/>
              <a:t> = 1e-1</a:t>
            </a:r>
          </a:p>
          <a:p>
            <a:r>
              <a:rPr lang="en-US" altLang="zh-TW" sz="1600" dirty="0" err="1"/>
              <a:t>n_epochs</a:t>
            </a:r>
            <a:r>
              <a:rPr lang="en-US" altLang="zh-TW" sz="1600" dirty="0"/>
              <a:t> = 1000</a:t>
            </a:r>
          </a:p>
          <a:p>
            <a:endParaRPr lang="en-US" altLang="zh-TW" sz="1600" dirty="0"/>
          </a:p>
          <a:p>
            <a:r>
              <a:rPr lang="en-US" altLang="zh-TW" sz="1600" dirty="0" err="1"/>
              <a:t>torch.manual_seed</a:t>
            </a:r>
            <a:r>
              <a:rPr lang="en-US" altLang="zh-TW" sz="1600" dirty="0"/>
              <a:t>(1411)</a:t>
            </a:r>
          </a:p>
          <a:p>
            <a:r>
              <a:rPr lang="en-US" altLang="zh-TW" sz="1600" dirty="0"/>
              <a:t>a = </a:t>
            </a:r>
            <a:r>
              <a:rPr lang="en-US" altLang="zh-TW" sz="1600" dirty="0" err="1"/>
              <a:t>torch.randn</a:t>
            </a:r>
            <a:r>
              <a:rPr lang="en-US" altLang="zh-TW" sz="1600" dirty="0"/>
              <a:t>(1, </a:t>
            </a:r>
            <a:r>
              <a:rPr lang="en-US" altLang="zh-TW" sz="1600" dirty="0" err="1"/>
              <a:t>requires_grad</a:t>
            </a:r>
            <a:r>
              <a:rPr lang="en-US" altLang="zh-TW" sz="1600" dirty="0"/>
              <a:t>=True, </a:t>
            </a:r>
            <a:r>
              <a:rPr lang="en-US" altLang="zh-TW" sz="1600" dirty="0" err="1"/>
              <a:t>dtype</a:t>
            </a:r>
            <a:r>
              <a:rPr lang="en-US" altLang="zh-TW" sz="1600" dirty="0"/>
              <a:t>=</a:t>
            </a:r>
            <a:r>
              <a:rPr lang="en-US" altLang="zh-TW" sz="1600" dirty="0" err="1"/>
              <a:t>torch.float</a:t>
            </a:r>
            <a:r>
              <a:rPr lang="en-US" altLang="zh-TW" sz="1600" dirty="0"/>
              <a:t>, device=device)</a:t>
            </a:r>
          </a:p>
          <a:p>
            <a:r>
              <a:rPr lang="en-US" altLang="zh-TW" sz="1600" dirty="0"/>
              <a:t>b = </a:t>
            </a:r>
            <a:r>
              <a:rPr lang="en-US" altLang="zh-TW" sz="1600" dirty="0" err="1"/>
              <a:t>torch.randn</a:t>
            </a:r>
            <a:r>
              <a:rPr lang="en-US" altLang="zh-TW" sz="1600" dirty="0"/>
              <a:t>(1, </a:t>
            </a:r>
            <a:r>
              <a:rPr lang="en-US" altLang="zh-TW" sz="1600" dirty="0" err="1"/>
              <a:t>requires_grad</a:t>
            </a:r>
            <a:r>
              <a:rPr lang="en-US" altLang="zh-TW" sz="1600" dirty="0"/>
              <a:t>=True, </a:t>
            </a:r>
            <a:r>
              <a:rPr lang="en-US" altLang="zh-TW" sz="1600" dirty="0" err="1"/>
              <a:t>dtype</a:t>
            </a:r>
            <a:r>
              <a:rPr lang="en-US" altLang="zh-TW" sz="1600" dirty="0"/>
              <a:t>=</a:t>
            </a:r>
            <a:r>
              <a:rPr lang="en-US" altLang="zh-TW" sz="1600" dirty="0" err="1"/>
              <a:t>torch.float</a:t>
            </a:r>
            <a:r>
              <a:rPr lang="en-US" altLang="zh-TW" sz="1600" dirty="0"/>
              <a:t>, device=device)</a:t>
            </a:r>
          </a:p>
          <a:p>
            <a:endParaRPr lang="en-US" altLang="zh-TW" sz="1600" dirty="0"/>
          </a:p>
          <a:p>
            <a:r>
              <a:rPr lang="en-US" altLang="zh-TW" sz="1600" dirty="0"/>
              <a:t>for epoch in range(</a:t>
            </a:r>
            <a:r>
              <a:rPr lang="en-US" altLang="zh-TW" sz="1600" dirty="0" err="1"/>
              <a:t>n_epochs</a:t>
            </a:r>
            <a:r>
              <a:rPr lang="en-US" altLang="zh-TW" sz="1600" dirty="0"/>
              <a:t>):</a:t>
            </a:r>
          </a:p>
          <a:p>
            <a:r>
              <a:rPr lang="en-US" altLang="zh-TW" sz="1600" dirty="0"/>
              <a:t>    </a:t>
            </a:r>
            <a:r>
              <a:rPr lang="en-US" altLang="zh-TW" sz="1600" dirty="0" err="1">
                <a:solidFill>
                  <a:srgbClr val="FF0000"/>
                </a:solidFill>
              </a:rPr>
              <a:t>yhat</a:t>
            </a:r>
            <a:r>
              <a:rPr lang="en-US" altLang="zh-TW" sz="1600" dirty="0">
                <a:solidFill>
                  <a:srgbClr val="FF0000"/>
                </a:solidFill>
              </a:rPr>
              <a:t> = a + b * </a:t>
            </a:r>
            <a:r>
              <a:rPr lang="en-US" altLang="zh-TW" sz="1600" dirty="0" err="1">
                <a:solidFill>
                  <a:srgbClr val="FF0000"/>
                </a:solidFill>
              </a:rPr>
              <a:t>x_train_tensor</a:t>
            </a:r>
            <a:endParaRPr lang="en-US" altLang="zh-TW" sz="1600" dirty="0">
              <a:solidFill>
                <a:srgbClr val="FF0000"/>
              </a:solidFill>
            </a:endParaRPr>
          </a:p>
          <a:p>
            <a:r>
              <a:rPr lang="en-US" altLang="zh-TW" sz="1600" dirty="0">
                <a:solidFill>
                  <a:srgbClr val="FF0000"/>
                </a:solidFill>
              </a:rPr>
              <a:t>    error = </a:t>
            </a:r>
            <a:r>
              <a:rPr lang="en-US" altLang="zh-TW" sz="1600" dirty="0" err="1">
                <a:solidFill>
                  <a:srgbClr val="FF0000"/>
                </a:solidFill>
              </a:rPr>
              <a:t>y_train_tensor</a:t>
            </a:r>
            <a:r>
              <a:rPr lang="en-US" altLang="zh-TW" sz="1600" dirty="0">
                <a:solidFill>
                  <a:srgbClr val="FF0000"/>
                </a:solidFill>
              </a:rPr>
              <a:t> - </a:t>
            </a:r>
            <a:r>
              <a:rPr lang="en-US" altLang="zh-TW" sz="1600" dirty="0" err="1">
                <a:solidFill>
                  <a:srgbClr val="FF0000"/>
                </a:solidFill>
              </a:rPr>
              <a:t>yhat</a:t>
            </a:r>
            <a:endParaRPr lang="en-US" altLang="zh-TW" sz="1600" dirty="0">
              <a:solidFill>
                <a:srgbClr val="FF0000"/>
              </a:solidFill>
            </a:endParaRPr>
          </a:p>
          <a:p>
            <a:r>
              <a:rPr lang="en-US" altLang="zh-TW" sz="1600" dirty="0">
                <a:solidFill>
                  <a:srgbClr val="FF0000"/>
                </a:solidFill>
              </a:rPr>
              <a:t>    loss = (error ** 2).mean()</a:t>
            </a:r>
            <a:endParaRPr lang="en-US" altLang="zh-TW" sz="1600" dirty="0"/>
          </a:p>
          <a:p>
            <a:r>
              <a:rPr lang="en-US" altLang="zh-TW" sz="1600" dirty="0"/>
              <a:t>    </a:t>
            </a:r>
            <a:r>
              <a:rPr lang="en-US" altLang="zh-TW" sz="1600" dirty="0" err="1"/>
              <a:t>loss.backward</a:t>
            </a:r>
            <a:r>
              <a:rPr lang="en-US" altLang="zh-TW" sz="1600" dirty="0"/>
              <a:t>()</a:t>
            </a:r>
          </a:p>
          <a:p>
            <a:r>
              <a:rPr lang="en-US" altLang="zh-TW" sz="1600" dirty="0"/>
              <a:t>    print(</a:t>
            </a:r>
            <a:r>
              <a:rPr lang="en-US" altLang="zh-TW" sz="1600" dirty="0" err="1"/>
              <a:t>a.grad</a:t>
            </a:r>
            <a:r>
              <a:rPr lang="en-US" altLang="zh-TW" sz="1600" dirty="0"/>
              <a:t>)</a:t>
            </a:r>
          </a:p>
          <a:p>
            <a:r>
              <a:rPr lang="en-US" altLang="zh-TW" sz="1600" dirty="0"/>
              <a:t>    print(</a:t>
            </a:r>
            <a:r>
              <a:rPr lang="en-US" altLang="zh-TW" sz="1600" dirty="0" err="1"/>
              <a:t>b.grad</a:t>
            </a:r>
            <a:r>
              <a:rPr lang="en-US" altLang="zh-TW" sz="1600" dirty="0"/>
              <a:t>)</a:t>
            </a:r>
          </a:p>
          <a:p>
            <a:r>
              <a:rPr lang="en-US" altLang="zh-TW" sz="1600" dirty="0"/>
              <a:t>   </a:t>
            </a:r>
          </a:p>
          <a:p>
            <a:r>
              <a:rPr lang="en-US" altLang="zh-TW" sz="1600" dirty="0"/>
              <a:t>    with </a:t>
            </a:r>
            <a:r>
              <a:rPr lang="en-US" altLang="zh-TW" sz="1600" dirty="0" err="1"/>
              <a:t>torch.no_grad</a:t>
            </a:r>
            <a:r>
              <a:rPr lang="en-US" altLang="zh-TW" sz="1600" dirty="0"/>
              <a:t>():</a:t>
            </a:r>
          </a:p>
          <a:p>
            <a:r>
              <a:rPr lang="en-US" altLang="zh-TW" sz="1600" dirty="0"/>
              <a:t>         </a:t>
            </a:r>
            <a:r>
              <a:rPr lang="en-US" altLang="zh-TW" sz="1600" dirty="0">
                <a:solidFill>
                  <a:srgbClr val="00B050"/>
                </a:solidFill>
              </a:rPr>
              <a:t>a -= </a:t>
            </a:r>
            <a:r>
              <a:rPr lang="en-US" altLang="zh-TW" sz="1600" dirty="0" err="1">
                <a:solidFill>
                  <a:srgbClr val="00B050"/>
                </a:solidFill>
              </a:rPr>
              <a:t>lr</a:t>
            </a:r>
            <a:r>
              <a:rPr lang="en-US" altLang="zh-TW" sz="1600" dirty="0">
                <a:solidFill>
                  <a:srgbClr val="00B050"/>
                </a:solidFill>
              </a:rPr>
              <a:t> * </a:t>
            </a:r>
            <a:r>
              <a:rPr lang="en-US" altLang="zh-TW" sz="1600" dirty="0" err="1">
                <a:solidFill>
                  <a:srgbClr val="00B050"/>
                </a:solidFill>
              </a:rPr>
              <a:t>a.grad</a:t>
            </a:r>
            <a:endParaRPr lang="en-US" altLang="zh-TW" sz="1600" dirty="0">
              <a:solidFill>
                <a:srgbClr val="00B050"/>
              </a:solidFill>
            </a:endParaRPr>
          </a:p>
          <a:p>
            <a:r>
              <a:rPr lang="en-US" altLang="zh-TW" sz="1600" dirty="0"/>
              <a:t>         </a:t>
            </a:r>
            <a:r>
              <a:rPr lang="en-US" altLang="zh-TW" sz="1600" dirty="0">
                <a:solidFill>
                  <a:srgbClr val="00B050"/>
                </a:solidFill>
              </a:rPr>
              <a:t>b -= </a:t>
            </a:r>
            <a:r>
              <a:rPr lang="en-US" altLang="zh-TW" sz="1600" dirty="0" err="1">
                <a:solidFill>
                  <a:srgbClr val="00B050"/>
                </a:solidFill>
              </a:rPr>
              <a:t>lr</a:t>
            </a:r>
            <a:r>
              <a:rPr lang="en-US" altLang="zh-TW" sz="1600" dirty="0">
                <a:solidFill>
                  <a:srgbClr val="00B050"/>
                </a:solidFill>
              </a:rPr>
              <a:t> * </a:t>
            </a:r>
            <a:r>
              <a:rPr lang="en-US" altLang="zh-TW" sz="1600" dirty="0" err="1">
                <a:solidFill>
                  <a:srgbClr val="00B050"/>
                </a:solidFill>
              </a:rPr>
              <a:t>b.grad</a:t>
            </a:r>
            <a:endParaRPr lang="en-US" altLang="zh-TW" sz="1600" dirty="0">
              <a:solidFill>
                <a:srgbClr val="00B050"/>
              </a:solidFill>
            </a:endParaRPr>
          </a:p>
          <a:p>
            <a:endParaRPr lang="en-US" altLang="zh-TW" sz="1600" dirty="0"/>
          </a:p>
          <a:p>
            <a:r>
              <a:rPr lang="en-US" altLang="zh-TW" sz="1600" dirty="0"/>
              <a:t>    </a:t>
            </a:r>
            <a:r>
              <a:rPr lang="en-US" altLang="zh-TW" sz="1600" dirty="0" err="1"/>
              <a:t>a.grad.zero</a:t>
            </a:r>
            <a:r>
              <a:rPr lang="en-US" altLang="zh-TW" sz="1600" dirty="0"/>
              <a:t>_()</a:t>
            </a:r>
          </a:p>
          <a:p>
            <a:r>
              <a:rPr lang="en-US" altLang="zh-TW" sz="1600" dirty="0"/>
              <a:t>    </a:t>
            </a:r>
            <a:r>
              <a:rPr lang="en-US" altLang="zh-TW" sz="1600" dirty="0" err="1"/>
              <a:t>b.grad.zero</a:t>
            </a:r>
            <a:r>
              <a:rPr lang="en-US" altLang="zh-TW" sz="1600" dirty="0"/>
              <a:t>_()</a:t>
            </a:r>
          </a:p>
          <a:p>
            <a:endParaRPr lang="en-US" altLang="zh-TW" sz="1600" dirty="0"/>
          </a:p>
          <a:p>
            <a:r>
              <a:rPr lang="en-US" altLang="zh-TW" sz="1600" dirty="0"/>
              <a:t>print(a, b)</a:t>
            </a: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A8BCD467-BDDB-9473-17D0-84F6D7ED41D9}"/>
                  </a:ext>
                </a:extLst>
              </p:cNvPr>
              <p:cNvSpPr txBox="1"/>
              <p:nvPr/>
            </p:nvSpPr>
            <p:spPr>
              <a:xfrm>
                <a:off x="106864" y="1057801"/>
                <a:ext cx="5731764" cy="869212"/>
              </a:xfrm>
              <a:prstGeom prst="rect">
                <a:avLst/>
              </a:prstGeom>
              <a:noFill/>
            </p:spPr>
            <p:txBody>
              <a:bodyPr wrap="square" lIns="0" tIns="0" rIns="0" bIns="0" rtlCol="0">
                <a:spAutoFit/>
              </a:bodyPr>
              <a:lstStyle/>
              <a:p>
                <a14:m>
                  <m:oMath xmlns:m="http://schemas.openxmlformats.org/officeDocument/2006/math">
                    <m:r>
                      <a:rPr lang="en-US" altLang="zh-TW" sz="2000" b="0" i="1" smtClean="0">
                        <a:solidFill>
                          <a:schemeClr val="accent5">
                            <a:lumMod val="50000"/>
                          </a:schemeClr>
                        </a:solidFill>
                        <a:latin typeface="Cambria Math" panose="02040503050406030204" pitchFamily="18" charset="0"/>
                      </a:rPr>
                      <m:t>𝑀𝑆𝐸</m:t>
                    </m:r>
                    <m:r>
                      <a:rPr lang="en-US" altLang="zh-TW" sz="2000" b="0" i="1" smtClean="0">
                        <a:solidFill>
                          <a:schemeClr val="accent5">
                            <a:lumMod val="50000"/>
                          </a:schemeClr>
                        </a:solidFill>
                        <a:latin typeface="Cambria Math" panose="02040503050406030204" pitchFamily="18" charset="0"/>
                      </a:rPr>
                      <m:t>=</m:t>
                    </m:r>
                    <m:f>
                      <m:fPr>
                        <m:ctrlPr>
                          <a:rPr lang="en-US" altLang="zh-TW" sz="2000" b="0" i="1" smtClean="0">
                            <a:solidFill>
                              <a:schemeClr val="accent5">
                                <a:lumMod val="50000"/>
                              </a:schemeClr>
                            </a:solidFill>
                            <a:latin typeface="Cambria Math" panose="02040503050406030204" pitchFamily="18" charset="0"/>
                          </a:rPr>
                        </m:ctrlPr>
                      </m:fPr>
                      <m:num>
                        <m:r>
                          <a:rPr lang="en-US" altLang="zh-TW" sz="2000" b="0" i="1" smtClean="0">
                            <a:solidFill>
                              <a:schemeClr val="accent5">
                                <a:lumMod val="50000"/>
                              </a:schemeClr>
                            </a:solidFill>
                            <a:latin typeface="Cambria Math" panose="02040503050406030204" pitchFamily="18" charset="0"/>
                          </a:rPr>
                          <m:t>1</m:t>
                        </m:r>
                      </m:num>
                      <m:den>
                        <m:r>
                          <a:rPr lang="en-US" altLang="zh-TW" sz="2000" b="0" i="1" smtClean="0">
                            <a:solidFill>
                              <a:schemeClr val="accent5">
                                <a:lumMod val="50000"/>
                              </a:schemeClr>
                            </a:solidFill>
                            <a:latin typeface="Cambria Math" panose="02040503050406030204" pitchFamily="18" charset="0"/>
                          </a:rPr>
                          <m:t>𝑁</m:t>
                        </m:r>
                      </m:den>
                    </m:f>
                    <m:nary>
                      <m:naryPr>
                        <m:chr m:val="∑"/>
                        <m:ctrlPr>
                          <a:rPr lang="en-US" altLang="zh-TW" sz="2000" b="0" i="1" smtClean="0">
                            <a:solidFill>
                              <a:schemeClr val="accent5">
                                <a:lumMod val="50000"/>
                              </a:schemeClr>
                            </a:solidFill>
                            <a:latin typeface="Cambria Math" panose="02040503050406030204" pitchFamily="18" charset="0"/>
                          </a:rPr>
                        </m:ctrlPr>
                      </m:naryPr>
                      <m:sub>
                        <m:r>
                          <m:rPr>
                            <m:brk m:alnAt="23"/>
                          </m:rPr>
                          <a:rPr lang="en-US" altLang="zh-TW" sz="2000" b="0" i="1" smtClean="0">
                            <a:solidFill>
                              <a:schemeClr val="accent5">
                                <a:lumMod val="50000"/>
                              </a:schemeClr>
                            </a:solidFill>
                            <a:latin typeface="Cambria Math" panose="02040503050406030204" pitchFamily="18" charset="0"/>
                          </a:rPr>
                          <m:t>𝑖</m:t>
                        </m:r>
                        <m:r>
                          <a:rPr lang="en-US" altLang="zh-TW" sz="2000" b="0" i="1" smtClean="0">
                            <a:solidFill>
                              <a:schemeClr val="accent5">
                                <a:lumMod val="50000"/>
                              </a:schemeClr>
                            </a:solidFill>
                            <a:latin typeface="Cambria Math" panose="02040503050406030204" pitchFamily="18" charset="0"/>
                          </a:rPr>
                          <m:t>=1</m:t>
                        </m:r>
                      </m:sub>
                      <m:sup>
                        <m:r>
                          <a:rPr lang="en-US" altLang="zh-TW" sz="2000" b="0" i="1" smtClean="0">
                            <a:solidFill>
                              <a:schemeClr val="accent5">
                                <a:lumMod val="50000"/>
                              </a:schemeClr>
                            </a:solidFill>
                            <a:latin typeface="Cambria Math" panose="02040503050406030204" pitchFamily="18" charset="0"/>
                          </a:rPr>
                          <m:t>𝑁</m:t>
                        </m:r>
                      </m:sup>
                      <m:e>
                        <m:sSup>
                          <m:sSupPr>
                            <m:ctrlPr>
                              <a:rPr lang="en-US" altLang="zh-TW" sz="2000" b="0" i="1" smtClean="0">
                                <a:solidFill>
                                  <a:schemeClr val="accent5">
                                    <a:lumMod val="50000"/>
                                  </a:schemeClr>
                                </a:solidFill>
                                <a:latin typeface="Cambria Math" panose="02040503050406030204" pitchFamily="18" charset="0"/>
                              </a:rPr>
                            </m:ctrlPr>
                          </m:sSupPr>
                          <m:e>
                            <m:r>
                              <a:rPr lang="en-US" altLang="zh-TW" sz="2000" b="0" i="1" smtClean="0">
                                <a:solidFill>
                                  <a:schemeClr val="accent5">
                                    <a:lumMod val="50000"/>
                                  </a:schemeClr>
                                </a:solidFill>
                                <a:latin typeface="Cambria Math" panose="02040503050406030204" pitchFamily="18" charset="0"/>
                              </a:rPr>
                              <m:t> (</m:t>
                            </m:r>
                            <m:sSub>
                              <m:sSubPr>
                                <m:ctrlPr>
                                  <a:rPr lang="en-US" altLang="zh-TW" sz="2000" b="0" i="1" smtClean="0">
                                    <a:solidFill>
                                      <a:schemeClr val="accent5">
                                        <a:lumMod val="50000"/>
                                      </a:schemeClr>
                                    </a:solidFill>
                                    <a:latin typeface="Cambria Math" panose="02040503050406030204" pitchFamily="18" charset="0"/>
                                  </a:rPr>
                                </m:ctrlPr>
                              </m:sSubPr>
                              <m:e>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𝑦</m:t>
                                    </m:r>
                                  </m:e>
                                  <m:sub>
                                    <m:r>
                                      <a:rPr lang="en-US" altLang="zh-TW" sz="2000" i="1">
                                        <a:solidFill>
                                          <a:schemeClr val="accent5">
                                            <a:lumMod val="50000"/>
                                          </a:schemeClr>
                                        </a:solidFill>
                                        <a:latin typeface="Cambria Math" panose="02040503050406030204" pitchFamily="18" charset="0"/>
                                      </a:rPr>
                                      <m:t>𝑖</m:t>
                                    </m:r>
                                  </m:sub>
                                </m:sSub>
                                <m:r>
                                  <a:rPr lang="en-US" altLang="zh-TW" sz="2000" b="0" i="1" smtClean="0">
                                    <a:solidFill>
                                      <a:schemeClr val="accent5">
                                        <a:lumMod val="50000"/>
                                      </a:schemeClr>
                                    </a:solidFill>
                                    <a:latin typeface="Cambria Math" panose="02040503050406030204" pitchFamily="18" charset="0"/>
                                  </a:rPr>
                                  <m:t>−</m:t>
                                </m:r>
                                <m:acc>
                                  <m:accPr>
                                    <m:chr m:val="̂"/>
                                    <m:ctrlPr>
                                      <a:rPr lang="en-US" altLang="zh-TW" sz="2000" b="0" i="1" smtClean="0">
                                        <a:solidFill>
                                          <a:schemeClr val="accent5">
                                            <a:lumMod val="50000"/>
                                          </a:schemeClr>
                                        </a:solidFill>
                                        <a:latin typeface="Cambria Math" panose="02040503050406030204" pitchFamily="18" charset="0"/>
                                      </a:rPr>
                                    </m:ctrlPr>
                                  </m:accPr>
                                  <m:e>
                                    <m:r>
                                      <a:rPr lang="en-US" altLang="zh-TW" sz="2000" b="0" i="1" smtClean="0">
                                        <a:solidFill>
                                          <a:schemeClr val="accent5">
                                            <a:lumMod val="50000"/>
                                          </a:schemeClr>
                                        </a:solidFill>
                                        <a:latin typeface="Cambria Math" panose="02040503050406030204" pitchFamily="18" charset="0"/>
                                      </a:rPr>
                                      <m:t>𝑦</m:t>
                                    </m:r>
                                  </m:e>
                                </m:acc>
                              </m:e>
                              <m:sub>
                                <m:r>
                                  <a:rPr lang="en-US" altLang="zh-TW" sz="2000" b="0" i="1" smtClean="0">
                                    <a:solidFill>
                                      <a:schemeClr val="accent5">
                                        <a:lumMod val="50000"/>
                                      </a:schemeClr>
                                    </a:solidFill>
                                    <a:latin typeface="Cambria Math" panose="02040503050406030204" pitchFamily="18" charset="0"/>
                                  </a:rPr>
                                  <m:t>𝑖</m:t>
                                </m:r>
                              </m:sub>
                            </m:sSub>
                            <m:r>
                              <a:rPr lang="en-US" altLang="zh-TW" sz="2000" b="0" i="1" smtClean="0">
                                <a:solidFill>
                                  <a:schemeClr val="accent5">
                                    <a:lumMod val="50000"/>
                                  </a:schemeClr>
                                </a:solidFill>
                                <a:latin typeface="Cambria Math" panose="02040503050406030204" pitchFamily="18" charset="0"/>
                              </a:rPr>
                              <m:t> )</m:t>
                            </m:r>
                          </m:e>
                          <m:sup>
                            <m:r>
                              <a:rPr lang="en-US" altLang="zh-TW" sz="2000" b="0" i="1" smtClean="0">
                                <a:solidFill>
                                  <a:schemeClr val="accent5">
                                    <a:lumMod val="50000"/>
                                  </a:schemeClr>
                                </a:solidFill>
                                <a:latin typeface="Cambria Math" panose="02040503050406030204" pitchFamily="18" charset="0"/>
                              </a:rPr>
                              <m:t>2 </m:t>
                            </m:r>
                          </m:sup>
                        </m:sSup>
                      </m:e>
                    </m:nary>
                    <m:r>
                      <a:rPr lang="en-US" altLang="zh-TW" sz="2000" b="0" i="0" smtClean="0">
                        <a:solidFill>
                          <a:schemeClr val="accent5">
                            <a:lumMod val="50000"/>
                          </a:schemeClr>
                        </a:solidFill>
                        <a:latin typeface="Cambria Math" panose="02040503050406030204" pitchFamily="18" charset="0"/>
                      </a:rPr>
                      <m:t>=</m:t>
                    </m:r>
                  </m:oMath>
                </a14:m>
                <a:r>
                  <a:rPr lang="en-US" altLang="zh-TW" sz="2000" dirty="0">
                    <a:solidFill>
                      <a:schemeClr val="accent5">
                        <a:lumMod val="50000"/>
                      </a:schemeClr>
                    </a:solidFill>
                  </a:rPr>
                  <a:t> </a:t>
                </a:r>
                <a14:m>
                  <m:oMath xmlns:m="http://schemas.openxmlformats.org/officeDocument/2006/math">
                    <m:f>
                      <m:fPr>
                        <m:ctrlPr>
                          <a:rPr lang="en-US" altLang="zh-TW" sz="2000" i="1" smtClean="0">
                            <a:solidFill>
                              <a:srgbClr val="FF0000"/>
                            </a:solidFill>
                            <a:latin typeface="Cambria Math" panose="02040503050406030204" pitchFamily="18" charset="0"/>
                          </a:rPr>
                        </m:ctrlPr>
                      </m:fPr>
                      <m:num>
                        <m:r>
                          <a:rPr lang="en-US" altLang="zh-TW" sz="2000" i="1">
                            <a:solidFill>
                              <a:srgbClr val="FF0000"/>
                            </a:solidFill>
                            <a:latin typeface="Cambria Math" panose="02040503050406030204" pitchFamily="18" charset="0"/>
                          </a:rPr>
                          <m:t>1</m:t>
                        </m:r>
                      </m:num>
                      <m:den>
                        <m:r>
                          <a:rPr lang="en-US" altLang="zh-TW" sz="2000" i="1">
                            <a:solidFill>
                              <a:srgbClr val="FF0000"/>
                            </a:solidFill>
                            <a:latin typeface="Cambria Math" panose="02040503050406030204" pitchFamily="18" charset="0"/>
                          </a:rPr>
                          <m:t>𝑁</m:t>
                        </m:r>
                      </m:den>
                    </m:f>
                    <m:nary>
                      <m:naryPr>
                        <m:chr m:val="∑"/>
                        <m:ctrlPr>
                          <a:rPr lang="en-US" altLang="zh-TW" sz="2000" i="1">
                            <a:solidFill>
                              <a:srgbClr val="FF0000"/>
                            </a:solidFill>
                            <a:latin typeface="Cambria Math" panose="02040503050406030204" pitchFamily="18" charset="0"/>
                          </a:rPr>
                        </m:ctrlPr>
                      </m:naryPr>
                      <m:sub>
                        <m:r>
                          <m:rPr>
                            <m:brk m:alnAt="23"/>
                          </m:rPr>
                          <a:rPr lang="en-US" altLang="zh-TW" sz="2000" i="1">
                            <a:solidFill>
                              <a:srgbClr val="FF0000"/>
                            </a:solidFill>
                            <a:latin typeface="Cambria Math" panose="02040503050406030204" pitchFamily="18" charset="0"/>
                          </a:rPr>
                          <m:t>𝑖</m:t>
                        </m:r>
                        <m:r>
                          <a:rPr lang="en-US" altLang="zh-TW" sz="2000" i="1">
                            <a:solidFill>
                              <a:srgbClr val="FF0000"/>
                            </a:solidFill>
                            <a:latin typeface="Cambria Math" panose="02040503050406030204" pitchFamily="18" charset="0"/>
                          </a:rPr>
                          <m:t>=1</m:t>
                        </m:r>
                      </m:sub>
                      <m:sup>
                        <m:r>
                          <a:rPr lang="en-US" altLang="zh-TW" sz="2000" i="1">
                            <a:solidFill>
                              <a:srgbClr val="FF0000"/>
                            </a:solidFill>
                            <a:latin typeface="Cambria Math" panose="02040503050406030204" pitchFamily="18" charset="0"/>
                          </a:rPr>
                          <m:t>𝑁</m:t>
                        </m:r>
                      </m:sup>
                      <m:e>
                        <m:sSup>
                          <m:sSupPr>
                            <m:ctrlPr>
                              <a:rPr lang="en-US" altLang="zh-TW" sz="2000" i="1">
                                <a:solidFill>
                                  <a:srgbClr val="FF0000"/>
                                </a:solidFill>
                                <a:latin typeface="Cambria Math" panose="02040503050406030204" pitchFamily="18" charset="0"/>
                              </a:rPr>
                            </m:ctrlPr>
                          </m:sSupPr>
                          <m:e>
                            <m:r>
                              <a:rPr lang="en-US" altLang="zh-TW" sz="2000" i="1">
                                <a:solidFill>
                                  <a:srgbClr val="FF0000"/>
                                </a:solidFill>
                                <a:latin typeface="Cambria Math" panose="02040503050406030204" pitchFamily="18" charset="0"/>
                              </a:rPr>
                              <m:t>(</m:t>
                            </m:r>
                            <m:sSub>
                              <m:sSubPr>
                                <m:ctrlPr>
                                  <a:rPr lang="en-US" altLang="zh-TW" sz="2000" i="1">
                                    <a:solidFill>
                                      <a:srgbClr val="FF0000"/>
                                    </a:solidFill>
                                    <a:latin typeface="Cambria Math" panose="02040503050406030204" pitchFamily="18" charset="0"/>
                                  </a:rPr>
                                </m:ctrlPr>
                              </m:sSubPr>
                              <m:e>
                                <m:r>
                                  <a:rPr lang="en-US" altLang="zh-TW" sz="2000" i="1">
                                    <a:solidFill>
                                      <a:srgbClr val="FF0000"/>
                                    </a:solidFill>
                                    <a:latin typeface="Cambria Math" panose="02040503050406030204" pitchFamily="18" charset="0"/>
                                  </a:rPr>
                                  <m:t>𝑦</m:t>
                                </m:r>
                              </m:e>
                              <m:sub>
                                <m:r>
                                  <a:rPr lang="en-US" altLang="zh-TW" sz="2000" i="1">
                                    <a:solidFill>
                                      <a:srgbClr val="FF0000"/>
                                    </a:solidFill>
                                    <a:latin typeface="Cambria Math" panose="02040503050406030204" pitchFamily="18" charset="0"/>
                                  </a:rPr>
                                  <m:t>𝑖</m:t>
                                </m:r>
                              </m:sub>
                            </m:sSub>
                            <m:r>
                              <a:rPr lang="en-US" altLang="zh-TW" sz="2000" i="1">
                                <a:solidFill>
                                  <a:srgbClr val="FF0000"/>
                                </a:solidFill>
                                <a:latin typeface="Cambria Math" panose="02040503050406030204" pitchFamily="18" charset="0"/>
                              </a:rPr>
                              <m:t>−(</m:t>
                            </m:r>
                            <m:r>
                              <a:rPr lang="en-US" altLang="zh-TW" sz="2000" i="1">
                                <a:solidFill>
                                  <a:srgbClr val="FF0000"/>
                                </a:solidFill>
                                <a:latin typeface="Cambria Math" panose="02040503050406030204" pitchFamily="18" charset="0"/>
                              </a:rPr>
                              <m:t>𝑎</m:t>
                            </m:r>
                            <m:r>
                              <a:rPr lang="en-US" altLang="zh-TW" sz="2000" i="1">
                                <a:solidFill>
                                  <a:srgbClr val="FF0000"/>
                                </a:solidFill>
                                <a:latin typeface="Cambria Math" panose="02040503050406030204" pitchFamily="18" charset="0"/>
                              </a:rPr>
                              <m:t>+</m:t>
                            </m:r>
                            <m:r>
                              <a:rPr lang="en-US" altLang="zh-TW" sz="2000" i="1">
                                <a:solidFill>
                                  <a:srgbClr val="FF0000"/>
                                </a:solidFill>
                                <a:latin typeface="Cambria Math" panose="02040503050406030204" pitchFamily="18" charset="0"/>
                              </a:rPr>
                              <m:t>𝑏</m:t>
                            </m:r>
                            <m:sSub>
                              <m:sSubPr>
                                <m:ctrlPr>
                                  <a:rPr lang="en-US" altLang="zh-TW" sz="2000" i="1">
                                    <a:solidFill>
                                      <a:srgbClr val="FF0000"/>
                                    </a:solidFill>
                                    <a:latin typeface="Cambria Math" panose="02040503050406030204" pitchFamily="18" charset="0"/>
                                  </a:rPr>
                                </m:ctrlPr>
                              </m:sSubPr>
                              <m:e>
                                <m:r>
                                  <a:rPr lang="en-US" altLang="zh-TW" sz="2000" i="1">
                                    <a:solidFill>
                                      <a:srgbClr val="FF0000"/>
                                    </a:solidFill>
                                    <a:latin typeface="Cambria Math" panose="02040503050406030204" pitchFamily="18" charset="0"/>
                                  </a:rPr>
                                  <m:t>𝑥</m:t>
                                </m:r>
                              </m:e>
                              <m:sub>
                                <m:r>
                                  <a:rPr lang="en-US" altLang="zh-TW" sz="2000" i="1">
                                    <a:solidFill>
                                      <a:srgbClr val="FF0000"/>
                                    </a:solidFill>
                                    <a:latin typeface="Cambria Math" panose="02040503050406030204" pitchFamily="18" charset="0"/>
                                  </a:rPr>
                                  <m:t>𝑖</m:t>
                                </m:r>
                              </m:sub>
                            </m:sSub>
                            <m:r>
                              <a:rPr lang="en-US" altLang="zh-TW" sz="2000" i="1">
                                <a:solidFill>
                                  <a:srgbClr val="FF0000"/>
                                </a:solidFill>
                                <a:latin typeface="Cambria Math" panose="02040503050406030204" pitchFamily="18" charset="0"/>
                              </a:rPr>
                              <m:t>))</m:t>
                            </m:r>
                          </m:e>
                          <m:sup>
                            <m:r>
                              <a:rPr lang="en-US" altLang="zh-TW" sz="2000" i="1">
                                <a:solidFill>
                                  <a:srgbClr val="FF0000"/>
                                </a:solidFill>
                                <a:latin typeface="Cambria Math" panose="02040503050406030204" pitchFamily="18" charset="0"/>
                              </a:rPr>
                              <m:t>2</m:t>
                            </m:r>
                          </m:sup>
                        </m:sSup>
                      </m:e>
                    </m:nary>
                  </m:oMath>
                </a14:m>
                <a:r>
                  <a:rPr lang="en-US" altLang="zh-TW" sz="2000" dirty="0">
                    <a:solidFill>
                      <a:schemeClr val="accent5">
                        <a:lumMod val="50000"/>
                      </a:schemeClr>
                    </a:solidFill>
                  </a:rPr>
                  <a:t>  </a:t>
                </a:r>
                <a:r>
                  <a:rPr lang="en-US" altLang="zh-TW" sz="2000" dirty="0">
                    <a:solidFill>
                      <a:schemeClr val="accent5">
                        <a:lumMod val="50000"/>
                      </a:schemeClr>
                    </a:solidFill>
                    <a:latin typeface="Cambria Math" panose="02040503050406030204" pitchFamily="18" charset="0"/>
                  </a:rPr>
                  <a:t>=</a:t>
                </a:r>
                <a14:m>
                  <m:oMath xmlns:m="http://schemas.openxmlformats.org/officeDocument/2006/math">
                    <m:f>
                      <m:fPr>
                        <m:ctrlPr>
                          <a:rPr lang="en-US" altLang="zh-TW" sz="2000" i="1">
                            <a:solidFill>
                              <a:schemeClr val="accent5">
                                <a:lumMod val="50000"/>
                              </a:schemeClr>
                            </a:solidFill>
                            <a:latin typeface="Cambria Math" panose="02040503050406030204" pitchFamily="18" charset="0"/>
                          </a:rPr>
                        </m:ctrlPr>
                      </m:fPr>
                      <m:num>
                        <m:r>
                          <a:rPr lang="en-US" altLang="zh-TW" sz="2000" i="1">
                            <a:solidFill>
                              <a:schemeClr val="accent5">
                                <a:lumMod val="50000"/>
                              </a:schemeClr>
                            </a:solidFill>
                            <a:latin typeface="Cambria Math" panose="02040503050406030204" pitchFamily="18" charset="0"/>
                          </a:rPr>
                          <m:t>1</m:t>
                        </m:r>
                      </m:num>
                      <m:den>
                        <m:r>
                          <a:rPr lang="en-US" altLang="zh-TW" sz="2000" i="1">
                            <a:solidFill>
                              <a:schemeClr val="accent5">
                                <a:lumMod val="50000"/>
                              </a:schemeClr>
                            </a:solidFill>
                            <a:latin typeface="Cambria Math" panose="02040503050406030204" pitchFamily="18" charset="0"/>
                          </a:rPr>
                          <m:t>𝑁</m:t>
                        </m:r>
                      </m:den>
                    </m:f>
                    <m:nary>
                      <m:naryPr>
                        <m:chr m:val="∑"/>
                        <m:ctrlPr>
                          <a:rPr lang="en-US" altLang="zh-TW" sz="2000" i="1">
                            <a:solidFill>
                              <a:schemeClr val="accent5">
                                <a:lumMod val="50000"/>
                              </a:schemeClr>
                            </a:solidFill>
                            <a:latin typeface="Cambria Math" panose="02040503050406030204" pitchFamily="18" charset="0"/>
                          </a:rPr>
                        </m:ctrlPr>
                      </m:naryPr>
                      <m:sub>
                        <m:r>
                          <m:rPr>
                            <m:brk m:alnAt="23"/>
                          </m:rPr>
                          <a:rPr lang="en-US" altLang="zh-TW" sz="2000" i="1">
                            <a:solidFill>
                              <a:schemeClr val="accent5">
                                <a:lumMod val="50000"/>
                              </a:schemeClr>
                            </a:solidFill>
                            <a:latin typeface="Cambria Math" panose="02040503050406030204" pitchFamily="18" charset="0"/>
                          </a:rPr>
                          <m:t>𝑖</m:t>
                        </m:r>
                        <m:r>
                          <a:rPr lang="en-US" altLang="zh-TW" sz="2000" i="1">
                            <a:solidFill>
                              <a:schemeClr val="accent5">
                                <a:lumMod val="50000"/>
                              </a:schemeClr>
                            </a:solidFill>
                            <a:latin typeface="Cambria Math" panose="02040503050406030204" pitchFamily="18" charset="0"/>
                          </a:rPr>
                          <m:t>=1</m:t>
                        </m:r>
                      </m:sub>
                      <m:sup>
                        <m:r>
                          <a:rPr lang="en-US" altLang="zh-TW" sz="2000" i="1">
                            <a:solidFill>
                              <a:schemeClr val="accent5">
                                <a:lumMod val="50000"/>
                              </a:schemeClr>
                            </a:solidFill>
                            <a:latin typeface="Cambria Math" panose="02040503050406030204" pitchFamily="18" charset="0"/>
                          </a:rPr>
                          <m:t>𝑁</m:t>
                        </m:r>
                      </m:sup>
                      <m:e>
                        <m:sSup>
                          <m:sSupPr>
                            <m:ctrlPr>
                              <a:rPr lang="en-US" altLang="zh-TW" sz="2000" i="1">
                                <a:solidFill>
                                  <a:schemeClr val="accent5">
                                    <a:lumMod val="50000"/>
                                  </a:schemeClr>
                                </a:solidFill>
                                <a:latin typeface="Cambria Math" panose="02040503050406030204" pitchFamily="18" charset="0"/>
                              </a:rPr>
                            </m:ctrlPr>
                          </m:sSupPr>
                          <m:e>
                            <m:r>
                              <a:rPr lang="en-US" altLang="zh-TW" sz="2000" i="1">
                                <a:solidFill>
                                  <a:schemeClr val="accent5">
                                    <a:lumMod val="50000"/>
                                  </a:schemeClr>
                                </a:solidFill>
                                <a:latin typeface="Cambria Math" panose="02040503050406030204" pitchFamily="18" charset="0"/>
                              </a:rPr>
                              <m:t>(</m:t>
                            </m:r>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𝑦</m:t>
                                </m:r>
                              </m:e>
                              <m:sub>
                                <m:r>
                                  <a:rPr lang="en-US" altLang="zh-TW" sz="2000" i="1">
                                    <a:solidFill>
                                      <a:schemeClr val="accent5">
                                        <a:lumMod val="50000"/>
                                      </a:schemeClr>
                                    </a:solidFill>
                                    <a:latin typeface="Cambria Math" panose="02040503050406030204" pitchFamily="18" charset="0"/>
                                  </a:rPr>
                                  <m:t>𝑖</m:t>
                                </m:r>
                              </m:sub>
                            </m:sSub>
                            <m:r>
                              <a:rPr lang="en-US" altLang="zh-TW" sz="2000" i="1">
                                <a:solidFill>
                                  <a:schemeClr val="accent5">
                                    <a:lumMod val="50000"/>
                                  </a:schemeClr>
                                </a:solidFill>
                                <a:latin typeface="Cambria Math" panose="02040503050406030204" pitchFamily="18" charset="0"/>
                              </a:rPr>
                              <m:t>−</m:t>
                            </m:r>
                            <m:r>
                              <a:rPr lang="en-US" altLang="zh-TW" sz="2000" i="1">
                                <a:solidFill>
                                  <a:schemeClr val="accent5">
                                    <a:lumMod val="50000"/>
                                  </a:schemeClr>
                                </a:solidFill>
                                <a:latin typeface="Cambria Math" panose="02040503050406030204" pitchFamily="18" charset="0"/>
                              </a:rPr>
                              <m:t>𝑎</m:t>
                            </m:r>
                            <m:r>
                              <a:rPr lang="en-US" altLang="zh-TW" sz="2000" i="1">
                                <a:solidFill>
                                  <a:schemeClr val="accent5">
                                    <a:lumMod val="50000"/>
                                  </a:schemeClr>
                                </a:solidFill>
                                <a:latin typeface="Cambria Math" panose="02040503050406030204" pitchFamily="18" charset="0"/>
                              </a:rPr>
                              <m:t>−</m:t>
                            </m:r>
                            <m:r>
                              <a:rPr lang="en-US" altLang="zh-TW" sz="2000" i="1">
                                <a:solidFill>
                                  <a:schemeClr val="accent5">
                                    <a:lumMod val="50000"/>
                                  </a:schemeClr>
                                </a:solidFill>
                                <a:latin typeface="Cambria Math" panose="02040503050406030204" pitchFamily="18" charset="0"/>
                              </a:rPr>
                              <m:t>𝑏</m:t>
                            </m:r>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𝑥</m:t>
                                </m:r>
                              </m:e>
                              <m:sub>
                                <m:r>
                                  <a:rPr lang="en-US" altLang="zh-TW" sz="2000" i="1">
                                    <a:solidFill>
                                      <a:schemeClr val="accent5">
                                        <a:lumMod val="50000"/>
                                      </a:schemeClr>
                                    </a:solidFill>
                                    <a:latin typeface="Cambria Math" panose="02040503050406030204" pitchFamily="18" charset="0"/>
                                  </a:rPr>
                                  <m:t>𝑖</m:t>
                                </m:r>
                              </m:sub>
                            </m:sSub>
                            <m:r>
                              <a:rPr lang="en-US" altLang="zh-TW" sz="2000" i="1">
                                <a:solidFill>
                                  <a:schemeClr val="accent5">
                                    <a:lumMod val="50000"/>
                                  </a:schemeClr>
                                </a:solidFill>
                                <a:latin typeface="Cambria Math" panose="02040503050406030204" pitchFamily="18" charset="0"/>
                              </a:rPr>
                              <m:t>)</m:t>
                            </m:r>
                          </m:e>
                          <m:sup>
                            <m:r>
                              <a:rPr lang="en-US" altLang="zh-TW" sz="2000" i="1">
                                <a:solidFill>
                                  <a:schemeClr val="accent5">
                                    <a:lumMod val="50000"/>
                                  </a:schemeClr>
                                </a:solidFill>
                                <a:latin typeface="Cambria Math" panose="02040503050406030204" pitchFamily="18" charset="0"/>
                              </a:rPr>
                              <m:t>2</m:t>
                            </m:r>
                          </m:sup>
                        </m:sSup>
                      </m:e>
                    </m:nary>
                  </m:oMath>
                </a14:m>
                <a:endParaRPr lang="zh-TW" altLang="en-US" sz="2000" dirty="0">
                  <a:solidFill>
                    <a:schemeClr val="accent5">
                      <a:lumMod val="50000"/>
                    </a:schemeClr>
                  </a:solidFill>
                </a:endParaRPr>
              </a:p>
            </p:txBody>
          </p:sp>
        </mc:Choice>
        <mc:Fallback xmlns="">
          <p:sp>
            <p:nvSpPr>
              <p:cNvPr id="17" name="文字方塊 16">
                <a:extLst>
                  <a:ext uri="{FF2B5EF4-FFF2-40B4-BE49-F238E27FC236}">
                    <a16:creationId xmlns:a16="http://schemas.microsoft.com/office/drawing/2014/main" id="{A8BCD467-BDDB-9473-17D0-84F6D7ED41D9}"/>
                  </a:ext>
                </a:extLst>
              </p:cNvPr>
              <p:cNvSpPr txBox="1">
                <a:spLocks noRot="1" noChangeAspect="1" noMove="1" noResize="1" noEditPoints="1" noAdjustHandles="1" noChangeArrowheads="1" noChangeShapeType="1" noTextEdit="1"/>
              </p:cNvSpPr>
              <p:nvPr/>
            </p:nvSpPr>
            <p:spPr>
              <a:xfrm>
                <a:off x="106864" y="1057801"/>
                <a:ext cx="5731764" cy="869212"/>
              </a:xfrm>
              <a:prstGeom prst="rect">
                <a:avLst/>
              </a:prstGeom>
              <a:blipFill>
                <a:blip r:embed="rId2"/>
                <a:stretch>
                  <a:fillRect l="-2766" t="-54930" b="-823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92876547-59DD-4D17-41EE-79BB8B40D6F3}"/>
                  </a:ext>
                </a:extLst>
              </p:cNvPr>
              <p:cNvSpPr txBox="1"/>
              <p:nvPr/>
            </p:nvSpPr>
            <p:spPr>
              <a:xfrm>
                <a:off x="106864" y="2293774"/>
                <a:ext cx="5417999" cy="1359924"/>
              </a:xfrm>
              <a:prstGeom prst="rect">
                <a:avLst/>
              </a:prstGeom>
              <a:noFill/>
            </p:spPr>
            <p:txBody>
              <a:bodyPr wrap="square" lIns="0" tIns="0" rIns="0" bIns="0" rtlCol="0">
                <a:spAutoFit/>
              </a:bodyPr>
              <a:lstStyle/>
              <a:p>
                <a14:m>
                  <m:oMath xmlns:m="http://schemas.openxmlformats.org/officeDocument/2006/math">
                    <m:f>
                      <m:fPr>
                        <m:ctrlPr>
                          <a:rPr lang="en-US" altLang="zh-TW" sz="2000" b="0" i="1" smtClean="0">
                            <a:solidFill>
                              <a:srgbClr val="7030A0"/>
                            </a:solidFill>
                            <a:latin typeface="Cambria Math" panose="02040503050406030204" pitchFamily="18" charset="0"/>
                          </a:rPr>
                        </m:ctrlPr>
                      </m:fPr>
                      <m:num>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𝑀𝑆𝐸</m:t>
                        </m:r>
                      </m:num>
                      <m:den>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𝑎</m:t>
                        </m:r>
                      </m:den>
                    </m:f>
                    <m:r>
                      <a:rPr lang="en-US" altLang="zh-TW" sz="2000" b="0" i="0" smtClean="0">
                        <a:solidFill>
                          <a:schemeClr val="accent5">
                            <a:lumMod val="50000"/>
                          </a:schemeClr>
                        </a:solidFill>
                        <a:latin typeface="Cambria Math" panose="02040503050406030204" pitchFamily="18" charset="0"/>
                      </a:rPr>
                      <m:t>=</m:t>
                    </m:r>
                    <m:f>
                      <m:fPr>
                        <m:ctrlPr>
                          <a:rPr lang="en-US" altLang="zh-TW" sz="2000" i="1">
                            <a:solidFill>
                              <a:schemeClr val="accent5">
                                <a:lumMod val="50000"/>
                              </a:schemeClr>
                            </a:solidFill>
                            <a:latin typeface="Cambria Math" panose="02040503050406030204" pitchFamily="18" charset="0"/>
                          </a:rPr>
                        </m:ctrlPr>
                      </m:fPr>
                      <m:num>
                        <m:r>
                          <a:rPr lang="zh-TW" altLang="en-US" sz="2000" i="1">
                            <a:solidFill>
                              <a:schemeClr val="accent5">
                                <a:lumMod val="50000"/>
                              </a:schemeClr>
                            </a:solidFill>
                            <a:latin typeface="Cambria Math" panose="02040503050406030204" pitchFamily="18" charset="0"/>
                          </a:rPr>
                          <m:t>𝛿</m:t>
                        </m:r>
                        <m:r>
                          <a:rPr lang="en-US" altLang="zh-TW" sz="2000" i="1">
                            <a:solidFill>
                              <a:schemeClr val="accent5">
                                <a:lumMod val="50000"/>
                              </a:schemeClr>
                            </a:solidFill>
                            <a:latin typeface="Cambria Math" panose="02040503050406030204" pitchFamily="18" charset="0"/>
                          </a:rPr>
                          <m:t>𝑀𝑆𝐸</m:t>
                        </m:r>
                      </m:num>
                      <m:den>
                        <m:r>
                          <a:rPr lang="zh-TW" altLang="en-US" sz="2000" i="1">
                            <a:solidFill>
                              <a:schemeClr val="accent5">
                                <a:lumMod val="50000"/>
                              </a:schemeClr>
                            </a:solidFill>
                            <a:latin typeface="Cambria Math" panose="02040503050406030204" pitchFamily="18" charset="0"/>
                          </a:rPr>
                          <m:t>𝛿</m:t>
                        </m:r>
                        <m:sSub>
                          <m:sSubPr>
                            <m:ctrlPr>
                              <a:rPr lang="en-US" altLang="zh-TW" sz="2000" i="1">
                                <a:solidFill>
                                  <a:schemeClr val="accent5">
                                    <a:lumMod val="50000"/>
                                  </a:schemeClr>
                                </a:solidFill>
                                <a:latin typeface="Cambria Math" panose="02040503050406030204" pitchFamily="18" charset="0"/>
                              </a:rPr>
                            </m:ctrlPr>
                          </m:sSubPr>
                          <m:e>
                            <m:acc>
                              <m:accPr>
                                <m:chr m:val="̂"/>
                                <m:ctrlPr>
                                  <a:rPr lang="en-US" altLang="zh-TW" sz="2000" i="1">
                                    <a:solidFill>
                                      <a:schemeClr val="accent5">
                                        <a:lumMod val="50000"/>
                                      </a:schemeClr>
                                    </a:solidFill>
                                    <a:latin typeface="Cambria Math" panose="02040503050406030204" pitchFamily="18" charset="0"/>
                                  </a:rPr>
                                </m:ctrlPr>
                              </m:accPr>
                              <m:e>
                                <m:r>
                                  <a:rPr lang="en-US" altLang="zh-TW" sz="2000" i="1">
                                    <a:solidFill>
                                      <a:schemeClr val="accent5">
                                        <a:lumMod val="50000"/>
                                      </a:schemeClr>
                                    </a:solidFill>
                                    <a:latin typeface="Cambria Math" panose="02040503050406030204" pitchFamily="18" charset="0"/>
                                  </a:rPr>
                                  <m:t>𝑦</m:t>
                                </m:r>
                              </m:e>
                            </m:acc>
                          </m:e>
                          <m:sub>
                            <m:r>
                              <a:rPr lang="en-US" altLang="zh-TW" sz="2000" i="1">
                                <a:solidFill>
                                  <a:schemeClr val="accent5">
                                    <a:lumMod val="50000"/>
                                  </a:schemeClr>
                                </a:solidFill>
                                <a:latin typeface="Cambria Math" panose="02040503050406030204" pitchFamily="18" charset="0"/>
                              </a:rPr>
                              <m:t>𝑖</m:t>
                            </m:r>
                          </m:sub>
                        </m:sSub>
                      </m:den>
                    </m:f>
                    <m:r>
                      <a:rPr lang="en-US" altLang="zh-TW" sz="2000" i="1" smtClean="0">
                        <a:solidFill>
                          <a:schemeClr val="accent5">
                            <a:lumMod val="50000"/>
                          </a:schemeClr>
                        </a:solidFill>
                        <a:latin typeface="Cambria Math" panose="02040503050406030204" pitchFamily="18" charset="0"/>
                        <a:ea typeface="Cambria Math" panose="02040503050406030204" pitchFamily="18" charset="0"/>
                      </a:rPr>
                      <m:t>∙</m:t>
                    </m:r>
                    <m:f>
                      <m:fPr>
                        <m:ctrlPr>
                          <a:rPr lang="en-US" altLang="zh-TW" sz="2000" i="1">
                            <a:solidFill>
                              <a:schemeClr val="accent5">
                                <a:lumMod val="50000"/>
                              </a:schemeClr>
                            </a:solidFill>
                            <a:latin typeface="Cambria Math" panose="02040503050406030204" pitchFamily="18" charset="0"/>
                          </a:rPr>
                        </m:ctrlPr>
                      </m:fPr>
                      <m:num>
                        <m:r>
                          <a:rPr lang="zh-TW" altLang="en-US" sz="2000" i="1">
                            <a:solidFill>
                              <a:schemeClr val="accent5">
                                <a:lumMod val="50000"/>
                              </a:schemeClr>
                            </a:solidFill>
                            <a:latin typeface="Cambria Math" panose="02040503050406030204" pitchFamily="18" charset="0"/>
                          </a:rPr>
                          <m:t>𝛿</m:t>
                        </m:r>
                        <m:sSub>
                          <m:sSubPr>
                            <m:ctrlPr>
                              <a:rPr lang="en-US" altLang="zh-TW" sz="2000" i="1" smtClean="0">
                                <a:solidFill>
                                  <a:schemeClr val="accent5">
                                    <a:lumMod val="50000"/>
                                  </a:schemeClr>
                                </a:solidFill>
                                <a:latin typeface="Cambria Math" panose="02040503050406030204" pitchFamily="18" charset="0"/>
                              </a:rPr>
                            </m:ctrlPr>
                          </m:sSubPr>
                          <m:e>
                            <m:acc>
                              <m:accPr>
                                <m:chr m:val="̂"/>
                                <m:ctrlPr>
                                  <a:rPr lang="en-US" altLang="zh-TW" sz="2000" b="0" i="1" smtClean="0">
                                    <a:solidFill>
                                      <a:schemeClr val="accent5">
                                        <a:lumMod val="50000"/>
                                      </a:schemeClr>
                                    </a:solidFill>
                                    <a:latin typeface="Cambria Math" panose="02040503050406030204" pitchFamily="18" charset="0"/>
                                  </a:rPr>
                                </m:ctrlPr>
                              </m:accPr>
                              <m:e>
                                <m:r>
                                  <a:rPr lang="en-US" altLang="zh-TW" sz="2000" b="0" i="1" smtClean="0">
                                    <a:solidFill>
                                      <a:schemeClr val="accent5">
                                        <a:lumMod val="50000"/>
                                      </a:schemeClr>
                                    </a:solidFill>
                                    <a:latin typeface="Cambria Math" panose="02040503050406030204" pitchFamily="18" charset="0"/>
                                  </a:rPr>
                                  <m:t>𝑦</m:t>
                                </m:r>
                              </m:e>
                            </m:acc>
                          </m:e>
                          <m:sub>
                            <m:r>
                              <a:rPr lang="en-US" altLang="zh-TW" sz="2000" b="0" i="1" smtClean="0">
                                <a:solidFill>
                                  <a:schemeClr val="accent5">
                                    <a:lumMod val="50000"/>
                                  </a:schemeClr>
                                </a:solidFill>
                                <a:latin typeface="Cambria Math" panose="02040503050406030204" pitchFamily="18" charset="0"/>
                              </a:rPr>
                              <m:t>𝑖</m:t>
                            </m:r>
                          </m:sub>
                        </m:sSub>
                      </m:num>
                      <m:den>
                        <m:r>
                          <a:rPr lang="zh-TW" altLang="en-US" sz="2000" i="1">
                            <a:solidFill>
                              <a:schemeClr val="accent5">
                                <a:lumMod val="50000"/>
                              </a:schemeClr>
                            </a:solidFill>
                            <a:latin typeface="Cambria Math" panose="02040503050406030204" pitchFamily="18" charset="0"/>
                          </a:rPr>
                          <m:t>𝛿</m:t>
                        </m:r>
                        <m:r>
                          <a:rPr lang="en-US" altLang="zh-TW" sz="2000" i="1">
                            <a:solidFill>
                              <a:schemeClr val="accent5">
                                <a:lumMod val="50000"/>
                              </a:schemeClr>
                            </a:solidFill>
                            <a:latin typeface="Cambria Math" panose="02040503050406030204" pitchFamily="18" charset="0"/>
                          </a:rPr>
                          <m:t>𝑎</m:t>
                        </m:r>
                      </m:den>
                    </m:f>
                    <m:r>
                      <a:rPr lang="en-US" altLang="zh-TW" sz="2000">
                        <a:solidFill>
                          <a:schemeClr val="accent5">
                            <a:lumMod val="50000"/>
                          </a:schemeClr>
                        </a:solidFill>
                        <a:latin typeface="Cambria Math" panose="02040503050406030204" pitchFamily="18" charset="0"/>
                      </a:rPr>
                      <m:t>=</m:t>
                    </m:r>
                  </m:oMath>
                </a14:m>
                <a:r>
                  <a:rPr lang="en-US" altLang="zh-TW" sz="2000" dirty="0">
                    <a:solidFill>
                      <a:schemeClr val="accent5">
                        <a:lumMod val="50000"/>
                      </a:schemeClr>
                    </a:solidFill>
                  </a:rPr>
                  <a:t> </a:t>
                </a:r>
                <a14:m>
                  <m:oMath xmlns:m="http://schemas.openxmlformats.org/officeDocument/2006/math">
                    <m:f>
                      <m:fPr>
                        <m:ctrlPr>
                          <a:rPr lang="en-US" altLang="zh-TW" sz="2000" i="1">
                            <a:solidFill>
                              <a:schemeClr val="accent5">
                                <a:lumMod val="50000"/>
                              </a:schemeClr>
                            </a:solidFill>
                            <a:latin typeface="Cambria Math" panose="02040503050406030204" pitchFamily="18" charset="0"/>
                          </a:rPr>
                        </m:ctrlPr>
                      </m:fPr>
                      <m:num>
                        <m:r>
                          <a:rPr lang="en-US" altLang="zh-TW" sz="2000" i="1">
                            <a:solidFill>
                              <a:schemeClr val="accent5">
                                <a:lumMod val="50000"/>
                              </a:schemeClr>
                            </a:solidFill>
                            <a:latin typeface="Cambria Math" panose="02040503050406030204" pitchFamily="18" charset="0"/>
                          </a:rPr>
                          <m:t>1</m:t>
                        </m:r>
                      </m:num>
                      <m:den>
                        <m:r>
                          <a:rPr lang="en-US" altLang="zh-TW" sz="2000" i="1">
                            <a:solidFill>
                              <a:schemeClr val="accent5">
                                <a:lumMod val="50000"/>
                              </a:schemeClr>
                            </a:solidFill>
                            <a:latin typeface="Cambria Math" panose="02040503050406030204" pitchFamily="18" charset="0"/>
                          </a:rPr>
                          <m:t>𝑁</m:t>
                        </m:r>
                      </m:den>
                    </m:f>
                    <m:nary>
                      <m:naryPr>
                        <m:chr m:val="∑"/>
                        <m:ctrlPr>
                          <a:rPr lang="en-US" altLang="zh-TW" sz="2000" i="1">
                            <a:solidFill>
                              <a:schemeClr val="accent5">
                                <a:lumMod val="50000"/>
                              </a:schemeClr>
                            </a:solidFill>
                            <a:latin typeface="Cambria Math" panose="02040503050406030204" pitchFamily="18" charset="0"/>
                          </a:rPr>
                        </m:ctrlPr>
                      </m:naryPr>
                      <m:sub>
                        <m:r>
                          <m:rPr>
                            <m:brk m:alnAt="23"/>
                          </m:rPr>
                          <a:rPr lang="en-US" altLang="zh-TW" sz="2000" i="1">
                            <a:solidFill>
                              <a:schemeClr val="accent5">
                                <a:lumMod val="50000"/>
                              </a:schemeClr>
                            </a:solidFill>
                            <a:latin typeface="Cambria Math" panose="02040503050406030204" pitchFamily="18" charset="0"/>
                          </a:rPr>
                          <m:t>𝑖</m:t>
                        </m:r>
                        <m:r>
                          <a:rPr lang="en-US" altLang="zh-TW" sz="2000" i="1">
                            <a:solidFill>
                              <a:schemeClr val="accent5">
                                <a:lumMod val="50000"/>
                              </a:schemeClr>
                            </a:solidFill>
                            <a:latin typeface="Cambria Math" panose="02040503050406030204" pitchFamily="18" charset="0"/>
                          </a:rPr>
                          <m:t>=1</m:t>
                        </m:r>
                      </m:sub>
                      <m:sup>
                        <m:r>
                          <a:rPr lang="en-US" altLang="zh-TW" sz="2000" i="1">
                            <a:solidFill>
                              <a:schemeClr val="accent5">
                                <a:lumMod val="50000"/>
                              </a:schemeClr>
                            </a:solidFill>
                            <a:latin typeface="Cambria Math" panose="02040503050406030204" pitchFamily="18" charset="0"/>
                          </a:rPr>
                          <m:t>𝑁</m:t>
                        </m:r>
                      </m:sup>
                      <m:e>
                        <m:r>
                          <a:rPr lang="en-US" altLang="zh-TW" sz="2000" b="0" i="1" smtClean="0">
                            <a:solidFill>
                              <a:schemeClr val="accent5">
                                <a:lumMod val="50000"/>
                              </a:schemeClr>
                            </a:solidFill>
                            <a:latin typeface="Cambria Math" panose="02040503050406030204" pitchFamily="18" charset="0"/>
                          </a:rPr>
                          <m:t>2</m:t>
                        </m:r>
                        <m:d>
                          <m:dPr>
                            <m:ctrlPr>
                              <a:rPr lang="en-US" altLang="zh-TW" sz="2000" i="1">
                                <a:solidFill>
                                  <a:schemeClr val="accent5">
                                    <a:lumMod val="50000"/>
                                  </a:schemeClr>
                                </a:solidFill>
                                <a:latin typeface="Cambria Math" panose="02040503050406030204" pitchFamily="18" charset="0"/>
                              </a:rPr>
                            </m:ctrlPr>
                          </m:dPr>
                          <m:e>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𝑦</m:t>
                                </m:r>
                              </m:e>
                              <m:sub>
                                <m:r>
                                  <a:rPr lang="en-US" altLang="zh-TW" sz="2000" i="1">
                                    <a:solidFill>
                                      <a:schemeClr val="accent5">
                                        <a:lumMod val="50000"/>
                                      </a:schemeClr>
                                    </a:solidFill>
                                    <a:latin typeface="Cambria Math" panose="02040503050406030204" pitchFamily="18" charset="0"/>
                                  </a:rPr>
                                  <m:t>𝑖</m:t>
                                </m:r>
                              </m:sub>
                            </m:sSub>
                            <m:r>
                              <a:rPr lang="en-US" altLang="zh-TW" sz="2000" i="1">
                                <a:solidFill>
                                  <a:schemeClr val="accent5">
                                    <a:lumMod val="50000"/>
                                  </a:schemeClr>
                                </a:solidFill>
                                <a:latin typeface="Cambria Math" panose="02040503050406030204" pitchFamily="18" charset="0"/>
                              </a:rPr>
                              <m:t>−</m:t>
                            </m:r>
                            <m:r>
                              <a:rPr lang="en-US" altLang="zh-TW" sz="2000" i="1">
                                <a:solidFill>
                                  <a:schemeClr val="accent5">
                                    <a:lumMod val="50000"/>
                                  </a:schemeClr>
                                </a:solidFill>
                                <a:latin typeface="Cambria Math" panose="02040503050406030204" pitchFamily="18" charset="0"/>
                              </a:rPr>
                              <m:t>𝑎</m:t>
                            </m:r>
                            <m:r>
                              <a:rPr lang="en-US" altLang="zh-TW" sz="2000" i="1">
                                <a:solidFill>
                                  <a:schemeClr val="accent5">
                                    <a:lumMod val="50000"/>
                                  </a:schemeClr>
                                </a:solidFill>
                                <a:latin typeface="Cambria Math" panose="02040503050406030204" pitchFamily="18" charset="0"/>
                              </a:rPr>
                              <m:t>−</m:t>
                            </m:r>
                            <m:r>
                              <a:rPr lang="en-US" altLang="zh-TW" sz="2000" i="1">
                                <a:solidFill>
                                  <a:schemeClr val="accent5">
                                    <a:lumMod val="50000"/>
                                  </a:schemeClr>
                                </a:solidFill>
                                <a:latin typeface="Cambria Math" panose="02040503050406030204" pitchFamily="18" charset="0"/>
                              </a:rPr>
                              <m:t>𝑏</m:t>
                            </m:r>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𝑥</m:t>
                                </m:r>
                              </m:e>
                              <m:sub>
                                <m:r>
                                  <a:rPr lang="en-US" altLang="zh-TW" sz="2000" i="1">
                                    <a:solidFill>
                                      <a:schemeClr val="accent5">
                                        <a:lumMod val="50000"/>
                                      </a:schemeClr>
                                    </a:solidFill>
                                    <a:latin typeface="Cambria Math" panose="02040503050406030204" pitchFamily="18" charset="0"/>
                                  </a:rPr>
                                  <m:t>𝑖</m:t>
                                </m:r>
                              </m:sub>
                            </m:sSub>
                          </m:e>
                        </m:d>
                        <m:d>
                          <m:dPr>
                            <m:ctrlPr>
                              <a:rPr lang="en-US" altLang="zh-TW" sz="2000" b="0" i="1" smtClean="0">
                                <a:solidFill>
                                  <a:schemeClr val="accent5">
                                    <a:lumMod val="50000"/>
                                  </a:schemeClr>
                                </a:solidFill>
                                <a:latin typeface="Cambria Math" panose="02040503050406030204" pitchFamily="18" charset="0"/>
                              </a:rPr>
                            </m:ctrlPr>
                          </m:dPr>
                          <m:e>
                            <m:r>
                              <a:rPr lang="en-US" altLang="zh-TW" sz="2000" b="0" i="1" smtClean="0">
                                <a:solidFill>
                                  <a:schemeClr val="accent5">
                                    <a:lumMod val="50000"/>
                                  </a:schemeClr>
                                </a:solidFill>
                                <a:latin typeface="Cambria Math" panose="02040503050406030204" pitchFamily="18" charset="0"/>
                              </a:rPr>
                              <m:t>−1</m:t>
                            </m:r>
                          </m:e>
                        </m:d>
                      </m:e>
                    </m:nary>
                  </m:oMath>
                </a14:m>
                <a:endParaRPr lang="en-US" altLang="zh-TW" sz="2000" i="1" dirty="0">
                  <a:solidFill>
                    <a:schemeClr val="accent5">
                      <a:lumMod val="50000"/>
                    </a:schemeClr>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000" b="0" i="1" smtClean="0">
                          <a:solidFill>
                            <a:schemeClr val="accent5">
                              <a:lumMod val="50000"/>
                            </a:schemeClr>
                          </a:solidFill>
                          <a:latin typeface="Cambria Math" panose="02040503050406030204" pitchFamily="18" charset="0"/>
                        </a:rPr>
                        <m:t>=</m:t>
                      </m:r>
                      <m:f>
                        <m:fPr>
                          <m:ctrlPr>
                            <a:rPr lang="en-US" altLang="zh-TW" sz="2000" i="1">
                              <a:solidFill>
                                <a:schemeClr val="accent5">
                                  <a:lumMod val="50000"/>
                                </a:schemeClr>
                              </a:solidFill>
                              <a:latin typeface="Cambria Math" panose="02040503050406030204" pitchFamily="18" charset="0"/>
                            </a:rPr>
                          </m:ctrlPr>
                        </m:fPr>
                        <m:num>
                          <m:r>
                            <a:rPr lang="en-US" altLang="zh-TW" sz="2000" b="0" i="1" smtClean="0">
                              <a:solidFill>
                                <a:schemeClr val="accent5">
                                  <a:lumMod val="50000"/>
                                </a:schemeClr>
                              </a:solidFill>
                              <a:latin typeface="Cambria Math" panose="02040503050406030204" pitchFamily="18" charset="0"/>
                            </a:rPr>
                            <m:t>−2</m:t>
                          </m:r>
                        </m:num>
                        <m:den>
                          <m:r>
                            <a:rPr lang="en-US" altLang="zh-TW" sz="2000" i="1">
                              <a:solidFill>
                                <a:schemeClr val="accent5">
                                  <a:lumMod val="50000"/>
                                </a:schemeClr>
                              </a:solidFill>
                              <a:latin typeface="Cambria Math" panose="02040503050406030204" pitchFamily="18" charset="0"/>
                            </a:rPr>
                            <m:t>𝑁</m:t>
                          </m:r>
                        </m:den>
                      </m:f>
                      <m:nary>
                        <m:naryPr>
                          <m:chr m:val="∑"/>
                          <m:ctrlPr>
                            <a:rPr lang="en-US" altLang="zh-TW" sz="2000" i="1">
                              <a:solidFill>
                                <a:schemeClr val="accent5">
                                  <a:lumMod val="50000"/>
                                </a:schemeClr>
                              </a:solidFill>
                              <a:latin typeface="Cambria Math" panose="02040503050406030204" pitchFamily="18" charset="0"/>
                            </a:rPr>
                          </m:ctrlPr>
                        </m:naryPr>
                        <m:sub>
                          <m:r>
                            <m:rPr>
                              <m:brk m:alnAt="23"/>
                            </m:rPr>
                            <a:rPr lang="en-US" altLang="zh-TW" sz="2000" i="1">
                              <a:solidFill>
                                <a:schemeClr val="accent5">
                                  <a:lumMod val="50000"/>
                                </a:schemeClr>
                              </a:solidFill>
                              <a:latin typeface="Cambria Math" panose="02040503050406030204" pitchFamily="18" charset="0"/>
                            </a:rPr>
                            <m:t>𝑖</m:t>
                          </m:r>
                          <m:r>
                            <a:rPr lang="en-US" altLang="zh-TW" sz="2000" i="1">
                              <a:solidFill>
                                <a:schemeClr val="accent5">
                                  <a:lumMod val="50000"/>
                                </a:schemeClr>
                              </a:solidFill>
                              <a:latin typeface="Cambria Math" panose="02040503050406030204" pitchFamily="18" charset="0"/>
                            </a:rPr>
                            <m:t>=1</m:t>
                          </m:r>
                        </m:sub>
                        <m:sup>
                          <m:r>
                            <a:rPr lang="en-US" altLang="zh-TW" sz="2000" i="1">
                              <a:solidFill>
                                <a:schemeClr val="accent5">
                                  <a:lumMod val="50000"/>
                                </a:schemeClr>
                              </a:solidFill>
                              <a:latin typeface="Cambria Math" panose="02040503050406030204" pitchFamily="18" charset="0"/>
                            </a:rPr>
                            <m:t>𝑁</m:t>
                          </m:r>
                        </m:sup>
                        <m:e>
                          <m:r>
                            <a:rPr lang="en-US" altLang="zh-TW" sz="2000" b="0" i="1" smtClean="0">
                              <a:solidFill>
                                <a:schemeClr val="accent5">
                                  <a:lumMod val="50000"/>
                                </a:schemeClr>
                              </a:solidFill>
                              <a:latin typeface="Cambria Math" panose="02040503050406030204" pitchFamily="18" charset="0"/>
                            </a:rPr>
                            <m:t>(</m:t>
                          </m:r>
                          <m:sSub>
                            <m:sSubPr>
                              <m:ctrlPr>
                                <a:rPr lang="en-US" altLang="zh-TW" sz="2000" i="1">
                                  <a:solidFill>
                                    <a:schemeClr val="accent5">
                                      <a:lumMod val="50000"/>
                                    </a:schemeClr>
                                  </a:solidFill>
                                  <a:latin typeface="Cambria Math" panose="02040503050406030204" pitchFamily="18" charset="0"/>
                                </a:rPr>
                              </m:ctrlPr>
                            </m:sSubPr>
                            <m:e>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𝑦</m:t>
                                  </m:r>
                                </m:e>
                                <m:sub>
                                  <m:r>
                                    <a:rPr lang="en-US" altLang="zh-TW" sz="2000" i="1">
                                      <a:solidFill>
                                        <a:schemeClr val="accent5">
                                          <a:lumMod val="50000"/>
                                        </a:schemeClr>
                                      </a:solidFill>
                                      <a:latin typeface="Cambria Math" panose="02040503050406030204" pitchFamily="18" charset="0"/>
                                    </a:rPr>
                                    <m:t>𝑖</m:t>
                                  </m:r>
                                </m:sub>
                              </m:sSub>
                              <m:r>
                                <a:rPr lang="en-US" altLang="zh-TW" sz="2000" i="1">
                                  <a:solidFill>
                                    <a:schemeClr val="accent5">
                                      <a:lumMod val="50000"/>
                                    </a:schemeClr>
                                  </a:solidFill>
                                  <a:latin typeface="Cambria Math" panose="02040503050406030204" pitchFamily="18" charset="0"/>
                                </a:rPr>
                                <m:t>−</m:t>
                              </m:r>
                              <m:acc>
                                <m:accPr>
                                  <m:chr m:val="̂"/>
                                  <m:ctrlPr>
                                    <a:rPr lang="en-US" altLang="zh-TW" sz="2000" i="1">
                                      <a:solidFill>
                                        <a:schemeClr val="accent5">
                                          <a:lumMod val="50000"/>
                                        </a:schemeClr>
                                      </a:solidFill>
                                      <a:latin typeface="Cambria Math" panose="02040503050406030204" pitchFamily="18" charset="0"/>
                                    </a:rPr>
                                  </m:ctrlPr>
                                </m:accPr>
                                <m:e>
                                  <m:r>
                                    <a:rPr lang="en-US" altLang="zh-TW" sz="2000" i="1">
                                      <a:solidFill>
                                        <a:schemeClr val="accent5">
                                          <a:lumMod val="50000"/>
                                        </a:schemeClr>
                                      </a:solidFill>
                                      <a:latin typeface="Cambria Math" panose="02040503050406030204" pitchFamily="18" charset="0"/>
                                    </a:rPr>
                                    <m:t>𝑦</m:t>
                                  </m:r>
                                </m:e>
                              </m:acc>
                            </m:e>
                            <m:sub>
                              <m:r>
                                <a:rPr lang="en-US" altLang="zh-TW" sz="2000" i="1">
                                  <a:solidFill>
                                    <a:schemeClr val="accent5">
                                      <a:lumMod val="50000"/>
                                    </a:schemeClr>
                                  </a:solidFill>
                                  <a:latin typeface="Cambria Math" panose="02040503050406030204" pitchFamily="18" charset="0"/>
                                </a:rPr>
                                <m:t>𝑖</m:t>
                              </m:r>
                            </m:sub>
                          </m:sSub>
                          <m:r>
                            <a:rPr lang="en-US" altLang="zh-TW" sz="2000" b="0" i="1" smtClean="0">
                              <a:solidFill>
                                <a:schemeClr val="accent5">
                                  <a:lumMod val="50000"/>
                                </a:schemeClr>
                              </a:solidFill>
                              <a:latin typeface="Cambria Math" panose="02040503050406030204" pitchFamily="18" charset="0"/>
                            </a:rPr>
                            <m:t>)</m:t>
                          </m:r>
                          <m:r>
                            <a:rPr lang="en-US" altLang="zh-TW" sz="2000" i="1" smtClean="0">
                              <a:solidFill>
                                <a:schemeClr val="accent5">
                                  <a:lumMod val="50000"/>
                                </a:schemeClr>
                              </a:solidFill>
                              <a:latin typeface="Cambria Math" panose="02040503050406030204" pitchFamily="18" charset="0"/>
                            </a:rPr>
                            <m:t> </m:t>
                          </m:r>
                        </m:e>
                      </m:nary>
                    </m:oMath>
                  </m:oMathPara>
                </a14:m>
                <a:endParaRPr lang="zh-TW" altLang="en-US" sz="2000" dirty="0">
                  <a:solidFill>
                    <a:schemeClr val="accent5">
                      <a:lumMod val="50000"/>
                    </a:schemeClr>
                  </a:solidFill>
                </a:endParaRPr>
              </a:p>
            </p:txBody>
          </p:sp>
        </mc:Choice>
        <mc:Fallback xmlns="">
          <p:sp>
            <p:nvSpPr>
              <p:cNvPr id="21" name="文字方塊 20">
                <a:extLst>
                  <a:ext uri="{FF2B5EF4-FFF2-40B4-BE49-F238E27FC236}">
                    <a16:creationId xmlns:a16="http://schemas.microsoft.com/office/drawing/2014/main" id="{92876547-59DD-4D17-41EE-79BB8B40D6F3}"/>
                  </a:ext>
                </a:extLst>
              </p:cNvPr>
              <p:cNvSpPr txBox="1">
                <a:spLocks noRot="1" noChangeAspect="1" noMove="1" noResize="1" noEditPoints="1" noAdjustHandles="1" noChangeArrowheads="1" noChangeShapeType="1" noTextEdit="1"/>
              </p:cNvSpPr>
              <p:nvPr/>
            </p:nvSpPr>
            <p:spPr>
              <a:xfrm>
                <a:off x="106864" y="2293774"/>
                <a:ext cx="5417999" cy="1359924"/>
              </a:xfrm>
              <a:prstGeom prst="rect">
                <a:avLst/>
              </a:prstGeom>
              <a:blipFill>
                <a:blip r:embed="rId3"/>
                <a:stretch>
                  <a:fillRect l="-1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3542D740-B152-F38F-23FC-7A0A397EBF47}"/>
                  </a:ext>
                </a:extLst>
              </p:cNvPr>
              <p:cNvSpPr txBox="1"/>
              <p:nvPr/>
            </p:nvSpPr>
            <p:spPr>
              <a:xfrm>
                <a:off x="106864" y="3879632"/>
                <a:ext cx="5579909" cy="1359924"/>
              </a:xfrm>
              <a:prstGeom prst="rect">
                <a:avLst/>
              </a:prstGeom>
              <a:noFill/>
            </p:spPr>
            <p:txBody>
              <a:bodyPr wrap="square" lIns="0" tIns="0" rIns="0" bIns="0" rtlCol="0">
                <a:spAutoFit/>
              </a:bodyPr>
              <a:lstStyle/>
              <a:p>
                <a14:m>
                  <m:oMath xmlns:m="http://schemas.openxmlformats.org/officeDocument/2006/math">
                    <m:f>
                      <m:fPr>
                        <m:ctrlPr>
                          <a:rPr lang="en-US" altLang="zh-TW" sz="2000" b="0" i="1" smtClean="0">
                            <a:solidFill>
                              <a:srgbClr val="7030A0"/>
                            </a:solidFill>
                            <a:latin typeface="Cambria Math" panose="02040503050406030204" pitchFamily="18" charset="0"/>
                          </a:rPr>
                        </m:ctrlPr>
                      </m:fPr>
                      <m:num>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𝑀𝑆𝐸</m:t>
                        </m:r>
                      </m:num>
                      <m:den>
                        <m:r>
                          <a:rPr lang="zh-TW" altLang="en-US" sz="2000" b="0" i="1" smtClean="0">
                            <a:solidFill>
                              <a:srgbClr val="7030A0"/>
                            </a:solidFill>
                            <a:latin typeface="Cambria Math" panose="02040503050406030204" pitchFamily="18" charset="0"/>
                          </a:rPr>
                          <m:t>𝛿</m:t>
                        </m:r>
                        <m:r>
                          <a:rPr lang="en-US" altLang="zh-TW" sz="2000" b="0" i="1" smtClean="0">
                            <a:solidFill>
                              <a:srgbClr val="7030A0"/>
                            </a:solidFill>
                            <a:latin typeface="Cambria Math" panose="02040503050406030204" pitchFamily="18" charset="0"/>
                          </a:rPr>
                          <m:t>𝑏</m:t>
                        </m:r>
                      </m:den>
                    </m:f>
                    <m:r>
                      <a:rPr lang="en-US" altLang="zh-TW" sz="2000" b="0" i="0" smtClean="0">
                        <a:solidFill>
                          <a:schemeClr val="accent5">
                            <a:lumMod val="50000"/>
                          </a:schemeClr>
                        </a:solidFill>
                        <a:latin typeface="Cambria Math" panose="02040503050406030204" pitchFamily="18" charset="0"/>
                      </a:rPr>
                      <m:t>=</m:t>
                    </m:r>
                    <m:f>
                      <m:fPr>
                        <m:ctrlPr>
                          <a:rPr lang="en-US" altLang="zh-TW" sz="2000" i="1">
                            <a:solidFill>
                              <a:schemeClr val="accent5">
                                <a:lumMod val="50000"/>
                              </a:schemeClr>
                            </a:solidFill>
                            <a:latin typeface="Cambria Math" panose="02040503050406030204" pitchFamily="18" charset="0"/>
                          </a:rPr>
                        </m:ctrlPr>
                      </m:fPr>
                      <m:num>
                        <m:r>
                          <a:rPr lang="zh-TW" altLang="en-US" sz="2000" i="1">
                            <a:solidFill>
                              <a:schemeClr val="accent5">
                                <a:lumMod val="50000"/>
                              </a:schemeClr>
                            </a:solidFill>
                            <a:latin typeface="Cambria Math" panose="02040503050406030204" pitchFamily="18" charset="0"/>
                          </a:rPr>
                          <m:t>𝛿</m:t>
                        </m:r>
                        <m:r>
                          <a:rPr lang="en-US" altLang="zh-TW" sz="2000" i="1">
                            <a:solidFill>
                              <a:schemeClr val="accent5">
                                <a:lumMod val="50000"/>
                              </a:schemeClr>
                            </a:solidFill>
                            <a:latin typeface="Cambria Math" panose="02040503050406030204" pitchFamily="18" charset="0"/>
                          </a:rPr>
                          <m:t>𝑀𝑆𝐸</m:t>
                        </m:r>
                      </m:num>
                      <m:den>
                        <m:r>
                          <a:rPr lang="zh-TW" altLang="en-US" sz="2000" i="1">
                            <a:solidFill>
                              <a:schemeClr val="accent5">
                                <a:lumMod val="50000"/>
                              </a:schemeClr>
                            </a:solidFill>
                            <a:latin typeface="Cambria Math" panose="02040503050406030204" pitchFamily="18" charset="0"/>
                          </a:rPr>
                          <m:t>𝛿</m:t>
                        </m:r>
                        <m:sSub>
                          <m:sSubPr>
                            <m:ctrlPr>
                              <a:rPr lang="en-US" altLang="zh-TW" sz="2000" i="1">
                                <a:solidFill>
                                  <a:schemeClr val="accent5">
                                    <a:lumMod val="50000"/>
                                  </a:schemeClr>
                                </a:solidFill>
                                <a:latin typeface="Cambria Math" panose="02040503050406030204" pitchFamily="18" charset="0"/>
                              </a:rPr>
                            </m:ctrlPr>
                          </m:sSubPr>
                          <m:e>
                            <m:acc>
                              <m:accPr>
                                <m:chr m:val="̂"/>
                                <m:ctrlPr>
                                  <a:rPr lang="en-US" altLang="zh-TW" sz="2000" i="1">
                                    <a:solidFill>
                                      <a:schemeClr val="accent5">
                                        <a:lumMod val="50000"/>
                                      </a:schemeClr>
                                    </a:solidFill>
                                    <a:latin typeface="Cambria Math" panose="02040503050406030204" pitchFamily="18" charset="0"/>
                                  </a:rPr>
                                </m:ctrlPr>
                              </m:accPr>
                              <m:e>
                                <m:r>
                                  <a:rPr lang="en-US" altLang="zh-TW" sz="2000" i="1">
                                    <a:solidFill>
                                      <a:schemeClr val="accent5">
                                        <a:lumMod val="50000"/>
                                      </a:schemeClr>
                                    </a:solidFill>
                                    <a:latin typeface="Cambria Math" panose="02040503050406030204" pitchFamily="18" charset="0"/>
                                  </a:rPr>
                                  <m:t>𝑦</m:t>
                                </m:r>
                              </m:e>
                            </m:acc>
                          </m:e>
                          <m:sub>
                            <m:r>
                              <a:rPr lang="en-US" altLang="zh-TW" sz="2000" i="1">
                                <a:solidFill>
                                  <a:schemeClr val="accent5">
                                    <a:lumMod val="50000"/>
                                  </a:schemeClr>
                                </a:solidFill>
                                <a:latin typeface="Cambria Math" panose="02040503050406030204" pitchFamily="18" charset="0"/>
                              </a:rPr>
                              <m:t>𝑖</m:t>
                            </m:r>
                          </m:sub>
                        </m:sSub>
                      </m:den>
                    </m:f>
                    <m:r>
                      <a:rPr lang="en-US" altLang="zh-TW" sz="2000" i="1" smtClean="0">
                        <a:solidFill>
                          <a:schemeClr val="accent5">
                            <a:lumMod val="50000"/>
                          </a:schemeClr>
                        </a:solidFill>
                        <a:latin typeface="Cambria Math" panose="02040503050406030204" pitchFamily="18" charset="0"/>
                        <a:ea typeface="Cambria Math" panose="02040503050406030204" pitchFamily="18" charset="0"/>
                      </a:rPr>
                      <m:t>∙</m:t>
                    </m:r>
                    <m:f>
                      <m:fPr>
                        <m:ctrlPr>
                          <a:rPr lang="en-US" altLang="zh-TW" sz="2000" i="1">
                            <a:solidFill>
                              <a:schemeClr val="accent5">
                                <a:lumMod val="50000"/>
                              </a:schemeClr>
                            </a:solidFill>
                            <a:latin typeface="Cambria Math" panose="02040503050406030204" pitchFamily="18" charset="0"/>
                          </a:rPr>
                        </m:ctrlPr>
                      </m:fPr>
                      <m:num>
                        <m:r>
                          <a:rPr lang="zh-TW" altLang="en-US" sz="2000" i="1">
                            <a:solidFill>
                              <a:schemeClr val="accent5">
                                <a:lumMod val="50000"/>
                              </a:schemeClr>
                            </a:solidFill>
                            <a:latin typeface="Cambria Math" panose="02040503050406030204" pitchFamily="18" charset="0"/>
                          </a:rPr>
                          <m:t>𝛿</m:t>
                        </m:r>
                        <m:sSub>
                          <m:sSubPr>
                            <m:ctrlPr>
                              <a:rPr lang="en-US" altLang="zh-TW" sz="2000" i="1" smtClean="0">
                                <a:solidFill>
                                  <a:schemeClr val="accent5">
                                    <a:lumMod val="50000"/>
                                  </a:schemeClr>
                                </a:solidFill>
                                <a:latin typeface="Cambria Math" panose="02040503050406030204" pitchFamily="18" charset="0"/>
                              </a:rPr>
                            </m:ctrlPr>
                          </m:sSubPr>
                          <m:e>
                            <m:acc>
                              <m:accPr>
                                <m:chr m:val="̂"/>
                                <m:ctrlPr>
                                  <a:rPr lang="en-US" altLang="zh-TW" sz="2000" b="0" i="1" smtClean="0">
                                    <a:solidFill>
                                      <a:schemeClr val="accent5">
                                        <a:lumMod val="50000"/>
                                      </a:schemeClr>
                                    </a:solidFill>
                                    <a:latin typeface="Cambria Math" panose="02040503050406030204" pitchFamily="18" charset="0"/>
                                  </a:rPr>
                                </m:ctrlPr>
                              </m:accPr>
                              <m:e>
                                <m:r>
                                  <a:rPr lang="en-US" altLang="zh-TW" sz="2000" b="0" i="1" smtClean="0">
                                    <a:solidFill>
                                      <a:schemeClr val="accent5">
                                        <a:lumMod val="50000"/>
                                      </a:schemeClr>
                                    </a:solidFill>
                                    <a:latin typeface="Cambria Math" panose="02040503050406030204" pitchFamily="18" charset="0"/>
                                  </a:rPr>
                                  <m:t>𝑦</m:t>
                                </m:r>
                              </m:e>
                            </m:acc>
                          </m:e>
                          <m:sub>
                            <m:r>
                              <a:rPr lang="en-US" altLang="zh-TW" sz="2000" b="0" i="1" smtClean="0">
                                <a:solidFill>
                                  <a:schemeClr val="accent5">
                                    <a:lumMod val="50000"/>
                                  </a:schemeClr>
                                </a:solidFill>
                                <a:latin typeface="Cambria Math" panose="02040503050406030204" pitchFamily="18" charset="0"/>
                              </a:rPr>
                              <m:t>𝑖</m:t>
                            </m:r>
                          </m:sub>
                        </m:sSub>
                      </m:num>
                      <m:den>
                        <m:r>
                          <a:rPr lang="zh-TW" altLang="en-US" sz="2000" i="1">
                            <a:solidFill>
                              <a:schemeClr val="accent5">
                                <a:lumMod val="50000"/>
                              </a:schemeClr>
                            </a:solidFill>
                            <a:latin typeface="Cambria Math" panose="02040503050406030204" pitchFamily="18" charset="0"/>
                          </a:rPr>
                          <m:t>𝛿</m:t>
                        </m:r>
                        <m:r>
                          <a:rPr lang="en-US" altLang="zh-TW" sz="2000" b="0" i="1" smtClean="0">
                            <a:solidFill>
                              <a:schemeClr val="accent5">
                                <a:lumMod val="50000"/>
                              </a:schemeClr>
                            </a:solidFill>
                            <a:latin typeface="Cambria Math" panose="02040503050406030204" pitchFamily="18" charset="0"/>
                          </a:rPr>
                          <m:t>𝑏</m:t>
                        </m:r>
                      </m:den>
                    </m:f>
                    <m:r>
                      <a:rPr lang="en-US" altLang="zh-TW" sz="2000">
                        <a:solidFill>
                          <a:schemeClr val="accent5">
                            <a:lumMod val="50000"/>
                          </a:schemeClr>
                        </a:solidFill>
                        <a:latin typeface="Cambria Math" panose="02040503050406030204" pitchFamily="18" charset="0"/>
                      </a:rPr>
                      <m:t>=</m:t>
                    </m:r>
                  </m:oMath>
                </a14:m>
                <a:r>
                  <a:rPr lang="en-US" altLang="zh-TW" sz="2000" dirty="0">
                    <a:solidFill>
                      <a:schemeClr val="accent5">
                        <a:lumMod val="50000"/>
                      </a:schemeClr>
                    </a:solidFill>
                  </a:rPr>
                  <a:t> </a:t>
                </a:r>
                <a14:m>
                  <m:oMath xmlns:m="http://schemas.openxmlformats.org/officeDocument/2006/math">
                    <m:f>
                      <m:fPr>
                        <m:ctrlPr>
                          <a:rPr lang="en-US" altLang="zh-TW" sz="2000" i="1">
                            <a:solidFill>
                              <a:schemeClr val="accent5">
                                <a:lumMod val="50000"/>
                              </a:schemeClr>
                            </a:solidFill>
                            <a:latin typeface="Cambria Math" panose="02040503050406030204" pitchFamily="18" charset="0"/>
                          </a:rPr>
                        </m:ctrlPr>
                      </m:fPr>
                      <m:num>
                        <m:r>
                          <a:rPr lang="en-US" altLang="zh-TW" sz="2000" i="1">
                            <a:solidFill>
                              <a:schemeClr val="accent5">
                                <a:lumMod val="50000"/>
                              </a:schemeClr>
                            </a:solidFill>
                            <a:latin typeface="Cambria Math" panose="02040503050406030204" pitchFamily="18" charset="0"/>
                          </a:rPr>
                          <m:t>1</m:t>
                        </m:r>
                      </m:num>
                      <m:den>
                        <m:r>
                          <a:rPr lang="en-US" altLang="zh-TW" sz="2000" i="1">
                            <a:solidFill>
                              <a:schemeClr val="accent5">
                                <a:lumMod val="50000"/>
                              </a:schemeClr>
                            </a:solidFill>
                            <a:latin typeface="Cambria Math" panose="02040503050406030204" pitchFamily="18" charset="0"/>
                          </a:rPr>
                          <m:t>𝑁</m:t>
                        </m:r>
                      </m:den>
                    </m:f>
                    <m:nary>
                      <m:naryPr>
                        <m:chr m:val="∑"/>
                        <m:ctrlPr>
                          <a:rPr lang="en-US" altLang="zh-TW" sz="2000" i="1">
                            <a:solidFill>
                              <a:schemeClr val="accent5">
                                <a:lumMod val="50000"/>
                              </a:schemeClr>
                            </a:solidFill>
                            <a:latin typeface="Cambria Math" panose="02040503050406030204" pitchFamily="18" charset="0"/>
                          </a:rPr>
                        </m:ctrlPr>
                      </m:naryPr>
                      <m:sub>
                        <m:r>
                          <m:rPr>
                            <m:brk m:alnAt="23"/>
                          </m:rPr>
                          <a:rPr lang="en-US" altLang="zh-TW" sz="2000" i="1">
                            <a:solidFill>
                              <a:schemeClr val="accent5">
                                <a:lumMod val="50000"/>
                              </a:schemeClr>
                            </a:solidFill>
                            <a:latin typeface="Cambria Math" panose="02040503050406030204" pitchFamily="18" charset="0"/>
                          </a:rPr>
                          <m:t>𝑖</m:t>
                        </m:r>
                        <m:r>
                          <a:rPr lang="en-US" altLang="zh-TW" sz="2000" i="1">
                            <a:solidFill>
                              <a:schemeClr val="accent5">
                                <a:lumMod val="50000"/>
                              </a:schemeClr>
                            </a:solidFill>
                            <a:latin typeface="Cambria Math" panose="02040503050406030204" pitchFamily="18" charset="0"/>
                          </a:rPr>
                          <m:t>=1</m:t>
                        </m:r>
                      </m:sub>
                      <m:sup>
                        <m:r>
                          <a:rPr lang="en-US" altLang="zh-TW" sz="2000" i="1">
                            <a:solidFill>
                              <a:schemeClr val="accent5">
                                <a:lumMod val="50000"/>
                              </a:schemeClr>
                            </a:solidFill>
                            <a:latin typeface="Cambria Math" panose="02040503050406030204" pitchFamily="18" charset="0"/>
                          </a:rPr>
                          <m:t>𝑁</m:t>
                        </m:r>
                      </m:sup>
                      <m:e>
                        <m:r>
                          <a:rPr lang="en-US" altLang="zh-TW" sz="2000" b="0" i="1" smtClean="0">
                            <a:solidFill>
                              <a:schemeClr val="accent5">
                                <a:lumMod val="50000"/>
                              </a:schemeClr>
                            </a:solidFill>
                            <a:latin typeface="Cambria Math" panose="02040503050406030204" pitchFamily="18" charset="0"/>
                          </a:rPr>
                          <m:t>2</m:t>
                        </m:r>
                        <m:d>
                          <m:dPr>
                            <m:ctrlPr>
                              <a:rPr lang="en-US" altLang="zh-TW" sz="2000" i="1">
                                <a:solidFill>
                                  <a:schemeClr val="accent5">
                                    <a:lumMod val="50000"/>
                                  </a:schemeClr>
                                </a:solidFill>
                                <a:latin typeface="Cambria Math" panose="02040503050406030204" pitchFamily="18" charset="0"/>
                              </a:rPr>
                            </m:ctrlPr>
                          </m:dPr>
                          <m:e>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𝑦</m:t>
                                </m:r>
                              </m:e>
                              <m:sub>
                                <m:r>
                                  <a:rPr lang="en-US" altLang="zh-TW" sz="2000" i="1">
                                    <a:solidFill>
                                      <a:schemeClr val="accent5">
                                        <a:lumMod val="50000"/>
                                      </a:schemeClr>
                                    </a:solidFill>
                                    <a:latin typeface="Cambria Math" panose="02040503050406030204" pitchFamily="18" charset="0"/>
                                  </a:rPr>
                                  <m:t>𝑖</m:t>
                                </m:r>
                              </m:sub>
                            </m:sSub>
                            <m:r>
                              <a:rPr lang="en-US" altLang="zh-TW" sz="2000" i="1">
                                <a:solidFill>
                                  <a:schemeClr val="accent5">
                                    <a:lumMod val="50000"/>
                                  </a:schemeClr>
                                </a:solidFill>
                                <a:latin typeface="Cambria Math" panose="02040503050406030204" pitchFamily="18" charset="0"/>
                              </a:rPr>
                              <m:t>−</m:t>
                            </m:r>
                            <m:r>
                              <a:rPr lang="en-US" altLang="zh-TW" sz="2000" i="1">
                                <a:solidFill>
                                  <a:schemeClr val="accent5">
                                    <a:lumMod val="50000"/>
                                  </a:schemeClr>
                                </a:solidFill>
                                <a:latin typeface="Cambria Math" panose="02040503050406030204" pitchFamily="18" charset="0"/>
                              </a:rPr>
                              <m:t>𝑎</m:t>
                            </m:r>
                            <m:r>
                              <a:rPr lang="en-US" altLang="zh-TW" sz="2000" i="1">
                                <a:solidFill>
                                  <a:schemeClr val="accent5">
                                    <a:lumMod val="50000"/>
                                  </a:schemeClr>
                                </a:solidFill>
                                <a:latin typeface="Cambria Math" panose="02040503050406030204" pitchFamily="18" charset="0"/>
                              </a:rPr>
                              <m:t>−</m:t>
                            </m:r>
                            <m:r>
                              <a:rPr lang="en-US" altLang="zh-TW" sz="2000" i="1">
                                <a:solidFill>
                                  <a:schemeClr val="accent5">
                                    <a:lumMod val="50000"/>
                                  </a:schemeClr>
                                </a:solidFill>
                                <a:latin typeface="Cambria Math" panose="02040503050406030204" pitchFamily="18" charset="0"/>
                              </a:rPr>
                              <m:t>𝑏</m:t>
                            </m:r>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𝑥</m:t>
                                </m:r>
                              </m:e>
                              <m:sub>
                                <m:r>
                                  <a:rPr lang="en-US" altLang="zh-TW" sz="2000" i="1">
                                    <a:solidFill>
                                      <a:schemeClr val="accent5">
                                        <a:lumMod val="50000"/>
                                      </a:schemeClr>
                                    </a:solidFill>
                                    <a:latin typeface="Cambria Math" panose="02040503050406030204" pitchFamily="18" charset="0"/>
                                  </a:rPr>
                                  <m:t>𝑖</m:t>
                                </m:r>
                              </m:sub>
                            </m:sSub>
                          </m:e>
                        </m:d>
                        <m:d>
                          <m:dPr>
                            <m:ctrlPr>
                              <a:rPr lang="en-US" altLang="zh-TW" sz="2000" b="0" i="1" smtClean="0">
                                <a:solidFill>
                                  <a:schemeClr val="accent5">
                                    <a:lumMod val="50000"/>
                                  </a:schemeClr>
                                </a:solidFill>
                                <a:latin typeface="Cambria Math" panose="02040503050406030204" pitchFamily="18" charset="0"/>
                              </a:rPr>
                            </m:ctrlPr>
                          </m:dPr>
                          <m:e>
                            <m:r>
                              <a:rPr lang="en-US" altLang="zh-TW" sz="2000" b="0" i="1" smtClean="0">
                                <a:solidFill>
                                  <a:schemeClr val="accent5">
                                    <a:lumMod val="50000"/>
                                  </a:schemeClr>
                                </a:solidFill>
                                <a:latin typeface="Cambria Math" panose="02040503050406030204" pitchFamily="18" charset="0"/>
                              </a:rPr>
                              <m:t>−</m:t>
                            </m:r>
                            <m:sSub>
                              <m:sSubPr>
                                <m:ctrlPr>
                                  <a:rPr lang="en-US" altLang="zh-TW" sz="2000" b="0" i="1" smtClean="0">
                                    <a:solidFill>
                                      <a:schemeClr val="accent5">
                                        <a:lumMod val="50000"/>
                                      </a:schemeClr>
                                    </a:solidFill>
                                    <a:latin typeface="Cambria Math" panose="02040503050406030204" pitchFamily="18" charset="0"/>
                                  </a:rPr>
                                </m:ctrlPr>
                              </m:sSubPr>
                              <m:e>
                                <m:r>
                                  <a:rPr lang="en-US" altLang="zh-TW" sz="2000" b="0" i="1" smtClean="0">
                                    <a:solidFill>
                                      <a:schemeClr val="accent5">
                                        <a:lumMod val="50000"/>
                                      </a:schemeClr>
                                    </a:solidFill>
                                    <a:latin typeface="Cambria Math" panose="02040503050406030204" pitchFamily="18" charset="0"/>
                                  </a:rPr>
                                  <m:t>𝑥</m:t>
                                </m:r>
                              </m:e>
                              <m:sub>
                                <m:r>
                                  <a:rPr lang="en-US" altLang="zh-TW" sz="2000" b="0" i="1" smtClean="0">
                                    <a:solidFill>
                                      <a:schemeClr val="accent5">
                                        <a:lumMod val="50000"/>
                                      </a:schemeClr>
                                    </a:solidFill>
                                    <a:latin typeface="Cambria Math" panose="02040503050406030204" pitchFamily="18" charset="0"/>
                                  </a:rPr>
                                  <m:t>𝑖</m:t>
                                </m:r>
                              </m:sub>
                            </m:sSub>
                          </m:e>
                        </m:d>
                      </m:e>
                    </m:nary>
                  </m:oMath>
                </a14:m>
                <a:endParaRPr lang="en-US" altLang="zh-TW" sz="2000" i="1" dirty="0">
                  <a:solidFill>
                    <a:schemeClr val="accent5">
                      <a:lumMod val="50000"/>
                    </a:schemeClr>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000" b="0" i="1" smtClean="0">
                          <a:solidFill>
                            <a:schemeClr val="accent5">
                              <a:lumMod val="50000"/>
                            </a:schemeClr>
                          </a:solidFill>
                          <a:latin typeface="Cambria Math" panose="02040503050406030204" pitchFamily="18" charset="0"/>
                        </a:rPr>
                        <m:t>=</m:t>
                      </m:r>
                      <m:f>
                        <m:fPr>
                          <m:ctrlPr>
                            <a:rPr lang="en-US" altLang="zh-TW" sz="2000" i="1">
                              <a:solidFill>
                                <a:schemeClr val="accent5">
                                  <a:lumMod val="50000"/>
                                </a:schemeClr>
                              </a:solidFill>
                              <a:latin typeface="Cambria Math" panose="02040503050406030204" pitchFamily="18" charset="0"/>
                            </a:rPr>
                          </m:ctrlPr>
                        </m:fPr>
                        <m:num>
                          <m:r>
                            <a:rPr lang="en-US" altLang="zh-TW" sz="2000" b="0" i="1" smtClean="0">
                              <a:solidFill>
                                <a:schemeClr val="accent5">
                                  <a:lumMod val="50000"/>
                                </a:schemeClr>
                              </a:solidFill>
                              <a:latin typeface="Cambria Math" panose="02040503050406030204" pitchFamily="18" charset="0"/>
                            </a:rPr>
                            <m:t>−2</m:t>
                          </m:r>
                        </m:num>
                        <m:den>
                          <m:r>
                            <a:rPr lang="en-US" altLang="zh-TW" sz="2000" i="1">
                              <a:solidFill>
                                <a:schemeClr val="accent5">
                                  <a:lumMod val="50000"/>
                                </a:schemeClr>
                              </a:solidFill>
                              <a:latin typeface="Cambria Math" panose="02040503050406030204" pitchFamily="18" charset="0"/>
                            </a:rPr>
                            <m:t>𝑁</m:t>
                          </m:r>
                        </m:den>
                      </m:f>
                      <m:nary>
                        <m:naryPr>
                          <m:chr m:val="∑"/>
                          <m:ctrlPr>
                            <a:rPr lang="en-US" altLang="zh-TW" sz="2000" i="1">
                              <a:solidFill>
                                <a:schemeClr val="accent5">
                                  <a:lumMod val="50000"/>
                                </a:schemeClr>
                              </a:solidFill>
                              <a:latin typeface="Cambria Math" panose="02040503050406030204" pitchFamily="18" charset="0"/>
                            </a:rPr>
                          </m:ctrlPr>
                        </m:naryPr>
                        <m:sub>
                          <m:r>
                            <m:rPr>
                              <m:brk m:alnAt="23"/>
                            </m:rPr>
                            <a:rPr lang="en-US" altLang="zh-TW" sz="2000" i="1">
                              <a:solidFill>
                                <a:schemeClr val="accent5">
                                  <a:lumMod val="50000"/>
                                </a:schemeClr>
                              </a:solidFill>
                              <a:latin typeface="Cambria Math" panose="02040503050406030204" pitchFamily="18" charset="0"/>
                            </a:rPr>
                            <m:t>𝑖</m:t>
                          </m:r>
                          <m:r>
                            <a:rPr lang="en-US" altLang="zh-TW" sz="2000" i="1">
                              <a:solidFill>
                                <a:schemeClr val="accent5">
                                  <a:lumMod val="50000"/>
                                </a:schemeClr>
                              </a:solidFill>
                              <a:latin typeface="Cambria Math" panose="02040503050406030204" pitchFamily="18" charset="0"/>
                            </a:rPr>
                            <m:t>=1</m:t>
                          </m:r>
                        </m:sub>
                        <m:sup>
                          <m:r>
                            <a:rPr lang="en-US" altLang="zh-TW" sz="2000" i="1">
                              <a:solidFill>
                                <a:schemeClr val="accent5">
                                  <a:lumMod val="50000"/>
                                </a:schemeClr>
                              </a:solidFill>
                              <a:latin typeface="Cambria Math" panose="02040503050406030204" pitchFamily="18" charset="0"/>
                            </a:rPr>
                            <m:t>𝑁</m:t>
                          </m:r>
                        </m:sup>
                        <m:e>
                          <m:sSub>
                            <m:sSubPr>
                              <m:ctrlPr>
                                <a:rPr lang="en-US" altLang="zh-TW" sz="2000" i="1" smtClean="0">
                                  <a:solidFill>
                                    <a:schemeClr val="accent5">
                                      <a:lumMod val="50000"/>
                                    </a:schemeClr>
                                  </a:solidFill>
                                  <a:latin typeface="Cambria Math" panose="02040503050406030204" pitchFamily="18" charset="0"/>
                                </a:rPr>
                              </m:ctrlPr>
                            </m:sSubPr>
                            <m:e>
                              <m:r>
                                <a:rPr lang="en-US" altLang="zh-TW" sz="2000" b="0" i="1" smtClean="0">
                                  <a:solidFill>
                                    <a:schemeClr val="accent5">
                                      <a:lumMod val="50000"/>
                                    </a:schemeClr>
                                  </a:solidFill>
                                  <a:latin typeface="Cambria Math" panose="02040503050406030204" pitchFamily="18" charset="0"/>
                                </a:rPr>
                                <m:t>𝑥</m:t>
                              </m:r>
                            </m:e>
                            <m:sub>
                              <m:r>
                                <a:rPr lang="en-US" altLang="zh-TW" sz="2000" b="0" i="1" smtClean="0">
                                  <a:solidFill>
                                    <a:schemeClr val="accent5">
                                      <a:lumMod val="50000"/>
                                    </a:schemeClr>
                                  </a:solidFill>
                                  <a:latin typeface="Cambria Math" panose="02040503050406030204" pitchFamily="18" charset="0"/>
                                </a:rPr>
                                <m:t>𝑖</m:t>
                              </m:r>
                            </m:sub>
                          </m:sSub>
                          <m:r>
                            <a:rPr lang="en-US" altLang="zh-TW" sz="2000" b="0" i="1" smtClean="0">
                              <a:solidFill>
                                <a:schemeClr val="accent5">
                                  <a:lumMod val="50000"/>
                                </a:schemeClr>
                              </a:solidFill>
                              <a:latin typeface="Cambria Math" panose="02040503050406030204" pitchFamily="18" charset="0"/>
                            </a:rPr>
                            <m:t>(</m:t>
                          </m:r>
                          <m:sSub>
                            <m:sSubPr>
                              <m:ctrlPr>
                                <a:rPr lang="en-US" altLang="zh-TW" sz="2000" i="1">
                                  <a:solidFill>
                                    <a:schemeClr val="accent5">
                                      <a:lumMod val="50000"/>
                                    </a:schemeClr>
                                  </a:solidFill>
                                  <a:latin typeface="Cambria Math" panose="02040503050406030204" pitchFamily="18" charset="0"/>
                                </a:rPr>
                              </m:ctrlPr>
                            </m:sSubPr>
                            <m:e>
                              <m:sSub>
                                <m:sSubPr>
                                  <m:ctrlPr>
                                    <a:rPr lang="en-US" altLang="zh-TW" sz="2000" i="1">
                                      <a:solidFill>
                                        <a:schemeClr val="accent5">
                                          <a:lumMod val="50000"/>
                                        </a:schemeClr>
                                      </a:solidFill>
                                      <a:latin typeface="Cambria Math" panose="02040503050406030204" pitchFamily="18" charset="0"/>
                                    </a:rPr>
                                  </m:ctrlPr>
                                </m:sSubPr>
                                <m:e>
                                  <m:r>
                                    <a:rPr lang="en-US" altLang="zh-TW" sz="2000" i="1">
                                      <a:solidFill>
                                        <a:schemeClr val="accent5">
                                          <a:lumMod val="50000"/>
                                        </a:schemeClr>
                                      </a:solidFill>
                                      <a:latin typeface="Cambria Math" panose="02040503050406030204" pitchFamily="18" charset="0"/>
                                    </a:rPr>
                                    <m:t>𝑦</m:t>
                                  </m:r>
                                </m:e>
                                <m:sub>
                                  <m:r>
                                    <a:rPr lang="en-US" altLang="zh-TW" sz="2000" i="1">
                                      <a:solidFill>
                                        <a:schemeClr val="accent5">
                                          <a:lumMod val="50000"/>
                                        </a:schemeClr>
                                      </a:solidFill>
                                      <a:latin typeface="Cambria Math" panose="02040503050406030204" pitchFamily="18" charset="0"/>
                                    </a:rPr>
                                    <m:t>𝑖</m:t>
                                  </m:r>
                                </m:sub>
                              </m:sSub>
                              <m:r>
                                <a:rPr lang="en-US" altLang="zh-TW" sz="2000" i="1">
                                  <a:solidFill>
                                    <a:schemeClr val="accent5">
                                      <a:lumMod val="50000"/>
                                    </a:schemeClr>
                                  </a:solidFill>
                                  <a:latin typeface="Cambria Math" panose="02040503050406030204" pitchFamily="18" charset="0"/>
                                </a:rPr>
                                <m:t>−</m:t>
                              </m:r>
                              <m:acc>
                                <m:accPr>
                                  <m:chr m:val="̂"/>
                                  <m:ctrlPr>
                                    <a:rPr lang="en-US" altLang="zh-TW" sz="2000" i="1">
                                      <a:solidFill>
                                        <a:schemeClr val="accent5">
                                          <a:lumMod val="50000"/>
                                        </a:schemeClr>
                                      </a:solidFill>
                                      <a:latin typeface="Cambria Math" panose="02040503050406030204" pitchFamily="18" charset="0"/>
                                    </a:rPr>
                                  </m:ctrlPr>
                                </m:accPr>
                                <m:e>
                                  <m:r>
                                    <a:rPr lang="en-US" altLang="zh-TW" sz="2000" i="1">
                                      <a:solidFill>
                                        <a:schemeClr val="accent5">
                                          <a:lumMod val="50000"/>
                                        </a:schemeClr>
                                      </a:solidFill>
                                      <a:latin typeface="Cambria Math" panose="02040503050406030204" pitchFamily="18" charset="0"/>
                                    </a:rPr>
                                    <m:t>𝑦</m:t>
                                  </m:r>
                                </m:e>
                              </m:acc>
                            </m:e>
                            <m:sub>
                              <m:r>
                                <a:rPr lang="en-US" altLang="zh-TW" sz="2000" i="1">
                                  <a:solidFill>
                                    <a:schemeClr val="accent5">
                                      <a:lumMod val="50000"/>
                                    </a:schemeClr>
                                  </a:solidFill>
                                  <a:latin typeface="Cambria Math" panose="02040503050406030204" pitchFamily="18" charset="0"/>
                                </a:rPr>
                                <m:t>𝑖</m:t>
                              </m:r>
                            </m:sub>
                          </m:sSub>
                          <m:r>
                            <a:rPr lang="en-US" altLang="zh-TW" sz="2000" b="0" i="1" smtClean="0">
                              <a:solidFill>
                                <a:schemeClr val="accent5">
                                  <a:lumMod val="50000"/>
                                </a:schemeClr>
                              </a:solidFill>
                              <a:latin typeface="Cambria Math" panose="02040503050406030204" pitchFamily="18" charset="0"/>
                            </a:rPr>
                            <m:t>)</m:t>
                          </m:r>
                          <m:r>
                            <a:rPr lang="en-US" altLang="zh-TW" sz="2000" i="1" smtClean="0">
                              <a:solidFill>
                                <a:schemeClr val="accent5">
                                  <a:lumMod val="50000"/>
                                </a:schemeClr>
                              </a:solidFill>
                              <a:latin typeface="Cambria Math" panose="02040503050406030204" pitchFamily="18" charset="0"/>
                            </a:rPr>
                            <m:t> </m:t>
                          </m:r>
                        </m:e>
                      </m:nary>
                    </m:oMath>
                  </m:oMathPara>
                </a14:m>
                <a:endParaRPr lang="zh-TW" altLang="en-US" sz="2000" dirty="0">
                  <a:solidFill>
                    <a:schemeClr val="accent5">
                      <a:lumMod val="50000"/>
                    </a:schemeClr>
                  </a:solidFill>
                </a:endParaRPr>
              </a:p>
            </p:txBody>
          </p:sp>
        </mc:Choice>
        <mc:Fallback xmlns="">
          <p:sp>
            <p:nvSpPr>
              <p:cNvPr id="22" name="文字方塊 21">
                <a:extLst>
                  <a:ext uri="{FF2B5EF4-FFF2-40B4-BE49-F238E27FC236}">
                    <a16:creationId xmlns:a16="http://schemas.microsoft.com/office/drawing/2014/main" id="{3542D740-B152-F38F-23FC-7A0A397EBF47}"/>
                  </a:ext>
                </a:extLst>
              </p:cNvPr>
              <p:cNvSpPr txBox="1">
                <a:spLocks noRot="1" noChangeAspect="1" noMove="1" noResize="1" noEditPoints="1" noAdjustHandles="1" noChangeArrowheads="1" noChangeShapeType="1" noTextEdit="1"/>
              </p:cNvSpPr>
              <p:nvPr/>
            </p:nvSpPr>
            <p:spPr>
              <a:xfrm>
                <a:off x="106864" y="3879632"/>
                <a:ext cx="5579909" cy="1359924"/>
              </a:xfrm>
              <a:prstGeom prst="rect">
                <a:avLst/>
              </a:prstGeom>
              <a:blipFill>
                <a:blip r:embed="rId4"/>
                <a:stretch>
                  <a:fillRect l="-1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40CA1960-57B0-4AD9-564D-1E87615564E7}"/>
                  </a:ext>
                </a:extLst>
              </p:cNvPr>
              <p:cNvSpPr txBox="1"/>
              <p:nvPr/>
            </p:nvSpPr>
            <p:spPr>
              <a:xfrm>
                <a:off x="447642" y="5465491"/>
                <a:ext cx="2153707" cy="58516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000" b="0" i="1" smtClean="0">
                          <a:solidFill>
                            <a:srgbClr val="00B050"/>
                          </a:solidFill>
                          <a:latin typeface="Cambria Math" panose="02040503050406030204" pitchFamily="18" charset="0"/>
                        </a:rPr>
                        <m:t>𝑎</m:t>
                      </m:r>
                      <m:r>
                        <a:rPr lang="en-US" altLang="zh-TW" sz="2000" b="0" i="1" smtClean="0">
                          <a:solidFill>
                            <a:srgbClr val="00B050"/>
                          </a:solidFill>
                          <a:latin typeface="Cambria Math" panose="02040503050406030204" pitchFamily="18" charset="0"/>
                        </a:rPr>
                        <m:t>=</m:t>
                      </m:r>
                      <m:r>
                        <a:rPr lang="en-US" altLang="zh-TW" sz="2000" b="0" i="1" smtClean="0">
                          <a:solidFill>
                            <a:srgbClr val="00B050"/>
                          </a:solidFill>
                          <a:latin typeface="Cambria Math" panose="02040503050406030204" pitchFamily="18" charset="0"/>
                        </a:rPr>
                        <m:t>𝑎</m:t>
                      </m:r>
                      <m:r>
                        <a:rPr lang="en-US" altLang="zh-TW" sz="2000" b="0" i="1" smtClean="0">
                          <a:solidFill>
                            <a:srgbClr val="00B050"/>
                          </a:solidFill>
                          <a:latin typeface="Cambria Math" panose="02040503050406030204" pitchFamily="18" charset="0"/>
                        </a:rPr>
                        <m:t>−</m:t>
                      </m:r>
                      <m:r>
                        <a:rPr lang="zh-TW" altLang="en-US" sz="2000" i="1">
                          <a:solidFill>
                            <a:schemeClr val="accent5">
                              <a:lumMod val="50000"/>
                            </a:schemeClr>
                          </a:solidFill>
                          <a:latin typeface="Cambria Math" panose="02040503050406030204" pitchFamily="18" charset="0"/>
                        </a:rPr>
                        <m:t>𝜀</m:t>
                      </m:r>
                      <m:f>
                        <m:fPr>
                          <m:ctrlPr>
                            <a:rPr lang="en-US" altLang="zh-TW" sz="2000" i="1">
                              <a:solidFill>
                                <a:srgbClr val="00B050"/>
                              </a:solidFill>
                              <a:latin typeface="Cambria Math" panose="02040503050406030204" pitchFamily="18" charset="0"/>
                            </a:rPr>
                          </m:ctrlPr>
                        </m:fPr>
                        <m:num>
                          <m:r>
                            <a:rPr lang="zh-TW" altLang="en-US" sz="2000" i="1">
                              <a:solidFill>
                                <a:srgbClr val="00B050"/>
                              </a:solidFill>
                              <a:latin typeface="Cambria Math" panose="02040503050406030204" pitchFamily="18" charset="0"/>
                            </a:rPr>
                            <m:t>𝛿</m:t>
                          </m:r>
                          <m:r>
                            <a:rPr lang="en-US" altLang="zh-TW" sz="2000" i="1">
                              <a:solidFill>
                                <a:srgbClr val="00B050"/>
                              </a:solidFill>
                              <a:latin typeface="Cambria Math" panose="02040503050406030204" pitchFamily="18" charset="0"/>
                            </a:rPr>
                            <m:t>𝑀𝑆𝐸</m:t>
                          </m:r>
                        </m:num>
                        <m:den>
                          <m:r>
                            <a:rPr lang="zh-TW" altLang="en-US" sz="2000" i="1">
                              <a:solidFill>
                                <a:srgbClr val="00B050"/>
                              </a:solidFill>
                              <a:latin typeface="Cambria Math" panose="02040503050406030204" pitchFamily="18" charset="0"/>
                            </a:rPr>
                            <m:t>𝛿</m:t>
                          </m:r>
                          <m:r>
                            <a:rPr lang="en-US" altLang="zh-TW" sz="2000" b="0" i="1" smtClean="0">
                              <a:solidFill>
                                <a:srgbClr val="00B050"/>
                              </a:solidFill>
                              <a:latin typeface="Cambria Math" panose="02040503050406030204" pitchFamily="18" charset="0"/>
                            </a:rPr>
                            <m:t>𝑎</m:t>
                          </m:r>
                        </m:den>
                      </m:f>
                    </m:oMath>
                  </m:oMathPara>
                </a14:m>
                <a:endParaRPr lang="zh-TW" altLang="en-US" sz="2000" dirty="0">
                  <a:solidFill>
                    <a:srgbClr val="00B050"/>
                  </a:solidFill>
                </a:endParaRPr>
              </a:p>
            </p:txBody>
          </p:sp>
        </mc:Choice>
        <mc:Fallback xmlns="">
          <p:sp>
            <p:nvSpPr>
              <p:cNvPr id="23" name="文字方塊 22">
                <a:extLst>
                  <a:ext uri="{FF2B5EF4-FFF2-40B4-BE49-F238E27FC236}">
                    <a16:creationId xmlns:a16="http://schemas.microsoft.com/office/drawing/2014/main" id="{40CA1960-57B0-4AD9-564D-1E87615564E7}"/>
                  </a:ext>
                </a:extLst>
              </p:cNvPr>
              <p:cNvSpPr txBox="1">
                <a:spLocks noRot="1" noChangeAspect="1" noMove="1" noResize="1" noEditPoints="1" noAdjustHandles="1" noChangeArrowheads="1" noChangeShapeType="1" noTextEdit="1"/>
              </p:cNvSpPr>
              <p:nvPr/>
            </p:nvSpPr>
            <p:spPr>
              <a:xfrm>
                <a:off x="447642" y="5465491"/>
                <a:ext cx="2153707" cy="58516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97A2D1BD-E14A-F644-0073-DAC97517F744}"/>
                  </a:ext>
                </a:extLst>
              </p:cNvPr>
              <p:cNvSpPr txBox="1"/>
              <p:nvPr/>
            </p:nvSpPr>
            <p:spPr>
              <a:xfrm>
                <a:off x="3027881" y="5465491"/>
                <a:ext cx="2153707" cy="58516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000" b="0" i="1" smtClean="0">
                          <a:solidFill>
                            <a:srgbClr val="00B050"/>
                          </a:solidFill>
                          <a:latin typeface="Cambria Math" panose="02040503050406030204" pitchFamily="18" charset="0"/>
                        </a:rPr>
                        <m:t>𝑏</m:t>
                      </m:r>
                      <m:r>
                        <a:rPr lang="en-US" altLang="zh-TW" sz="2000" b="0" i="1" smtClean="0">
                          <a:solidFill>
                            <a:srgbClr val="00B050"/>
                          </a:solidFill>
                          <a:latin typeface="Cambria Math" panose="02040503050406030204" pitchFamily="18" charset="0"/>
                        </a:rPr>
                        <m:t>=</m:t>
                      </m:r>
                      <m:r>
                        <a:rPr lang="en-US" altLang="zh-TW" sz="2000" b="0" i="1" smtClean="0">
                          <a:solidFill>
                            <a:srgbClr val="00B050"/>
                          </a:solidFill>
                          <a:latin typeface="Cambria Math" panose="02040503050406030204" pitchFamily="18" charset="0"/>
                        </a:rPr>
                        <m:t>𝑏</m:t>
                      </m:r>
                      <m:r>
                        <a:rPr lang="en-US" altLang="zh-TW" sz="2000" b="0" i="1" smtClean="0">
                          <a:solidFill>
                            <a:srgbClr val="00B050"/>
                          </a:solidFill>
                          <a:latin typeface="Cambria Math" panose="02040503050406030204" pitchFamily="18" charset="0"/>
                        </a:rPr>
                        <m:t>−</m:t>
                      </m:r>
                      <m:r>
                        <a:rPr lang="zh-TW" altLang="en-US" sz="2000" i="1">
                          <a:solidFill>
                            <a:schemeClr val="accent5">
                              <a:lumMod val="50000"/>
                            </a:schemeClr>
                          </a:solidFill>
                          <a:latin typeface="Cambria Math" panose="02040503050406030204" pitchFamily="18" charset="0"/>
                        </a:rPr>
                        <m:t>𝜀</m:t>
                      </m:r>
                      <m:f>
                        <m:fPr>
                          <m:ctrlPr>
                            <a:rPr lang="en-US" altLang="zh-TW" sz="2000" i="1">
                              <a:solidFill>
                                <a:srgbClr val="00B050"/>
                              </a:solidFill>
                              <a:latin typeface="Cambria Math" panose="02040503050406030204" pitchFamily="18" charset="0"/>
                            </a:rPr>
                          </m:ctrlPr>
                        </m:fPr>
                        <m:num>
                          <m:r>
                            <a:rPr lang="zh-TW" altLang="en-US" sz="2000" i="1">
                              <a:solidFill>
                                <a:srgbClr val="00B050"/>
                              </a:solidFill>
                              <a:latin typeface="Cambria Math" panose="02040503050406030204" pitchFamily="18" charset="0"/>
                            </a:rPr>
                            <m:t>𝛿</m:t>
                          </m:r>
                          <m:r>
                            <a:rPr lang="en-US" altLang="zh-TW" sz="2000" i="1">
                              <a:solidFill>
                                <a:srgbClr val="00B050"/>
                              </a:solidFill>
                              <a:latin typeface="Cambria Math" panose="02040503050406030204" pitchFamily="18" charset="0"/>
                            </a:rPr>
                            <m:t>𝑀𝑆𝐸</m:t>
                          </m:r>
                        </m:num>
                        <m:den>
                          <m:r>
                            <a:rPr lang="zh-TW" altLang="en-US" sz="2000" i="1">
                              <a:solidFill>
                                <a:srgbClr val="00B050"/>
                              </a:solidFill>
                              <a:latin typeface="Cambria Math" panose="02040503050406030204" pitchFamily="18" charset="0"/>
                            </a:rPr>
                            <m:t>𝛿</m:t>
                          </m:r>
                          <m:r>
                            <a:rPr lang="en-US" altLang="zh-TW" sz="2000" b="0" i="1" smtClean="0">
                              <a:solidFill>
                                <a:srgbClr val="00B050"/>
                              </a:solidFill>
                              <a:latin typeface="Cambria Math" panose="02040503050406030204" pitchFamily="18" charset="0"/>
                            </a:rPr>
                            <m:t>𝑏</m:t>
                          </m:r>
                        </m:den>
                      </m:f>
                    </m:oMath>
                  </m:oMathPara>
                </a14:m>
                <a:endParaRPr lang="zh-TW" altLang="en-US" sz="2000" dirty="0">
                  <a:solidFill>
                    <a:schemeClr val="accent5">
                      <a:lumMod val="50000"/>
                    </a:schemeClr>
                  </a:solidFill>
                </a:endParaRPr>
              </a:p>
            </p:txBody>
          </p:sp>
        </mc:Choice>
        <mc:Fallback xmlns="">
          <p:sp>
            <p:nvSpPr>
              <p:cNvPr id="24" name="文字方塊 23">
                <a:extLst>
                  <a:ext uri="{FF2B5EF4-FFF2-40B4-BE49-F238E27FC236}">
                    <a16:creationId xmlns:a16="http://schemas.microsoft.com/office/drawing/2014/main" id="{97A2D1BD-E14A-F644-0073-DAC97517F744}"/>
                  </a:ext>
                </a:extLst>
              </p:cNvPr>
              <p:cNvSpPr txBox="1">
                <a:spLocks noRot="1" noChangeAspect="1" noMove="1" noResize="1" noEditPoints="1" noAdjustHandles="1" noChangeArrowheads="1" noChangeShapeType="1" noTextEdit="1"/>
              </p:cNvSpPr>
              <p:nvPr/>
            </p:nvSpPr>
            <p:spPr>
              <a:xfrm>
                <a:off x="3027881" y="5465491"/>
                <a:ext cx="2153707" cy="585160"/>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CC877822-DFCA-6F9E-BFE5-7B03460792EF}"/>
                  </a:ext>
                </a:extLst>
              </p:cNvPr>
              <p:cNvSpPr txBox="1"/>
              <p:nvPr/>
            </p:nvSpPr>
            <p:spPr>
              <a:xfrm>
                <a:off x="189385" y="105009"/>
                <a:ext cx="2072683" cy="61555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4000" b="0" i="0" smtClean="0">
                          <a:latin typeface="Cambria Math" panose="02040503050406030204" pitchFamily="18" charset="0"/>
                        </a:rPr>
                        <m:t>Learning</m:t>
                      </m:r>
                    </m:oMath>
                  </m:oMathPara>
                </a14:m>
                <a:endParaRPr lang="zh-TW" altLang="en-US" sz="4000" dirty="0"/>
              </a:p>
            </p:txBody>
          </p:sp>
        </mc:Choice>
        <mc:Fallback xmlns="">
          <p:sp>
            <p:nvSpPr>
              <p:cNvPr id="7" name="文字方塊 6">
                <a:extLst>
                  <a:ext uri="{FF2B5EF4-FFF2-40B4-BE49-F238E27FC236}">
                    <a16:creationId xmlns:a16="http://schemas.microsoft.com/office/drawing/2014/main" id="{CC877822-DFCA-6F9E-BFE5-7B03460792EF}"/>
                  </a:ext>
                </a:extLst>
              </p:cNvPr>
              <p:cNvSpPr txBox="1">
                <a:spLocks noRot="1" noChangeAspect="1" noMove="1" noResize="1" noEditPoints="1" noAdjustHandles="1" noChangeArrowheads="1" noChangeShapeType="1" noTextEdit="1"/>
              </p:cNvSpPr>
              <p:nvPr/>
            </p:nvSpPr>
            <p:spPr>
              <a:xfrm>
                <a:off x="189385" y="105009"/>
                <a:ext cx="2072683" cy="615553"/>
              </a:xfrm>
              <a:prstGeom prst="rect">
                <a:avLst/>
              </a:prstGeom>
              <a:blipFill>
                <a:blip r:embed="rId7"/>
                <a:stretch>
                  <a:fillRect/>
                </a:stretch>
              </a:blipFill>
            </p:spPr>
            <p:txBody>
              <a:bodyPr/>
              <a:lstStyle/>
              <a:p>
                <a:r>
                  <a:rPr lang="zh-TW" altLang="en-US">
                    <a:noFill/>
                  </a:rPr>
                  <a:t> </a:t>
                </a:r>
              </a:p>
            </p:txBody>
          </p:sp>
        </mc:Fallback>
      </mc:AlternateContent>
      <p:grpSp>
        <p:nvGrpSpPr>
          <p:cNvPr id="2" name="群組 1">
            <a:extLst>
              <a:ext uri="{FF2B5EF4-FFF2-40B4-BE49-F238E27FC236}">
                <a16:creationId xmlns:a16="http://schemas.microsoft.com/office/drawing/2014/main" id="{97243629-9EC5-A2A9-092F-FE94FB8B99C6}"/>
              </a:ext>
            </a:extLst>
          </p:cNvPr>
          <p:cNvGrpSpPr/>
          <p:nvPr/>
        </p:nvGrpSpPr>
        <p:grpSpPr>
          <a:xfrm>
            <a:off x="8909428" y="4559594"/>
            <a:ext cx="3047421" cy="1504585"/>
            <a:chOff x="328379" y="165192"/>
            <a:chExt cx="3047421" cy="1504585"/>
          </a:xfrm>
        </p:grpSpPr>
        <p:grpSp>
          <p:nvGrpSpPr>
            <p:cNvPr id="3" name="群組 2">
              <a:extLst>
                <a:ext uri="{FF2B5EF4-FFF2-40B4-BE49-F238E27FC236}">
                  <a16:creationId xmlns:a16="http://schemas.microsoft.com/office/drawing/2014/main" id="{2C004223-D001-C201-C43C-D5AA7F9E7CCA}"/>
                </a:ext>
              </a:extLst>
            </p:cNvPr>
            <p:cNvGrpSpPr/>
            <p:nvPr/>
          </p:nvGrpSpPr>
          <p:grpSpPr>
            <a:xfrm>
              <a:off x="328379" y="165192"/>
              <a:ext cx="2378535" cy="1504585"/>
              <a:chOff x="7188115" y="2672832"/>
              <a:chExt cx="2378535" cy="1504585"/>
            </a:xfrm>
          </p:grpSpPr>
          <p:sp>
            <p:nvSpPr>
              <p:cNvPr id="5" name="橢圓 4">
                <a:extLst>
                  <a:ext uri="{FF2B5EF4-FFF2-40B4-BE49-F238E27FC236}">
                    <a16:creationId xmlns:a16="http://schemas.microsoft.com/office/drawing/2014/main" id="{931E2F48-B1B1-83D3-68CE-908D6E08692A}"/>
                  </a:ext>
                </a:extLst>
              </p:cNvPr>
              <p:cNvSpPr/>
              <p:nvPr/>
            </p:nvSpPr>
            <p:spPr>
              <a:xfrm>
                <a:off x="7188115" y="2875002"/>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sp>
            <p:nvSpPr>
              <p:cNvPr id="6" name="橢圓 5">
                <a:extLst>
                  <a:ext uri="{FF2B5EF4-FFF2-40B4-BE49-F238E27FC236}">
                    <a16:creationId xmlns:a16="http://schemas.microsoft.com/office/drawing/2014/main" id="{81CFA5EB-ED3E-4C20-5C1C-F27CDDAC8C85}"/>
                  </a:ext>
                </a:extLst>
              </p:cNvPr>
              <p:cNvSpPr/>
              <p:nvPr/>
            </p:nvSpPr>
            <p:spPr>
              <a:xfrm>
                <a:off x="7200005" y="3712786"/>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 name="直線單箭頭接點 8">
                <a:extLst>
                  <a:ext uri="{FF2B5EF4-FFF2-40B4-BE49-F238E27FC236}">
                    <a16:creationId xmlns:a16="http://schemas.microsoft.com/office/drawing/2014/main" id="{0880C9FB-D34D-9392-6524-A87A5838344E}"/>
                  </a:ext>
                </a:extLst>
              </p:cNvPr>
              <p:cNvCxnSpPr>
                <a:cxnSpLocks/>
                <a:stCxn id="10" idx="6"/>
              </p:cNvCxnSpPr>
              <p:nvPr/>
            </p:nvCxnSpPr>
            <p:spPr>
              <a:xfrm>
                <a:off x="8712541" y="3446680"/>
                <a:ext cx="4320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橢圓 9">
                <a:extLst>
                  <a:ext uri="{FF2B5EF4-FFF2-40B4-BE49-F238E27FC236}">
                    <a16:creationId xmlns:a16="http://schemas.microsoft.com/office/drawing/2014/main" id="{AD1D9AC9-B8F2-5B2A-E7C8-6E4F1A578646}"/>
                  </a:ext>
                </a:extLst>
              </p:cNvPr>
              <p:cNvSpPr/>
              <p:nvPr/>
            </p:nvSpPr>
            <p:spPr>
              <a:xfrm>
                <a:off x="8352541" y="326668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1" name="直線單箭頭接點 10">
                <a:extLst>
                  <a:ext uri="{FF2B5EF4-FFF2-40B4-BE49-F238E27FC236}">
                    <a16:creationId xmlns:a16="http://schemas.microsoft.com/office/drawing/2014/main" id="{87ACFD55-B19F-63DA-E413-869BA822791F}"/>
                  </a:ext>
                </a:extLst>
              </p:cNvPr>
              <p:cNvCxnSpPr>
                <a:cxnSpLocks/>
                <a:stCxn id="6" idx="6"/>
                <a:endCxn id="10" idx="2"/>
              </p:cNvCxnSpPr>
              <p:nvPr/>
            </p:nvCxnSpPr>
            <p:spPr>
              <a:xfrm flipV="1">
                <a:off x="7560005" y="3446680"/>
                <a:ext cx="792536" cy="446106"/>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B7659D74-FDB1-0E09-A542-39B81568B476}"/>
                      </a:ext>
                    </a:extLst>
                  </p:cNvPr>
                  <p:cNvSpPr txBox="1"/>
                  <p:nvPr/>
                </p:nvSpPr>
                <p:spPr>
                  <a:xfrm>
                    <a:off x="7812176" y="2672832"/>
                    <a:ext cx="329001"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𝑎</m:t>
                          </m:r>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142CB7BA-1F33-D996-331B-0976AE1177CE}"/>
                      </a:ext>
                    </a:extLst>
                  </p:cNvPr>
                  <p:cNvSpPr txBox="1">
                    <a:spLocks noRot="1" noChangeAspect="1" noMove="1" noResize="1" noEditPoints="1" noAdjustHandles="1" noChangeArrowheads="1" noChangeShapeType="1" noTextEdit="1"/>
                  </p:cNvSpPr>
                  <p:nvPr/>
                </p:nvSpPr>
                <p:spPr>
                  <a:xfrm>
                    <a:off x="7812176" y="2672832"/>
                    <a:ext cx="329001" cy="492443"/>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9C8E5BCA-4A51-1176-07FE-EA4103ECAE9B}"/>
                      </a:ext>
                    </a:extLst>
                  </p:cNvPr>
                  <p:cNvSpPr txBox="1"/>
                  <p:nvPr/>
                </p:nvSpPr>
                <p:spPr>
                  <a:xfrm>
                    <a:off x="7779224" y="3684974"/>
                    <a:ext cx="320024"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𝑏</m:t>
                          </m:r>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12" name="文字方塊 11">
                    <a:extLst>
                      <a:ext uri="{FF2B5EF4-FFF2-40B4-BE49-F238E27FC236}">
                        <a16:creationId xmlns:a16="http://schemas.microsoft.com/office/drawing/2014/main" id="{ABB997E2-997C-F78E-8A2F-BAFDDE1C5188}"/>
                      </a:ext>
                    </a:extLst>
                  </p:cNvPr>
                  <p:cNvSpPr txBox="1">
                    <a:spLocks noRot="1" noChangeAspect="1" noMove="1" noResize="1" noEditPoints="1" noAdjustHandles="1" noChangeArrowheads="1" noChangeShapeType="1" noTextEdit="1"/>
                  </p:cNvSpPr>
                  <p:nvPr/>
                </p:nvSpPr>
                <p:spPr>
                  <a:xfrm>
                    <a:off x="7779224" y="3684974"/>
                    <a:ext cx="320024" cy="492443"/>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D47D5A70-5714-6B43-67BF-93C5A49C3487}"/>
                      </a:ext>
                    </a:extLst>
                  </p:cNvPr>
                  <p:cNvSpPr txBox="1"/>
                  <p:nvPr/>
                </p:nvSpPr>
                <p:spPr>
                  <a:xfrm>
                    <a:off x="9240663" y="3182778"/>
                    <a:ext cx="325987"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acc>
                            <m:accPr>
                              <m:chr m:val="̂"/>
                              <m:ctrlPr>
                                <a:rPr lang="en-US" altLang="zh-TW" sz="3200" b="0" i="1" smtClean="0">
                                  <a:solidFill>
                                    <a:schemeClr val="accent5">
                                      <a:lumMod val="50000"/>
                                    </a:schemeClr>
                                  </a:solidFill>
                                  <a:latin typeface="Cambria Math" panose="02040503050406030204" pitchFamily="18" charset="0"/>
                                </a:rPr>
                              </m:ctrlPr>
                            </m:accPr>
                            <m:e>
                              <m:r>
                                <a:rPr lang="en-US" altLang="zh-TW" sz="3200" b="0" i="1" smtClean="0">
                                  <a:solidFill>
                                    <a:schemeClr val="accent5">
                                      <a:lumMod val="50000"/>
                                    </a:schemeClr>
                                  </a:solidFill>
                                  <a:latin typeface="Cambria Math" panose="02040503050406030204" pitchFamily="18" charset="0"/>
                                </a:rPr>
                                <m:t>𝑦</m:t>
                              </m:r>
                            </m:e>
                          </m:acc>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13" name="文字方塊 12">
                    <a:extLst>
                      <a:ext uri="{FF2B5EF4-FFF2-40B4-BE49-F238E27FC236}">
                        <a16:creationId xmlns:a16="http://schemas.microsoft.com/office/drawing/2014/main" id="{A881496C-59BF-4130-9BD9-E58EFB68559D}"/>
                      </a:ext>
                    </a:extLst>
                  </p:cNvPr>
                  <p:cNvSpPr txBox="1">
                    <a:spLocks noRot="1" noChangeAspect="1" noMove="1" noResize="1" noEditPoints="1" noAdjustHandles="1" noChangeArrowheads="1" noChangeShapeType="1" noTextEdit="1"/>
                  </p:cNvSpPr>
                  <p:nvPr/>
                </p:nvSpPr>
                <p:spPr>
                  <a:xfrm>
                    <a:off x="9240663" y="3182778"/>
                    <a:ext cx="325987" cy="492443"/>
                  </a:xfrm>
                  <a:prstGeom prst="rect">
                    <a:avLst/>
                  </a:prstGeom>
                  <a:blipFill>
                    <a:blip r:embed="rId10"/>
                    <a:stretch>
                      <a:fillRect l="-1887"/>
                    </a:stretch>
                  </a:blipFill>
                </p:spPr>
                <p:txBody>
                  <a:bodyPr/>
                  <a:lstStyle/>
                  <a:p>
                    <a:r>
                      <a:rPr lang="zh-TW" altLang="en-US">
                        <a:noFill/>
                      </a:rPr>
                      <a:t> </a:t>
                    </a:r>
                  </a:p>
                </p:txBody>
              </p:sp>
            </mc:Fallback>
          </mc:AlternateContent>
          <p:cxnSp>
            <p:nvCxnSpPr>
              <p:cNvPr id="15" name="直線單箭頭接點 14">
                <a:extLst>
                  <a:ext uri="{FF2B5EF4-FFF2-40B4-BE49-F238E27FC236}">
                    <a16:creationId xmlns:a16="http://schemas.microsoft.com/office/drawing/2014/main" id="{1464B50D-9760-CC39-194D-AF577C8519D3}"/>
                  </a:ext>
                </a:extLst>
              </p:cNvPr>
              <p:cNvCxnSpPr>
                <a:cxnSpLocks/>
                <a:stCxn id="5" idx="6"/>
                <a:endCxn id="10" idx="2"/>
              </p:cNvCxnSpPr>
              <p:nvPr/>
            </p:nvCxnSpPr>
            <p:spPr>
              <a:xfrm>
                <a:off x="7548115" y="3055002"/>
                <a:ext cx="804426" cy="391678"/>
              </a:xfrm>
              <a:prstGeom prst="straightConnector1">
                <a:avLst/>
              </a:prstGeom>
              <a:ln w="22225">
                <a:tailEnd type="triangle"/>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E6488B5D-8BF7-E9A2-E272-89F8648CA144}"/>
                    </a:ext>
                  </a:extLst>
                </p:cNvPr>
                <p:cNvSpPr txBox="1"/>
                <p:nvPr/>
              </p:nvSpPr>
              <p:spPr>
                <a:xfrm>
                  <a:off x="3049813" y="656277"/>
                  <a:ext cx="325987" cy="49244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3200" b="0" i="1" smtClean="0">
                            <a:solidFill>
                              <a:schemeClr val="accent5">
                                <a:lumMod val="50000"/>
                              </a:schemeClr>
                            </a:solidFill>
                            <a:latin typeface="Cambria Math" panose="02040503050406030204" pitchFamily="18" charset="0"/>
                          </a:rPr>
                          <m:t>𝑦</m:t>
                        </m:r>
                      </m:oMath>
                    </m:oMathPara>
                  </a14:m>
                  <a:endParaRPr lang="en-US" altLang="zh-TW" sz="3200" b="0" i="1" dirty="0">
                    <a:solidFill>
                      <a:schemeClr val="accent5">
                        <a:lumMod val="50000"/>
                      </a:schemeClr>
                    </a:solidFill>
                    <a:latin typeface="Cambria Math" panose="02040503050406030204" pitchFamily="18" charset="0"/>
                  </a:endParaRPr>
                </a:p>
              </p:txBody>
            </p:sp>
          </mc:Choice>
          <mc:Fallback xmlns="">
            <p:sp>
              <p:nvSpPr>
                <p:cNvPr id="4" name="文字方塊 3">
                  <a:extLst>
                    <a:ext uri="{FF2B5EF4-FFF2-40B4-BE49-F238E27FC236}">
                      <a16:creationId xmlns:a16="http://schemas.microsoft.com/office/drawing/2014/main" id="{E6488B5D-8BF7-E9A2-E272-89F8648CA144}"/>
                    </a:ext>
                  </a:extLst>
                </p:cNvPr>
                <p:cNvSpPr txBox="1">
                  <a:spLocks noRot="1" noChangeAspect="1" noMove="1" noResize="1" noEditPoints="1" noAdjustHandles="1" noChangeArrowheads="1" noChangeShapeType="1" noTextEdit="1"/>
                </p:cNvSpPr>
                <p:nvPr/>
              </p:nvSpPr>
              <p:spPr>
                <a:xfrm>
                  <a:off x="3049813" y="656277"/>
                  <a:ext cx="325987" cy="492443"/>
                </a:xfrm>
                <a:prstGeom prst="rect">
                  <a:avLst/>
                </a:prstGeom>
                <a:blipFill>
                  <a:blip r:embed="rId11"/>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740944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86FB3F-F034-081B-F997-84BF7697F184}"/>
              </a:ext>
            </a:extLst>
          </p:cNvPr>
          <p:cNvSpPr>
            <a:spLocks noGrp="1"/>
          </p:cNvSpPr>
          <p:nvPr>
            <p:ph type="ctrTitle"/>
          </p:nvPr>
        </p:nvSpPr>
        <p:spPr/>
        <p:txBody>
          <a:bodyPr/>
          <a:lstStyle/>
          <a:p>
            <a:r>
              <a:rPr lang="en-US" altLang="zh-TW" dirty="0"/>
              <a:t>Generalization</a:t>
            </a:r>
            <a:endParaRPr lang="zh-TW" altLang="en-US" dirty="0"/>
          </a:p>
        </p:txBody>
      </p:sp>
      <p:sp>
        <p:nvSpPr>
          <p:cNvPr id="3" name="副標題 2">
            <a:extLst>
              <a:ext uri="{FF2B5EF4-FFF2-40B4-BE49-F238E27FC236}">
                <a16:creationId xmlns:a16="http://schemas.microsoft.com/office/drawing/2014/main" id="{424CCEB2-4EBF-8A48-506A-1B98B05A48EF}"/>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2277810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37BA9BD8-8780-9CFD-2F39-E3D784ED5BDC}"/>
                  </a:ext>
                </a:extLst>
              </p:cNvPr>
              <p:cNvSpPr txBox="1"/>
              <p:nvPr/>
            </p:nvSpPr>
            <p:spPr>
              <a:xfrm>
                <a:off x="1569877" y="2820283"/>
                <a:ext cx="1912383" cy="430887"/>
              </a:xfrm>
              <a:prstGeom prst="rect">
                <a:avLst/>
              </a:prstGeom>
              <a:noFill/>
            </p:spPr>
            <p:txBody>
              <a:bodyPr wrap="none" lIns="0" tIns="0" rIns="0" bIns="0" rtlCol="0">
                <a:spAutoFit/>
              </a:bodyPr>
              <a:lstStyle/>
              <a:p>
                <a:r>
                  <a:rPr lang="zh-TW" altLang="en-US" dirty="0"/>
                  <a:t> </a:t>
                </a:r>
                <a14:m>
                  <m:oMath xmlns:m="http://schemas.openxmlformats.org/officeDocument/2006/math">
                    <m:acc>
                      <m:accPr>
                        <m:chr m:val="̂"/>
                        <m:ctrlPr>
                          <a:rPr lang="en-US" altLang="zh-TW" sz="2800" b="1" i="1" smtClean="0">
                            <a:latin typeface="Cambria Math" panose="02040503050406030204" pitchFamily="18" charset="0"/>
                          </a:rPr>
                        </m:ctrlPr>
                      </m:accPr>
                      <m:e>
                        <m:r>
                          <a:rPr lang="en-US" altLang="zh-TW" sz="2800" b="1" i="0" smtClean="0">
                            <a:latin typeface="Cambria Math" panose="02040503050406030204" pitchFamily="18" charset="0"/>
                          </a:rPr>
                          <m:t>𝐲</m:t>
                        </m:r>
                      </m:e>
                    </m:acc>
                    <m:r>
                      <a:rPr lang="en-US" altLang="zh-TW" sz="2800" i="1" smtClean="0">
                        <a:latin typeface="Cambria Math" panose="02040503050406030204" pitchFamily="18" charset="0"/>
                      </a:rPr>
                      <m:t>=</m:t>
                    </m:r>
                    <m:r>
                      <a:rPr lang="en-US" altLang="zh-TW" sz="2800" b="1" i="0" smtClean="0">
                        <a:latin typeface="Cambria Math" panose="02040503050406030204" pitchFamily="18" charset="0"/>
                      </a:rPr>
                      <m:t>𝐗𝐰</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a14:m>
                <a:endParaRPr lang="zh-TW" altLang="en-US" sz="2800" dirty="0"/>
              </a:p>
            </p:txBody>
          </p:sp>
        </mc:Choice>
        <mc:Fallback xmlns="">
          <p:sp>
            <p:nvSpPr>
              <p:cNvPr id="2" name="文字方塊 1">
                <a:extLst>
                  <a:ext uri="{FF2B5EF4-FFF2-40B4-BE49-F238E27FC236}">
                    <a16:creationId xmlns:a16="http://schemas.microsoft.com/office/drawing/2014/main" id="{37BA9BD8-8780-9CFD-2F39-E3D784ED5BDC}"/>
                  </a:ext>
                </a:extLst>
              </p:cNvPr>
              <p:cNvSpPr txBox="1">
                <a:spLocks noRot="1" noChangeAspect="1" noMove="1" noResize="1" noEditPoints="1" noAdjustHandles="1" noChangeArrowheads="1" noChangeShapeType="1" noTextEdit="1"/>
              </p:cNvSpPr>
              <p:nvPr/>
            </p:nvSpPr>
            <p:spPr>
              <a:xfrm>
                <a:off x="1569877" y="2820283"/>
                <a:ext cx="1912383" cy="43088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9358D358-F4D9-3F3D-1201-091B69D9EAC2}"/>
                  </a:ext>
                </a:extLst>
              </p:cNvPr>
              <p:cNvSpPr txBox="1"/>
              <p:nvPr/>
            </p:nvSpPr>
            <p:spPr>
              <a:xfrm>
                <a:off x="4706886" y="2529397"/>
                <a:ext cx="5591659" cy="1669496"/>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d>
                        <m:dPr>
                          <m:begChr m:val="["/>
                          <m:endChr m:val="]"/>
                          <m:ctrlPr>
                            <a:rPr lang="en-US" altLang="zh-TW" sz="2800" i="1" smtClean="0">
                              <a:latin typeface="Cambria Math" panose="02040503050406030204" pitchFamily="18" charset="0"/>
                            </a:rPr>
                          </m:ctrlPr>
                        </m:dPr>
                        <m:e>
                          <m:eqArr>
                            <m:eqArrPr>
                              <m:ctrlPr>
                                <a:rPr lang="en-US" altLang="zh-TW" sz="2800" i="1" smtClean="0">
                                  <a:latin typeface="Cambria Math" panose="02040503050406030204" pitchFamily="18" charset="0"/>
                                </a:rPr>
                              </m:ctrlPr>
                            </m:eqArrPr>
                            <m:e>
                              <m:acc>
                                <m:accPr>
                                  <m:chr m:val="̂"/>
                                  <m:ctrlPr>
                                    <a:rPr lang="en-US" altLang="zh-TW" sz="2800" i="1" smtClean="0">
                                      <a:latin typeface="Cambria Math" panose="02040503050406030204" pitchFamily="18" charset="0"/>
                                    </a:rPr>
                                  </m:ctrlPr>
                                </m:accPr>
                                <m:e>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1</m:t>
                                      </m:r>
                                    </m:sub>
                                  </m:sSub>
                                </m:e>
                              </m:acc>
                            </m:e>
                            <m:e>
                              <m:acc>
                                <m:accPr>
                                  <m:chr m:val="̂"/>
                                  <m:ctrlPr>
                                    <a:rPr lang="zh-TW" altLang="en-US" sz="2800" i="1" smtClean="0">
                                      <a:latin typeface="Cambria Math" panose="02040503050406030204" pitchFamily="18" charset="0"/>
                                    </a:rPr>
                                  </m:ctrlPr>
                                </m:accPr>
                                <m:e>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2</m:t>
                                      </m:r>
                                    </m:sub>
                                  </m:sSub>
                                </m:e>
                              </m:acc>
                            </m:e>
                            <m:e>
                              <m:r>
                                <a:rPr lang="zh-TW" altLang="en-US" b="0" i="1" smtClean="0">
                                  <a:latin typeface="Cambria Math" panose="02040503050406030204" pitchFamily="18" charset="0"/>
                                </a:rPr>
                                <m:t>⋮</m:t>
                              </m:r>
                            </m:e>
                            <m:e>
                              <m:acc>
                                <m:accPr>
                                  <m:chr m:val="̂"/>
                                  <m:ctrlPr>
                                    <a:rPr lang="zh-TW" altLang="en-US" sz="2800" i="1" smtClean="0">
                                      <a:latin typeface="Cambria Math" panose="02040503050406030204" pitchFamily="18" charset="0"/>
                                    </a:rPr>
                                  </m:ctrlPr>
                                </m:accPr>
                                <m:e>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𝑛</m:t>
                                      </m:r>
                                    </m:sub>
                                  </m:sSub>
                                </m:e>
                              </m:acc>
                            </m:e>
                          </m:eqArr>
                        </m:e>
                      </m:d>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r>
                                    <a:rPr lang="en-US" altLang="zh-TW" sz="2800" i="1">
                                      <a:latin typeface="Cambria Math" panose="02040503050406030204" pitchFamily="18" charset="0"/>
                                    </a:rPr>
                                    <m:t>1</m:t>
                                  </m:r>
                                  <m:r>
                                    <a:rPr lang="en-US" altLang="zh-TW" sz="2800" b="0" i="1" smtClean="0">
                                      <a:latin typeface="Cambria Math" panose="02040503050406030204" pitchFamily="18" charset="0"/>
                                    </a:rPr>
                                    <m:t>  </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r>
                                    <a:rPr lang="en-US" altLang="zh-TW" sz="2800" b="0" i="1" smtClean="0">
                                      <a:latin typeface="Cambria Math" panose="02040503050406030204" pitchFamily="18" charset="0"/>
                                    </a:rPr>
                                    <m:t>2</m:t>
                                  </m:r>
                                  <m:r>
                                    <a:rPr lang="en-US" altLang="zh-TW" sz="2800" i="1">
                                      <a:latin typeface="Cambria Math" panose="02040503050406030204" pitchFamily="18" charset="0"/>
                                    </a:rPr>
                                    <m:t>  </m:t>
                                  </m:r>
                                  <m:r>
                                    <a:rPr lang="en-US" altLang="zh-TW" sz="2800" b="0" i="1" smtClean="0">
                                      <a:latin typeface="Cambria Math" panose="02040503050406030204" pitchFamily="18" charset="0"/>
                                    </a:rPr>
                                    <m:t> </m:t>
                                  </m:r>
                                  <m:r>
                                    <a:rPr lang="en-US" altLang="zh-TW" sz="280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  </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r>
                                    <a:rPr lang="en-US" altLang="zh-TW" sz="2800" b="0" i="1" smtClean="0">
                                      <a:latin typeface="Cambria Math" panose="02040503050406030204" pitchFamily="18" charset="0"/>
                                    </a:rPr>
                                    <m:t>𝑑</m:t>
                                  </m:r>
                                  <m:r>
                                    <a:rPr lang="en-US" altLang="zh-TW" sz="2800" i="1">
                                      <a:latin typeface="Cambria Math" panose="02040503050406030204" pitchFamily="18" charset="0"/>
                                    </a:rPr>
                                    <m:t>  </m:t>
                                  </m:r>
                                </m:sub>
                              </m:sSub>
                            </m:e>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r>
                                    <a:rPr lang="en-US" altLang="zh-TW" sz="2800" i="1">
                                      <a:latin typeface="Cambria Math" panose="02040503050406030204" pitchFamily="18" charset="0"/>
                                    </a:rPr>
                                    <m:t>1  </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r>
                                    <a:rPr lang="en-US" altLang="zh-TW" sz="2800" i="1">
                                      <a:latin typeface="Cambria Math" panose="02040503050406030204" pitchFamily="18" charset="0"/>
                                    </a:rPr>
                                    <m:t>2   </m:t>
                                  </m:r>
                                  <m:r>
                                    <a:rPr lang="en-US" altLang="zh-TW" sz="2800" i="1">
                                      <a:latin typeface="Cambria Math" panose="02040503050406030204" pitchFamily="18" charset="0"/>
                                      <a:ea typeface="Cambria Math" panose="02040503050406030204" pitchFamily="18" charset="0"/>
                                    </a:rPr>
                                    <m:t>⋯  </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r>
                                    <a:rPr lang="en-US" altLang="zh-TW" sz="2800" b="0" i="1" smtClean="0">
                                      <a:latin typeface="Cambria Math" panose="02040503050406030204" pitchFamily="18" charset="0"/>
                                    </a:rPr>
                                    <m:t>𝑑</m:t>
                                  </m:r>
                                  <m:r>
                                    <a:rPr lang="en-US" altLang="zh-TW" sz="2800" i="1">
                                      <a:latin typeface="Cambria Math" panose="02040503050406030204" pitchFamily="18" charset="0"/>
                                    </a:rPr>
                                    <m:t>  </m:t>
                                  </m:r>
                                </m:sub>
                              </m:sSub>
                            </m:e>
                            <m:e>
                              <m:r>
                                <a:rPr lang="zh-TW" altLang="en-US" sz="2800" i="1">
                                  <a:latin typeface="Cambria Math" panose="02040503050406030204" pitchFamily="18" charset="0"/>
                                </a:rPr>
                                <m:t>⋮</m:t>
                              </m:r>
                              <m:r>
                                <a:rPr lang="en-US" altLang="zh-TW" sz="2800" b="0" i="1" smtClean="0">
                                  <a:latin typeface="Cambria Math" panose="02040503050406030204" pitchFamily="18" charset="0"/>
                                </a:rPr>
                                <m:t>      </m:t>
                              </m:r>
                              <m:r>
                                <a:rPr lang="zh-TW" altLang="en-US" sz="2800" i="1">
                                  <a:latin typeface="Cambria Math" panose="02040503050406030204" pitchFamily="18" charset="0"/>
                                </a:rPr>
                                <m:t>⋮</m:t>
                              </m:r>
                              <m:r>
                                <a:rPr lang="en-US" altLang="zh-TW" sz="2800" b="0" i="1" smtClean="0">
                                  <a:latin typeface="Cambria Math" panose="02040503050406030204" pitchFamily="18" charset="0"/>
                                </a:rPr>
                                <m:t>      </m:t>
                              </m:r>
                              <m:r>
                                <a:rPr lang="zh-TW" altLang="en-US" sz="2800" i="1">
                                  <a:latin typeface="Cambria Math" panose="02040503050406030204" pitchFamily="18" charset="0"/>
                                </a:rPr>
                                <m:t>⋮</m:t>
                              </m:r>
                              <m:r>
                                <a:rPr lang="en-US" altLang="zh-TW" sz="2800" b="0" i="1" smtClean="0">
                                  <a:latin typeface="Cambria Math" panose="02040503050406030204" pitchFamily="18" charset="0"/>
                                </a:rPr>
                                <m:t>      </m:t>
                              </m:r>
                              <m:r>
                                <a:rPr lang="zh-TW" altLang="en-US" sz="2800" i="1">
                                  <a:latin typeface="Cambria Math" panose="02040503050406030204" pitchFamily="18" charset="0"/>
                                </a:rPr>
                                <m:t>⋮</m:t>
                              </m:r>
                            </m:e>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𝑛</m:t>
                                  </m:r>
                                  <m:r>
                                    <a:rPr lang="en-US" altLang="zh-TW" sz="2800" i="1">
                                      <a:latin typeface="Cambria Math" panose="02040503050406030204" pitchFamily="18" charset="0"/>
                                    </a:rPr>
                                    <m:t>1  </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𝑛</m:t>
                                  </m:r>
                                  <m:r>
                                    <a:rPr lang="en-US" altLang="zh-TW" sz="2800" i="1">
                                      <a:latin typeface="Cambria Math" panose="02040503050406030204" pitchFamily="18" charset="0"/>
                                    </a:rPr>
                                    <m:t>2   </m:t>
                                  </m:r>
                                  <m:r>
                                    <a:rPr lang="en-US" altLang="zh-TW" sz="2800" i="1">
                                      <a:latin typeface="Cambria Math" panose="02040503050406030204" pitchFamily="18" charset="0"/>
                                      <a:ea typeface="Cambria Math" panose="02040503050406030204" pitchFamily="18" charset="0"/>
                                    </a:rPr>
                                    <m:t>⋯  </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𝑛𝑑</m:t>
                                  </m:r>
                                  <m:r>
                                    <a:rPr lang="en-US" altLang="zh-TW" sz="2800" i="1">
                                      <a:latin typeface="Cambria Math" panose="02040503050406030204" pitchFamily="18" charset="0"/>
                                    </a:rPr>
                                    <m:t>  </m:t>
                                  </m:r>
                                </m:sub>
                              </m:sSub>
                            </m:e>
                          </m:eqArr>
                        </m:e>
                      </m:d>
                      <m:d>
                        <m:dPr>
                          <m:begChr m:val="["/>
                          <m:endChr m:val="]"/>
                          <m:ctrlPr>
                            <a:rPr lang="en-US" altLang="zh-TW" sz="2800" i="1">
                              <a:latin typeface="Cambria Math" panose="02040503050406030204" pitchFamily="18" charset="0"/>
                            </a:rPr>
                          </m:ctrlPr>
                        </m:dPr>
                        <m:e>
                          <m:eqArr>
                            <m:eqArrPr>
                              <m:ctrlPr>
                                <a:rPr lang="en-US" altLang="zh-TW" sz="2800" i="1" smtClean="0">
                                  <a:latin typeface="Cambria Math" panose="02040503050406030204" pitchFamily="18" charset="0"/>
                                </a:rPr>
                              </m:ctrlPr>
                            </m:eqArrPr>
                            <m:e>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1</m:t>
                                  </m:r>
                                </m:sub>
                              </m:sSub>
                            </m:e>
                            <m:e>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2</m:t>
                                  </m:r>
                                </m:sub>
                              </m:sSub>
                            </m:e>
                            <m:e>
                              <m:r>
                                <a:rPr lang="en-US" altLang="zh-TW" sz="2800" i="1" smtClean="0">
                                  <a:latin typeface="Cambria Math" panose="02040503050406030204" pitchFamily="18" charset="0"/>
                                  <a:ea typeface="Cambria Math" panose="02040503050406030204" pitchFamily="18" charset="0"/>
                                </a:rPr>
                                <m:t>⋮</m:t>
                              </m:r>
                            </m:e>
                            <m:e>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𝑑</m:t>
                                  </m:r>
                                </m:sub>
                              </m:sSub>
                            </m:e>
                          </m:eqArr>
                        </m:e>
                      </m:d>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r>
                                <a:rPr lang="en-US" altLang="zh-TW" sz="2800" b="0" i="1" smtClean="0">
                                  <a:latin typeface="Cambria Math" panose="02040503050406030204" pitchFamily="18" charset="0"/>
                                </a:rPr>
                                <m:t>𝑏</m:t>
                              </m:r>
                            </m:e>
                            <m:e>
                              <m:r>
                                <a:rPr lang="en-US" altLang="zh-TW" sz="2800" b="0" i="1" smtClean="0">
                                  <a:latin typeface="Cambria Math" panose="02040503050406030204" pitchFamily="18" charset="0"/>
                                </a:rPr>
                                <m:t>𝑏</m:t>
                              </m:r>
                            </m:e>
                            <m:e>
                              <m:r>
                                <a:rPr lang="en-US" altLang="zh-TW" sz="2800" i="1">
                                  <a:latin typeface="Cambria Math" panose="02040503050406030204" pitchFamily="18" charset="0"/>
                                  <a:ea typeface="Cambria Math" panose="02040503050406030204" pitchFamily="18" charset="0"/>
                                </a:rPr>
                                <m:t>⋮</m:t>
                              </m:r>
                            </m:e>
                            <m:e>
                              <m:r>
                                <a:rPr lang="en-US" altLang="zh-TW" sz="2800" b="0" i="1" smtClean="0">
                                  <a:latin typeface="Cambria Math" panose="02040503050406030204" pitchFamily="18" charset="0"/>
                                  <a:ea typeface="Cambria Math" panose="02040503050406030204" pitchFamily="18" charset="0"/>
                                </a:rPr>
                                <m:t>𝑏</m:t>
                              </m:r>
                            </m:e>
                          </m:eqArr>
                        </m:e>
                      </m:d>
                    </m:oMath>
                  </m:oMathPara>
                </a14:m>
                <a:endParaRPr lang="zh-TW" altLang="en-US" sz="2800" dirty="0"/>
              </a:p>
            </p:txBody>
          </p:sp>
        </mc:Choice>
        <mc:Fallback xmlns="">
          <p:sp>
            <p:nvSpPr>
              <p:cNvPr id="3" name="文字方塊 2">
                <a:extLst>
                  <a:ext uri="{FF2B5EF4-FFF2-40B4-BE49-F238E27FC236}">
                    <a16:creationId xmlns:a16="http://schemas.microsoft.com/office/drawing/2014/main" id="{9358D358-F4D9-3F3D-1201-091B69D9EAC2}"/>
                  </a:ext>
                </a:extLst>
              </p:cNvPr>
              <p:cNvSpPr txBox="1">
                <a:spLocks noRot="1" noChangeAspect="1" noMove="1" noResize="1" noEditPoints="1" noAdjustHandles="1" noChangeArrowheads="1" noChangeShapeType="1" noTextEdit="1"/>
              </p:cNvSpPr>
              <p:nvPr/>
            </p:nvSpPr>
            <p:spPr>
              <a:xfrm>
                <a:off x="4706886" y="2529397"/>
                <a:ext cx="5591659" cy="1669496"/>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7FB5E5BF-7A2E-AEB3-0E30-A07272CCFF42}"/>
                  </a:ext>
                </a:extLst>
              </p:cNvPr>
              <p:cNvSpPr txBox="1"/>
              <p:nvPr/>
            </p:nvSpPr>
            <p:spPr>
              <a:xfrm>
                <a:off x="6602157" y="1001504"/>
                <a:ext cx="2053254" cy="438582"/>
              </a:xfrm>
              <a:prstGeom prst="rect">
                <a:avLst/>
              </a:prstGeom>
              <a:noFill/>
            </p:spPr>
            <p:txBody>
              <a:bodyPr wrap="none" lIns="0" tIns="0" rIns="0" bIns="0" rtlCol="0">
                <a:spAutoFit/>
              </a:bodyPr>
              <a:lstStyle/>
              <a:p>
                <a:r>
                  <a:rPr lang="zh-TW" altLang="en-US" dirty="0"/>
                  <a:t> </a:t>
                </a:r>
                <a14:m>
                  <m:oMath xmlns:m="http://schemas.openxmlformats.org/officeDocument/2006/math">
                    <m:acc>
                      <m:accPr>
                        <m:chr m:val="̂"/>
                        <m:ctrlPr>
                          <a:rPr lang="en-US" altLang="zh-TW" sz="2800" i="1" smtClean="0">
                            <a:latin typeface="Cambria Math" panose="02040503050406030204" pitchFamily="18" charset="0"/>
                          </a:rPr>
                        </m:ctrlPr>
                      </m:accPr>
                      <m:e>
                        <m:r>
                          <a:rPr lang="en-US" altLang="zh-TW" sz="2800" b="0" i="1" smtClean="0">
                            <a:latin typeface="Cambria Math" panose="02040503050406030204" pitchFamily="18" charset="0"/>
                          </a:rPr>
                          <m:t>𝑦</m:t>
                        </m:r>
                      </m:e>
                    </m:acc>
                    <m:r>
                      <a:rPr lang="en-US" altLang="zh-TW" sz="2800" i="1" smtClean="0">
                        <a:latin typeface="Cambria Math" panose="02040503050406030204" pitchFamily="18" charset="0"/>
                      </a:rPr>
                      <m:t>=</m:t>
                    </m:r>
                    <m:sSup>
                      <m:sSupPr>
                        <m:ctrlPr>
                          <a:rPr lang="en-US" altLang="zh-TW" sz="2800" i="1" smtClean="0">
                            <a:latin typeface="Cambria Math" panose="02040503050406030204" pitchFamily="18" charset="0"/>
                          </a:rPr>
                        </m:ctrlPr>
                      </m:sSupPr>
                      <m:e>
                        <m:r>
                          <a:rPr lang="en-US" altLang="zh-TW" sz="2800" b="1" i="0" smtClean="0">
                            <a:latin typeface="Cambria Math" panose="02040503050406030204" pitchFamily="18" charset="0"/>
                          </a:rPr>
                          <m:t>𝐰</m:t>
                        </m:r>
                      </m:e>
                      <m:sup>
                        <m:r>
                          <m:rPr>
                            <m:sty m:val="p"/>
                          </m:rPr>
                          <a:rPr lang="en-US" altLang="zh-TW" sz="2800" b="0" i="0" smtClean="0">
                            <a:latin typeface="Cambria Math" panose="02040503050406030204" pitchFamily="18" charset="0"/>
                          </a:rPr>
                          <m:t>T</m:t>
                        </m:r>
                      </m:sup>
                    </m:sSup>
                    <m:r>
                      <a:rPr lang="en-US" altLang="zh-TW" sz="2800" b="1" i="1" smtClean="0">
                        <a:latin typeface="Cambria Math" panose="02040503050406030204" pitchFamily="18" charset="0"/>
                      </a:rPr>
                      <m:t>𝒙</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a14:m>
                <a:endParaRPr lang="zh-TW" altLang="en-US" sz="2800" dirty="0"/>
              </a:p>
            </p:txBody>
          </p:sp>
        </mc:Choice>
        <mc:Fallback xmlns="">
          <p:sp>
            <p:nvSpPr>
              <p:cNvPr id="4" name="文字方塊 3">
                <a:extLst>
                  <a:ext uri="{FF2B5EF4-FFF2-40B4-BE49-F238E27FC236}">
                    <a16:creationId xmlns:a16="http://schemas.microsoft.com/office/drawing/2014/main" id="{7FB5E5BF-7A2E-AEB3-0E30-A07272CCFF42}"/>
                  </a:ext>
                </a:extLst>
              </p:cNvPr>
              <p:cNvSpPr txBox="1">
                <a:spLocks noRot="1" noChangeAspect="1" noMove="1" noResize="1" noEditPoints="1" noAdjustHandles="1" noChangeArrowheads="1" noChangeShapeType="1" noTextEdit="1"/>
              </p:cNvSpPr>
              <p:nvPr/>
            </p:nvSpPr>
            <p:spPr>
              <a:xfrm>
                <a:off x="6602157" y="1001504"/>
                <a:ext cx="2053254" cy="43858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94D8395C-BBA9-DC5E-B31E-A6DD68319D68}"/>
                  </a:ext>
                </a:extLst>
              </p:cNvPr>
              <p:cNvSpPr txBox="1"/>
              <p:nvPr/>
            </p:nvSpPr>
            <p:spPr>
              <a:xfrm>
                <a:off x="1507519" y="412298"/>
                <a:ext cx="1431995" cy="158742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1" i="0" smtClean="0">
                          <a:latin typeface="Cambria Math" panose="02040503050406030204" pitchFamily="18" charset="0"/>
                        </a:rPr>
                        <m:t>𝐱</m:t>
                      </m:r>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i="1">
                                      <a:latin typeface="Cambria Math" panose="02040503050406030204" pitchFamily="18" charset="0"/>
                                    </a:rPr>
                                    <m:t>1</m:t>
                                  </m:r>
                                </m:sub>
                              </m:sSub>
                            </m:e>
                            <m:e>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i="1">
                                      <a:latin typeface="Cambria Math" panose="02040503050406030204" pitchFamily="18" charset="0"/>
                                    </a:rPr>
                                    <m:t>2</m:t>
                                  </m:r>
                                </m:sub>
                              </m:sSub>
                            </m:e>
                            <m:e>
                              <m:r>
                                <a:rPr lang="en-US" altLang="zh-TW" sz="2800" i="1">
                                  <a:latin typeface="Cambria Math" panose="02040503050406030204" pitchFamily="18" charset="0"/>
                                  <a:ea typeface="Cambria Math" panose="02040503050406030204" pitchFamily="18" charset="0"/>
                                </a:rPr>
                                <m:t>⋮</m:t>
                              </m:r>
                            </m:e>
                            <m:e>
                              <m:sSub>
                                <m:sSubPr>
                                  <m:ctrlPr>
                                    <a:rPr lang="en-US" altLang="zh-TW" sz="2800" i="1">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𝑑</m:t>
                                  </m:r>
                                </m:sub>
                              </m:sSub>
                            </m:e>
                          </m:eqArr>
                        </m:e>
                      </m:d>
                    </m:oMath>
                  </m:oMathPara>
                </a14:m>
                <a:endParaRPr lang="zh-TW" altLang="en-US" sz="2800" dirty="0"/>
              </a:p>
            </p:txBody>
          </p:sp>
        </mc:Choice>
        <mc:Fallback xmlns="">
          <p:sp>
            <p:nvSpPr>
              <p:cNvPr id="5" name="文字方塊 4">
                <a:extLst>
                  <a:ext uri="{FF2B5EF4-FFF2-40B4-BE49-F238E27FC236}">
                    <a16:creationId xmlns:a16="http://schemas.microsoft.com/office/drawing/2014/main" id="{94D8395C-BBA9-DC5E-B31E-A6DD68319D68}"/>
                  </a:ext>
                </a:extLst>
              </p:cNvPr>
              <p:cNvSpPr txBox="1">
                <a:spLocks noRot="1" noChangeAspect="1" noMove="1" noResize="1" noEditPoints="1" noAdjustHandles="1" noChangeArrowheads="1" noChangeShapeType="1" noTextEdit="1"/>
              </p:cNvSpPr>
              <p:nvPr/>
            </p:nvSpPr>
            <p:spPr>
              <a:xfrm>
                <a:off x="1507519" y="412298"/>
                <a:ext cx="1431995" cy="158742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E03B8BC4-A897-4E72-2AE5-DD83AB618220}"/>
                  </a:ext>
                </a:extLst>
              </p:cNvPr>
              <p:cNvSpPr txBox="1"/>
              <p:nvPr/>
            </p:nvSpPr>
            <p:spPr>
              <a:xfrm>
                <a:off x="3668212" y="427084"/>
                <a:ext cx="1570686" cy="158742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1" i="0" smtClean="0">
                          <a:latin typeface="Cambria Math" panose="02040503050406030204" pitchFamily="18" charset="0"/>
                        </a:rPr>
                        <m:t>𝐰</m:t>
                      </m:r>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i="1">
                                      <a:latin typeface="Cambria Math" panose="02040503050406030204" pitchFamily="18" charset="0"/>
                                    </a:rPr>
                                    <m:t>1</m:t>
                                  </m:r>
                                </m:sub>
                              </m:sSub>
                            </m:e>
                            <m:e>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i="1">
                                      <a:latin typeface="Cambria Math" panose="02040503050406030204" pitchFamily="18" charset="0"/>
                                    </a:rPr>
                                    <m:t>2</m:t>
                                  </m:r>
                                </m:sub>
                              </m:sSub>
                            </m:e>
                            <m:e>
                              <m:r>
                                <a:rPr lang="en-US" altLang="zh-TW" sz="2800" i="1">
                                  <a:latin typeface="Cambria Math" panose="02040503050406030204" pitchFamily="18" charset="0"/>
                                  <a:ea typeface="Cambria Math" panose="02040503050406030204" pitchFamily="18" charset="0"/>
                                </a:rPr>
                                <m:t>⋮</m:t>
                              </m:r>
                            </m:e>
                            <m:e>
                              <m:sSub>
                                <m:sSubPr>
                                  <m:ctrlPr>
                                    <a:rPr lang="en-US" altLang="zh-TW" sz="2800" i="1">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𝑑</m:t>
                                  </m:r>
                                </m:sub>
                              </m:sSub>
                            </m:e>
                          </m:eqArr>
                        </m:e>
                      </m:d>
                    </m:oMath>
                  </m:oMathPara>
                </a14:m>
                <a:endParaRPr lang="zh-TW" altLang="en-US" sz="2800" dirty="0"/>
              </a:p>
            </p:txBody>
          </p:sp>
        </mc:Choice>
        <mc:Fallback xmlns="">
          <p:sp>
            <p:nvSpPr>
              <p:cNvPr id="6" name="文字方塊 5">
                <a:extLst>
                  <a:ext uri="{FF2B5EF4-FFF2-40B4-BE49-F238E27FC236}">
                    <a16:creationId xmlns:a16="http://schemas.microsoft.com/office/drawing/2014/main" id="{E03B8BC4-A897-4E72-2AE5-DD83AB618220}"/>
                  </a:ext>
                </a:extLst>
              </p:cNvPr>
              <p:cNvSpPr txBox="1">
                <a:spLocks noRot="1" noChangeAspect="1" noMove="1" noResize="1" noEditPoints="1" noAdjustHandles="1" noChangeArrowheads="1" noChangeShapeType="1" noTextEdit="1"/>
              </p:cNvSpPr>
              <p:nvPr/>
            </p:nvSpPr>
            <p:spPr>
              <a:xfrm>
                <a:off x="3668212" y="427084"/>
                <a:ext cx="1570686" cy="158742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58F5FD6F-3C8F-CCC7-D883-C57A999376D4}"/>
                  </a:ext>
                </a:extLst>
              </p:cNvPr>
              <p:cNvSpPr txBox="1"/>
              <p:nvPr/>
            </p:nvSpPr>
            <p:spPr>
              <a:xfrm>
                <a:off x="1569877" y="4422899"/>
                <a:ext cx="2739275" cy="4599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acc>
                            <m:accPr>
                              <m:chr m:val="̂"/>
                              <m:ctrlPr>
                                <a:rPr lang="en-US" altLang="zh-TW" sz="2800" i="1">
                                  <a:latin typeface="Cambria Math" panose="02040503050406030204" pitchFamily="18" charset="0"/>
                                </a:rPr>
                              </m:ctrlPr>
                            </m:accPr>
                            <m:e>
                              <m:r>
                                <a:rPr lang="en-US" altLang="zh-TW" sz="2800" i="1">
                                  <a:latin typeface="Cambria Math" panose="02040503050406030204" pitchFamily="18" charset="0"/>
                                </a:rPr>
                                <m:t>𝑦</m:t>
                              </m:r>
                            </m:e>
                          </m:acc>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r>
                        <a:rPr lang="en-US" altLang="zh-TW" sz="2800" i="1" smtClean="0">
                          <a:latin typeface="Cambria Math" panose="02040503050406030204" pitchFamily="18" charset="0"/>
                        </a:rPr>
                        <m:t>=</m:t>
                      </m:r>
                      <m:sSup>
                        <m:sSupPr>
                          <m:ctrlPr>
                            <a:rPr lang="en-US" altLang="zh-TW" sz="2800" i="1" smtClean="0">
                              <a:latin typeface="Cambria Math" panose="02040503050406030204" pitchFamily="18" charset="0"/>
                            </a:rPr>
                          </m:ctrlPr>
                        </m:sSupPr>
                        <m:e>
                          <m:r>
                            <a:rPr lang="en-US" altLang="zh-TW" sz="2800" b="1" i="1" smtClean="0">
                              <a:latin typeface="Cambria Math" panose="02040503050406030204" pitchFamily="18" charset="0"/>
                            </a:rPr>
                            <m:t>𝒘</m:t>
                          </m:r>
                        </m:e>
                        <m:sup>
                          <m:r>
                            <a:rPr lang="en-US" altLang="zh-TW" sz="2800" b="0" i="1" smtClean="0">
                              <a:latin typeface="Cambria Math" panose="02040503050406030204" pitchFamily="18" charset="0"/>
                            </a:rPr>
                            <m:t>𝑇</m:t>
                          </m:r>
                        </m:sup>
                      </m:sSup>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𝑥</m:t>
                          </m:r>
                        </m:e>
                        <m: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sup>
                      </m:s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7" name="文字方塊 6">
                <a:extLst>
                  <a:ext uri="{FF2B5EF4-FFF2-40B4-BE49-F238E27FC236}">
                    <a16:creationId xmlns:a16="http://schemas.microsoft.com/office/drawing/2014/main" id="{58F5FD6F-3C8F-CCC7-D883-C57A999376D4}"/>
                  </a:ext>
                </a:extLst>
              </p:cNvPr>
              <p:cNvSpPr txBox="1">
                <a:spLocks noRot="1" noChangeAspect="1" noMove="1" noResize="1" noEditPoints="1" noAdjustHandles="1" noChangeArrowheads="1" noChangeShapeType="1" noTextEdit="1"/>
              </p:cNvSpPr>
              <p:nvPr/>
            </p:nvSpPr>
            <p:spPr>
              <a:xfrm>
                <a:off x="1569877" y="4422899"/>
                <a:ext cx="2739275" cy="45993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52C37E0B-DBA5-5C16-595E-2E580017139E}"/>
                  </a:ext>
                </a:extLst>
              </p:cNvPr>
              <p:cNvSpPr txBox="1"/>
              <p:nvPr/>
            </p:nvSpPr>
            <p:spPr>
              <a:xfrm>
                <a:off x="1450077" y="5397724"/>
                <a:ext cx="4201791" cy="8066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𝑙</m:t>
                          </m:r>
                        </m:e>
                        <m:sup>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e>
                          </m:d>
                        </m:sup>
                      </m:sSup>
                      <m:r>
                        <a:rPr lang="en-US" altLang="zh-TW" sz="2800" b="0" i="1" smtClean="0">
                          <a:latin typeface="Cambria Math" panose="02040503050406030204" pitchFamily="18" charset="0"/>
                        </a:rPr>
                        <m:t>(</m:t>
                      </m:r>
                      <m:r>
                        <a:rPr lang="en-US" altLang="zh-TW" sz="2800" b="1" i="0" smtClean="0">
                          <a:latin typeface="Cambria Math" panose="02040503050406030204" pitchFamily="18" charset="0"/>
                        </a:rPr>
                        <m:t>𝐰</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m:t>
                      </m:r>
                      <m:f>
                        <m:fPr>
                          <m:ctrlPr>
                            <a:rPr lang="en-US" altLang="zh-TW" sz="2800" i="1" smtClean="0">
                              <a:latin typeface="Cambria Math" panose="02040503050406030204" pitchFamily="18" charset="0"/>
                            </a:rPr>
                          </m:ctrlPr>
                        </m:fPr>
                        <m:num>
                          <m:r>
                            <a:rPr lang="en-US" altLang="zh-TW" sz="2800" b="0" i="1" smtClean="0">
                              <a:latin typeface="Cambria Math" panose="02040503050406030204" pitchFamily="18" charset="0"/>
                            </a:rPr>
                            <m:t>1</m:t>
                          </m:r>
                        </m:num>
                        <m:den>
                          <m:r>
                            <a:rPr lang="en-US" altLang="zh-TW" sz="2800" b="0" i="1" smtClean="0">
                              <a:latin typeface="Cambria Math" panose="02040503050406030204" pitchFamily="18" charset="0"/>
                            </a:rPr>
                            <m:t>2</m:t>
                          </m:r>
                        </m:den>
                      </m:f>
                      <m:sSup>
                        <m:sSupPr>
                          <m:ctrlPr>
                            <a:rPr lang="en-US" altLang="zh-TW" sz="2800" i="1" smtClean="0">
                              <a:latin typeface="Cambria Math" panose="02040503050406030204" pitchFamily="18" charset="0"/>
                            </a:rPr>
                          </m:ctrlPr>
                        </m:sSupPr>
                        <m:e>
                          <m:d>
                            <m:dPr>
                              <m:ctrlPr>
                                <a:rPr lang="en-US" altLang="zh-TW" sz="2800" i="1" smtClean="0">
                                  <a:latin typeface="Cambria Math" panose="02040503050406030204" pitchFamily="18" charset="0"/>
                                </a:rPr>
                              </m:ctrlPr>
                            </m:dPr>
                            <m:e>
                              <m:sSup>
                                <m:sSupPr>
                                  <m:ctrlPr>
                                    <a:rPr lang="en-US" altLang="zh-TW" sz="2800" i="1">
                                      <a:latin typeface="Cambria Math" panose="02040503050406030204" pitchFamily="18" charset="0"/>
                                    </a:rPr>
                                  </m:ctrlPr>
                                </m:sSupPr>
                                <m:e>
                                  <m:acc>
                                    <m:accPr>
                                      <m:chr m:val="̂"/>
                                      <m:ctrlPr>
                                        <a:rPr lang="en-US" altLang="zh-TW" sz="2800" i="1">
                                          <a:latin typeface="Cambria Math" panose="02040503050406030204" pitchFamily="18" charset="0"/>
                                        </a:rPr>
                                      </m:ctrlPr>
                                    </m:accPr>
                                    <m:e>
                                      <m:r>
                                        <a:rPr lang="en-US" altLang="zh-TW" sz="2800" i="1">
                                          <a:latin typeface="Cambria Math" panose="02040503050406030204" pitchFamily="18" charset="0"/>
                                        </a:rPr>
                                        <m:t>𝑦</m:t>
                                      </m:r>
                                    </m:e>
                                  </m:acc>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𝑦</m:t>
                                  </m:r>
                                </m:e>
                                <m:sup>
                                  <m:r>
                                    <a:rPr lang="en-US" altLang="zh-TW" sz="2800" i="1">
                                      <a:latin typeface="Cambria Math" panose="02040503050406030204" pitchFamily="18" charset="0"/>
                                    </a:rPr>
                                    <m:t>(</m:t>
                                  </m:r>
                                  <m:r>
                                    <a:rPr lang="en-US" altLang="zh-TW" sz="2800" i="1">
                                      <a:latin typeface="Cambria Math" panose="02040503050406030204" pitchFamily="18" charset="0"/>
                                    </a:rPr>
                                    <m:t>𝑖</m:t>
                                  </m:r>
                                  <m:r>
                                    <a:rPr lang="en-US" altLang="zh-TW" sz="2800" i="1">
                                      <a:latin typeface="Cambria Math" panose="02040503050406030204" pitchFamily="18" charset="0"/>
                                    </a:rPr>
                                    <m:t>)</m:t>
                                  </m:r>
                                </m:sup>
                              </m:sSup>
                            </m:e>
                          </m:d>
                        </m:e>
                        <m:sup>
                          <m:r>
                            <a:rPr lang="en-US" altLang="zh-TW" sz="2800" b="0" i="1" smtClean="0">
                              <a:latin typeface="Cambria Math" panose="02040503050406030204" pitchFamily="18" charset="0"/>
                            </a:rPr>
                            <m:t>2</m:t>
                          </m:r>
                        </m:sup>
                      </m:sSup>
                    </m:oMath>
                  </m:oMathPara>
                </a14:m>
                <a:endParaRPr lang="zh-TW" altLang="en-US" sz="2800" dirty="0"/>
              </a:p>
            </p:txBody>
          </p:sp>
        </mc:Choice>
        <mc:Fallback xmlns="">
          <p:sp>
            <p:nvSpPr>
              <p:cNvPr id="8" name="文字方塊 7">
                <a:extLst>
                  <a:ext uri="{FF2B5EF4-FFF2-40B4-BE49-F238E27FC236}">
                    <a16:creationId xmlns:a16="http://schemas.microsoft.com/office/drawing/2014/main" id="{52C37E0B-DBA5-5C16-595E-2E580017139E}"/>
                  </a:ext>
                </a:extLst>
              </p:cNvPr>
              <p:cNvSpPr txBox="1">
                <a:spLocks noRot="1" noChangeAspect="1" noMove="1" noResize="1" noEditPoints="1" noAdjustHandles="1" noChangeArrowheads="1" noChangeShapeType="1" noTextEdit="1"/>
              </p:cNvSpPr>
              <p:nvPr/>
            </p:nvSpPr>
            <p:spPr>
              <a:xfrm>
                <a:off x="1450077" y="5397724"/>
                <a:ext cx="4201791" cy="806631"/>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5722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5014066F-3B97-BDF1-D88E-4BE8A735B2B2}"/>
                  </a:ext>
                </a:extLst>
              </p:cNvPr>
              <p:cNvSpPr txBox="1"/>
              <p:nvPr/>
            </p:nvSpPr>
            <p:spPr>
              <a:xfrm>
                <a:off x="589467" y="247578"/>
                <a:ext cx="8554073"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r>
                            <a:rPr lang="en-US" altLang="zh-TW" sz="2800" b="1" i="0" smtClean="0">
                              <a:latin typeface="Cambria Math" panose="02040503050406030204" pitchFamily="18" charset="0"/>
                            </a:rPr>
                            <m:t>𝐰</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e>
                      </m:d>
                      <m:r>
                        <a:rPr lang="en-US" altLang="zh-TW" sz="2800" i="1" smtClean="0">
                          <a:latin typeface="Cambria Math" panose="02040503050406030204" pitchFamily="18" charset="0"/>
                        </a:rPr>
                        <m:t>=</m:t>
                      </m:r>
                      <m:f>
                        <m:fPr>
                          <m:ctrlPr>
                            <a:rPr lang="en-US" altLang="zh-TW" sz="2800" i="1" smtClean="0">
                              <a:latin typeface="Cambria Math" panose="02040503050406030204" pitchFamily="18" charset="0"/>
                            </a:rPr>
                          </m:ctrlPr>
                        </m:fPr>
                        <m:num>
                          <m:r>
                            <a:rPr lang="en-US" altLang="zh-TW" sz="2800" b="0" i="1" smtClean="0">
                              <a:latin typeface="Cambria Math" panose="02040503050406030204" pitchFamily="18" charset="0"/>
                            </a:rPr>
                            <m:t>1</m:t>
                          </m:r>
                        </m:num>
                        <m:den>
                          <m:r>
                            <a:rPr lang="en-US" altLang="zh-TW" sz="2800" b="0" i="1" smtClean="0">
                              <a:latin typeface="Cambria Math" panose="02040503050406030204" pitchFamily="18" charset="0"/>
                            </a:rPr>
                            <m:t>𝑛</m:t>
                          </m:r>
                        </m:den>
                      </m:f>
                      <m:nary>
                        <m:naryPr>
                          <m:chr m:val="∑"/>
                          <m:ctrlPr>
                            <a:rPr lang="en-US" altLang="zh-TW" sz="280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𝑛</m:t>
                          </m:r>
                        </m:sup>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𝑙</m:t>
                              </m:r>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d>
                            <m:dPr>
                              <m:ctrlPr>
                                <a:rPr lang="en-US" altLang="zh-TW" sz="2800" i="1">
                                  <a:latin typeface="Cambria Math" panose="02040503050406030204" pitchFamily="18" charset="0"/>
                                </a:rPr>
                              </m:ctrlPr>
                            </m:dPr>
                            <m:e>
                              <m:r>
                                <a:rPr lang="en-US" altLang="zh-TW" sz="2800" b="1" i="0">
                                  <a:latin typeface="Cambria Math" panose="02040503050406030204" pitchFamily="18" charset="0"/>
                                </a:rPr>
                                <m:t>𝐰</m:t>
                              </m:r>
                              <m:r>
                                <a:rPr lang="en-US" altLang="zh-TW" sz="2800" i="1">
                                  <a:latin typeface="Cambria Math" panose="02040503050406030204" pitchFamily="18" charset="0"/>
                                </a:rPr>
                                <m:t>,</m:t>
                              </m:r>
                              <m:r>
                                <a:rPr lang="en-US" altLang="zh-TW" sz="2800" i="1">
                                  <a:latin typeface="Cambria Math" panose="02040503050406030204" pitchFamily="18" charset="0"/>
                                </a:rPr>
                                <m:t>𝑏</m:t>
                              </m:r>
                            </m:e>
                          </m:d>
                        </m:e>
                      </m:nary>
                      <m:r>
                        <a:rPr lang="en-US" altLang="zh-TW" sz="2800" b="0" i="1" smtClean="0">
                          <a:latin typeface="Cambria Math" panose="02040503050406030204" pitchFamily="18" charset="0"/>
                        </a:rPr>
                        <m:t>=</m:t>
                      </m:r>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𝑛</m:t>
                          </m:r>
                        </m:den>
                      </m:f>
                      <m:nary>
                        <m:naryPr>
                          <m:chr m:val="∑"/>
                          <m:ctrlPr>
                            <a:rPr lang="en-US" altLang="zh-TW" sz="2800" i="1">
                              <a:latin typeface="Cambria Math" panose="02040503050406030204" pitchFamily="18" charset="0"/>
                            </a:rPr>
                          </m:ctrlPr>
                        </m:naryPr>
                        <m:sub>
                          <m:r>
                            <m:rPr>
                              <m:brk m:alnAt="23"/>
                            </m:rPr>
                            <a:rPr lang="en-US" altLang="zh-TW" sz="2800" i="1">
                              <a:latin typeface="Cambria Math" panose="02040503050406030204" pitchFamily="18" charset="0"/>
                            </a:rPr>
                            <m:t>𝑖</m:t>
                          </m:r>
                          <m:r>
                            <a:rPr lang="en-US" altLang="zh-TW" sz="2800" i="1">
                              <a:latin typeface="Cambria Math" panose="02040503050406030204" pitchFamily="18" charset="0"/>
                            </a:rPr>
                            <m:t>=1</m:t>
                          </m:r>
                        </m:sub>
                        <m:sup>
                          <m:r>
                            <a:rPr lang="en-US" altLang="zh-TW" sz="2800" i="1">
                              <a:latin typeface="Cambria Math" panose="02040503050406030204" pitchFamily="18" charset="0"/>
                            </a:rPr>
                            <m:t>𝑛</m:t>
                          </m:r>
                        </m:sup>
                        <m:e>
                          <m:f>
                            <m:fPr>
                              <m:ctrlPr>
                                <a:rPr lang="en-US" altLang="zh-TW" sz="2800" i="1" smtClean="0">
                                  <a:latin typeface="Cambria Math" panose="02040503050406030204" pitchFamily="18" charset="0"/>
                                </a:rPr>
                              </m:ctrlPr>
                            </m:fPr>
                            <m:num>
                              <m:r>
                                <a:rPr lang="en-US" altLang="zh-TW" sz="2800" b="0" i="1" smtClean="0">
                                  <a:latin typeface="Cambria Math" panose="02040503050406030204" pitchFamily="18" charset="0"/>
                                </a:rPr>
                                <m:t>1</m:t>
                              </m:r>
                            </m:num>
                            <m:den>
                              <m:r>
                                <a:rPr lang="en-US" altLang="zh-TW" sz="2800" b="0" i="1" smtClean="0">
                                  <a:latin typeface="Cambria Math" panose="02040503050406030204" pitchFamily="18" charset="0"/>
                                </a:rPr>
                                <m:t>2</m:t>
                              </m:r>
                            </m:den>
                          </m:f>
                          <m:sSup>
                            <m:sSupPr>
                              <m:ctrlPr>
                                <a:rPr lang="en-US" altLang="zh-TW" sz="2800" i="1" smtClean="0">
                                  <a:latin typeface="Cambria Math" panose="02040503050406030204" pitchFamily="18" charset="0"/>
                                </a:rPr>
                              </m:ctrlPr>
                            </m:sSupPr>
                            <m:e>
                              <m:d>
                                <m:dPr>
                                  <m:ctrlPr>
                                    <a:rPr lang="en-US" altLang="zh-TW" sz="2800" i="1" smtClean="0">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b="1" i="0">
                                          <a:latin typeface="Cambria Math" panose="02040503050406030204" pitchFamily="18" charset="0"/>
                                        </a:rPr>
                                        <m:t>𝐰</m:t>
                                      </m:r>
                                    </m:e>
                                    <m:sup>
                                      <m:r>
                                        <m:rPr>
                                          <m:sty m:val="p"/>
                                        </m:rPr>
                                        <a:rPr lang="en-US" altLang="zh-TW" sz="2800" i="0">
                                          <a:latin typeface="Cambria Math" panose="02040503050406030204" pitchFamily="18" charset="0"/>
                                        </a:rPr>
                                        <m:t>T</m:t>
                                      </m:r>
                                    </m:sup>
                                  </m:sSup>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𝑥</m:t>
                                      </m:r>
                                    </m:e>
                                    <m:sup>
                                      <m:r>
                                        <a:rPr lang="en-US" altLang="zh-TW" sz="2800" i="1">
                                          <a:latin typeface="Cambria Math" panose="02040503050406030204" pitchFamily="18" charset="0"/>
                                        </a:rPr>
                                        <m:t>(</m:t>
                                      </m:r>
                                      <m:r>
                                        <a:rPr lang="en-US" altLang="zh-TW" sz="2800" i="1">
                                          <a:latin typeface="Cambria Math" panose="02040503050406030204" pitchFamily="18" charset="0"/>
                                        </a:rPr>
                                        <m:t>𝑖</m:t>
                                      </m:r>
                                      <m:r>
                                        <a:rPr lang="en-US" altLang="zh-TW" sz="2800" i="1">
                                          <a:latin typeface="Cambria Math" panose="02040503050406030204" pitchFamily="18" charset="0"/>
                                        </a:rPr>
                                        <m:t>)</m:t>
                                      </m:r>
                                    </m:sup>
                                  </m:sSup>
                                  <m:r>
                                    <a:rPr lang="en-US" altLang="zh-TW" sz="2800" i="1">
                                      <a:latin typeface="Cambria Math" panose="02040503050406030204" pitchFamily="18" charset="0"/>
                                    </a:rPr>
                                    <m:t>+</m:t>
                                  </m:r>
                                  <m:r>
                                    <a:rPr lang="en-US" altLang="zh-TW" sz="2800" i="1">
                                      <a:latin typeface="Cambria Math" panose="02040503050406030204" pitchFamily="18" charset="0"/>
                                    </a:rPr>
                                    <m:t>𝑏</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𝑦</m:t>
                                      </m:r>
                                    </m:e>
                                    <m: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sup>
                                  </m:sSup>
                                </m:e>
                              </m:d>
                            </m:e>
                            <m:sup>
                              <m:r>
                                <a:rPr lang="en-US" altLang="zh-TW" sz="2800" b="0" i="1" smtClean="0">
                                  <a:latin typeface="Cambria Math" panose="02040503050406030204" pitchFamily="18" charset="0"/>
                                </a:rPr>
                                <m:t>2</m:t>
                              </m:r>
                            </m:sup>
                          </m:sSup>
                        </m:e>
                      </m:nary>
                    </m:oMath>
                  </m:oMathPara>
                </a14:m>
                <a:endParaRPr lang="zh-TW" altLang="en-US" sz="2800" dirty="0"/>
              </a:p>
            </p:txBody>
          </p:sp>
        </mc:Choice>
        <mc:Fallback xmlns="">
          <p:sp>
            <p:nvSpPr>
              <p:cNvPr id="9" name="文字方塊 8">
                <a:extLst>
                  <a:ext uri="{FF2B5EF4-FFF2-40B4-BE49-F238E27FC236}">
                    <a16:creationId xmlns:a16="http://schemas.microsoft.com/office/drawing/2014/main" id="{5014066F-3B97-BDF1-D88E-4BE8A735B2B2}"/>
                  </a:ext>
                </a:extLst>
              </p:cNvPr>
              <p:cNvSpPr txBox="1">
                <a:spLocks noRot="1" noChangeAspect="1" noMove="1" noResize="1" noEditPoints="1" noAdjustHandles="1" noChangeArrowheads="1" noChangeShapeType="1" noTextEdit="1"/>
              </p:cNvSpPr>
              <p:nvPr/>
            </p:nvSpPr>
            <p:spPr>
              <a:xfrm>
                <a:off x="589467" y="247578"/>
                <a:ext cx="8554073" cy="1176219"/>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FB265228-B1E3-1861-4F5A-C4DFBD169839}"/>
                  </a:ext>
                </a:extLst>
              </p:cNvPr>
              <p:cNvSpPr txBox="1"/>
              <p:nvPr/>
            </p:nvSpPr>
            <p:spPr>
              <a:xfrm>
                <a:off x="664713" y="1854518"/>
                <a:ext cx="3821624" cy="6723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1">
                              <a:latin typeface="Cambria Math" panose="02040503050406030204" pitchFamily="18" charset="0"/>
                            </a:rPr>
                            <m:t>𝐰</m:t>
                          </m:r>
                        </m:e>
                        <m:sup>
                          <m:r>
                            <a:rPr lang="en-US" altLang="zh-TW" sz="2800" i="1">
                              <a:latin typeface="Cambria Math" panose="02040503050406030204" pitchFamily="18" charset="0"/>
                            </a:rPr>
                            <m:t>∗</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𝑏</m:t>
                          </m:r>
                        </m:e>
                        <m:sup>
                          <m:r>
                            <a:rPr lang="en-US" altLang="zh-TW" sz="2800" i="1">
                              <a:latin typeface="Cambria Math" panose="02040503050406030204" pitchFamily="18" charset="0"/>
                            </a:rPr>
                            <m:t>∗</m:t>
                          </m:r>
                        </m:sup>
                      </m:sSup>
                      <m:r>
                        <a:rPr lang="en-US" altLang="zh-TW" sz="2800" i="1" smtClean="0">
                          <a:latin typeface="Cambria Math" panose="02040503050406030204" pitchFamily="18" charset="0"/>
                        </a:rPr>
                        <m:t>=</m:t>
                      </m:r>
                      <m:func>
                        <m:funcPr>
                          <m:ctrlPr>
                            <a:rPr lang="en-US" altLang="zh-TW" sz="2800" i="1" smtClean="0">
                              <a:latin typeface="Cambria Math" panose="02040503050406030204" pitchFamily="18" charset="0"/>
                            </a:rPr>
                          </m:ctrlPr>
                        </m:funcPr>
                        <m:fName>
                          <m:limLow>
                            <m:limLowPr>
                              <m:ctrlPr>
                                <a:rPr lang="en-US" altLang="zh-TW" sz="2800" i="1" smtClean="0">
                                  <a:latin typeface="Cambria Math" panose="02040503050406030204" pitchFamily="18" charset="0"/>
                                </a:rPr>
                              </m:ctrlPr>
                            </m:limLowPr>
                            <m:e>
                              <m:r>
                                <m:rPr>
                                  <m:sty m:val="p"/>
                                </m:rPr>
                                <a:rPr lang="en-US" altLang="zh-TW" sz="2800" b="0" i="0" smtClean="0">
                                  <a:latin typeface="Cambria Math" panose="02040503050406030204" pitchFamily="18" charset="0"/>
                                </a:rPr>
                                <m:t>arg</m:t>
                              </m:r>
                              <m:r>
                                <a:rPr lang="en-US" altLang="zh-TW" sz="2800" b="0" i="0" smtClean="0">
                                  <a:latin typeface="Cambria Math" panose="02040503050406030204" pitchFamily="18" charset="0"/>
                                </a:rPr>
                                <m:t> </m:t>
                              </m:r>
                              <m:r>
                                <m:rPr>
                                  <m:sty m:val="p"/>
                                </m:rPr>
                                <a:rPr lang="en-US" altLang="zh-TW" sz="2800" i="0" smtClean="0">
                                  <a:latin typeface="Cambria Math" panose="02040503050406030204" pitchFamily="18" charset="0"/>
                                </a:rPr>
                                <m:t>min</m:t>
                              </m:r>
                            </m:e>
                            <m:lim>
                              <m:r>
                                <a:rPr lang="en-US" altLang="zh-TW" sz="2800" b="1" i="0" smtClean="0">
                                  <a:latin typeface="Cambria Math" panose="02040503050406030204" pitchFamily="18" charset="0"/>
                                </a:rPr>
                                <m:t>𝐰</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lim>
                          </m:limLow>
                        </m:fName>
                        <m:e>
                          <m:r>
                            <a:rPr lang="en-US" altLang="zh-TW" sz="2800" b="0" i="1" smtClean="0">
                              <a:latin typeface="Cambria Math" panose="02040503050406030204" pitchFamily="18" charset="0"/>
                            </a:rPr>
                            <m:t>𝐿</m:t>
                          </m:r>
                          <m:r>
                            <a:rPr lang="en-US" altLang="zh-TW" sz="2800" b="0" i="1" smtClean="0">
                              <a:latin typeface="Cambria Math" panose="02040503050406030204" pitchFamily="18" charset="0"/>
                            </a:rPr>
                            <m:t>(</m:t>
                          </m:r>
                          <m:r>
                            <a:rPr lang="en-US" altLang="zh-TW" sz="2800" b="1" i="0" smtClean="0">
                              <a:latin typeface="Cambria Math" panose="02040503050406030204" pitchFamily="18" charset="0"/>
                            </a:rPr>
                            <m:t>𝐰</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m:t>
                          </m:r>
                        </m:e>
                      </m:func>
                    </m:oMath>
                  </m:oMathPara>
                </a14:m>
                <a:endParaRPr lang="zh-TW" altLang="en-US" sz="2800" dirty="0"/>
              </a:p>
            </p:txBody>
          </p:sp>
        </mc:Choice>
        <mc:Fallback xmlns="">
          <p:sp>
            <p:nvSpPr>
              <p:cNvPr id="10" name="文字方塊 9">
                <a:extLst>
                  <a:ext uri="{FF2B5EF4-FFF2-40B4-BE49-F238E27FC236}">
                    <a16:creationId xmlns:a16="http://schemas.microsoft.com/office/drawing/2014/main" id="{FB265228-B1E3-1861-4F5A-C4DFBD169839}"/>
                  </a:ext>
                </a:extLst>
              </p:cNvPr>
              <p:cNvSpPr txBox="1">
                <a:spLocks noRot="1" noChangeAspect="1" noMove="1" noResize="1" noEditPoints="1" noAdjustHandles="1" noChangeArrowheads="1" noChangeShapeType="1" noTextEdit="1"/>
              </p:cNvSpPr>
              <p:nvPr/>
            </p:nvSpPr>
            <p:spPr>
              <a:xfrm>
                <a:off x="664713" y="1854518"/>
                <a:ext cx="3821624" cy="67230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FE875062-9342-A41B-04B8-AB6266B9FD45}"/>
                  </a:ext>
                </a:extLst>
              </p:cNvPr>
              <p:cNvSpPr txBox="1"/>
              <p:nvPr/>
            </p:nvSpPr>
            <p:spPr>
              <a:xfrm>
                <a:off x="664713" y="3154964"/>
                <a:ext cx="5360057"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zh-TW" altLang="en-US" sz="2800" b="0" i="1" smtClean="0">
                              <a:latin typeface="Cambria Math" panose="02040503050406030204" pitchFamily="18" charset="0"/>
                            </a:rPr>
                            <m:t>𝜕</m:t>
                          </m:r>
                        </m:e>
                        <m:sub>
                          <m:r>
                            <a:rPr lang="en-US" altLang="zh-TW" sz="2800" b="1">
                              <a:latin typeface="Cambria Math" panose="02040503050406030204" pitchFamily="18" charset="0"/>
                            </a:rPr>
                            <m:t>𝐰</m:t>
                          </m:r>
                        </m:sub>
                      </m:sSub>
                      <m:sSup>
                        <m:sSupPr>
                          <m:ctrlPr>
                            <a:rPr lang="en-US" altLang="zh-TW" sz="2800" b="0" i="1" smtClean="0">
                              <a:latin typeface="Cambria Math" panose="02040503050406030204" pitchFamily="18" charset="0"/>
                            </a:rPr>
                          </m:ctrlPr>
                        </m:sSupPr>
                        <m:e>
                          <m:d>
                            <m:dPr>
                              <m:begChr m:val="‖"/>
                              <m:endChr m:val="‖"/>
                              <m:ctrlPr>
                                <a:rPr lang="en-US" altLang="zh-TW" sz="2800" b="0" i="1" smtClean="0">
                                  <a:latin typeface="Cambria Math" panose="02040503050406030204" pitchFamily="18" charset="0"/>
                                </a:rPr>
                              </m:ctrlPr>
                            </m:dPr>
                            <m:e>
                              <m:r>
                                <a:rPr lang="en-US" altLang="zh-TW" sz="2800" b="1" i="0" smtClean="0">
                                  <a:latin typeface="Cambria Math" panose="02040503050406030204" pitchFamily="18" charset="0"/>
                                </a:rPr>
                                <m:t>𝐲</m:t>
                              </m:r>
                              <m:r>
                                <a:rPr lang="en-US" altLang="zh-TW" sz="2800" b="0" i="1" smtClean="0">
                                  <a:latin typeface="Cambria Math" panose="02040503050406030204" pitchFamily="18" charset="0"/>
                                </a:rPr>
                                <m:t>−</m:t>
                              </m:r>
                              <m:r>
                                <a:rPr lang="en-US" altLang="zh-TW" sz="2800" b="1" i="0" smtClean="0">
                                  <a:latin typeface="Cambria Math" panose="02040503050406030204" pitchFamily="18" charset="0"/>
                                </a:rPr>
                                <m:t>𝐗𝐰</m:t>
                              </m:r>
                            </m:e>
                          </m:d>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rPr>
                        <m:t>=2</m:t>
                      </m:r>
                      <m:sSup>
                        <m:sSupPr>
                          <m:ctrlPr>
                            <a:rPr lang="en-US" altLang="zh-TW" sz="2800" b="0" i="1" smtClean="0">
                              <a:latin typeface="Cambria Math" panose="02040503050406030204" pitchFamily="18" charset="0"/>
                            </a:rPr>
                          </m:ctrlPr>
                        </m:sSupPr>
                        <m:e>
                          <m:r>
                            <a:rPr lang="en-US" altLang="zh-TW" sz="2800" b="1" i="0" smtClean="0">
                              <a:latin typeface="Cambria Math" panose="02040503050406030204" pitchFamily="18" charset="0"/>
                            </a:rPr>
                            <m:t>𝐗</m:t>
                          </m:r>
                        </m:e>
                        <m:sup>
                          <m:r>
                            <m:rPr>
                              <m:sty m:val="p"/>
                            </m:rPr>
                            <a:rPr lang="en-US" altLang="zh-TW" sz="2800" b="0" i="0" smtClean="0">
                              <a:latin typeface="Cambria Math" panose="02040503050406030204" pitchFamily="18" charset="0"/>
                            </a:rPr>
                            <m:t>T</m:t>
                          </m:r>
                        </m:sup>
                      </m:sSup>
                      <m:r>
                        <a:rPr lang="en-US" altLang="zh-TW" sz="2800" b="0" i="1" smtClean="0">
                          <a:latin typeface="Cambria Math" panose="02040503050406030204" pitchFamily="18" charset="0"/>
                        </a:rPr>
                        <m:t>(</m:t>
                      </m:r>
                      <m:r>
                        <a:rPr lang="en-US" altLang="zh-TW" sz="2800" b="1" i="0" smtClean="0">
                          <a:latin typeface="Cambria Math" panose="02040503050406030204" pitchFamily="18" charset="0"/>
                        </a:rPr>
                        <m:t>𝐗𝐰</m:t>
                      </m:r>
                      <m:r>
                        <a:rPr lang="en-US" altLang="zh-TW" sz="2800" b="0" i="1" smtClean="0">
                          <a:latin typeface="Cambria Math" panose="02040503050406030204" pitchFamily="18" charset="0"/>
                        </a:rPr>
                        <m:t>−</m:t>
                      </m:r>
                      <m:r>
                        <a:rPr lang="en-US" altLang="zh-TW" sz="2800" b="1" i="0" smtClean="0">
                          <a:latin typeface="Cambria Math" panose="02040503050406030204" pitchFamily="18" charset="0"/>
                        </a:rPr>
                        <m:t>𝐲</m:t>
                      </m:r>
                      <m:r>
                        <a:rPr lang="en-US" altLang="zh-TW" sz="2800" b="0" i="1" smtClean="0">
                          <a:latin typeface="Cambria Math" panose="02040503050406030204" pitchFamily="18" charset="0"/>
                        </a:rPr>
                        <m:t>)</m:t>
                      </m:r>
                      <m:r>
                        <a:rPr lang="en-US" altLang="zh-TW" sz="2800" i="1" smtClean="0">
                          <a:latin typeface="Cambria Math" panose="02040503050406030204" pitchFamily="18" charset="0"/>
                        </a:rPr>
                        <m:t>=</m:t>
                      </m:r>
                      <m:r>
                        <a:rPr lang="en-US" altLang="zh-TW" sz="2800" b="0" i="1" smtClean="0">
                          <a:latin typeface="Cambria Math" panose="02040503050406030204" pitchFamily="18" charset="0"/>
                        </a:rPr>
                        <m:t>0</m:t>
                      </m:r>
                    </m:oMath>
                  </m:oMathPara>
                </a14:m>
                <a:endParaRPr lang="zh-TW" altLang="en-US" sz="2800" dirty="0"/>
              </a:p>
            </p:txBody>
          </p:sp>
        </mc:Choice>
        <mc:Fallback xmlns="">
          <p:sp>
            <p:nvSpPr>
              <p:cNvPr id="11" name="文字方塊 10">
                <a:extLst>
                  <a:ext uri="{FF2B5EF4-FFF2-40B4-BE49-F238E27FC236}">
                    <a16:creationId xmlns:a16="http://schemas.microsoft.com/office/drawing/2014/main" id="{FE875062-9342-A41B-04B8-AB6266B9FD45}"/>
                  </a:ext>
                </a:extLst>
              </p:cNvPr>
              <p:cNvSpPr txBox="1">
                <a:spLocks noRot="1" noChangeAspect="1" noMove="1" noResize="1" noEditPoints="1" noAdjustHandles="1" noChangeArrowheads="1" noChangeShapeType="1" noTextEdit="1"/>
              </p:cNvSpPr>
              <p:nvPr/>
            </p:nvSpPr>
            <p:spPr>
              <a:xfrm>
                <a:off x="664713" y="3154964"/>
                <a:ext cx="5360057" cy="43858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E91D05F4-98EC-9EC5-ED06-F7AC2F2CA815}"/>
                  </a:ext>
                </a:extLst>
              </p:cNvPr>
              <p:cNvSpPr txBox="1"/>
              <p:nvPr/>
            </p:nvSpPr>
            <p:spPr>
              <a:xfrm>
                <a:off x="664713" y="4257985"/>
                <a:ext cx="209922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b="0" i="1" smtClean="0">
                              <a:latin typeface="Cambria Math" panose="02040503050406030204" pitchFamily="18" charset="0"/>
                            </a:rPr>
                          </m:ctrlPr>
                        </m:sSupPr>
                        <m:e>
                          <m:r>
                            <a:rPr lang="en-US" altLang="zh-TW" sz="2800" b="1" i="0" smtClean="0">
                              <a:latin typeface="Cambria Math" panose="02040503050406030204" pitchFamily="18" charset="0"/>
                            </a:rPr>
                            <m:t>𝐗</m:t>
                          </m:r>
                        </m:e>
                        <m:sup>
                          <m:r>
                            <m:rPr>
                              <m:sty m:val="p"/>
                            </m:rPr>
                            <a:rPr lang="en-US" altLang="zh-TW" sz="2800" b="0" i="0" smtClean="0">
                              <a:latin typeface="Cambria Math" panose="02040503050406030204" pitchFamily="18" charset="0"/>
                            </a:rPr>
                            <m:t>T</m:t>
                          </m:r>
                        </m:sup>
                      </m:sSup>
                      <m:r>
                        <a:rPr lang="en-US" altLang="zh-TW" sz="2800" b="1" i="0" smtClean="0">
                          <a:latin typeface="Cambria Math" panose="02040503050406030204" pitchFamily="18" charset="0"/>
                        </a:rPr>
                        <m:t>𝐲</m:t>
                      </m:r>
                      <m:r>
                        <a:rPr lang="en-US" altLang="zh-TW" sz="2800" i="1" smtClean="0">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b="1">
                              <a:latin typeface="Cambria Math" panose="02040503050406030204" pitchFamily="18" charset="0"/>
                            </a:rPr>
                            <m:t>𝐗</m:t>
                          </m:r>
                        </m:e>
                        <m:sup>
                          <m:r>
                            <m:rPr>
                              <m:sty m:val="p"/>
                            </m:rPr>
                            <a:rPr lang="en-US" altLang="zh-TW" sz="2800">
                              <a:latin typeface="Cambria Math" panose="02040503050406030204" pitchFamily="18" charset="0"/>
                            </a:rPr>
                            <m:t>T</m:t>
                          </m:r>
                        </m:sup>
                      </m:sSup>
                      <m:r>
                        <a:rPr lang="en-US" altLang="zh-TW" sz="2800" b="1" i="0" smtClean="0">
                          <a:latin typeface="Cambria Math" panose="02040503050406030204" pitchFamily="18" charset="0"/>
                        </a:rPr>
                        <m:t>𝐗𝐰</m:t>
                      </m:r>
                    </m:oMath>
                  </m:oMathPara>
                </a14:m>
                <a:endParaRPr lang="zh-TW" altLang="en-US" sz="2800" dirty="0"/>
              </a:p>
            </p:txBody>
          </p:sp>
        </mc:Choice>
        <mc:Fallback xmlns="">
          <p:sp>
            <p:nvSpPr>
              <p:cNvPr id="12" name="文字方塊 11">
                <a:extLst>
                  <a:ext uri="{FF2B5EF4-FFF2-40B4-BE49-F238E27FC236}">
                    <a16:creationId xmlns:a16="http://schemas.microsoft.com/office/drawing/2014/main" id="{E91D05F4-98EC-9EC5-ED06-F7AC2F2CA815}"/>
                  </a:ext>
                </a:extLst>
              </p:cNvPr>
              <p:cNvSpPr txBox="1">
                <a:spLocks noRot="1" noChangeAspect="1" noMove="1" noResize="1" noEditPoints="1" noAdjustHandles="1" noChangeArrowheads="1" noChangeShapeType="1" noTextEdit="1"/>
              </p:cNvSpPr>
              <p:nvPr/>
            </p:nvSpPr>
            <p:spPr>
              <a:xfrm>
                <a:off x="664713" y="4257985"/>
                <a:ext cx="2099229" cy="43858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757DEADF-97E1-6967-A4BB-95B189F2E2C5}"/>
                  </a:ext>
                </a:extLst>
              </p:cNvPr>
              <p:cNvSpPr txBox="1"/>
              <p:nvPr/>
            </p:nvSpPr>
            <p:spPr>
              <a:xfrm>
                <a:off x="664713" y="5239646"/>
                <a:ext cx="2937086" cy="5705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1">
                              <a:latin typeface="Cambria Math" panose="02040503050406030204" pitchFamily="18" charset="0"/>
                            </a:rPr>
                            <m:t>𝐰</m:t>
                          </m:r>
                        </m:e>
                        <m:sup>
                          <m:r>
                            <a:rPr lang="en-US" altLang="zh-TW" sz="2800" i="1">
                              <a:latin typeface="Cambria Math" panose="02040503050406030204" pitchFamily="18" charset="0"/>
                            </a:rPr>
                            <m:t>∗</m:t>
                          </m:r>
                        </m:sup>
                      </m:sSup>
                      <m:r>
                        <a:rPr lang="en-US" altLang="zh-TW" sz="2800" i="1" smtClean="0">
                          <a:latin typeface="Cambria Math" panose="02040503050406030204" pitchFamily="18" charset="0"/>
                        </a:rPr>
                        <m:t>=</m:t>
                      </m:r>
                      <m:sSup>
                        <m:sSupPr>
                          <m:ctrlPr>
                            <a:rPr lang="en-US" altLang="zh-TW" sz="2800" i="1" smtClean="0">
                              <a:latin typeface="Cambria Math" panose="02040503050406030204" pitchFamily="18" charset="0"/>
                            </a:rPr>
                          </m:ctrlPr>
                        </m:sSupPr>
                        <m:e>
                          <m:d>
                            <m:dPr>
                              <m:ctrlPr>
                                <a:rPr lang="en-US" altLang="zh-TW" sz="2800" i="1" smtClean="0">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b="1">
                                      <a:latin typeface="Cambria Math" panose="02040503050406030204" pitchFamily="18" charset="0"/>
                                    </a:rPr>
                                    <m:t>𝐗</m:t>
                                  </m:r>
                                </m:e>
                                <m:sup>
                                  <m:r>
                                    <m:rPr>
                                      <m:sty m:val="p"/>
                                    </m:rPr>
                                    <a:rPr lang="en-US" altLang="zh-TW" sz="2800">
                                      <a:latin typeface="Cambria Math" panose="02040503050406030204" pitchFamily="18" charset="0"/>
                                    </a:rPr>
                                    <m:t>T</m:t>
                                  </m:r>
                                </m:sup>
                              </m:sSup>
                              <m:r>
                                <a:rPr lang="en-US" altLang="zh-TW" sz="2800" b="1" i="0" smtClean="0">
                                  <a:latin typeface="Cambria Math" panose="02040503050406030204" pitchFamily="18" charset="0"/>
                                </a:rPr>
                                <m:t>𝐗</m:t>
                              </m:r>
                            </m:e>
                          </m:d>
                        </m:e>
                        <m:sup>
                          <m:r>
                            <a:rPr lang="en-US" altLang="zh-TW" sz="2800" b="0" i="1" smtClean="0">
                              <a:latin typeface="Cambria Math" panose="02040503050406030204" pitchFamily="18" charset="0"/>
                            </a:rPr>
                            <m:t>−1</m:t>
                          </m:r>
                        </m:sup>
                      </m:sSup>
                      <m:sSup>
                        <m:sSupPr>
                          <m:ctrlPr>
                            <a:rPr lang="en-US" altLang="zh-TW" sz="2800" i="1">
                              <a:latin typeface="Cambria Math" panose="02040503050406030204" pitchFamily="18" charset="0"/>
                            </a:rPr>
                          </m:ctrlPr>
                        </m:sSupPr>
                        <m:e>
                          <m:r>
                            <a:rPr lang="en-US" altLang="zh-TW" sz="2800" b="1">
                              <a:latin typeface="Cambria Math" panose="02040503050406030204" pitchFamily="18" charset="0"/>
                            </a:rPr>
                            <m:t>𝐗</m:t>
                          </m:r>
                        </m:e>
                        <m:sup>
                          <m:r>
                            <m:rPr>
                              <m:sty m:val="p"/>
                            </m:rPr>
                            <a:rPr lang="en-US" altLang="zh-TW" sz="2800">
                              <a:latin typeface="Cambria Math" panose="02040503050406030204" pitchFamily="18" charset="0"/>
                            </a:rPr>
                            <m:t>T</m:t>
                          </m:r>
                        </m:sup>
                      </m:sSup>
                      <m:r>
                        <a:rPr lang="en-US" altLang="zh-TW" sz="2800" b="1">
                          <a:latin typeface="Cambria Math" panose="02040503050406030204" pitchFamily="18" charset="0"/>
                        </a:rPr>
                        <m:t>𝐲</m:t>
                      </m:r>
                    </m:oMath>
                  </m:oMathPara>
                </a14:m>
                <a:endParaRPr lang="zh-TW" altLang="en-US" sz="2800" dirty="0"/>
              </a:p>
            </p:txBody>
          </p:sp>
        </mc:Choice>
        <mc:Fallback xmlns="">
          <p:sp>
            <p:nvSpPr>
              <p:cNvPr id="13" name="文字方塊 12">
                <a:extLst>
                  <a:ext uri="{FF2B5EF4-FFF2-40B4-BE49-F238E27FC236}">
                    <a16:creationId xmlns:a16="http://schemas.microsoft.com/office/drawing/2014/main" id="{757DEADF-97E1-6967-A4BB-95B189F2E2C5}"/>
                  </a:ext>
                </a:extLst>
              </p:cNvPr>
              <p:cNvSpPr txBox="1">
                <a:spLocks noRot="1" noChangeAspect="1" noMove="1" noResize="1" noEditPoints="1" noAdjustHandles="1" noChangeArrowheads="1" noChangeShapeType="1" noTextEdit="1"/>
              </p:cNvSpPr>
              <p:nvPr/>
            </p:nvSpPr>
            <p:spPr>
              <a:xfrm>
                <a:off x="664713" y="5239646"/>
                <a:ext cx="2937086" cy="570541"/>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61496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52A563-CCDC-6A34-46FE-59B29B2E0E60}"/>
              </a:ext>
            </a:extLst>
          </p:cNvPr>
          <p:cNvSpPr>
            <a:spLocks noGrp="1"/>
          </p:cNvSpPr>
          <p:nvPr>
            <p:ph type="title"/>
          </p:nvPr>
        </p:nvSpPr>
        <p:spPr>
          <a:xfrm>
            <a:off x="838200" y="287262"/>
            <a:ext cx="10515600" cy="1325563"/>
          </a:xfrm>
        </p:spPr>
        <p:txBody>
          <a:bodyPr/>
          <a:lstStyle/>
          <a:p>
            <a:r>
              <a:rPr lang="en-US" altLang="zh-TW" b="1" dirty="0"/>
              <a:t>Logistic Regression </a:t>
            </a:r>
            <a:r>
              <a:rPr lang="zh-TW" altLang="en-US" b="1" dirty="0">
                <a:latin typeface="微軟正黑體" panose="020B0604030504040204" pitchFamily="34" charset="-120"/>
                <a:ea typeface="微軟正黑體" panose="020B0604030504040204" pitchFamily="34" charset="-120"/>
              </a:rPr>
              <a:t>邏輯迴歸</a:t>
            </a:r>
          </a:p>
        </p:txBody>
      </p:sp>
      <p:sp>
        <p:nvSpPr>
          <p:cNvPr id="3" name="內容版面配置區 2">
            <a:extLst>
              <a:ext uri="{FF2B5EF4-FFF2-40B4-BE49-F238E27FC236}">
                <a16:creationId xmlns:a16="http://schemas.microsoft.com/office/drawing/2014/main" id="{47E652FD-F4AA-A553-C505-9FA57B581E18}"/>
              </a:ext>
            </a:extLst>
          </p:cNvPr>
          <p:cNvSpPr>
            <a:spLocks noGrp="1"/>
          </p:cNvSpPr>
          <p:nvPr>
            <p:ph idx="1"/>
          </p:nvPr>
        </p:nvSpPr>
        <p:spPr>
          <a:xfrm>
            <a:off x="838200" y="1354396"/>
            <a:ext cx="10699376" cy="4965722"/>
          </a:xfrm>
        </p:spPr>
        <p:txBody>
          <a:bodyPr>
            <a:noAutofit/>
          </a:bodyPr>
          <a:lstStyle/>
          <a:p>
            <a:r>
              <a:rPr lang="en-US" altLang="zh-TW" sz="2400" b="0" i="0" dirty="0">
                <a:solidFill>
                  <a:srgbClr val="3C3C3B"/>
                </a:solidFill>
                <a:effectLst/>
                <a:latin typeface="Verdana" panose="020B0604030504040204" pitchFamily="34" charset="0"/>
                <a:ea typeface="Verdana" panose="020B0604030504040204" pitchFamily="34" charset="0"/>
              </a:rPr>
              <a:t>Linear regression algorithms are used to predict/forecast values but </a:t>
            </a:r>
            <a:r>
              <a:rPr lang="en-US" altLang="zh-TW" sz="2400" b="0" i="0" dirty="0">
                <a:solidFill>
                  <a:srgbClr val="0070C0"/>
                </a:solidFill>
                <a:effectLst/>
                <a:latin typeface="Verdana" panose="020B0604030504040204" pitchFamily="34" charset="0"/>
                <a:ea typeface="Verdana" panose="020B0604030504040204" pitchFamily="34" charset="0"/>
              </a:rPr>
              <a:t>logistic regression is used for classification tasks</a:t>
            </a:r>
            <a:r>
              <a:rPr lang="en-US" altLang="zh-TW" sz="2400" b="0" i="0" dirty="0">
                <a:solidFill>
                  <a:srgbClr val="3C3C3B"/>
                </a:solidFill>
                <a:effectLst/>
                <a:latin typeface="Verdana" panose="020B0604030504040204" pitchFamily="34" charset="0"/>
                <a:ea typeface="Verdana" panose="020B0604030504040204" pitchFamily="34" charset="0"/>
              </a:rPr>
              <a:t>.</a:t>
            </a:r>
          </a:p>
          <a:p>
            <a:r>
              <a:rPr lang="en-US" altLang="zh-TW" sz="2400" b="0" i="0" dirty="0">
                <a:solidFill>
                  <a:srgbClr val="3C3C3B"/>
                </a:solidFill>
                <a:effectLst/>
                <a:latin typeface="Verdana" panose="020B0604030504040204" pitchFamily="34" charset="0"/>
                <a:ea typeface="Verdana" panose="020B0604030504040204" pitchFamily="34" charset="0"/>
              </a:rPr>
              <a:t>Logistic regression algorithm also uses a linear equation with independent predictors to predict a value. The predicted value can be anywhere between negative infinity to positive infinity. </a:t>
            </a:r>
          </a:p>
          <a:p>
            <a:r>
              <a:rPr lang="en-US" altLang="zh-TW" sz="2400" b="0" i="0" dirty="0">
                <a:solidFill>
                  <a:srgbClr val="3C3C3B"/>
                </a:solidFill>
                <a:effectLst/>
                <a:latin typeface="Verdana" panose="020B0604030504040204" pitchFamily="34" charset="0"/>
                <a:ea typeface="Verdana" panose="020B0604030504040204" pitchFamily="34" charset="0"/>
              </a:rPr>
              <a:t>We need the output of the algorithm to be class variable, i.e. 0-no, 1-yes. Therefore, we are squashing the output of the linear equation into a range of [0,1]. </a:t>
            </a:r>
          </a:p>
          <a:p>
            <a:pPr lvl="1"/>
            <a:r>
              <a:rPr lang="en-US" altLang="zh-TW" sz="2000" b="0" i="0" dirty="0">
                <a:solidFill>
                  <a:srgbClr val="3C3C3B"/>
                </a:solidFill>
                <a:effectLst/>
                <a:latin typeface="Verdana" panose="020B0604030504040204" pitchFamily="34" charset="0"/>
                <a:ea typeface="Verdana" panose="020B0604030504040204" pitchFamily="34" charset="0"/>
              </a:rPr>
              <a:t>sigmoid function</a:t>
            </a:r>
            <a:endParaRPr lang="zh-TW" altLang="en-US" sz="2000" dirty="0">
              <a:latin typeface="Verdana" panose="020B0604030504040204" pitchFamily="34"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4705E08C-9B16-5B66-442F-B4CF6CC963EC}"/>
                  </a:ext>
                </a:extLst>
              </p:cNvPr>
              <p:cNvSpPr txBox="1"/>
              <p:nvPr/>
            </p:nvSpPr>
            <p:spPr>
              <a:xfrm>
                <a:off x="6096000" y="5342883"/>
                <a:ext cx="2486025" cy="81663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sym typeface="Symbol" panose="05050102010706020507" pitchFamily="18" charset="2"/>
                        </a:rPr>
                        <m:t>𝑔</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f>
                        <m:fPr>
                          <m:ctrlPr>
                            <a:rPr lang="pt-BR" altLang="zh-TW" sz="2800" i="1" smtClean="0">
                              <a:latin typeface="Cambria Math" panose="02040503050406030204" pitchFamily="18" charset="0"/>
                            </a:rPr>
                          </m:ctrlPr>
                        </m:fPr>
                        <m:num>
                          <m:r>
                            <a:rPr lang="en-US" altLang="zh-TW" sz="2800" b="0" i="1" smtClean="0">
                              <a:latin typeface="Cambria Math" panose="02040503050406030204" pitchFamily="18" charset="0"/>
                            </a:rPr>
                            <m:t>1</m:t>
                          </m:r>
                        </m:num>
                        <m:den>
                          <m:sSup>
                            <m:sSupPr>
                              <m:ctrlPr>
                                <a:rPr lang="pt-BR" altLang="zh-TW" sz="2800" i="1" smtClean="0">
                                  <a:latin typeface="Cambria Math" panose="02040503050406030204" pitchFamily="18" charset="0"/>
                                </a:rPr>
                              </m:ctrlPr>
                            </m:sSup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𝑒</m:t>
                              </m:r>
                            </m:e>
                            <m: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sup>
                          </m:sSup>
                        </m:den>
                      </m:f>
                    </m:oMath>
                  </m:oMathPara>
                </a14:m>
                <a:endParaRPr lang="zh-TW" altLang="en-US" sz="2800" dirty="0"/>
              </a:p>
            </p:txBody>
          </p:sp>
        </mc:Choice>
        <mc:Fallback xmlns="">
          <p:sp>
            <p:nvSpPr>
              <p:cNvPr id="4" name="文字方塊 3">
                <a:extLst>
                  <a:ext uri="{FF2B5EF4-FFF2-40B4-BE49-F238E27FC236}">
                    <a16:creationId xmlns:a16="http://schemas.microsoft.com/office/drawing/2014/main" id="{4705E08C-9B16-5B66-442F-B4CF6CC963EC}"/>
                  </a:ext>
                </a:extLst>
              </p:cNvPr>
              <p:cNvSpPr txBox="1">
                <a:spLocks noRot="1" noChangeAspect="1" noMove="1" noResize="1" noEditPoints="1" noAdjustHandles="1" noChangeArrowheads="1" noChangeShapeType="1" noTextEdit="1"/>
              </p:cNvSpPr>
              <p:nvPr/>
            </p:nvSpPr>
            <p:spPr>
              <a:xfrm>
                <a:off x="6096000" y="5342883"/>
                <a:ext cx="2486025" cy="816634"/>
              </a:xfrm>
              <a:prstGeom prst="rect">
                <a:avLst/>
              </a:prstGeom>
              <a:blipFill>
                <a:blip r:embed="rId2"/>
                <a:stretch>
                  <a:fillRect/>
                </a:stretch>
              </a:blipFill>
            </p:spPr>
            <p:txBody>
              <a:bodyPr/>
              <a:lstStyle/>
              <a:p>
                <a:r>
                  <a:rPr lang="zh-TW" altLang="en-US">
                    <a:noFill/>
                  </a:rPr>
                  <a:t> </a:t>
                </a:r>
              </a:p>
            </p:txBody>
          </p:sp>
        </mc:Fallback>
      </mc:AlternateContent>
      <p:pic>
        <p:nvPicPr>
          <p:cNvPr id="5" name="Picture 2" descr="https://miro.medium.com/max/643/1*M4imh-yg16C9sqrhOVyZBw.png">
            <a:extLst>
              <a:ext uri="{FF2B5EF4-FFF2-40B4-BE49-F238E27FC236}">
                <a16:creationId xmlns:a16="http://schemas.microsoft.com/office/drawing/2014/main" id="{16D45A55-79E9-2278-DE1E-71E755F10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4504" y="4108583"/>
            <a:ext cx="2778226" cy="2147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76890B2-69D9-7AEF-CE25-76A210C30D53}"/>
                  </a:ext>
                </a:extLst>
              </p:cNvPr>
              <p:cNvSpPr txBox="1"/>
              <p:nvPr/>
            </p:nvSpPr>
            <p:spPr>
              <a:xfrm>
                <a:off x="1069049" y="4751396"/>
                <a:ext cx="4495240" cy="43088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zh-TW" altLang="en-US" sz="2800" b="0" i="1" smtClean="0">
                              <a:latin typeface="Cambria Math" panose="02040503050406030204" pitchFamily="18" charset="0"/>
                            </a:rPr>
                            <m:t>𝜃</m:t>
                          </m:r>
                        </m:e>
                        <m:sub>
                          <m:r>
                            <a:rPr lang="en-US" altLang="zh-TW" sz="2800" b="0" i="1" smtClean="0">
                              <a:latin typeface="Cambria Math" panose="02040503050406030204" pitchFamily="18" charset="0"/>
                            </a:rPr>
                            <m:t>0</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𝜃</m:t>
                          </m:r>
                        </m:e>
                        <m:sub>
                          <m:r>
                            <a:rPr lang="en-US" altLang="zh-TW" sz="2800" b="0" i="1" smtClean="0">
                              <a:latin typeface="Cambria Math" panose="02040503050406030204" pitchFamily="18" charset="0"/>
                            </a:rPr>
                            <m:t>1</m:t>
                          </m:r>
                        </m:sub>
                      </m:sSub>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𝜃</m:t>
                          </m:r>
                        </m:e>
                        <m:sub>
                          <m:r>
                            <a:rPr lang="en-US" altLang="zh-TW" sz="2800" b="0" i="1" smtClean="0">
                              <a:latin typeface="Cambria Math" panose="02040503050406030204" pitchFamily="18" charset="0"/>
                            </a:rPr>
                            <m:t>2</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sub>
                      </m:sSub>
                      <m:r>
                        <a:rPr lang="en-US" altLang="zh-TW" sz="2800" i="1">
                          <a:latin typeface="Cambria Math" panose="02040503050406030204" pitchFamily="18" charset="0"/>
                        </a:rPr>
                        <m:t>+</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6" name="文字方塊 5">
                <a:extLst>
                  <a:ext uri="{FF2B5EF4-FFF2-40B4-BE49-F238E27FC236}">
                    <a16:creationId xmlns:a16="http://schemas.microsoft.com/office/drawing/2014/main" id="{576890B2-69D9-7AEF-CE25-76A210C30D53}"/>
                  </a:ext>
                </a:extLst>
              </p:cNvPr>
              <p:cNvSpPr txBox="1">
                <a:spLocks noRot="1" noChangeAspect="1" noMove="1" noResize="1" noEditPoints="1" noAdjustHandles="1" noChangeArrowheads="1" noChangeShapeType="1" noTextEdit="1"/>
              </p:cNvSpPr>
              <p:nvPr/>
            </p:nvSpPr>
            <p:spPr>
              <a:xfrm>
                <a:off x="1069049" y="4751396"/>
                <a:ext cx="4495240"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E9AFBE09-8B29-1D0E-890D-F204A0D74B99}"/>
                  </a:ext>
                </a:extLst>
              </p:cNvPr>
              <p:cNvSpPr txBox="1"/>
              <p:nvPr/>
            </p:nvSpPr>
            <p:spPr>
              <a:xfrm>
                <a:off x="1069049" y="5342883"/>
                <a:ext cx="3601562" cy="81663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sym typeface="Symbol" panose="05050102010706020507" pitchFamily="18" charset="2"/>
                        </a:rPr>
                        <m:t>h</m:t>
                      </m:r>
                      <m:r>
                        <a:rPr lang="en-US" altLang="zh-TW" sz="2800" b="0" i="1" smtClean="0">
                          <a:latin typeface="Cambria Math" panose="02040503050406030204" pitchFamily="18" charset="0"/>
                          <a:sym typeface="Symbol" panose="05050102010706020507" pitchFamily="18" charset="2"/>
                        </a:rPr>
                        <m:t>=</m:t>
                      </m:r>
                      <m:r>
                        <a:rPr lang="en-US" altLang="zh-TW" sz="2800" b="0" i="1" smtClean="0">
                          <a:latin typeface="Cambria Math" panose="02040503050406030204" pitchFamily="18" charset="0"/>
                          <a:sym typeface="Symbol" panose="05050102010706020507" pitchFamily="18" charset="2"/>
                        </a:rPr>
                        <m:t>𝑔</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f>
                        <m:fPr>
                          <m:ctrlPr>
                            <a:rPr lang="pt-BR" altLang="zh-TW" sz="2800" i="1" smtClean="0">
                              <a:latin typeface="Cambria Math" panose="02040503050406030204" pitchFamily="18" charset="0"/>
                            </a:rPr>
                          </m:ctrlPr>
                        </m:fPr>
                        <m:num>
                          <m:r>
                            <a:rPr lang="en-US" altLang="zh-TW" sz="2800" b="0" i="1" smtClean="0">
                              <a:latin typeface="Cambria Math" panose="02040503050406030204" pitchFamily="18" charset="0"/>
                            </a:rPr>
                            <m:t>1</m:t>
                          </m:r>
                        </m:num>
                        <m:den>
                          <m:sSup>
                            <m:sSupPr>
                              <m:ctrlPr>
                                <a:rPr lang="pt-BR" altLang="zh-TW" sz="2800" i="1" smtClean="0">
                                  <a:latin typeface="Cambria Math" panose="02040503050406030204" pitchFamily="18" charset="0"/>
                                </a:rPr>
                              </m:ctrlPr>
                            </m:sSup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𝑒</m:t>
                              </m:r>
                            </m:e>
                            <m: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𝑧</m:t>
                              </m:r>
                            </m:sup>
                          </m:sSup>
                        </m:den>
                      </m:f>
                    </m:oMath>
                  </m:oMathPara>
                </a14:m>
                <a:endParaRPr lang="zh-TW" altLang="en-US" sz="2800" dirty="0"/>
              </a:p>
            </p:txBody>
          </p:sp>
        </mc:Choice>
        <mc:Fallback xmlns="">
          <p:sp>
            <p:nvSpPr>
              <p:cNvPr id="9" name="文字方塊 8">
                <a:extLst>
                  <a:ext uri="{FF2B5EF4-FFF2-40B4-BE49-F238E27FC236}">
                    <a16:creationId xmlns:a16="http://schemas.microsoft.com/office/drawing/2014/main" id="{E9AFBE09-8B29-1D0E-890D-F204A0D74B99}"/>
                  </a:ext>
                </a:extLst>
              </p:cNvPr>
              <p:cNvSpPr txBox="1">
                <a:spLocks noRot="1" noChangeAspect="1" noMove="1" noResize="1" noEditPoints="1" noAdjustHandles="1" noChangeArrowheads="1" noChangeShapeType="1" noTextEdit="1"/>
              </p:cNvSpPr>
              <p:nvPr/>
            </p:nvSpPr>
            <p:spPr>
              <a:xfrm>
                <a:off x="1069049" y="5342883"/>
                <a:ext cx="3601562" cy="816634"/>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29197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E1D268-CC92-F050-6E42-1F05970CB733}"/>
              </a:ext>
            </a:extLst>
          </p:cNvPr>
          <p:cNvSpPr>
            <a:spLocks noGrp="1"/>
          </p:cNvSpPr>
          <p:nvPr>
            <p:ph type="title"/>
          </p:nvPr>
        </p:nvSpPr>
        <p:spPr/>
        <p:txBody>
          <a:bodyPr/>
          <a:lstStyle/>
          <a:p>
            <a:r>
              <a:rPr lang="en-US" altLang="zh-TW" dirty="0"/>
              <a:t>Cost Function</a:t>
            </a:r>
            <a:endParaRPr lang="zh-TW" altLang="en-US" dirty="0"/>
          </a:p>
        </p:txBody>
      </p:sp>
      <p:sp>
        <p:nvSpPr>
          <p:cNvPr id="3" name="內容版面配置區 2">
            <a:extLst>
              <a:ext uri="{FF2B5EF4-FFF2-40B4-BE49-F238E27FC236}">
                <a16:creationId xmlns:a16="http://schemas.microsoft.com/office/drawing/2014/main" id="{D0145727-84A2-C4DF-DBB9-FED118C44D63}"/>
              </a:ext>
            </a:extLst>
          </p:cNvPr>
          <p:cNvSpPr>
            <a:spLocks noGrp="1"/>
          </p:cNvSpPr>
          <p:nvPr>
            <p:ph idx="1"/>
          </p:nvPr>
        </p:nvSpPr>
        <p:spPr/>
        <p:txBody>
          <a:bodyPr/>
          <a:lstStyle/>
          <a:p>
            <a:r>
              <a:rPr lang="en-US" altLang="zh-TW" dirty="0"/>
              <a:t>Since we are trying to predict class values, we cannot use the same cost function used in linear regression algorithm. </a:t>
            </a:r>
          </a:p>
          <a:p>
            <a:r>
              <a:rPr lang="en-US" altLang="zh-TW" dirty="0"/>
              <a:t>Use a logarithmic loss function to calculate the cost for misclassifying.</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3D34958-0264-4F4C-2959-2947A596B80B}"/>
                  </a:ext>
                </a:extLst>
              </p:cNvPr>
              <p:cNvSpPr txBox="1"/>
              <p:nvPr/>
            </p:nvSpPr>
            <p:spPr>
              <a:xfrm>
                <a:off x="762000" y="3429000"/>
                <a:ext cx="7501210" cy="137563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sym typeface="Symbol" panose="05050102010706020507" pitchFamily="18" charset="2"/>
                        </a:rPr>
                        <m:t>𝐶𝑜𝑠𝑡</m:t>
                      </m:r>
                      <m:r>
                        <a:rPr lang="en-US" altLang="zh-TW" sz="2800" b="0" i="1" smtClean="0">
                          <a:latin typeface="Cambria Math" panose="02040503050406030204" pitchFamily="18" charset="0"/>
                          <a:sym typeface="Symbol" panose="05050102010706020507" pitchFamily="18" charset="2"/>
                        </a:rPr>
                        <m:t>(</m:t>
                      </m:r>
                      <m:sSub>
                        <m:sSubPr>
                          <m:ctrlPr>
                            <a:rPr lang="en-US" altLang="zh-TW" sz="2800" b="0" i="1" smtClean="0">
                              <a:latin typeface="Cambria Math" panose="02040503050406030204" pitchFamily="18" charset="0"/>
                              <a:sym typeface="Symbol" panose="05050102010706020507" pitchFamily="18" charset="2"/>
                            </a:rPr>
                          </m:ctrlPr>
                        </m:sSubPr>
                        <m:e>
                          <m:r>
                            <a:rPr lang="en-US" altLang="zh-TW" sz="2800" b="0" i="1" smtClean="0">
                              <a:latin typeface="Cambria Math" panose="02040503050406030204" pitchFamily="18" charset="0"/>
                              <a:sym typeface="Symbol" panose="05050102010706020507" pitchFamily="18" charset="2"/>
                            </a:rPr>
                            <m:t>h</m:t>
                          </m:r>
                        </m:e>
                        <m:sub>
                          <m:r>
                            <a:rPr lang="zh-TW" altLang="en-US" sz="2800" b="0" i="1" smtClean="0">
                              <a:latin typeface="Cambria Math" panose="02040503050406030204" pitchFamily="18" charset="0"/>
                              <a:sym typeface="Symbol" panose="05050102010706020507" pitchFamily="18" charset="2"/>
                            </a:rPr>
                            <m:t>𝜃</m:t>
                          </m:r>
                        </m:sub>
                      </m:sSub>
                      <m:r>
                        <a:rPr lang="en-US" altLang="zh-TW" sz="2800" b="0" i="1" smtClean="0">
                          <a:latin typeface="Cambria Math" panose="02040503050406030204" pitchFamily="18" charset="0"/>
                          <a:sym typeface="Symbol" panose="05050102010706020507" pitchFamily="18" charset="2"/>
                        </a:rPr>
                        <m:t>(</m:t>
                      </m:r>
                      <m:r>
                        <a:rPr lang="en-US" altLang="zh-TW" sz="2800" b="0" i="1" smtClean="0">
                          <a:latin typeface="Cambria Math" panose="02040503050406030204" pitchFamily="18" charset="0"/>
                          <a:sym typeface="Symbol" panose="05050102010706020507" pitchFamily="18" charset="2"/>
                        </a:rPr>
                        <m:t>𝑥</m:t>
                      </m:r>
                      <m:r>
                        <a:rPr lang="en-US" altLang="zh-TW" sz="2800" b="0" i="1" smtClean="0">
                          <a:latin typeface="Cambria Math" panose="02040503050406030204" pitchFamily="18" charset="0"/>
                          <a:sym typeface="Symbol" panose="05050102010706020507" pitchFamily="18" charset="2"/>
                        </a:rPr>
                        <m:t>),</m:t>
                      </m:r>
                      <m:r>
                        <a:rPr lang="en-US" altLang="zh-TW" sz="2800" b="0" i="1" smtClean="0">
                          <a:latin typeface="Cambria Math" panose="02040503050406030204" pitchFamily="18" charset="0"/>
                          <a:sym typeface="Symbol" panose="05050102010706020507" pitchFamily="18" charset="2"/>
                        </a:rPr>
                        <m:t>𝑦</m:t>
                      </m:r>
                      <m:r>
                        <a:rPr lang="en-US" altLang="zh-TW" sz="2800" b="0" i="1" smtClean="0">
                          <a:latin typeface="Cambria Math" panose="02040503050406030204" pitchFamily="18" charset="0"/>
                          <a:sym typeface="Symbol" panose="05050102010706020507" pitchFamily="18" charset="2"/>
                        </a:rPr>
                        <m:t>)=</m:t>
                      </m:r>
                      <m:d>
                        <m:dPr>
                          <m:begChr m:val="{"/>
                          <m:endChr m:val=""/>
                          <m:ctrlPr>
                            <a:rPr lang="en-US" altLang="zh-TW" sz="2800" b="0" i="1" smtClean="0">
                              <a:latin typeface="Cambria Math" panose="02040503050406030204" pitchFamily="18" charset="0"/>
                            </a:rPr>
                          </m:ctrlPr>
                        </m:dPr>
                        <m:e>
                          <m:eqArr>
                            <m:eqArrPr>
                              <m:ctrlPr>
                                <a:rPr lang="en-US" altLang="zh-TW" sz="2800" b="0" i="1" smtClean="0">
                                  <a:latin typeface="Cambria Math" panose="02040503050406030204" pitchFamily="18" charset="0"/>
                                </a:rPr>
                              </m:ctrlPr>
                            </m:eqArrPr>
                            <m:e>
                              <m:r>
                                <a:rPr lang="en-US" altLang="zh-TW" sz="2800" b="0" i="1" smtClean="0">
                                  <a:latin typeface="Cambria Math" panose="02040503050406030204" pitchFamily="18" charset="0"/>
                                </a:rPr>
                                <m:t>−</m:t>
                              </m:r>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d>
                                    <m:dPr>
                                      <m:ctrlPr>
                                        <a:rPr lang="en-US" altLang="zh-TW" sz="2800" b="0" i="1" smtClean="0">
                                          <a:latin typeface="Cambria Math" panose="02040503050406030204" pitchFamily="18" charset="0"/>
                                        </a:rPr>
                                      </m:ctrlPr>
                                    </m:dPr>
                                    <m:e>
                                      <m:sSub>
                                        <m:sSubPr>
                                          <m:ctrlPr>
                                            <a:rPr lang="en-US" altLang="zh-TW" sz="2800" i="1">
                                              <a:latin typeface="Cambria Math" panose="02040503050406030204" pitchFamily="18" charset="0"/>
                                              <a:sym typeface="Symbol" panose="05050102010706020507" pitchFamily="18" charset="2"/>
                                            </a:rPr>
                                          </m:ctrlPr>
                                        </m:sSubPr>
                                        <m:e>
                                          <m:r>
                                            <a:rPr lang="en-US" altLang="zh-TW" sz="2800" i="1">
                                              <a:latin typeface="Cambria Math" panose="02040503050406030204" pitchFamily="18" charset="0"/>
                                              <a:sym typeface="Symbol" panose="05050102010706020507" pitchFamily="18" charset="2"/>
                                            </a:rPr>
                                            <m:t>h</m:t>
                                          </m:r>
                                        </m:e>
                                        <m:sub>
                                          <m:r>
                                            <a:rPr lang="zh-TW" altLang="en-US" sz="2800" i="1">
                                              <a:latin typeface="Cambria Math" panose="02040503050406030204" pitchFamily="18" charset="0"/>
                                              <a:sym typeface="Symbol" panose="05050102010706020507" pitchFamily="18" charset="2"/>
                                            </a:rPr>
                                            <m:t>𝜃</m:t>
                                          </m:r>
                                        </m:sub>
                                      </m:sSub>
                                      <m:d>
                                        <m:dPr>
                                          <m:ctrlPr>
                                            <a:rPr lang="en-US" altLang="zh-TW" sz="2800" i="1">
                                              <a:latin typeface="Cambria Math" panose="02040503050406030204" pitchFamily="18" charset="0"/>
                                              <a:sym typeface="Symbol" panose="05050102010706020507" pitchFamily="18" charset="2"/>
                                            </a:rPr>
                                          </m:ctrlPr>
                                        </m:dPr>
                                        <m:e>
                                          <m:r>
                                            <a:rPr lang="en-US" altLang="zh-TW" sz="2800" i="1">
                                              <a:latin typeface="Cambria Math" panose="02040503050406030204" pitchFamily="18" charset="0"/>
                                              <a:sym typeface="Symbol" panose="05050102010706020507" pitchFamily="18" charset="2"/>
                                            </a:rPr>
                                            <m:t>𝑥</m:t>
                                          </m:r>
                                        </m:e>
                                      </m:d>
                                    </m:e>
                                  </m:d>
                                </m:e>
                              </m:func>
                              <m:r>
                                <a:rPr lang="en-US" altLang="zh-TW" sz="2800" b="0" i="1" smtClean="0">
                                  <a:latin typeface="Cambria Math" panose="02040503050406030204" pitchFamily="18" charset="0"/>
                                  <a:sym typeface="Symbol" panose="05050102010706020507" pitchFamily="18" charset="2"/>
                                </a:rPr>
                                <m:t>          </m:t>
                              </m:r>
                              <m:r>
                                <a:rPr lang="en-US" altLang="zh-TW" sz="2800" b="0" i="1" smtClean="0">
                                  <a:latin typeface="Cambria Math" panose="02040503050406030204" pitchFamily="18" charset="0"/>
                                  <a:sym typeface="Symbol" panose="05050102010706020507" pitchFamily="18" charset="2"/>
                                </a:rPr>
                                <m:t>𝑖𝑓</m:t>
                              </m:r>
                              <m:r>
                                <a:rPr lang="en-US" altLang="zh-TW" sz="2800" b="0" i="1" smtClean="0">
                                  <a:latin typeface="Cambria Math" panose="02040503050406030204" pitchFamily="18" charset="0"/>
                                  <a:sym typeface="Symbol" panose="05050102010706020507" pitchFamily="18" charset="2"/>
                                </a:rPr>
                                <m:t> </m:t>
                              </m:r>
                              <m:r>
                                <a:rPr lang="en-US" altLang="zh-TW" sz="2800" b="0" i="1" smtClean="0">
                                  <a:latin typeface="Cambria Math" panose="02040503050406030204" pitchFamily="18" charset="0"/>
                                  <a:sym typeface="Symbol" panose="05050102010706020507" pitchFamily="18" charset="2"/>
                                </a:rPr>
                                <m:t>𝑦</m:t>
                              </m:r>
                              <m:r>
                                <a:rPr lang="en-US" altLang="zh-TW" sz="2800" b="0" i="1" smtClean="0">
                                  <a:latin typeface="Cambria Math" panose="02040503050406030204" pitchFamily="18" charset="0"/>
                                  <a:sym typeface="Symbol" panose="05050102010706020507" pitchFamily="18" charset="2"/>
                                </a:rPr>
                                <m:t>=1</m:t>
                              </m:r>
                            </m:e>
                            <m:e>
                              <m:r>
                                <a:rPr lang="en-US" altLang="zh-TW" sz="2800" i="1">
                                  <a:latin typeface="Cambria Math" panose="02040503050406030204" pitchFamily="18" charset="0"/>
                                </a:rPr>
                                <m:t>−</m:t>
                              </m:r>
                              <m:func>
                                <m:funcPr>
                                  <m:ctrlPr>
                                    <a:rPr lang="en-US" altLang="zh-TW" sz="2800" i="1">
                                      <a:latin typeface="Cambria Math" panose="02040503050406030204" pitchFamily="18" charset="0"/>
                                    </a:rPr>
                                  </m:ctrlPr>
                                </m:funcPr>
                                <m:fName>
                                  <m:r>
                                    <m:rPr>
                                      <m:sty m:val="p"/>
                                    </m:rPr>
                                    <a:rPr lang="en-US" altLang="zh-TW" sz="2800">
                                      <a:latin typeface="Cambria Math" panose="02040503050406030204" pitchFamily="18" charset="0"/>
                                    </a:rPr>
                                    <m:t>log</m:t>
                                  </m:r>
                                </m:fName>
                                <m:e>
                                  <m:d>
                                    <m:dPr>
                                      <m:ctrlPr>
                                        <a:rPr lang="en-US" altLang="zh-TW" sz="2800" i="1">
                                          <a:latin typeface="Cambria Math" panose="02040503050406030204" pitchFamily="18" charset="0"/>
                                        </a:rPr>
                                      </m:ctrlPr>
                                    </m:dPr>
                                    <m:e>
                                      <m:r>
                                        <a:rPr lang="en-US" altLang="zh-TW" sz="2800" b="0" i="1" smtClean="0">
                                          <a:latin typeface="Cambria Math" panose="02040503050406030204" pitchFamily="18" charset="0"/>
                                        </a:rPr>
                                        <m:t>1−</m:t>
                                      </m:r>
                                      <m:sSub>
                                        <m:sSubPr>
                                          <m:ctrlPr>
                                            <a:rPr lang="en-US" altLang="zh-TW" sz="2800" i="1">
                                              <a:latin typeface="Cambria Math" panose="02040503050406030204" pitchFamily="18" charset="0"/>
                                              <a:sym typeface="Symbol" panose="05050102010706020507" pitchFamily="18" charset="2"/>
                                            </a:rPr>
                                          </m:ctrlPr>
                                        </m:sSubPr>
                                        <m:e>
                                          <m:r>
                                            <a:rPr lang="en-US" altLang="zh-TW" sz="2800" i="1">
                                              <a:latin typeface="Cambria Math" panose="02040503050406030204" pitchFamily="18" charset="0"/>
                                              <a:sym typeface="Symbol" panose="05050102010706020507" pitchFamily="18" charset="2"/>
                                            </a:rPr>
                                            <m:t>h</m:t>
                                          </m:r>
                                        </m:e>
                                        <m:sub>
                                          <m:r>
                                            <a:rPr lang="zh-TW" altLang="en-US" sz="2800" i="1">
                                              <a:latin typeface="Cambria Math" panose="02040503050406030204" pitchFamily="18" charset="0"/>
                                              <a:sym typeface="Symbol" panose="05050102010706020507" pitchFamily="18" charset="2"/>
                                            </a:rPr>
                                            <m:t>𝜃</m:t>
                                          </m:r>
                                        </m:sub>
                                      </m:sSub>
                                      <m:d>
                                        <m:dPr>
                                          <m:ctrlPr>
                                            <a:rPr lang="en-US" altLang="zh-TW" sz="2800" i="1">
                                              <a:latin typeface="Cambria Math" panose="02040503050406030204" pitchFamily="18" charset="0"/>
                                              <a:sym typeface="Symbol" panose="05050102010706020507" pitchFamily="18" charset="2"/>
                                            </a:rPr>
                                          </m:ctrlPr>
                                        </m:dPr>
                                        <m:e>
                                          <m:r>
                                            <a:rPr lang="en-US" altLang="zh-TW" sz="2800" i="1">
                                              <a:latin typeface="Cambria Math" panose="02040503050406030204" pitchFamily="18" charset="0"/>
                                              <a:sym typeface="Symbol" panose="05050102010706020507" pitchFamily="18" charset="2"/>
                                            </a:rPr>
                                            <m:t>𝑥</m:t>
                                          </m:r>
                                        </m:e>
                                      </m:d>
                                    </m:e>
                                  </m:d>
                                </m:e>
                              </m:func>
                              <m:r>
                                <a:rPr lang="en-US" altLang="zh-TW" sz="2800" i="1">
                                  <a:latin typeface="Cambria Math" panose="02040503050406030204" pitchFamily="18" charset="0"/>
                                  <a:sym typeface="Symbol" panose="05050102010706020507" pitchFamily="18" charset="2"/>
                                </a:rPr>
                                <m:t> </m:t>
                              </m:r>
                              <m:r>
                                <a:rPr lang="en-US" altLang="zh-TW" sz="2800" b="0" i="1" smtClean="0">
                                  <a:latin typeface="Cambria Math" panose="02040503050406030204" pitchFamily="18" charset="0"/>
                                  <a:sym typeface="Symbol" panose="05050102010706020507" pitchFamily="18" charset="2"/>
                                </a:rPr>
                                <m:t> </m:t>
                              </m:r>
                              <m:r>
                                <a:rPr lang="en-US" altLang="zh-TW" sz="2800" i="1">
                                  <a:latin typeface="Cambria Math" panose="02040503050406030204" pitchFamily="18" charset="0"/>
                                  <a:sym typeface="Symbol" panose="05050102010706020507" pitchFamily="18" charset="2"/>
                                </a:rPr>
                                <m:t>𝑖𝑓</m:t>
                              </m:r>
                              <m:r>
                                <a:rPr lang="en-US" altLang="zh-TW" sz="2800" i="1">
                                  <a:latin typeface="Cambria Math" panose="02040503050406030204" pitchFamily="18" charset="0"/>
                                  <a:sym typeface="Symbol" panose="05050102010706020507" pitchFamily="18" charset="2"/>
                                </a:rPr>
                                <m:t> </m:t>
                              </m:r>
                              <m:r>
                                <a:rPr lang="en-US" altLang="zh-TW" sz="2800" i="1">
                                  <a:latin typeface="Cambria Math" panose="02040503050406030204" pitchFamily="18" charset="0"/>
                                  <a:sym typeface="Symbol" panose="05050102010706020507" pitchFamily="18" charset="2"/>
                                </a:rPr>
                                <m:t>𝑦</m:t>
                              </m:r>
                              <m:r>
                                <a:rPr lang="en-US" altLang="zh-TW" sz="2800" i="1">
                                  <a:latin typeface="Cambria Math" panose="02040503050406030204" pitchFamily="18" charset="0"/>
                                  <a:sym typeface="Symbol" panose="05050102010706020507" pitchFamily="18" charset="2"/>
                                </a:rPr>
                                <m:t>=0</m:t>
                              </m:r>
                            </m:e>
                          </m:eqArr>
                        </m:e>
                      </m:d>
                    </m:oMath>
                  </m:oMathPara>
                </a14:m>
                <a:endParaRPr lang="zh-TW" altLang="en-US" sz="2800" dirty="0"/>
              </a:p>
            </p:txBody>
          </p:sp>
        </mc:Choice>
        <mc:Fallback xmlns="">
          <p:sp>
            <p:nvSpPr>
              <p:cNvPr id="4" name="文字方塊 3">
                <a:extLst>
                  <a:ext uri="{FF2B5EF4-FFF2-40B4-BE49-F238E27FC236}">
                    <a16:creationId xmlns:a16="http://schemas.microsoft.com/office/drawing/2014/main" id="{B3D34958-0264-4F4C-2959-2947A596B80B}"/>
                  </a:ext>
                </a:extLst>
              </p:cNvPr>
              <p:cNvSpPr txBox="1">
                <a:spLocks noRot="1" noChangeAspect="1" noMove="1" noResize="1" noEditPoints="1" noAdjustHandles="1" noChangeArrowheads="1" noChangeShapeType="1" noTextEdit="1"/>
              </p:cNvSpPr>
              <p:nvPr/>
            </p:nvSpPr>
            <p:spPr>
              <a:xfrm>
                <a:off x="762000" y="3429000"/>
                <a:ext cx="7501210" cy="1375633"/>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70F71D5F-79BF-82FA-B999-9A7C31C15283}"/>
                  </a:ext>
                </a:extLst>
              </p:cNvPr>
              <p:cNvSpPr txBox="1"/>
              <p:nvPr/>
            </p:nvSpPr>
            <p:spPr>
              <a:xfrm>
                <a:off x="762000" y="5010981"/>
                <a:ext cx="11367247" cy="117621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sym typeface="Symbol" panose="05050102010706020507" pitchFamily="18" charset="2"/>
                        </a:rPr>
                        <m:t>𝐶𝑜𝑠𝑡</m:t>
                      </m:r>
                      <m:d>
                        <m:dPr>
                          <m:ctrlPr>
                            <a:rPr lang="en-US" altLang="zh-TW" sz="2800" b="0" i="1" smtClean="0">
                              <a:latin typeface="Cambria Math" panose="02040503050406030204" pitchFamily="18" charset="0"/>
                              <a:sym typeface="Symbol" panose="05050102010706020507" pitchFamily="18" charset="2"/>
                            </a:rPr>
                          </m:ctrlPr>
                        </m:dPr>
                        <m:e>
                          <m:sSub>
                            <m:sSubPr>
                              <m:ctrlPr>
                                <a:rPr lang="en-US" altLang="zh-TW" sz="2800" b="0" i="1" smtClean="0">
                                  <a:latin typeface="Cambria Math" panose="02040503050406030204" pitchFamily="18" charset="0"/>
                                  <a:sym typeface="Symbol" panose="05050102010706020507" pitchFamily="18" charset="2"/>
                                </a:rPr>
                              </m:ctrlPr>
                            </m:sSubPr>
                            <m:e>
                              <m:r>
                                <a:rPr lang="en-US" altLang="zh-TW" sz="2800" b="0" i="1" smtClean="0">
                                  <a:latin typeface="Cambria Math" panose="02040503050406030204" pitchFamily="18" charset="0"/>
                                  <a:sym typeface="Symbol" panose="05050102010706020507" pitchFamily="18" charset="2"/>
                                </a:rPr>
                                <m:t>h</m:t>
                              </m:r>
                            </m:e>
                            <m:sub>
                              <m:r>
                                <a:rPr lang="zh-TW" altLang="en-US" sz="2800" b="0" i="1" smtClean="0">
                                  <a:latin typeface="Cambria Math" panose="02040503050406030204" pitchFamily="18" charset="0"/>
                                  <a:sym typeface="Symbol" panose="05050102010706020507" pitchFamily="18" charset="2"/>
                                </a:rPr>
                                <m:t>𝜃</m:t>
                              </m:r>
                            </m:sub>
                          </m:sSub>
                          <m:d>
                            <m:dPr>
                              <m:ctrlPr>
                                <a:rPr lang="en-US" altLang="zh-TW" sz="2800" b="0" i="1" smtClean="0">
                                  <a:latin typeface="Cambria Math" panose="02040503050406030204" pitchFamily="18" charset="0"/>
                                  <a:sym typeface="Symbol" panose="05050102010706020507" pitchFamily="18" charset="2"/>
                                </a:rPr>
                              </m:ctrlPr>
                            </m:dPr>
                            <m:e>
                              <m:r>
                                <a:rPr lang="en-US" altLang="zh-TW" sz="2800" b="0" i="1" smtClean="0">
                                  <a:latin typeface="Cambria Math" panose="02040503050406030204" pitchFamily="18" charset="0"/>
                                  <a:sym typeface="Symbol" panose="05050102010706020507" pitchFamily="18" charset="2"/>
                                </a:rPr>
                                <m:t>𝑥</m:t>
                              </m:r>
                            </m:e>
                          </m:d>
                          <m:r>
                            <a:rPr lang="en-US" altLang="zh-TW" sz="2800" b="0" i="1" smtClean="0">
                              <a:latin typeface="Cambria Math" panose="02040503050406030204" pitchFamily="18" charset="0"/>
                              <a:sym typeface="Symbol" panose="05050102010706020507" pitchFamily="18" charset="2"/>
                            </a:rPr>
                            <m:t>,</m:t>
                          </m:r>
                          <m:r>
                            <a:rPr lang="en-US" altLang="zh-TW" sz="2800" b="0" i="1" smtClean="0">
                              <a:latin typeface="Cambria Math" panose="02040503050406030204" pitchFamily="18" charset="0"/>
                              <a:sym typeface="Symbol" panose="05050102010706020507" pitchFamily="18" charset="2"/>
                            </a:rPr>
                            <m:t>𝑦</m:t>
                          </m:r>
                        </m:e>
                      </m:d>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en-US" altLang="zh-TW" sz="2800" b="0" i="1" smtClean="0">
                              <a:latin typeface="Cambria Math" panose="02040503050406030204" pitchFamily="18" charset="0"/>
                            </a:rPr>
                            <m:t>1</m:t>
                          </m:r>
                        </m:num>
                        <m:den>
                          <m:r>
                            <a:rPr lang="en-US" altLang="zh-TW" sz="2800" b="0" i="1" smtClean="0">
                              <a:latin typeface="Cambria Math" panose="02040503050406030204" pitchFamily="18" charset="0"/>
                            </a:rPr>
                            <m:t>𝑚</m:t>
                          </m:r>
                        </m:den>
                      </m:f>
                      <m:d>
                        <m:dPr>
                          <m:begChr m:val="["/>
                          <m:endChr m:val="]"/>
                          <m:ctrlPr>
                            <a:rPr lang="en-US" altLang="zh-TW" sz="2800" b="0" i="1" smtClean="0">
                              <a:latin typeface="Cambria Math" panose="02040503050406030204" pitchFamily="18" charset="0"/>
                            </a:rPr>
                          </m:ctrlPr>
                        </m:dPr>
                        <m:e>
                          <m:nary>
                            <m:naryPr>
                              <m:chr m:val="∑"/>
                              <m:ctrlPr>
                                <a:rPr lang="en-US" altLang="zh-TW" sz="2800" b="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𝑚</m:t>
                              </m:r>
                            </m:sup>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𝑦</m:t>
                                  </m:r>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r>
                                <m:rPr>
                                  <m:sty m:val="p"/>
                                </m:rPr>
                                <a:rPr lang="en-US" altLang="zh-TW" sz="2800">
                                  <a:latin typeface="Cambria Math" panose="02040503050406030204" pitchFamily="18" charset="0"/>
                                </a:rPr>
                                <m:t>log</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h</m:t>
                                  </m:r>
                                </m:e>
                                <m:sub>
                                  <m:r>
                                    <a:rPr lang="zh-TW" altLang="en-US" sz="2800" i="1">
                                      <a:latin typeface="Cambria Math" panose="02040503050406030204" pitchFamily="18" charset="0"/>
                                    </a:rPr>
                                    <m:t>𝜃</m:t>
                                  </m:r>
                                </m:sub>
                              </m:sSub>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𝑥</m:t>
                                      </m:r>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e>
                              </m:d>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(1−</m:t>
                                  </m:r>
                                  <m:r>
                                    <a:rPr lang="en-US" altLang="zh-TW" sz="2800" i="1">
                                      <a:latin typeface="Cambria Math" panose="02040503050406030204" pitchFamily="18" charset="0"/>
                                    </a:rPr>
                                    <m:t>𝑦</m:t>
                                  </m:r>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r>
                                <a:rPr lang="en-US" altLang="zh-TW" sz="2800" i="1">
                                  <a:latin typeface="Cambria Math" panose="02040503050406030204" pitchFamily="18" charset="0"/>
                                </a:rPr>
                                <m:t>)</m:t>
                              </m:r>
                              <m:func>
                                <m:funcPr>
                                  <m:ctrlPr>
                                    <a:rPr lang="en-US" altLang="zh-TW" sz="2800" i="1">
                                      <a:latin typeface="Cambria Math" panose="02040503050406030204" pitchFamily="18" charset="0"/>
                                    </a:rPr>
                                  </m:ctrlPr>
                                </m:funcPr>
                                <m:fName>
                                  <m:r>
                                    <m:rPr>
                                      <m:sty m:val="p"/>
                                    </m:rPr>
                                    <a:rPr lang="en-US" altLang="zh-TW" sz="2800">
                                      <a:latin typeface="Cambria Math" panose="02040503050406030204" pitchFamily="18" charset="0"/>
                                    </a:rPr>
                                    <m:t>log</m:t>
                                  </m:r>
                                </m:fName>
                                <m:e>
                                  <m:d>
                                    <m:dPr>
                                      <m:ctrlPr>
                                        <a:rPr lang="en-US" altLang="zh-TW" sz="2800" i="1">
                                          <a:latin typeface="Cambria Math" panose="02040503050406030204" pitchFamily="18" charset="0"/>
                                        </a:rPr>
                                      </m:ctrlPr>
                                    </m:dPr>
                                    <m:e>
                                      <m:r>
                                        <a:rPr lang="en-US" altLang="zh-TW" sz="2800" i="1">
                                          <a:latin typeface="Cambria Math" panose="02040503050406030204" pitchFamily="18" charset="0"/>
                                        </a:rPr>
                                        <m:t>1−</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h</m:t>
                                          </m:r>
                                        </m:e>
                                        <m:sub>
                                          <m:r>
                                            <a:rPr lang="zh-TW" altLang="en-US" sz="2800" i="1">
                                              <a:latin typeface="Cambria Math" panose="02040503050406030204" pitchFamily="18" charset="0"/>
                                            </a:rPr>
                                            <m:t>𝜃</m:t>
                                          </m:r>
                                        </m:sub>
                                      </m:sSub>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𝑥</m:t>
                                              </m:r>
                                            </m:e>
                                            <m:sup>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e>
                                              </m:d>
                                            </m:sup>
                                          </m:sSup>
                                        </m:e>
                                      </m:d>
                                    </m:e>
                                  </m:d>
                                </m:e>
                              </m:func>
                            </m:e>
                          </m:nary>
                        </m:e>
                      </m:d>
                    </m:oMath>
                  </m:oMathPara>
                </a14:m>
                <a:endParaRPr lang="zh-TW" altLang="en-US" sz="2800" dirty="0"/>
              </a:p>
            </p:txBody>
          </p:sp>
        </mc:Choice>
        <mc:Fallback xmlns="">
          <p:sp>
            <p:nvSpPr>
              <p:cNvPr id="5" name="文字方塊 4">
                <a:extLst>
                  <a:ext uri="{FF2B5EF4-FFF2-40B4-BE49-F238E27FC236}">
                    <a16:creationId xmlns:a16="http://schemas.microsoft.com/office/drawing/2014/main" id="{70F71D5F-79BF-82FA-B999-9A7C31C15283}"/>
                  </a:ext>
                </a:extLst>
              </p:cNvPr>
              <p:cNvSpPr txBox="1">
                <a:spLocks noRot="1" noChangeAspect="1" noMove="1" noResize="1" noEditPoints="1" noAdjustHandles="1" noChangeArrowheads="1" noChangeShapeType="1" noTextEdit="1"/>
              </p:cNvSpPr>
              <p:nvPr/>
            </p:nvSpPr>
            <p:spPr>
              <a:xfrm>
                <a:off x="762000" y="5010981"/>
                <a:ext cx="11367247" cy="1176219"/>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59660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8585B7-0D3C-EAC4-C13C-7D51C3F4B71D}"/>
              </a:ext>
            </a:extLst>
          </p:cNvPr>
          <p:cNvSpPr>
            <a:spLocks noGrp="1"/>
          </p:cNvSpPr>
          <p:nvPr>
            <p:ph type="title"/>
          </p:nvPr>
        </p:nvSpPr>
        <p:spPr>
          <a:xfrm>
            <a:off x="838200" y="69289"/>
            <a:ext cx="10515600" cy="1325563"/>
          </a:xfrm>
        </p:spPr>
        <p:txBody>
          <a:bodyPr/>
          <a:lstStyle/>
          <a:p>
            <a:r>
              <a:rPr lang="en-US" altLang="zh-TW" dirty="0"/>
              <a:t>Calculate gradients</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3F6CB3F7-72BD-0FB1-DF9B-90B5B5B727A6}"/>
                  </a:ext>
                </a:extLst>
              </p:cNvPr>
              <p:cNvSpPr txBox="1"/>
              <p:nvPr/>
            </p:nvSpPr>
            <p:spPr>
              <a:xfrm>
                <a:off x="1004048" y="1134876"/>
                <a:ext cx="7457666" cy="100822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sym typeface="Symbol" panose="05050102010706020507" pitchFamily="18" charset="2"/>
                        </a:rPr>
                        <m:t>𝐽</m:t>
                      </m:r>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𝑚</m:t>
                          </m:r>
                        </m:den>
                      </m:f>
                      <m:d>
                        <m:dPr>
                          <m:begChr m:val="["/>
                          <m:endChr m:val="]"/>
                          <m:ctrlPr>
                            <a:rPr lang="en-US" altLang="zh-TW" sz="2400" b="0" i="1" smtClean="0">
                              <a:latin typeface="Cambria Math" panose="02040503050406030204" pitchFamily="18" charset="0"/>
                            </a:rPr>
                          </m:ctrlPr>
                        </m:dPr>
                        <m:e>
                          <m:nary>
                            <m:naryPr>
                              <m:chr m:val="∑"/>
                              <m:ctrlPr>
                                <a:rPr lang="en-US" altLang="zh-TW" sz="2400" b="0" i="1" smtClean="0">
                                  <a:latin typeface="Cambria Math" panose="02040503050406030204" pitchFamily="18" charset="0"/>
                                </a:rPr>
                              </m:ctrlPr>
                            </m:naryPr>
                            <m:sub>
                              <m:r>
                                <m:rPr>
                                  <m:brk m:alnAt="23"/>
                                </m:rP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𝑚</m:t>
                              </m:r>
                            </m:sup>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𝑖</m:t>
                                  </m:r>
                                </m:sub>
                              </m:sSub>
                              <m:r>
                                <a:rPr lang="en-US" altLang="zh-TW" sz="2400">
                                  <a:latin typeface="Cambria Math" panose="02040503050406030204" pitchFamily="18" charset="0"/>
                                  <a:ea typeface="Cambria Math" panose="02040503050406030204" pitchFamily="18" charset="0"/>
                                </a:rPr>
                                <m:t>∙</m:t>
                              </m:r>
                              <m:r>
                                <m:rPr>
                                  <m:sty m:val="p"/>
                                </m:rPr>
                                <a:rPr lang="en-US" altLang="zh-TW" sz="2400">
                                  <a:latin typeface="Cambria Math" panose="02040503050406030204" pitchFamily="18" charset="0"/>
                                </a:rPr>
                                <m:t>log</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b="0" i="1" smtClean="0">
                                      <a:latin typeface="Cambria Math" panose="02040503050406030204" pitchFamily="18" charset="0"/>
                                    </a:rPr>
                                    <m:t>𝑖</m:t>
                                  </m:r>
                                </m:sub>
                              </m:sSub>
                              <m:r>
                                <a:rPr lang="en-US" altLang="zh-TW" sz="2400" i="1">
                                  <a:latin typeface="Cambria Math" panose="02040503050406030204" pitchFamily="18" charset="0"/>
                                </a:rPr>
                                <m:t>+</m:t>
                              </m:r>
                              <m:r>
                                <a:rPr lang="en-US" altLang="zh-TW" sz="2400" b="0" i="1" smtClean="0">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func>
                                <m:funcPr>
                                  <m:ctrlPr>
                                    <a:rPr lang="en-US" altLang="zh-TW" sz="2400" i="1">
                                      <a:latin typeface="Cambria Math" panose="02040503050406030204" pitchFamily="18" charset="0"/>
                                    </a:rPr>
                                  </m:ctrlPr>
                                </m:funcPr>
                                <m:fName>
                                  <m:r>
                                    <a:rPr lang="en-US" altLang="zh-TW" sz="2400">
                                      <a:latin typeface="Cambria Math" panose="02040503050406030204" pitchFamily="18" charset="0"/>
                                      <a:ea typeface="Cambria Math" panose="02040503050406030204" pitchFamily="18" charset="0"/>
                                    </a:rPr>
                                    <m:t>∙</m:t>
                                  </m:r>
                                  <m:r>
                                    <m:rPr>
                                      <m:sty m:val="p"/>
                                    </m:rPr>
                                    <a:rPr lang="en-US" altLang="zh-TW" sz="2400">
                                      <a:latin typeface="Cambria Math" panose="02040503050406030204" pitchFamily="18" charset="0"/>
                                    </a:rPr>
                                    <m:t>log</m:t>
                                  </m:r>
                                </m:fName>
                                <m:e>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b="0" i="1" smtClean="0">
                                              <a:latin typeface="Cambria Math" panose="02040503050406030204" pitchFamily="18" charset="0"/>
                                            </a:rPr>
                                            <m:t>𝑖</m:t>
                                          </m:r>
                                        </m:sub>
                                      </m:sSub>
                                    </m:e>
                                  </m:d>
                                </m:e>
                              </m:func>
                            </m:e>
                          </m:nary>
                        </m:e>
                      </m:d>
                    </m:oMath>
                  </m:oMathPara>
                </a14:m>
                <a:endParaRPr lang="zh-TW" altLang="en-US" sz="2400" dirty="0"/>
              </a:p>
            </p:txBody>
          </p:sp>
        </mc:Choice>
        <mc:Fallback xmlns="">
          <p:sp>
            <p:nvSpPr>
              <p:cNvPr id="5" name="文字方塊 4">
                <a:extLst>
                  <a:ext uri="{FF2B5EF4-FFF2-40B4-BE49-F238E27FC236}">
                    <a16:creationId xmlns:a16="http://schemas.microsoft.com/office/drawing/2014/main" id="{3F6CB3F7-72BD-0FB1-DF9B-90B5B5B727A6}"/>
                  </a:ext>
                </a:extLst>
              </p:cNvPr>
              <p:cNvSpPr txBox="1">
                <a:spLocks noRot="1" noChangeAspect="1" noMove="1" noResize="1" noEditPoints="1" noAdjustHandles="1" noChangeArrowheads="1" noChangeShapeType="1" noTextEdit="1"/>
              </p:cNvSpPr>
              <p:nvPr/>
            </p:nvSpPr>
            <p:spPr>
              <a:xfrm>
                <a:off x="1004048" y="1134876"/>
                <a:ext cx="7457666" cy="1008225"/>
              </a:xfrm>
              <a:prstGeom prst="rect">
                <a:avLst/>
              </a:prstGeom>
              <a:blipFill>
                <a:blip r:embed="rId2"/>
                <a:stretch>
                  <a:fillRect l="-4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E7A8625E-56F9-3C40-204E-B447B5DCFBA2}"/>
                  </a:ext>
                </a:extLst>
              </p:cNvPr>
              <p:cNvSpPr txBox="1"/>
              <p:nvPr/>
            </p:nvSpPr>
            <p:spPr>
              <a:xfrm>
                <a:off x="1004048" y="2468255"/>
                <a:ext cx="7996515" cy="100822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𝐽</m:t>
                          </m:r>
                        </m:num>
                        <m:den>
                          <m:r>
                            <a:rPr lang="zh-TW" altLang="en-US" sz="240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zh-TW" altLang="en-US" sz="2400" i="1" smtClean="0">
                                  <a:latin typeface="Cambria Math" panose="02040503050406030204" pitchFamily="18" charset="0"/>
                                </a:rPr>
                                <m:t>𝜃</m:t>
                              </m:r>
                            </m:e>
                            <m:sub>
                              <m:r>
                                <a:rPr lang="en-US" altLang="zh-TW" sz="2400" b="0" i="1" smtClean="0">
                                  <a:latin typeface="Cambria Math" panose="02040503050406030204" pitchFamily="18" charset="0"/>
                                </a:rPr>
                                <m:t>𝑛</m:t>
                              </m:r>
                            </m:sub>
                          </m:sSub>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𝑚</m:t>
                          </m:r>
                        </m:den>
                      </m:f>
                      <m:d>
                        <m:dPr>
                          <m:begChr m:val="["/>
                          <m:endChr m:val="]"/>
                          <m:ctrlPr>
                            <a:rPr lang="en-US" altLang="zh-TW" sz="2400" b="0" i="1" smtClean="0">
                              <a:latin typeface="Cambria Math" panose="02040503050406030204" pitchFamily="18" charset="0"/>
                            </a:rPr>
                          </m:ctrlPr>
                        </m:dPr>
                        <m:e>
                          <m:nary>
                            <m:naryPr>
                              <m:chr m:val="∑"/>
                              <m:ctrlPr>
                                <a:rPr lang="en-US" altLang="zh-TW" sz="2400" b="0" i="1" smtClean="0">
                                  <a:latin typeface="Cambria Math" panose="02040503050406030204" pitchFamily="18" charset="0"/>
                                </a:rPr>
                              </m:ctrlPr>
                            </m:naryPr>
                            <m:sub>
                              <m:r>
                                <m:rPr>
                                  <m:brk m:alnAt="23"/>
                                </m:rP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𝑚</m:t>
                              </m:r>
                            </m:sup>
                            <m:e>
                              <m:f>
                                <m:fPr>
                                  <m:ctrlPr>
                                    <a:rPr lang="en-US" altLang="zh-TW" sz="2400" b="0" i="1" smtClean="0">
                                      <a:latin typeface="Cambria Math" panose="02040503050406030204" pitchFamily="18" charset="0"/>
                                    </a:rPr>
                                  </m:ctrlPr>
                                </m:fPr>
                                <m:num>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num>
                                <m:den>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h</m:t>
                                      </m:r>
                                    </m:e>
                                    <m:sub>
                                      <m:r>
                                        <a:rPr lang="en-US" altLang="zh-TW" sz="2400" i="1">
                                          <a:latin typeface="Cambria Math" panose="02040503050406030204" pitchFamily="18" charset="0"/>
                                        </a:rPr>
                                        <m:t>𝑖</m:t>
                                      </m:r>
                                    </m:sub>
                                  </m:sSub>
                                </m:den>
                              </m:f>
                              <m:sSubSup>
                                <m:sSubSupPr>
                                  <m:ctrlPr>
                                    <a:rPr lang="en-US" altLang="zh-TW" sz="2400" b="0" i="1" smtClean="0">
                                      <a:latin typeface="Cambria Math" panose="02040503050406030204" pitchFamily="18" charset="0"/>
                                    </a:rPr>
                                  </m:ctrlPr>
                                </m:sSubSupPr>
                                <m:e>
                                  <m:r>
                                    <a:rPr lang="en-US" altLang="zh-TW" sz="240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h</m:t>
                                  </m:r>
                                </m:e>
                                <m:sub>
                                  <m:r>
                                    <a:rPr lang="en-US" altLang="zh-TW" sz="2400" b="0" i="1" smtClean="0">
                                      <a:latin typeface="Cambria Math" panose="02040503050406030204" pitchFamily="18" charset="0"/>
                                    </a:rPr>
                                    <m:t>𝑖</m:t>
                                  </m:r>
                                </m:sub>
                                <m:sup>
                                  <m:r>
                                    <a:rPr lang="en-US" altLang="zh-TW" sz="2400" b="0" i="1" smtClean="0">
                                      <a:latin typeface="Cambria Math" panose="02040503050406030204" pitchFamily="18" charset="0"/>
                                    </a:rPr>
                                    <m:t>2</m:t>
                                  </m:r>
                                </m:sup>
                              </m:sSubSup>
                              <m:r>
                                <a:rPr lang="en-US" altLang="zh-TW" sz="240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𝑛</m:t>
                                  </m:r>
                                </m:sub>
                              </m:sSub>
                              <m:r>
                                <a:rPr lang="en-US" altLang="zh-TW" sz="2400">
                                  <a:latin typeface="Cambria Math" panose="02040503050406030204" pitchFamily="18" charset="0"/>
                                  <a:ea typeface="Cambria Math" panose="02040503050406030204" pitchFamily="18" charset="0"/>
                                </a:rPr>
                                <m:t>∙</m:t>
                              </m:r>
                              <m:f>
                                <m:fPr>
                                  <m:ctrlPr>
                                    <a:rPr lang="en-US" altLang="zh-TW" sz="2400" i="1">
                                      <a:latin typeface="Cambria Math" panose="02040503050406030204" pitchFamily="18" charset="0"/>
                                    </a:rPr>
                                  </m:ctrlPr>
                                </m:fPr>
                                <m:num>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h</m:t>
                                      </m:r>
                                    </m:e>
                                    <m:sub>
                                      <m:r>
                                        <a:rPr lang="en-US" altLang="zh-TW" sz="2400" i="1">
                                          <a:latin typeface="Cambria Math" panose="02040503050406030204" pitchFamily="18" charset="0"/>
                                        </a:rPr>
                                        <m:t>𝑖</m:t>
                                      </m:r>
                                    </m:sub>
                                  </m:sSub>
                                </m:num>
                                <m:den>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num>
                                <m:den>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1−</m:t>
                                      </m:r>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den>
                              </m:f>
                              <m:sSubSup>
                                <m:sSubSupPr>
                                  <m:ctrlPr>
                                    <a:rPr lang="en-US" altLang="zh-TW" sz="2400" i="1">
                                      <a:latin typeface="Cambria Math" panose="02040503050406030204" pitchFamily="18" charset="0"/>
                                    </a:rPr>
                                  </m:ctrlPr>
                                </m:sSubSupPr>
                                <m:e>
                                  <m:r>
                                    <a:rPr lang="en-US" altLang="zh-TW" sz="240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2</m:t>
                                  </m:r>
                                </m:sup>
                              </m:sSubSup>
                              <m:r>
                                <a:rPr lang="en-US" altLang="zh-TW" sz="240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𝑛</m:t>
                                  </m:r>
                                </m:sub>
                              </m:sSub>
                              <m:r>
                                <a:rPr lang="en-US" altLang="zh-TW" sz="2400">
                                  <a:latin typeface="Cambria Math" panose="02040503050406030204" pitchFamily="18" charset="0"/>
                                  <a:ea typeface="Cambria Math" panose="02040503050406030204" pitchFamily="18" charset="0"/>
                                </a:rPr>
                                <m:t>∙</m:t>
                              </m:r>
                              <m:f>
                                <m:fPr>
                                  <m:ctrlPr>
                                    <a:rPr lang="en-US" altLang="zh-TW" sz="2400" i="1">
                                      <a:latin typeface="Cambria Math" panose="02040503050406030204" pitchFamily="18" charset="0"/>
                                    </a:rPr>
                                  </m:ctrlPr>
                                </m:fPr>
                                <m:num>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1−</m:t>
                                      </m:r>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num>
                                <m:den>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den>
                              </m:f>
                            </m:e>
                          </m:nary>
                        </m:e>
                      </m:d>
                    </m:oMath>
                  </m:oMathPara>
                </a14:m>
                <a:endParaRPr lang="zh-TW" altLang="en-US" sz="2400" dirty="0"/>
              </a:p>
            </p:txBody>
          </p:sp>
        </mc:Choice>
        <mc:Fallback xmlns="">
          <p:sp>
            <p:nvSpPr>
              <p:cNvPr id="6" name="文字方塊 5">
                <a:extLst>
                  <a:ext uri="{FF2B5EF4-FFF2-40B4-BE49-F238E27FC236}">
                    <a16:creationId xmlns:a16="http://schemas.microsoft.com/office/drawing/2014/main" id="{E7A8625E-56F9-3C40-204E-B447B5DCFBA2}"/>
                  </a:ext>
                </a:extLst>
              </p:cNvPr>
              <p:cNvSpPr txBox="1">
                <a:spLocks noRot="1" noChangeAspect="1" noMove="1" noResize="1" noEditPoints="1" noAdjustHandles="1" noChangeArrowheads="1" noChangeShapeType="1" noTextEdit="1"/>
              </p:cNvSpPr>
              <p:nvPr/>
            </p:nvSpPr>
            <p:spPr>
              <a:xfrm>
                <a:off x="1004048" y="2468255"/>
                <a:ext cx="7996515" cy="1008225"/>
              </a:xfrm>
              <a:prstGeom prst="rect">
                <a:avLst/>
              </a:prstGeom>
              <a:blipFill>
                <a:blip r:embed="rId3"/>
                <a:stretch>
                  <a:fillRect l="-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238AABC9-6D9D-5F74-9D4C-8A5A7CE9728D}"/>
                  </a:ext>
                </a:extLst>
              </p:cNvPr>
              <p:cNvSpPr txBox="1"/>
              <p:nvPr/>
            </p:nvSpPr>
            <p:spPr>
              <a:xfrm>
                <a:off x="1004048" y="3801634"/>
                <a:ext cx="8460743" cy="100822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𝐽</m:t>
                          </m:r>
                        </m:num>
                        <m:den>
                          <m:r>
                            <a:rPr lang="zh-TW" altLang="en-US" sz="2400" i="1" smtClean="0">
                              <a:latin typeface="Cambria Math" panose="02040503050406030204" pitchFamily="18" charset="0"/>
                            </a:rPr>
                            <m:t>𝜕</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𝑛</m:t>
                              </m:r>
                            </m:sub>
                          </m:sSub>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𝑚</m:t>
                          </m:r>
                        </m:den>
                      </m:f>
                      <m:d>
                        <m:dPr>
                          <m:begChr m:val="["/>
                          <m:endChr m:val="]"/>
                          <m:ctrlPr>
                            <a:rPr lang="en-US" altLang="zh-TW" sz="2400" b="0" i="1" smtClean="0">
                              <a:latin typeface="Cambria Math" panose="02040503050406030204" pitchFamily="18" charset="0"/>
                            </a:rPr>
                          </m:ctrlPr>
                        </m:dPr>
                        <m:e>
                          <m:nary>
                            <m:naryPr>
                              <m:chr m:val="∑"/>
                              <m:ctrlPr>
                                <a:rPr lang="en-US" altLang="zh-TW" sz="2400" b="0" i="1" smtClean="0">
                                  <a:latin typeface="Cambria Math" panose="02040503050406030204" pitchFamily="18" charset="0"/>
                                </a:rPr>
                              </m:ctrlPr>
                            </m:naryPr>
                            <m:sub>
                              <m:r>
                                <m:rPr>
                                  <m:brk m:alnAt="23"/>
                                </m:rP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𝑚</m:t>
                              </m:r>
                            </m:sup>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𝑛</m:t>
                                  </m:r>
                                </m:sub>
                              </m:sSub>
                              <m:r>
                                <a:rPr lang="en-US" altLang="zh-TW" sz="2400">
                                  <a:latin typeface="Cambria Math" panose="02040503050406030204" pitchFamily="18" charset="0"/>
                                  <a:ea typeface="Cambria Math" panose="02040503050406030204" pitchFamily="18" charset="0"/>
                                </a:rPr>
                                <m:t>∙</m:t>
                              </m:r>
                              <m:d>
                                <m:dPr>
                                  <m:ctrlPr>
                                    <a:rPr lang="en-US" altLang="zh-TW" sz="2400" b="0" i="1" smtClean="0">
                                      <a:latin typeface="Cambria Math" panose="02040503050406030204" pitchFamily="18" charset="0"/>
                                      <a:ea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1−</m:t>
                                      </m:r>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e>
                              </m:d>
                              <m:sSub>
                                <m:sSubPr>
                                  <m:ctrlPr>
                                    <a:rPr lang="en-US" altLang="zh-TW" sz="2400" i="1">
                                      <a:latin typeface="Cambria Math" panose="02040503050406030204" pitchFamily="18" charset="0"/>
                                    </a:rPr>
                                  </m:ctrlPr>
                                </m:sSubPr>
                                <m:e>
                                  <m:r>
                                    <a:rPr lang="en-US" altLang="zh-TW" sz="240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𝑛</m:t>
                                  </m:r>
                                </m:sub>
                              </m:sSub>
                              <m:sSub>
                                <m:sSubPr>
                                  <m:ctrlPr>
                                    <a:rPr lang="en-US" altLang="zh-TW" sz="2400" i="1">
                                      <a:latin typeface="Cambria Math" panose="02040503050406030204" pitchFamily="18" charset="0"/>
                                    </a:rPr>
                                  </m:ctrlPr>
                                </m:sSubPr>
                                <m:e>
                                  <m:r>
                                    <a:rPr lang="en-US" altLang="zh-TW" sz="240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r>
                                <a:rPr lang="en-US" altLang="zh-TW" sz="2400">
                                  <a:latin typeface="Cambria Math" panose="02040503050406030204" pitchFamily="18" charset="0"/>
                                  <a:ea typeface="Cambria Math" panose="02040503050406030204" pitchFamily="18" charset="0"/>
                                </a:rPr>
                                <m:t>∙</m:t>
                              </m:r>
                              <m:d>
                                <m:dPr>
                                  <m:ctrlPr>
                                    <a:rPr lang="en-US" altLang="zh-TW" sz="2400" i="1" smtClean="0">
                                      <a:latin typeface="Cambria Math" panose="02040503050406030204" pitchFamily="18" charset="0"/>
                                      <a:ea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smtClean="0">
                                          <a:latin typeface="Cambria Math" panose="02040503050406030204" pitchFamily="18" charset="0"/>
                                        </a:rPr>
                                        <m:t>1−</m:t>
                                      </m:r>
                                      <m:r>
                                        <a:rPr lang="en-US" altLang="zh-TW" sz="2400" b="0" i="1" smtClean="0">
                                          <a:latin typeface="Cambria Math" panose="02040503050406030204" pitchFamily="18" charset="0"/>
                                        </a:rPr>
                                        <m:t>𝑦</m:t>
                                      </m:r>
                                    </m:e>
                                    <m:sub>
                                      <m:r>
                                        <a:rPr lang="en-US" altLang="zh-TW" sz="2400" i="1">
                                          <a:latin typeface="Cambria Math" panose="02040503050406030204" pitchFamily="18" charset="0"/>
                                        </a:rPr>
                                        <m:t>𝑖</m:t>
                                      </m:r>
                                    </m:sub>
                                  </m:sSub>
                                </m:e>
                              </m:d>
                            </m:e>
                          </m:nary>
                        </m:e>
                      </m:d>
                    </m:oMath>
                  </m:oMathPara>
                </a14:m>
                <a:endParaRPr lang="zh-TW" altLang="en-US" sz="2400" dirty="0"/>
              </a:p>
            </p:txBody>
          </p:sp>
        </mc:Choice>
        <mc:Fallback xmlns="">
          <p:sp>
            <p:nvSpPr>
              <p:cNvPr id="7" name="文字方塊 6">
                <a:extLst>
                  <a:ext uri="{FF2B5EF4-FFF2-40B4-BE49-F238E27FC236}">
                    <a16:creationId xmlns:a16="http://schemas.microsoft.com/office/drawing/2014/main" id="{238AABC9-6D9D-5F74-9D4C-8A5A7CE9728D}"/>
                  </a:ext>
                </a:extLst>
              </p:cNvPr>
              <p:cNvSpPr txBox="1">
                <a:spLocks noRot="1" noChangeAspect="1" noMove="1" noResize="1" noEditPoints="1" noAdjustHandles="1" noChangeArrowheads="1" noChangeShapeType="1" noTextEdit="1"/>
              </p:cNvSpPr>
              <p:nvPr/>
            </p:nvSpPr>
            <p:spPr>
              <a:xfrm>
                <a:off x="1004048" y="3801634"/>
                <a:ext cx="8460743" cy="1008225"/>
              </a:xfrm>
              <a:prstGeom prst="rect">
                <a:avLst/>
              </a:prstGeom>
              <a:blipFill>
                <a:blip r:embed="rId4"/>
                <a:stretch>
                  <a:fillRect l="-7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FAF46177-1AAB-6A78-86AB-B982DF7B8CC1}"/>
                  </a:ext>
                </a:extLst>
              </p:cNvPr>
              <p:cNvSpPr txBox="1"/>
              <p:nvPr/>
            </p:nvSpPr>
            <p:spPr>
              <a:xfrm>
                <a:off x="1004048" y="5135014"/>
                <a:ext cx="8460743" cy="100822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𝐽</m:t>
                          </m:r>
                        </m:num>
                        <m:den>
                          <m:r>
                            <a:rPr lang="zh-TW" altLang="en-US" sz="2400" i="1" smtClean="0">
                              <a:latin typeface="Cambria Math" panose="02040503050406030204" pitchFamily="18" charset="0"/>
                            </a:rPr>
                            <m:t>𝜕</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𝑛</m:t>
                              </m:r>
                            </m:sub>
                          </m:sSub>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𝑚</m:t>
                          </m:r>
                        </m:den>
                      </m:f>
                      <m:sSub>
                        <m:sSubPr>
                          <m:ctrlPr>
                            <a:rPr lang="en-US" altLang="zh-TW" sz="2400" i="1">
                              <a:latin typeface="Cambria Math" panose="02040503050406030204" pitchFamily="18" charset="0"/>
                            </a:rPr>
                          </m:ctrlPr>
                        </m:sSubPr>
                        <m:e>
                          <m:r>
                            <a:rPr lang="en-US" altLang="zh-TW" sz="240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𝑥</m:t>
                          </m:r>
                        </m:e>
                        <m:sub>
                          <m:r>
                            <a:rPr lang="en-US" altLang="zh-TW" sz="2400" i="1">
                              <a:latin typeface="Cambria Math" panose="02040503050406030204" pitchFamily="18" charset="0"/>
                            </a:rPr>
                            <m:t>𝑛</m:t>
                          </m:r>
                        </m:sub>
                      </m:sSub>
                      <m:d>
                        <m:dPr>
                          <m:begChr m:val="["/>
                          <m:endChr m:val="]"/>
                          <m:ctrlPr>
                            <a:rPr lang="en-US" altLang="zh-TW" sz="2400" b="0" i="1" smtClean="0">
                              <a:latin typeface="Cambria Math" panose="02040503050406030204" pitchFamily="18" charset="0"/>
                            </a:rPr>
                          </m:ctrlPr>
                        </m:dPr>
                        <m:e>
                          <m:nary>
                            <m:naryPr>
                              <m:chr m:val="∑"/>
                              <m:ctrlPr>
                                <a:rPr lang="en-US" altLang="zh-TW" sz="2400" b="0" i="1" smtClean="0">
                                  <a:latin typeface="Cambria Math" panose="02040503050406030204" pitchFamily="18" charset="0"/>
                                </a:rPr>
                              </m:ctrlPr>
                            </m:naryPr>
                            <m:sub>
                              <m:r>
                                <m:rPr>
                                  <m:brk m:alnAt="23"/>
                                </m:rP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𝑚</m:t>
                              </m:r>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e>
                          </m:nary>
                        </m:e>
                      </m:d>
                    </m:oMath>
                  </m:oMathPara>
                </a14:m>
                <a:endParaRPr lang="zh-TW" altLang="en-US" sz="2400" dirty="0"/>
              </a:p>
            </p:txBody>
          </p:sp>
        </mc:Choice>
        <mc:Fallback xmlns="">
          <p:sp>
            <p:nvSpPr>
              <p:cNvPr id="8" name="文字方塊 7">
                <a:extLst>
                  <a:ext uri="{FF2B5EF4-FFF2-40B4-BE49-F238E27FC236}">
                    <a16:creationId xmlns:a16="http://schemas.microsoft.com/office/drawing/2014/main" id="{FAF46177-1AAB-6A78-86AB-B982DF7B8CC1}"/>
                  </a:ext>
                </a:extLst>
              </p:cNvPr>
              <p:cNvSpPr txBox="1">
                <a:spLocks noRot="1" noChangeAspect="1" noMove="1" noResize="1" noEditPoints="1" noAdjustHandles="1" noChangeArrowheads="1" noChangeShapeType="1" noTextEdit="1"/>
              </p:cNvSpPr>
              <p:nvPr/>
            </p:nvSpPr>
            <p:spPr>
              <a:xfrm>
                <a:off x="1004048" y="5135014"/>
                <a:ext cx="8460743" cy="1008225"/>
              </a:xfrm>
              <a:prstGeom prst="rect">
                <a:avLst/>
              </a:prstGeom>
              <a:blipFill>
                <a:blip r:embed="rId5"/>
                <a:stretch>
                  <a:fillRect l="-7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1751055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件" ma:contentTypeID="0x0101008BB827752039164B86FD741153416EDF" ma:contentTypeVersion="11" ma:contentTypeDescription="建立新的文件。" ma:contentTypeScope="" ma:versionID="9e9c4e2852dc8557700f45ce1cc7f08e">
  <xsd:schema xmlns:xsd="http://www.w3.org/2001/XMLSchema" xmlns:xs="http://www.w3.org/2001/XMLSchema" xmlns:p="http://schemas.microsoft.com/office/2006/metadata/properties" xmlns:ns3="ee075635-a6d6-4f2b-a771-7195be426a45" xmlns:ns4="ea232b2d-0344-4432-9afd-89e11bf2ed72" targetNamespace="http://schemas.microsoft.com/office/2006/metadata/properties" ma:root="true" ma:fieldsID="0cd417f2f61872233189eeebdf96512e" ns3:_="" ns4:_="">
    <xsd:import namespace="ee075635-a6d6-4f2b-a771-7195be426a45"/>
    <xsd:import namespace="ea232b2d-0344-4432-9afd-89e11bf2ed7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075635-a6d6-4f2b-a771-7195be426a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a232b2d-0344-4432-9afd-89e11bf2ed72" elementFormDefault="qualified">
    <xsd:import namespace="http://schemas.microsoft.com/office/2006/documentManagement/types"/>
    <xsd:import namespace="http://schemas.microsoft.com/office/infopath/2007/PartnerControls"/>
    <xsd:element name="SharedWithUsers" ma:index="12"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用詳細資料" ma:internalName="SharedWithDetails" ma:readOnly="true">
      <xsd:simpleType>
        <xsd:restriction base="dms:Note">
          <xsd:maxLength value="255"/>
        </xsd:restriction>
      </xsd:simpleType>
    </xsd:element>
    <xsd:element name="SharingHintHash" ma:index="14" nillable="true" ma:displayName="共用提示雜湊"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753425-AAAB-4B55-A8D8-8EA83F497B54}">
  <ds:schemaRefs>
    <ds:schemaRef ds:uri="http://purl.org/dc/terms/"/>
    <ds:schemaRef ds:uri="http://purl.org/dc/dcmitype/"/>
    <ds:schemaRef ds:uri="http://schemas.microsoft.com/office/infopath/2007/PartnerControls"/>
    <ds:schemaRef ds:uri="http://purl.org/dc/elements/1.1/"/>
    <ds:schemaRef ds:uri="http://www.w3.org/XML/1998/namespace"/>
    <ds:schemaRef ds:uri="ea232b2d-0344-4432-9afd-89e11bf2ed72"/>
    <ds:schemaRef ds:uri="http://schemas.openxmlformats.org/package/2006/metadata/core-properties"/>
    <ds:schemaRef ds:uri="http://schemas.microsoft.com/office/2006/documentManagement/types"/>
    <ds:schemaRef ds:uri="ee075635-a6d6-4f2b-a771-7195be426a45"/>
    <ds:schemaRef ds:uri="http://schemas.microsoft.com/office/2006/metadata/properties"/>
  </ds:schemaRefs>
</ds:datastoreItem>
</file>

<file path=customXml/itemProps2.xml><?xml version="1.0" encoding="utf-8"?>
<ds:datastoreItem xmlns:ds="http://schemas.openxmlformats.org/officeDocument/2006/customXml" ds:itemID="{CFB5121D-4FCC-4A56-A221-FA328E161895}">
  <ds:schemaRefs>
    <ds:schemaRef ds:uri="http://schemas.microsoft.com/sharepoint/v3/contenttype/forms"/>
  </ds:schemaRefs>
</ds:datastoreItem>
</file>

<file path=customXml/itemProps3.xml><?xml version="1.0" encoding="utf-8"?>
<ds:datastoreItem xmlns:ds="http://schemas.openxmlformats.org/officeDocument/2006/customXml" ds:itemID="{409E545B-07C0-4998-A14E-D12D19B741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075635-a6d6-4f2b-a771-7195be426a45"/>
    <ds:schemaRef ds:uri="ea232b2d-0344-4432-9afd-89e11bf2ed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3934</TotalTime>
  <Words>3696</Words>
  <Application>Microsoft Office PowerPoint</Application>
  <PresentationFormat>寬螢幕</PresentationFormat>
  <Paragraphs>493</Paragraphs>
  <Slides>24</Slides>
  <Notes>0</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24</vt:i4>
      </vt:variant>
    </vt:vector>
  </HeadingPairs>
  <TitlesOfParts>
    <vt:vector size="36" baseType="lpstr">
      <vt:lpstr>sohne</vt:lpstr>
      <vt:lpstr>source-serif-pro</vt:lpstr>
      <vt:lpstr>微軟正黑體</vt:lpstr>
      <vt:lpstr>標楷體</vt:lpstr>
      <vt:lpstr>Arial</vt:lpstr>
      <vt:lpstr>Calibri</vt:lpstr>
      <vt:lpstr>Calibri Light</vt:lpstr>
      <vt:lpstr>Cambria Math</vt:lpstr>
      <vt:lpstr>Montserrat</vt:lpstr>
      <vt:lpstr>Times New Roman</vt:lpstr>
      <vt:lpstr>Verdana</vt:lpstr>
      <vt:lpstr>Office 佈景主題</vt:lpstr>
      <vt:lpstr>Linear Regression 線性迴歸</vt:lpstr>
      <vt:lpstr>PowerPoint 簡報</vt:lpstr>
      <vt:lpstr>How Gradient Descent Works</vt:lpstr>
      <vt:lpstr>Types of Gradient Descent</vt:lpstr>
      <vt:lpstr>A Simple Regression Example 線性迴歸</vt:lpstr>
      <vt:lpstr>PowerPoint 簡報</vt:lpstr>
      <vt:lpstr>Learning from Sctatch</vt:lpstr>
      <vt:lpstr>PowerPoint 簡報</vt:lpstr>
      <vt:lpstr>Learning by Pytorch</vt:lpstr>
      <vt:lpstr>PowerPoint 簡報</vt:lpstr>
      <vt:lpstr>PowerPoint 簡報</vt:lpstr>
      <vt:lpstr>PowerPoint 簡報</vt:lpstr>
      <vt:lpstr>Data Generation</vt:lpstr>
      <vt:lpstr>PowerPoint 簡報</vt:lpstr>
      <vt:lpstr>PowerPoint 簡報</vt:lpstr>
      <vt:lpstr>PowerPoint 簡報</vt:lpstr>
      <vt:lpstr>PowerPoint 簡報</vt:lpstr>
      <vt:lpstr>PowerPoint 簡報</vt:lpstr>
      <vt:lpstr>Generalization</vt:lpstr>
      <vt:lpstr>PowerPoint 簡報</vt:lpstr>
      <vt:lpstr>PowerPoint 簡報</vt:lpstr>
      <vt:lpstr>Logistic Regression 邏輯迴歸</vt:lpstr>
      <vt:lpstr>Cost Function</vt:lpstr>
      <vt:lpstr>Calculate gradients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王任瓚</dc:creator>
  <cp:lastModifiedBy>王任瓚 wang</cp:lastModifiedBy>
  <cp:revision>145</cp:revision>
  <dcterms:created xsi:type="dcterms:W3CDTF">2022-09-21T06:24:39Z</dcterms:created>
  <dcterms:modified xsi:type="dcterms:W3CDTF">2025-10-21T08:57:31Z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0x0101008BB827752039164B86FD741153416EDF</vt:lpwstr>
  </property>
</Properties>
</file>